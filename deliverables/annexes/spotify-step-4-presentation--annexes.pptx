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1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fr-FR" sz="1800" b="0" u="none" strike="noStrike">
                <a:solidFill>
                  <a:schemeClr val="dk1"/>
                </a:solidFill>
                <a:effectLst/>
                <a:uFillTx/>
                <a:latin typeface="Calibri"/>
              </a:rPr>
              <a:t>Cliquez pour déplacer la diapo</a:t>
            </a:r>
            <a:endParaRPr lang="fr-FR" sz="18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&lt;en-tête&gt;</a:t>
            </a:r>
            <a:endParaRPr lang="fr-FR"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&lt;date/heure&gt;</a:t>
            </a:r>
            <a:endParaRPr lang="fr-FR"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E57B44E1-82B2-4513-AE28-7876BDA76D02}" type="slidenum">
              <a:rPr lang="fr-FR" sz="1400" b="0" u="none" strike="noStrike">
                <a:solidFill>
                  <a:srgbClr val="000000"/>
                </a:solidFill>
                <a:effectLst/>
                <a:uFillTx/>
                <a:latin typeface="Times New Roman"/>
              </a:rPr>
              <a:t>&lt;numéro&gt;</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1143000" y="685800"/>
            <a:ext cx="4571280" cy="3428280"/>
          </a:xfrm>
          <a:prstGeom prst="rect">
            <a:avLst/>
          </a:prstGeom>
          <a:ln w="0">
            <a:noFill/>
          </a:ln>
        </p:spPr>
      </p:sp>
      <p:sp>
        <p:nvSpPr>
          <p:cNvPr id="23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Ces slides de backup portent le detail qui etaye le corps de la presentation [D4] : elles sont concues pour repondre en direct a une question precise du comite (modele organisationnel, choix d'outils, circuits RACI, calendrier, risques, criteres de passage a l'echelle) sans alourdir le deroule principal. Contenu repris fidelement des annexes 3.A-3.G du plan d'implementation [D3].</a:t>
            </a:r>
            <a:endParaRPr lang="fr-FR" sz="2000" b="0" u="none" strike="noStrike">
              <a:solidFill>
                <a:srgbClr val="000000"/>
              </a:solidFill>
              <a:effectLst/>
              <a:uFillTx/>
              <a:latin typeface="Arial"/>
            </a:endParaRPr>
          </a:p>
        </p:txBody>
      </p:sp>
      <p:sp>
        <p:nvSpPr>
          <p:cNvPr id="234" name="PlaceHolder 3"/>
          <p:cNvSpPr>
            <a:spLocks noGrp="1"/>
          </p:cNvSpPr>
          <p:nvPr>
            <p:ph type="sldNum" idx="3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fr-FR" sz="1200" b="0" u="none" strike="noStrike">
                <a:solidFill>
                  <a:srgbClr val="000000"/>
                </a:solidFill>
                <a:effectLst/>
                <a:uFillTx/>
                <a:latin typeface="Times New Roman"/>
              </a:defRPr>
            </a:lvl1pPr>
          </a:lstStyle>
          <a:p>
            <a:pPr indent="0" algn="r">
              <a:lnSpc>
                <a:spcPct val="100000"/>
              </a:lnSpc>
              <a:buNone/>
              <a:tabLst>
                <a:tab pos="0" algn="l"/>
              </a:tabLst>
            </a:pPr>
            <a:fld id="{D541CDCC-979F-44E2-A862-3AD4EF901182}" type="slidenum">
              <a:rPr lang="fr-FR"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17661C8-2057-4000-8BC2-2A60B2185873}"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chemeClr val="dk1"/>
                </a:solidFill>
                <a:effectLst/>
                <a:uFillTx/>
                <a:latin typeface="Calibri"/>
              </a:defRPr>
            </a:lvl1pPr>
          </a:lstStyle>
          <a:p>
            <a:pPr indent="0" algn="l">
              <a:lnSpc>
                <a:spcPct val="100000"/>
              </a:lnSpc>
              <a:buNone/>
              <a:tabLst>
                <a:tab pos="0" algn="l"/>
              </a:tabLst>
            </a:pPr>
            <a:r>
              <a:rPr lang="fr-FR" sz="1800" b="0" u="none" strike="noStrike">
                <a:solidFill>
                  <a:schemeClr val="dk1"/>
                </a:solidFill>
                <a:effectLst/>
                <a:uFillTx/>
                <a:latin typeface="Calibri"/>
              </a:rPr>
              <a:t>Cliquez pour éditer le format du texte-titre</a:t>
            </a:r>
            <a:endParaRPr lang="fr-FR" sz="1800" b="0" u="none" strike="noStrike">
              <a:solidFill>
                <a:schemeClr val="dk1"/>
              </a:solidFill>
              <a:effectLst/>
              <a:uFillTx/>
              <a:latin typeface="Calibri"/>
            </a:endParaRPr>
          </a:p>
        </p:txBody>
      </p:sp>
      <p:sp>
        <p:nvSpPr>
          <p:cNvPr id="6" name="PlaceHolder 5"/>
          <p:cNvSpPr>
            <a:spLocks noGrp="1"/>
          </p:cNvSpPr>
          <p:nvPr>
            <p:ph type="body"/>
          </p:nvPr>
        </p:nvSpPr>
        <p:spPr>
          <a:xfrm>
            <a:off x="609480" y="1604520"/>
            <a:ext cx="10971720" cy="39769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fr-FR"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fr-FR"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fr-FR"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fr-FR"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fr-FR"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fr-FR"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fr-FR"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fr-FR" sz="3200" b="0" u="none" strike="noStrike">
                <a:solidFill>
                  <a:schemeClr val="dk1"/>
                </a:solidFill>
                <a:effectLst/>
                <a:uFillTx/>
                <a:latin typeface="Calibri"/>
              </a:rPr>
              <a:t>Cliquez pour éditer le format du plan de texte</a:t>
            </a:r>
            <a:endParaRPr lang="fr-FR" sz="3200" b="0" u="none" strike="noStrike">
              <a:solidFill>
                <a:schemeClr val="dk1"/>
              </a:solidFill>
              <a:effectLst/>
              <a:uFillTx/>
              <a:latin typeface="Calibri"/>
            </a:endParaRPr>
          </a:p>
          <a:p>
            <a:pPr marL="864000" lvl="1" indent="-324000" algn="l">
              <a:lnSpc>
                <a:spcPct val="100000"/>
              </a:lnSpc>
              <a:spcBef>
                <a:spcPts val="1134"/>
              </a:spcBef>
              <a:buClr>
                <a:srgbClr val="000000"/>
              </a:buClr>
              <a:buSzPct val="75000"/>
              <a:buFont typeface="Symbol" charset="2"/>
              <a:buChar char=""/>
            </a:pPr>
            <a:r>
              <a:rPr lang="fr-FR" sz="2400" b="0" u="none" strike="noStrike">
                <a:solidFill>
                  <a:schemeClr val="dk1"/>
                </a:solidFill>
                <a:effectLst/>
                <a:uFillTx/>
                <a:latin typeface="Calibri"/>
              </a:rPr>
              <a:t>Second niveau de plan</a:t>
            </a:r>
            <a:endParaRPr lang="fr-FR" sz="2400" b="0" u="none" strike="noStrike">
              <a:solidFill>
                <a:schemeClr val="dk1"/>
              </a:solidFill>
              <a:effectLst/>
              <a:uFillTx/>
              <a:latin typeface="Calibri"/>
            </a:endParaRPr>
          </a:p>
          <a:p>
            <a:pPr marL="1296000" lvl="2" indent="-288000" algn="l">
              <a:lnSpc>
                <a:spcPct val="100000"/>
              </a:lnSpc>
              <a:spcBef>
                <a:spcPts val="850"/>
              </a:spcBef>
              <a:buClr>
                <a:srgbClr val="000000"/>
              </a:buClr>
              <a:buSzPct val="45000"/>
              <a:buFont typeface="Wingdings" charset="2"/>
              <a:buChar char=""/>
            </a:pPr>
            <a:r>
              <a:rPr lang="fr-FR" sz="2000" b="0" u="none" strike="noStrike">
                <a:solidFill>
                  <a:schemeClr val="dk1"/>
                </a:solidFill>
                <a:effectLst/>
                <a:uFillTx/>
                <a:latin typeface="Calibri"/>
              </a:rPr>
              <a:t>Troisième niveau de plan</a:t>
            </a:r>
            <a:endParaRPr lang="fr-FR" sz="2000" b="0" u="none" strike="noStrike">
              <a:solidFill>
                <a:schemeClr val="dk1"/>
              </a:solidFill>
              <a:effectLst/>
              <a:uFillTx/>
              <a:latin typeface="Calibri"/>
            </a:endParaRPr>
          </a:p>
          <a:p>
            <a:pPr marL="1728000" lvl="3" indent="-216000" algn="l">
              <a:lnSpc>
                <a:spcPct val="100000"/>
              </a:lnSpc>
              <a:spcBef>
                <a:spcPts val="567"/>
              </a:spcBef>
              <a:buClr>
                <a:srgbClr val="000000"/>
              </a:buClr>
              <a:buSzPct val="75000"/>
              <a:buFont typeface="Symbol" charset="2"/>
              <a:buChar char=""/>
            </a:pPr>
            <a:r>
              <a:rPr lang="fr-FR" sz="2000" b="0" u="none" strike="noStrike">
                <a:solidFill>
                  <a:schemeClr val="dk1"/>
                </a:solidFill>
                <a:effectLst/>
                <a:uFillTx/>
                <a:latin typeface="Calibri"/>
              </a:rPr>
              <a:t>Quatrième niveau de plan</a:t>
            </a:r>
            <a:endParaRPr lang="fr-FR" sz="2000" b="0" u="none" strike="noStrike">
              <a:solidFill>
                <a:schemeClr val="dk1"/>
              </a:solidFill>
              <a:effectLst/>
              <a:uFillTx/>
              <a:latin typeface="Calibri"/>
            </a:endParaRPr>
          </a:p>
          <a:p>
            <a:pPr marL="2160000" lvl="4" indent="-216000" algn="l">
              <a:lnSpc>
                <a:spcPct val="100000"/>
              </a:lnSpc>
              <a:spcBef>
                <a:spcPts val="283"/>
              </a:spcBef>
              <a:buClr>
                <a:srgbClr val="000000"/>
              </a:buClr>
              <a:buSzPct val="45000"/>
              <a:buFont typeface="Wingdings" charset="2"/>
              <a:buChar char=""/>
            </a:pPr>
            <a:r>
              <a:rPr lang="fr-FR" sz="2000" b="0" u="none" strike="noStrike">
                <a:solidFill>
                  <a:schemeClr val="dk1"/>
                </a:solidFill>
                <a:effectLst/>
                <a:uFillTx/>
                <a:latin typeface="Calibri"/>
              </a:rPr>
              <a:t>Cinquième niveau de plan</a:t>
            </a:r>
            <a:endParaRPr lang="fr-FR" sz="2000" b="0" u="none" strike="noStrike">
              <a:solidFill>
                <a:schemeClr val="dk1"/>
              </a:solidFill>
              <a:effectLst/>
              <a:uFillTx/>
              <a:latin typeface="Calibri"/>
            </a:endParaRPr>
          </a:p>
          <a:p>
            <a:pPr marL="2592000" lvl="5" indent="-216000" algn="l">
              <a:lnSpc>
                <a:spcPct val="100000"/>
              </a:lnSpc>
              <a:spcBef>
                <a:spcPts val="283"/>
              </a:spcBef>
              <a:buClr>
                <a:srgbClr val="000000"/>
              </a:buClr>
              <a:buSzPct val="45000"/>
              <a:buFont typeface="Wingdings" charset="2"/>
              <a:buChar char=""/>
            </a:pPr>
            <a:r>
              <a:rPr lang="fr-FR" sz="2000" b="0" u="none" strike="noStrike">
                <a:solidFill>
                  <a:schemeClr val="dk1"/>
                </a:solidFill>
                <a:effectLst/>
                <a:uFillTx/>
                <a:latin typeface="Calibri"/>
              </a:rPr>
              <a:t>Sixième niveau de plan</a:t>
            </a:r>
            <a:endParaRPr lang="fr-FR" sz="2000" b="0" u="none" strike="noStrike">
              <a:solidFill>
                <a:schemeClr val="dk1"/>
              </a:solidFill>
              <a:effectLst/>
              <a:uFillTx/>
              <a:latin typeface="Calibri"/>
            </a:endParaRPr>
          </a:p>
          <a:p>
            <a:pPr marL="3024000" lvl="6" indent="-216000" algn="l">
              <a:lnSpc>
                <a:spcPct val="100000"/>
              </a:lnSpc>
              <a:spcBef>
                <a:spcPts val="283"/>
              </a:spcBef>
              <a:buClr>
                <a:srgbClr val="000000"/>
              </a:buClr>
              <a:buSzPct val="45000"/>
              <a:buFont typeface="Wingdings" charset="2"/>
              <a:buChar char=""/>
            </a:pPr>
            <a:r>
              <a:rPr lang="fr-FR" sz="2000" b="0" u="none" strike="noStrike">
                <a:solidFill>
                  <a:schemeClr val="dk1"/>
                </a:solidFill>
                <a:effectLst/>
                <a:uFillTx/>
                <a:latin typeface="Calibri"/>
              </a:rPr>
              <a:t>Septième niveau de plan</a:t>
            </a:r>
            <a:endParaRPr lang="fr-FR" sz="2000" b="0" u="none" strike="noStrike">
              <a:solidFill>
                <a:schemeClr val="dk1"/>
              </a:solidFill>
              <a:effectLst/>
              <a:uFillTx/>
              <a:latin typeface="Calibr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2880"/>
            <a:ext cx="3007440" cy="116136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fr-FR" sz="2000" b="1" u="none" strike="noStrike">
                <a:solidFill>
                  <a:schemeClr val="dk1"/>
                </a:solidFill>
                <a:effectLst/>
                <a:uFillTx/>
                <a:latin typeface="Calibri"/>
              </a:defRPr>
            </a:lvl1pPr>
          </a:lstStyle>
          <a:p>
            <a:pPr indent="0" algn="l" defTabSz="457200">
              <a:lnSpc>
                <a:spcPct val="100000"/>
              </a:lnSpc>
              <a:buNone/>
              <a:tabLst>
                <a:tab pos="0" algn="l"/>
              </a:tabLst>
            </a:pPr>
            <a:r>
              <a:rPr lang="fr-FR" sz="2000" b="1" u="none" strike="noStrike">
                <a:solidFill>
                  <a:schemeClr val="dk1"/>
                </a:solidFill>
                <a:effectLst/>
                <a:uFillTx/>
                <a:latin typeface="Calibri"/>
              </a:rPr>
              <a:t>Click to edit Master title style</a:t>
            </a:r>
            <a:endParaRPr lang="fr-FR" sz="2000" b="1" u="none" strike="noStrike">
              <a:solidFill>
                <a:schemeClr val="dk1"/>
              </a:solidFill>
              <a:effectLst/>
              <a:uFillTx/>
              <a:latin typeface="Calibri"/>
            </a:endParaRPr>
          </a:p>
        </p:txBody>
      </p:sp>
      <p:sp>
        <p:nvSpPr>
          <p:cNvPr id="8" name="PlaceHolder 2"/>
          <p:cNvSpPr>
            <a:spLocks noGrp="1"/>
          </p:cNvSpPr>
          <p:nvPr>
            <p:ph type="body"/>
          </p:nvPr>
        </p:nvSpPr>
        <p:spPr>
          <a:xfrm>
            <a:off x="3575160" y="272880"/>
            <a:ext cx="5110920" cy="585252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fr-FR"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fr-FR" sz="3200" b="0" u="none" strike="noStrike">
                <a:solidFill>
                  <a:schemeClr val="dk1"/>
                </a:solidFill>
                <a:effectLst/>
                <a:uFillTx/>
                <a:latin typeface="Calibri"/>
              </a:rPr>
              <a:t>Click to edit Master text styles</a:t>
            </a:r>
            <a:endParaRPr lang="fr-FR"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Second level</a:t>
            </a:r>
            <a:endParaRPr lang="fr-FR"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Third level</a:t>
            </a:r>
            <a:endParaRPr lang="fr-FR"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Fourth level</a:t>
            </a:r>
            <a:endParaRPr lang="fr-FR"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Fifth level</a:t>
            </a:r>
            <a:endParaRPr lang="fr-FR" sz="2000" b="0" u="none" strike="noStrike">
              <a:solidFill>
                <a:schemeClr val="dk1"/>
              </a:solidFill>
              <a:effectLst/>
              <a:uFillTx/>
              <a:latin typeface="Calibri"/>
            </a:endParaRPr>
          </a:p>
        </p:txBody>
      </p:sp>
      <p:sp>
        <p:nvSpPr>
          <p:cNvPr id="9" name="PlaceHolder 3"/>
          <p:cNvSpPr>
            <a:spLocks noGrp="1"/>
          </p:cNvSpPr>
          <p:nvPr>
            <p:ph type="body"/>
          </p:nvPr>
        </p:nvSpPr>
        <p:spPr>
          <a:xfrm>
            <a:off x="457200" y="1434960"/>
            <a:ext cx="3007440" cy="469044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fr-FR"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fr-FR" sz="1400" b="0" u="none" strike="noStrike">
                <a:solidFill>
                  <a:schemeClr val="dk1"/>
                </a:solidFill>
                <a:effectLst/>
                <a:uFillTx/>
                <a:latin typeface="Calibri"/>
              </a:rPr>
              <a:t>Click to edit Master text styles</a:t>
            </a:r>
            <a:endParaRPr lang="fr-FR" sz="1400" b="0" u="none" strike="noStrike">
              <a:solidFill>
                <a:schemeClr val="dk1"/>
              </a:solidFill>
              <a:effectLst/>
              <a:uFillTx/>
              <a:latin typeface="Calibri"/>
            </a:endParaRPr>
          </a:p>
        </p:txBody>
      </p:sp>
      <p:sp>
        <p:nvSpPr>
          <p:cNvPr id="10" name="PlaceHolder 4"/>
          <p:cNvSpPr>
            <a:spLocks noGrp="1"/>
          </p:cNvSpPr>
          <p:nvPr>
            <p:ph type="dt" idx="4"/>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12" name="PlaceHolder 6"/>
          <p:cNvSpPr>
            <a:spLocks noGrp="1"/>
          </p:cNvSpPr>
          <p:nvPr>
            <p:ph type="sldNum" idx="6"/>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6A6E94F-6C22-439D-BB53-9EAAA812556F}"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1792440" y="4800600"/>
            <a:ext cx="5485680" cy="56592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fr-FR" sz="2000" b="1" u="none" strike="noStrike">
                <a:solidFill>
                  <a:schemeClr val="dk1"/>
                </a:solidFill>
                <a:effectLst/>
                <a:uFillTx/>
                <a:latin typeface="Calibri"/>
              </a:defRPr>
            </a:lvl1pPr>
          </a:lstStyle>
          <a:p>
            <a:pPr indent="0" algn="l" defTabSz="457200">
              <a:lnSpc>
                <a:spcPct val="100000"/>
              </a:lnSpc>
              <a:buNone/>
              <a:tabLst>
                <a:tab pos="0" algn="l"/>
              </a:tabLst>
            </a:pPr>
            <a:r>
              <a:rPr lang="fr-FR" sz="2000" b="1" u="none" strike="noStrike">
                <a:solidFill>
                  <a:schemeClr val="dk1"/>
                </a:solidFill>
                <a:effectLst/>
                <a:uFillTx/>
                <a:latin typeface="Calibri"/>
              </a:rPr>
              <a:t>Click to edit Master title style</a:t>
            </a:r>
            <a:endParaRPr lang="fr-FR" sz="2000" b="1" u="none" strike="noStrike">
              <a:solidFill>
                <a:schemeClr val="dk1"/>
              </a:solidFill>
              <a:effectLst/>
              <a:uFillTx/>
              <a:latin typeface="Calibri"/>
            </a:endParaRPr>
          </a:p>
        </p:txBody>
      </p:sp>
      <p:sp>
        <p:nvSpPr>
          <p:cNvPr id="14" name="PlaceHolder 2"/>
          <p:cNvSpPr>
            <a:spLocks noGrp="1"/>
          </p:cNvSpPr>
          <p:nvPr>
            <p:ph type="body"/>
          </p:nvPr>
        </p:nvSpPr>
        <p:spPr>
          <a:xfrm>
            <a:off x="1792440" y="612720"/>
            <a:ext cx="5485680" cy="411408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SzPct val="45000"/>
              <a:buFont typeface="Wingdings" charset="2"/>
              <a:buChar char=""/>
              <a:tabLst>
                <a:tab pos="0" algn="l"/>
              </a:tabLst>
              <a:defRPr lang="fr-FR" sz="3200" b="0" u="none" strike="noStrike">
                <a:solidFill>
                  <a:schemeClr val="dk1"/>
                </a:solidFill>
                <a:effectLst/>
                <a:uFillTx/>
                <a:latin typeface="Calibri"/>
              </a:defRPr>
            </a:lvl1pPr>
            <a:lvl2pPr lvl="1" algn="l" defTabSz="457200">
              <a:lnSpc>
                <a:spcPct val="100000"/>
              </a:lnSpc>
              <a:spcBef>
                <a:spcPts val="1134"/>
              </a:spcBef>
              <a:buClr>
                <a:srgbClr val="000000"/>
              </a:buClr>
              <a:buSzPct val="75000"/>
              <a:buFont typeface="Symbol" charset="2"/>
              <a:buChar char=""/>
              <a:tabLst>
                <a:tab pos="0" algn="l"/>
              </a:tabLst>
              <a:defRPr lang="fr-FR" sz="3200" b="0" u="none" strike="noStrike">
                <a:solidFill>
                  <a:schemeClr val="dk1"/>
                </a:solidFill>
                <a:effectLst/>
                <a:uFillTx/>
                <a:latin typeface="Calibri"/>
              </a:defRPr>
            </a:lvl2pPr>
            <a:lvl3pPr lvl="2" algn="l" defTabSz="457200">
              <a:lnSpc>
                <a:spcPct val="100000"/>
              </a:lnSpc>
              <a:spcBef>
                <a:spcPts val="850"/>
              </a:spcBef>
              <a:buClr>
                <a:srgbClr val="000000"/>
              </a:buClr>
              <a:buSzPct val="45000"/>
              <a:buFont typeface="Wingdings" charset="2"/>
              <a:buChar char=""/>
              <a:tabLst>
                <a:tab pos="0" algn="l"/>
              </a:tabLst>
              <a:defRPr lang="fr-FR" sz="3200" b="0" u="none" strike="noStrike">
                <a:solidFill>
                  <a:schemeClr val="dk1"/>
                </a:solidFill>
                <a:effectLst/>
                <a:uFillTx/>
                <a:latin typeface="Calibri"/>
              </a:defRPr>
            </a:lvl3pPr>
            <a:lvl4pPr lvl="3" algn="l" defTabSz="457200">
              <a:lnSpc>
                <a:spcPct val="100000"/>
              </a:lnSpc>
              <a:spcBef>
                <a:spcPts val="567"/>
              </a:spcBef>
              <a:buClr>
                <a:srgbClr val="000000"/>
              </a:buClr>
              <a:buSzPct val="75000"/>
              <a:buFont typeface="Symbol" charset="2"/>
              <a:buChar char=""/>
              <a:tabLst>
                <a:tab pos="0" algn="l"/>
              </a:tabLst>
              <a:defRPr lang="fr-FR" sz="3200" b="0" u="none" strike="noStrike">
                <a:solidFill>
                  <a:schemeClr val="dk1"/>
                </a:solidFill>
                <a:effectLst/>
                <a:uFillTx/>
                <a:latin typeface="Calibri"/>
              </a:defRPr>
            </a:lvl4pPr>
            <a:lvl5pPr lvl="4" algn="l" defTabSz="457200">
              <a:lnSpc>
                <a:spcPct val="100000"/>
              </a:lnSpc>
              <a:spcBef>
                <a:spcPts val="283"/>
              </a:spcBef>
              <a:buClr>
                <a:srgbClr val="000000"/>
              </a:buClr>
              <a:buSzPct val="45000"/>
              <a:buFont typeface="Wingdings" charset="2"/>
              <a:buChar char=""/>
              <a:tabLst>
                <a:tab pos="0" algn="l"/>
              </a:tabLst>
              <a:defRPr lang="fr-FR"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fr-FR"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fr-FR"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SzPct val="45000"/>
              <a:buFont typeface="Wingdings" charset="2"/>
              <a:buChar char=""/>
              <a:tabLst>
                <a:tab pos="0" algn="l"/>
              </a:tabLst>
            </a:pPr>
            <a:r>
              <a:rPr lang="fr-FR" sz="3200" b="0" u="none" strike="noStrike">
                <a:solidFill>
                  <a:schemeClr val="dk1"/>
                </a:solidFill>
                <a:effectLst/>
                <a:uFillTx/>
                <a:latin typeface="Calibri"/>
              </a:rPr>
              <a:t>Cliquez pour éditer le format du plan de texte</a:t>
            </a:r>
            <a:endParaRPr lang="fr-FR" sz="3200" b="0" u="none" strike="noStrike">
              <a:solidFill>
                <a:schemeClr val="dk1"/>
              </a:solidFill>
              <a:effectLst/>
              <a:uFillTx/>
              <a:latin typeface="Calibri"/>
            </a:endParaRPr>
          </a:p>
          <a:p>
            <a:pPr marL="457200" lvl="1" indent="-324000" algn="l" defTabSz="457200">
              <a:lnSpc>
                <a:spcPct val="100000"/>
              </a:lnSpc>
              <a:spcBef>
                <a:spcPts val="1134"/>
              </a:spcBef>
              <a:buClr>
                <a:srgbClr val="000000"/>
              </a:buClr>
              <a:buSzPct val="75000"/>
              <a:buFont typeface="Symbol" charset="2"/>
              <a:buChar char=""/>
              <a:tabLst>
                <a:tab pos="0" algn="l"/>
              </a:tabLst>
            </a:pPr>
            <a:r>
              <a:rPr lang="fr-FR" sz="3200" b="0" u="none" strike="noStrike">
                <a:solidFill>
                  <a:schemeClr val="dk1"/>
                </a:solidFill>
                <a:effectLst/>
                <a:uFillTx/>
                <a:latin typeface="Calibri"/>
              </a:rPr>
              <a:t>Second niveau de plan</a:t>
            </a:r>
            <a:endParaRPr lang="fr-FR" sz="3200" b="0" u="none" strike="noStrike">
              <a:solidFill>
                <a:schemeClr val="dk1"/>
              </a:solidFill>
              <a:effectLst/>
              <a:uFillTx/>
              <a:latin typeface="Calibri"/>
            </a:endParaRPr>
          </a:p>
          <a:p>
            <a:pPr marL="914400" lvl="2" indent="-288000" algn="l" defTabSz="457200">
              <a:lnSpc>
                <a:spcPct val="100000"/>
              </a:lnSpc>
              <a:spcBef>
                <a:spcPts val="850"/>
              </a:spcBef>
              <a:buClr>
                <a:srgbClr val="000000"/>
              </a:buClr>
              <a:buSzPct val="45000"/>
              <a:buFont typeface="Wingdings" charset="2"/>
              <a:buChar char=""/>
              <a:tabLst>
                <a:tab pos="0" algn="l"/>
              </a:tabLst>
            </a:pPr>
            <a:r>
              <a:rPr lang="fr-FR" sz="3200" b="0" u="none" strike="noStrike">
                <a:solidFill>
                  <a:schemeClr val="dk1"/>
                </a:solidFill>
                <a:effectLst/>
                <a:uFillTx/>
                <a:latin typeface="Calibri"/>
              </a:rPr>
              <a:t>Troisième niveau de plan</a:t>
            </a:r>
            <a:endParaRPr lang="fr-FR" sz="3200" b="0" u="none" strike="noStrike">
              <a:solidFill>
                <a:schemeClr val="dk1"/>
              </a:solidFill>
              <a:effectLst/>
              <a:uFillTx/>
              <a:latin typeface="Calibri"/>
            </a:endParaRPr>
          </a:p>
          <a:p>
            <a:pPr marL="1371600" lvl="3" indent="-216000" algn="l" defTabSz="457200">
              <a:lnSpc>
                <a:spcPct val="100000"/>
              </a:lnSpc>
              <a:spcBef>
                <a:spcPts val="567"/>
              </a:spcBef>
              <a:buClr>
                <a:srgbClr val="000000"/>
              </a:buClr>
              <a:buSzPct val="75000"/>
              <a:buFont typeface="Symbol" charset="2"/>
              <a:buChar char=""/>
              <a:tabLst>
                <a:tab pos="0" algn="l"/>
              </a:tabLst>
            </a:pPr>
            <a:r>
              <a:rPr lang="fr-FR" sz="3200" b="0" u="none" strike="noStrike">
                <a:solidFill>
                  <a:schemeClr val="dk1"/>
                </a:solidFill>
                <a:effectLst/>
                <a:uFillTx/>
                <a:latin typeface="Calibri"/>
              </a:rPr>
              <a:t>Quatrième niveau de plan</a:t>
            </a:r>
            <a:endParaRPr lang="fr-FR" sz="3200" b="0" u="none" strike="noStrike">
              <a:solidFill>
                <a:schemeClr val="dk1"/>
              </a:solidFill>
              <a:effectLst/>
              <a:uFillTx/>
              <a:latin typeface="Calibri"/>
            </a:endParaRPr>
          </a:p>
          <a:p>
            <a:pPr marL="1828800" lvl="4" indent="-216000" algn="l" defTabSz="457200">
              <a:lnSpc>
                <a:spcPct val="100000"/>
              </a:lnSpc>
              <a:spcBef>
                <a:spcPts val="283"/>
              </a:spcBef>
              <a:buClr>
                <a:srgbClr val="000000"/>
              </a:buClr>
              <a:buSzPct val="45000"/>
              <a:buFont typeface="Wingdings" charset="2"/>
              <a:buChar char=""/>
              <a:tabLst>
                <a:tab pos="0" algn="l"/>
              </a:tabLst>
            </a:pPr>
            <a:r>
              <a:rPr lang="fr-FR" sz="3200" b="0" u="none" strike="noStrike">
                <a:solidFill>
                  <a:schemeClr val="dk1"/>
                </a:solidFill>
                <a:effectLst/>
                <a:uFillTx/>
                <a:latin typeface="Calibri"/>
              </a:rPr>
              <a:t>Cinquième niveau de plan</a:t>
            </a:r>
            <a:endParaRPr lang="fr-FR"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fr-FR" sz="3200" b="0" u="none" strike="noStrike">
                <a:solidFill>
                  <a:schemeClr val="dk1"/>
                </a:solidFill>
                <a:effectLst/>
                <a:uFillTx/>
                <a:latin typeface="Calibri"/>
              </a:rPr>
              <a:t>Sixième niveau de plan</a:t>
            </a:r>
            <a:endParaRPr lang="fr-FR"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fr-FR" sz="3200" b="0" u="none" strike="noStrike">
                <a:solidFill>
                  <a:schemeClr val="dk1"/>
                </a:solidFill>
                <a:effectLst/>
                <a:uFillTx/>
                <a:latin typeface="Calibri"/>
              </a:rPr>
              <a:t>Septième niveau de plan</a:t>
            </a:r>
            <a:endParaRPr lang="fr-FR" sz="3200" b="0" u="none" strike="noStrike">
              <a:solidFill>
                <a:schemeClr val="dk1"/>
              </a:solidFill>
              <a:effectLst/>
              <a:uFillTx/>
              <a:latin typeface="Calibri"/>
            </a:endParaRPr>
          </a:p>
        </p:txBody>
      </p:sp>
      <p:sp>
        <p:nvSpPr>
          <p:cNvPr id="15" name="PlaceHolder 3"/>
          <p:cNvSpPr>
            <a:spLocks noGrp="1"/>
          </p:cNvSpPr>
          <p:nvPr>
            <p:ph type="body"/>
          </p:nvPr>
        </p:nvSpPr>
        <p:spPr>
          <a:xfrm>
            <a:off x="1792440" y="5367240"/>
            <a:ext cx="5485680" cy="80424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fr-FR"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fr-FR" sz="1400" b="0" u="none" strike="noStrike">
                <a:solidFill>
                  <a:schemeClr val="dk1"/>
                </a:solidFill>
                <a:effectLst/>
                <a:uFillTx/>
                <a:latin typeface="Calibri"/>
              </a:rPr>
              <a:t>Click to edit Master text styles</a:t>
            </a:r>
            <a:endParaRPr lang="fr-FR" sz="1400" b="0" u="none" strike="noStrike">
              <a:solidFill>
                <a:schemeClr val="dk1"/>
              </a:solidFill>
              <a:effectLst/>
              <a:uFillTx/>
              <a:latin typeface="Calibri"/>
            </a:endParaRPr>
          </a:p>
        </p:txBody>
      </p:sp>
      <p:sp>
        <p:nvSpPr>
          <p:cNvPr id="16" name="PlaceHolder 4"/>
          <p:cNvSpPr>
            <a:spLocks noGrp="1"/>
          </p:cNvSpPr>
          <p:nvPr>
            <p:ph type="dt" idx="7"/>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17" name="PlaceHolder 5"/>
          <p:cNvSpPr>
            <a:spLocks noGrp="1"/>
          </p:cNvSpPr>
          <p:nvPr>
            <p:ph type="ftr" idx="8"/>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18" name="PlaceHolder 6"/>
          <p:cNvSpPr>
            <a:spLocks noGrp="1"/>
          </p:cNvSpPr>
          <p:nvPr>
            <p:ph type="sldNum" idx="9"/>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6920E99-7989-4824-9051-37EF84011CB5}"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685800" y="2130480"/>
            <a:ext cx="7771680" cy="14691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20" name="PlaceHolder 2"/>
          <p:cNvSpPr>
            <a:spLocks noGrp="1"/>
          </p:cNvSpPr>
          <p:nvPr>
            <p:ph type="dt" idx="10"/>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21" name="PlaceHolder 3"/>
          <p:cNvSpPr>
            <a:spLocks noGrp="1"/>
          </p:cNvSpPr>
          <p:nvPr>
            <p:ph type="ftr" idx="1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22" name="PlaceHolder 4"/>
          <p:cNvSpPr>
            <a:spLocks noGrp="1"/>
          </p:cNvSpPr>
          <p:nvPr>
            <p:ph type="sldNum" idx="1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62A0559-B1B3-4716-A624-42B3678D4E42}"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24"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fr-FR"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fr-FR" sz="3200" b="0" u="none" strike="noStrike">
                <a:solidFill>
                  <a:schemeClr val="dk1"/>
                </a:solidFill>
                <a:effectLst/>
                <a:uFillTx/>
                <a:latin typeface="Calibri"/>
              </a:rPr>
              <a:t>Click to edit Master text styles</a:t>
            </a:r>
            <a:endParaRPr lang="fr-FR"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Second level</a:t>
            </a:r>
            <a:endParaRPr lang="fr-FR"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Third level</a:t>
            </a:r>
            <a:endParaRPr lang="fr-FR"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Fourth level</a:t>
            </a:r>
            <a:endParaRPr lang="fr-FR"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Fifth level</a:t>
            </a:r>
            <a:endParaRPr lang="fr-FR" sz="2000" b="0" u="none" strike="noStrike">
              <a:solidFill>
                <a:schemeClr val="dk1"/>
              </a:solidFill>
              <a:effectLst/>
              <a:uFillTx/>
              <a:latin typeface="Calibri"/>
            </a:endParaRPr>
          </a:p>
        </p:txBody>
      </p:sp>
      <p:sp>
        <p:nvSpPr>
          <p:cNvPr id="25" name="PlaceHolder 3"/>
          <p:cNvSpPr>
            <a:spLocks noGrp="1"/>
          </p:cNvSpPr>
          <p:nvPr>
            <p:ph type="dt" idx="13"/>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27" name="PlaceHolder 5"/>
          <p:cNvSpPr>
            <a:spLocks noGrp="1"/>
          </p:cNvSpPr>
          <p:nvPr>
            <p:ph type="sldNum" idx="1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45866474-3E44-4644-B938-2EF9223592B7}"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6629400" y="274680"/>
            <a:ext cx="2056680" cy="585072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29" name="PlaceHolder 2"/>
          <p:cNvSpPr>
            <a:spLocks noGrp="1"/>
          </p:cNvSpPr>
          <p:nvPr>
            <p:ph type="body"/>
          </p:nvPr>
        </p:nvSpPr>
        <p:spPr>
          <a:xfrm>
            <a:off x="457200" y="274680"/>
            <a:ext cx="6019200" cy="585072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fr-FR"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fr-FR" sz="3200" b="0" u="none" strike="noStrike">
                <a:solidFill>
                  <a:schemeClr val="dk1"/>
                </a:solidFill>
                <a:effectLst/>
                <a:uFillTx/>
                <a:latin typeface="Calibri"/>
              </a:rPr>
              <a:t>Click to edit Master text styles</a:t>
            </a:r>
            <a:endParaRPr lang="fr-FR"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Second level</a:t>
            </a:r>
            <a:endParaRPr lang="fr-FR"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Third level</a:t>
            </a:r>
            <a:endParaRPr lang="fr-FR"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Fourth level</a:t>
            </a:r>
            <a:endParaRPr lang="fr-FR"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Fifth level</a:t>
            </a:r>
            <a:endParaRPr lang="fr-FR" sz="2000" b="0" u="none" strike="noStrike">
              <a:solidFill>
                <a:schemeClr val="dk1"/>
              </a:solidFill>
              <a:effectLst/>
              <a:uFillTx/>
              <a:latin typeface="Calibri"/>
            </a:endParaRPr>
          </a:p>
        </p:txBody>
      </p:sp>
      <p:sp>
        <p:nvSpPr>
          <p:cNvPr id="30" name="PlaceHolder 3"/>
          <p:cNvSpPr>
            <a:spLocks noGrp="1"/>
          </p:cNvSpPr>
          <p:nvPr>
            <p:ph type="dt" idx="16"/>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32" name="PlaceHolder 5"/>
          <p:cNvSpPr>
            <a:spLocks noGrp="1"/>
          </p:cNvSpPr>
          <p:nvPr>
            <p:ph type="sldNum" idx="18"/>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0586439-C2A6-40A7-AC6A-68B2EC695464}"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34"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fr-FR"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fr-FR" sz="3200" b="0" u="none" strike="noStrike">
                <a:solidFill>
                  <a:schemeClr val="dk1"/>
                </a:solidFill>
                <a:effectLst/>
                <a:uFillTx/>
                <a:latin typeface="Calibri"/>
              </a:rPr>
              <a:t>Click to edit Master text styles</a:t>
            </a:r>
            <a:endParaRPr lang="fr-FR"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Second level</a:t>
            </a:r>
            <a:endParaRPr lang="fr-FR"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Third level</a:t>
            </a:r>
            <a:endParaRPr lang="fr-FR"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Fourth level</a:t>
            </a:r>
            <a:endParaRPr lang="fr-FR"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Fifth level</a:t>
            </a:r>
            <a:endParaRPr lang="fr-FR" sz="2000" b="0" u="none" strike="noStrike">
              <a:solidFill>
                <a:schemeClr val="dk1"/>
              </a:solidFill>
              <a:effectLst/>
              <a:uFillTx/>
              <a:latin typeface="Calibri"/>
            </a:endParaRPr>
          </a:p>
        </p:txBody>
      </p:sp>
      <p:sp>
        <p:nvSpPr>
          <p:cNvPr id="35" name="PlaceHolder 3"/>
          <p:cNvSpPr>
            <a:spLocks noGrp="1"/>
          </p:cNvSpPr>
          <p:nvPr>
            <p:ph type="dt" idx="19"/>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36" name="PlaceHolder 4"/>
          <p:cNvSpPr>
            <a:spLocks noGrp="1"/>
          </p:cNvSpPr>
          <p:nvPr>
            <p:ph type="ftr" idx="20"/>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37" name="PlaceHolder 5"/>
          <p:cNvSpPr>
            <a:spLocks noGrp="1"/>
          </p:cNvSpPr>
          <p:nvPr>
            <p:ph type="sldNum" idx="21"/>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4936F0DC-6675-44D2-99AD-A5D5197359FE}"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722160" y="4406760"/>
            <a:ext cx="7771680" cy="13615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fr-FR" sz="4000" b="1" u="none" strike="noStrike" cap="all">
                <a:solidFill>
                  <a:schemeClr val="dk1"/>
                </a:solidFill>
                <a:effectLst/>
                <a:uFillTx/>
                <a:latin typeface="Calibri"/>
              </a:defRPr>
            </a:lvl1pPr>
          </a:lstStyle>
          <a:p>
            <a:pPr indent="0" algn="l" defTabSz="457200">
              <a:lnSpc>
                <a:spcPct val="100000"/>
              </a:lnSpc>
              <a:buNone/>
              <a:tabLst>
                <a:tab pos="0" algn="l"/>
              </a:tabLst>
            </a:pPr>
            <a:r>
              <a:rPr lang="fr-FR" sz="4000" b="1" u="none" strike="noStrike" cap="all">
                <a:solidFill>
                  <a:schemeClr val="dk1"/>
                </a:solidFill>
                <a:effectLst/>
                <a:uFillTx/>
                <a:latin typeface="Calibri"/>
              </a:rPr>
              <a:t>Click to edit Master title style</a:t>
            </a:r>
            <a:endParaRPr lang="fr-FR" sz="4000" b="1" u="none" strike="noStrike" cap="all">
              <a:solidFill>
                <a:schemeClr val="dk1"/>
              </a:solidFill>
              <a:effectLst/>
              <a:uFillTx/>
              <a:latin typeface="Calibri"/>
            </a:endParaRPr>
          </a:p>
        </p:txBody>
      </p:sp>
      <p:sp>
        <p:nvSpPr>
          <p:cNvPr id="39" name="PlaceHolder 2"/>
          <p:cNvSpPr>
            <a:spLocks noGrp="1"/>
          </p:cNvSpPr>
          <p:nvPr>
            <p:ph type="body"/>
          </p:nvPr>
        </p:nvSpPr>
        <p:spPr>
          <a:xfrm>
            <a:off x="722160" y="2906640"/>
            <a:ext cx="7771680" cy="149940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fr-FR"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fr-FR" sz="2000" b="0" u="none" strike="noStrike">
                <a:solidFill>
                  <a:schemeClr val="dk1">
                    <a:tint val="75000"/>
                  </a:schemeClr>
                </a:solidFill>
                <a:effectLst/>
                <a:uFillTx/>
                <a:latin typeface="Calibri"/>
              </a:rPr>
              <a:t>Click to edit Master text styles</a:t>
            </a:r>
            <a:endParaRPr lang="fr-FR" sz="2000" b="0" u="none" strike="noStrike">
              <a:solidFill>
                <a:schemeClr val="dk1">
                  <a:tint val="75000"/>
                </a:schemeClr>
              </a:solidFill>
              <a:effectLst/>
              <a:uFillTx/>
              <a:latin typeface="Calibri"/>
            </a:endParaRPr>
          </a:p>
        </p:txBody>
      </p:sp>
      <p:sp>
        <p:nvSpPr>
          <p:cNvPr id="40" name="PlaceHolder 3"/>
          <p:cNvSpPr>
            <a:spLocks noGrp="1"/>
          </p:cNvSpPr>
          <p:nvPr>
            <p:ph type="dt" idx="22"/>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41" name="PlaceHolder 4"/>
          <p:cNvSpPr>
            <a:spLocks noGrp="1"/>
          </p:cNvSpPr>
          <p:nvPr>
            <p:ph type="ftr" idx="23"/>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42" name="PlaceHolder 5"/>
          <p:cNvSpPr>
            <a:spLocks noGrp="1"/>
          </p:cNvSpPr>
          <p:nvPr>
            <p:ph type="sldNum" idx="24"/>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A77D1EF-7156-443E-BB3A-B2CDE56E0486}"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44" name="PlaceHolder 2"/>
          <p:cNvSpPr>
            <a:spLocks noGrp="1"/>
          </p:cNvSpPr>
          <p:nvPr>
            <p:ph type="body"/>
          </p:nvPr>
        </p:nvSpPr>
        <p:spPr>
          <a:xfrm>
            <a:off x="45720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fr-FR"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fr-FR"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Click to edit Master text styles</a:t>
            </a:r>
            <a:endParaRPr lang="fr-FR"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Second level</a:t>
            </a:r>
            <a:endParaRPr lang="fr-FR"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Third level</a:t>
            </a:r>
            <a:endParaRPr lang="fr-FR"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fr-FR" sz="1800" b="0" u="none" strike="noStrike">
                <a:solidFill>
                  <a:schemeClr val="dk1"/>
                </a:solidFill>
                <a:effectLst/>
                <a:uFillTx/>
                <a:latin typeface="Calibri"/>
              </a:rPr>
              <a:t>Fourth level</a:t>
            </a:r>
            <a:endParaRPr lang="fr-FR"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fr-FR" sz="1800" b="0" u="none" strike="noStrike">
                <a:solidFill>
                  <a:schemeClr val="dk1"/>
                </a:solidFill>
                <a:effectLst/>
                <a:uFillTx/>
                <a:latin typeface="Calibri"/>
              </a:rPr>
              <a:t>Fifth level</a:t>
            </a:r>
            <a:endParaRPr lang="fr-FR" sz="1800" b="0" u="none" strike="noStrike">
              <a:solidFill>
                <a:schemeClr val="dk1"/>
              </a:solidFill>
              <a:effectLst/>
              <a:uFillTx/>
              <a:latin typeface="Calibri"/>
            </a:endParaRPr>
          </a:p>
        </p:txBody>
      </p:sp>
      <p:sp>
        <p:nvSpPr>
          <p:cNvPr id="45" name="PlaceHolder 3"/>
          <p:cNvSpPr>
            <a:spLocks noGrp="1"/>
          </p:cNvSpPr>
          <p:nvPr>
            <p:ph type="body"/>
          </p:nvPr>
        </p:nvSpPr>
        <p:spPr>
          <a:xfrm>
            <a:off x="464832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fr-FR"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fr-FR"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fr-FR"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fr-FR"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fr-FR"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fr-FR" sz="2800" b="0" u="none" strike="noStrike">
                <a:solidFill>
                  <a:schemeClr val="dk1"/>
                </a:solidFill>
                <a:effectLst/>
                <a:uFillTx/>
                <a:latin typeface="Calibri"/>
              </a:rPr>
              <a:t>Click to edit Master text styles</a:t>
            </a:r>
            <a:endParaRPr lang="fr-FR"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fr-FR" sz="2400" b="0" u="none" strike="noStrike">
                <a:solidFill>
                  <a:schemeClr val="dk1"/>
                </a:solidFill>
                <a:effectLst/>
                <a:uFillTx/>
                <a:latin typeface="Calibri"/>
              </a:rPr>
              <a:t>Second level</a:t>
            </a:r>
            <a:endParaRPr lang="fr-FR"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fr-FR" sz="2000" b="0" u="none" strike="noStrike">
                <a:solidFill>
                  <a:schemeClr val="dk1"/>
                </a:solidFill>
                <a:effectLst/>
                <a:uFillTx/>
                <a:latin typeface="Calibri"/>
              </a:rPr>
              <a:t>Third level</a:t>
            </a:r>
            <a:endParaRPr lang="fr-FR"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fr-FR" sz="1800" b="0" u="none" strike="noStrike">
                <a:solidFill>
                  <a:schemeClr val="dk1"/>
                </a:solidFill>
                <a:effectLst/>
                <a:uFillTx/>
                <a:latin typeface="Calibri"/>
              </a:rPr>
              <a:t>Fourth level</a:t>
            </a:r>
            <a:endParaRPr lang="fr-FR"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fr-FR" sz="1800" b="0" u="none" strike="noStrike">
                <a:solidFill>
                  <a:schemeClr val="dk1"/>
                </a:solidFill>
                <a:effectLst/>
                <a:uFillTx/>
                <a:latin typeface="Calibri"/>
              </a:rPr>
              <a:t>Fifth level</a:t>
            </a:r>
            <a:endParaRPr lang="fr-FR" sz="1800" b="0" u="none" strike="noStrike">
              <a:solidFill>
                <a:schemeClr val="dk1"/>
              </a:solidFill>
              <a:effectLst/>
              <a:uFillTx/>
              <a:latin typeface="Calibri"/>
            </a:endParaRPr>
          </a:p>
        </p:txBody>
      </p:sp>
      <p:sp>
        <p:nvSpPr>
          <p:cNvPr id="46" name="PlaceHolder 4"/>
          <p:cNvSpPr>
            <a:spLocks noGrp="1"/>
          </p:cNvSpPr>
          <p:nvPr>
            <p:ph type="dt" idx="25"/>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47" name="PlaceHolder 5"/>
          <p:cNvSpPr>
            <a:spLocks noGrp="1"/>
          </p:cNvSpPr>
          <p:nvPr>
            <p:ph type="ftr" idx="26"/>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48" name="PlaceHolder 6"/>
          <p:cNvSpPr>
            <a:spLocks noGrp="1"/>
          </p:cNvSpPr>
          <p:nvPr>
            <p:ph type="sldNum" idx="27"/>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2F41ADB-C9A4-462E-BE98-4316ED89BE9A}"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50" name="PlaceHolder 2"/>
          <p:cNvSpPr>
            <a:spLocks noGrp="1"/>
          </p:cNvSpPr>
          <p:nvPr>
            <p:ph type="body"/>
          </p:nvPr>
        </p:nvSpPr>
        <p:spPr>
          <a:xfrm>
            <a:off x="457200" y="1535040"/>
            <a:ext cx="4039560" cy="63900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fr-FR"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fr-FR" sz="2400" b="1" u="none" strike="noStrike">
                <a:solidFill>
                  <a:schemeClr val="dk1"/>
                </a:solidFill>
                <a:effectLst/>
                <a:uFillTx/>
                <a:latin typeface="Calibri"/>
              </a:rPr>
              <a:t>Click to edit Master text styles</a:t>
            </a:r>
            <a:endParaRPr lang="fr-FR" sz="2400" b="0" u="none" strike="noStrike">
              <a:solidFill>
                <a:schemeClr val="dk1"/>
              </a:solidFill>
              <a:effectLst/>
              <a:uFillTx/>
              <a:latin typeface="Calibri"/>
            </a:endParaRPr>
          </a:p>
        </p:txBody>
      </p:sp>
      <p:sp>
        <p:nvSpPr>
          <p:cNvPr id="51" name="PlaceHolder 3"/>
          <p:cNvSpPr>
            <a:spLocks noGrp="1"/>
          </p:cNvSpPr>
          <p:nvPr>
            <p:ph type="body"/>
          </p:nvPr>
        </p:nvSpPr>
        <p:spPr>
          <a:xfrm>
            <a:off x="457200" y="2174760"/>
            <a:ext cx="403956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fr-FR"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fr-FR"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fr-FR"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fr-FR"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fr-FR"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fr-FR" sz="2400" b="0" u="none" strike="noStrike">
                <a:solidFill>
                  <a:schemeClr val="dk1"/>
                </a:solidFill>
                <a:effectLst/>
                <a:uFillTx/>
                <a:latin typeface="Calibri"/>
              </a:rPr>
              <a:t>Click to edit Master text styles</a:t>
            </a:r>
            <a:endParaRPr lang="fr-FR"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fr-FR" sz="2000" b="0" u="none" strike="noStrike">
                <a:solidFill>
                  <a:schemeClr val="dk1"/>
                </a:solidFill>
                <a:effectLst/>
                <a:uFillTx/>
                <a:latin typeface="Calibri"/>
              </a:rPr>
              <a:t>Second level</a:t>
            </a:r>
            <a:endParaRPr lang="fr-FR"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fr-FR" sz="1800" b="0" u="none" strike="noStrike">
                <a:solidFill>
                  <a:schemeClr val="dk1"/>
                </a:solidFill>
                <a:effectLst/>
                <a:uFillTx/>
                <a:latin typeface="Calibri"/>
              </a:rPr>
              <a:t>Third level</a:t>
            </a:r>
            <a:endParaRPr lang="fr-FR"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fr-FR" sz="1600" b="0" u="none" strike="noStrike">
                <a:solidFill>
                  <a:schemeClr val="dk1"/>
                </a:solidFill>
                <a:effectLst/>
                <a:uFillTx/>
                <a:latin typeface="Calibri"/>
              </a:rPr>
              <a:t>Fourth level</a:t>
            </a:r>
            <a:endParaRPr lang="fr-FR"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fr-FR" sz="1600" b="0" u="none" strike="noStrike">
                <a:solidFill>
                  <a:schemeClr val="dk1"/>
                </a:solidFill>
                <a:effectLst/>
                <a:uFillTx/>
                <a:latin typeface="Calibri"/>
              </a:rPr>
              <a:t>Fifth level</a:t>
            </a:r>
            <a:endParaRPr lang="fr-FR" sz="1600" b="0" u="none" strike="noStrike">
              <a:solidFill>
                <a:schemeClr val="dk1"/>
              </a:solidFill>
              <a:effectLst/>
              <a:uFillTx/>
              <a:latin typeface="Calibri"/>
            </a:endParaRPr>
          </a:p>
        </p:txBody>
      </p:sp>
      <p:sp>
        <p:nvSpPr>
          <p:cNvPr id="52" name="PlaceHolder 4"/>
          <p:cNvSpPr>
            <a:spLocks noGrp="1"/>
          </p:cNvSpPr>
          <p:nvPr>
            <p:ph type="body"/>
          </p:nvPr>
        </p:nvSpPr>
        <p:spPr>
          <a:xfrm>
            <a:off x="4645080" y="1535040"/>
            <a:ext cx="4041000" cy="63900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fr-FR"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fr-FR" sz="2400" b="1" u="none" strike="noStrike">
                <a:solidFill>
                  <a:schemeClr val="dk1"/>
                </a:solidFill>
                <a:effectLst/>
                <a:uFillTx/>
                <a:latin typeface="Calibri"/>
              </a:rPr>
              <a:t>Click to edit Master text styles</a:t>
            </a:r>
            <a:endParaRPr lang="fr-FR" sz="2400" b="0" u="none" strike="noStrike">
              <a:solidFill>
                <a:schemeClr val="dk1"/>
              </a:solidFill>
              <a:effectLst/>
              <a:uFillTx/>
              <a:latin typeface="Calibri"/>
            </a:endParaRPr>
          </a:p>
        </p:txBody>
      </p:sp>
      <p:sp>
        <p:nvSpPr>
          <p:cNvPr id="53" name="PlaceHolder 5"/>
          <p:cNvSpPr>
            <a:spLocks noGrp="1"/>
          </p:cNvSpPr>
          <p:nvPr>
            <p:ph type="body"/>
          </p:nvPr>
        </p:nvSpPr>
        <p:spPr>
          <a:xfrm>
            <a:off x="4645080" y="2174760"/>
            <a:ext cx="404100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fr-FR"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fr-FR"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fr-FR"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fr-FR"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fr-FR"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fr-FR" sz="2400" b="0" u="none" strike="noStrike">
                <a:solidFill>
                  <a:schemeClr val="dk1"/>
                </a:solidFill>
                <a:effectLst/>
                <a:uFillTx/>
                <a:latin typeface="Calibri"/>
              </a:rPr>
              <a:t>Click to edit Master text styles</a:t>
            </a:r>
            <a:endParaRPr lang="fr-FR"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fr-FR" sz="2000" b="0" u="none" strike="noStrike">
                <a:solidFill>
                  <a:schemeClr val="dk1"/>
                </a:solidFill>
                <a:effectLst/>
                <a:uFillTx/>
                <a:latin typeface="Calibri"/>
              </a:rPr>
              <a:t>Second level</a:t>
            </a:r>
            <a:endParaRPr lang="fr-FR"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fr-FR" sz="1800" b="0" u="none" strike="noStrike">
                <a:solidFill>
                  <a:schemeClr val="dk1"/>
                </a:solidFill>
                <a:effectLst/>
                <a:uFillTx/>
                <a:latin typeface="Calibri"/>
              </a:rPr>
              <a:t>Third level</a:t>
            </a:r>
            <a:endParaRPr lang="fr-FR"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fr-FR" sz="1600" b="0" u="none" strike="noStrike">
                <a:solidFill>
                  <a:schemeClr val="dk1"/>
                </a:solidFill>
                <a:effectLst/>
                <a:uFillTx/>
                <a:latin typeface="Calibri"/>
              </a:rPr>
              <a:t>Fourth level</a:t>
            </a:r>
            <a:endParaRPr lang="fr-FR"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fr-FR" sz="1600" b="0" u="none" strike="noStrike">
                <a:solidFill>
                  <a:schemeClr val="dk1"/>
                </a:solidFill>
                <a:effectLst/>
                <a:uFillTx/>
                <a:latin typeface="Calibri"/>
              </a:rPr>
              <a:t>Fifth level</a:t>
            </a:r>
            <a:endParaRPr lang="fr-FR" sz="1600" b="0" u="none" strike="noStrike">
              <a:solidFill>
                <a:schemeClr val="dk1"/>
              </a:solidFill>
              <a:effectLst/>
              <a:uFillTx/>
              <a:latin typeface="Calibri"/>
            </a:endParaRPr>
          </a:p>
        </p:txBody>
      </p:sp>
      <p:sp>
        <p:nvSpPr>
          <p:cNvPr id="54" name="PlaceHolder 6"/>
          <p:cNvSpPr>
            <a:spLocks noGrp="1"/>
          </p:cNvSpPr>
          <p:nvPr>
            <p:ph type="dt" idx="28"/>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5" name="PlaceHolder 7"/>
          <p:cNvSpPr>
            <a:spLocks noGrp="1"/>
          </p:cNvSpPr>
          <p:nvPr>
            <p:ph type="ftr" idx="29"/>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56" name="PlaceHolder 8"/>
          <p:cNvSpPr>
            <a:spLocks noGrp="1"/>
          </p:cNvSpPr>
          <p:nvPr>
            <p:ph type="sldNum" idx="30"/>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B2F410F-43F7-4A61-A303-1B306D3721BB}"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fr-FR" sz="4400" b="0" u="none" strike="noStrike">
                <a:solidFill>
                  <a:schemeClr val="dk1"/>
                </a:solidFill>
                <a:effectLst/>
                <a:uFillTx/>
                <a:latin typeface="Calibri"/>
              </a:defRPr>
            </a:lvl1pPr>
          </a:lstStyle>
          <a:p>
            <a:pPr indent="0" algn="ctr" defTabSz="457200">
              <a:lnSpc>
                <a:spcPct val="100000"/>
              </a:lnSpc>
              <a:buNone/>
              <a:tabLst>
                <a:tab pos="0" algn="l"/>
              </a:tabLst>
            </a:pPr>
            <a:r>
              <a:rPr lang="fr-FR" sz="4400" b="0" u="none" strike="noStrike">
                <a:solidFill>
                  <a:schemeClr val="dk1"/>
                </a:solidFill>
                <a:effectLst/>
                <a:uFillTx/>
                <a:latin typeface="Calibri"/>
              </a:rPr>
              <a:t>Click to edit Master title style</a:t>
            </a:r>
            <a:endParaRPr lang="fr-FR" sz="4400" b="0" u="none" strike="noStrike">
              <a:solidFill>
                <a:schemeClr val="dk1"/>
              </a:solidFill>
              <a:effectLst/>
              <a:uFillTx/>
              <a:latin typeface="Calibri"/>
            </a:endParaRPr>
          </a:p>
        </p:txBody>
      </p:sp>
      <p:sp>
        <p:nvSpPr>
          <p:cNvPr id="58" name="PlaceHolder 2"/>
          <p:cNvSpPr>
            <a:spLocks noGrp="1"/>
          </p:cNvSpPr>
          <p:nvPr>
            <p:ph type="dt" idx="3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fr-FR"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9" name="PlaceHolder 3"/>
          <p:cNvSpPr>
            <a:spLocks noGrp="1"/>
          </p:cNvSpPr>
          <p:nvPr>
            <p:ph type="ftr" idx="32"/>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fr-FR" sz="1400" b="0" u="none" strike="noStrike">
                <a:solidFill>
                  <a:srgbClr val="000000"/>
                </a:solidFill>
                <a:effectLst/>
                <a:uFillTx/>
                <a:latin typeface="Times New Roman"/>
              </a:defRPr>
            </a:lvl1pPr>
          </a:lstStyle>
          <a:p>
            <a:pPr indent="0" algn="ctr">
              <a:lnSpc>
                <a:spcPct val="100000"/>
              </a:lnSpc>
              <a:buNone/>
              <a:tabLst>
                <a:tab pos="0" algn="l"/>
              </a:tabLst>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0" name="PlaceHolder 4"/>
          <p:cNvSpPr>
            <a:spLocks noGrp="1"/>
          </p:cNvSpPr>
          <p:nvPr>
            <p:ph type="sldNum" idx="3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fr-FR"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8BE8328-663A-4E4C-881C-A2FBCB9018CD}" type="slidenum">
              <a:rPr lang="fr-FR"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A4A"/>
        </a:solidFill>
      </p:bgPr>
    </p:bg>
    <p:spTree>
      <p:nvGrpSpPr>
        <p:cNvPr id="1" name=""/>
        <p:cNvGrpSpPr/>
        <p:nvPr/>
      </p:nvGrpSpPr>
      <p:grpSpPr>
        <a:xfrm>
          <a:off x="0" y="0"/>
          <a:ext cx="0" cy="0"/>
          <a:chOff x="0" y="0"/>
          <a:chExt cx="0" cy="0"/>
        </a:xfrm>
      </p:grpSpPr>
      <p:sp>
        <p:nvSpPr>
          <p:cNvPr id="67" name="TextBox 1"/>
          <p:cNvSpPr/>
          <p:nvPr/>
        </p:nvSpPr>
        <p:spPr>
          <a:xfrm>
            <a:off x="640080" y="640080"/>
            <a:ext cx="8228880" cy="31932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300" b="1" u="none" spc="201" strike="noStrike">
                <a:solidFill>
                  <a:srgbClr val="2DBE8C"/>
                </a:solidFill>
                <a:effectLst/>
                <a:uFillTx/>
                <a:latin typeface="Calibri"/>
              </a:rPr>
              <a:t>SPOTIFY - DATA &amp; AI GOVERNANCE PROJECT</a:t>
            </a:r>
            <a:endParaRPr lang="fr-FR" sz="1300" b="0" u="none" strike="noStrike">
              <a:solidFill>
                <a:srgbClr val="FFFFFF"/>
              </a:solidFill>
              <a:effectLst/>
              <a:uFillTx/>
              <a:latin typeface="Arial"/>
            </a:endParaRPr>
          </a:p>
        </p:txBody>
      </p:sp>
      <p:sp>
        <p:nvSpPr>
          <p:cNvPr id="68" name="TextBox 2"/>
          <p:cNvSpPr/>
          <p:nvPr/>
        </p:nvSpPr>
        <p:spPr>
          <a:xfrm>
            <a:off x="640080" y="1188720"/>
            <a:ext cx="9143280" cy="913680"/>
          </a:xfrm>
          <a:prstGeom prst="rect">
            <a:avLst/>
          </a:prstGeom>
          <a:noFill/>
          <a:ln w="0">
            <a:noFill/>
          </a:ln>
        </p:spPr>
        <p:style>
          <a:lnRef idx="0"/>
          <a:fillRef idx="0"/>
          <a:effectRef idx="0"/>
          <a:fontRef idx="minor"/>
        </p:style>
        <p:txBody>
          <a:bodyPr lIns="0" tIns="0" rIns="0" bIns="0" anchor="t">
            <a:noAutofit/>
          </a:bodyPr>
          <a:p>
            <a:pPr defTabSz="457200">
              <a:lnSpc>
                <a:spcPct val="105000"/>
              </a:lnSpc>
            </a:pPr>
            <a:r>
              <a:rPr lang="fr-FR" sz="3600" b="1" u="none" strike="noStrike">
                <a:solidFill>
                  <a:srgbClr val="FFFFFF"/>
                </a:solidFill>
                <a:effectLst/>
                <a:uFillTx/>
                <a:latin typeface="Cambria"/>
              </a:rPr>
              <a:t>Annexes - Slides de Backup</a:t>
            </a:r>
            <a:endParaRPr lang="fr-FR" sz="3600" b="0" u="none" strike="noStrike">
              <a:solidFill>
                <a:srgbClr val="FFFFFF"/>
              </a:solidFill>
              <a:effectLst/>
              <a:uFillTx/>
              <a:latin typeface="Arial"/>
            </a:endParaRPr>
          </a:p>
        </p:txBody>
      </p:sp>
      <p:sp>
        <p:nvSpPr>
          <p:cNvPr id="69" name="TextBox 3"/>
          <p:cNvSpPr/>
          <p:nvPr/>
        </p:nvSpPr>
        <p:spPr>
          <a:xfrm>
            <a:off x="640080" y="2148840"/>
            <a:ext cx="9874800" cy="6393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400" b="0" i="1" u="none" strike="noStrike">
                <a:solidFill>
                  <a:srgbClr val="CADCFC"/>
                </a:solidFill>
                <a:effectLst/>
                <a:uFillTx/>
                <a:latin typeface="Calibri"/>
              </a:rPr>
              <a:t>Slides de réserve destinées à répondre aux questions du Comité Exécutif et du Leadership IA, dans l'esprit du guide [R11], sans alourdir le corps de la présentation [D4].</a:t>
            </a:r>
            <a:endParaRPr lang="fr-FR" sz="1400" b="0" u="none" strike="noStrike">
              <a:solidFill>
                <a:srgbClr val="FFFFFF"/>
              </a:solidFill>
              <a:effectLst/>
              <a:uFillTx/>
              <a:latin typeface="Arial"/>
            </a:endParaRPr>
          </a:p>
        </p:txBody>
      </p:sp>
      <p:sp>
        <p:nvSpPr>
          <p:cNvPr id="70" name="Oval 4"/>
          <p:cNvSpPr/>
          <p:nvPr/>
        </p:nvSpPr>
        <p:spPr>
          <a:xfrm>
            <a:off x="640080" y="309060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71" name="TextBox 5"/>
          <p:cNvSpPr/>
          <p:nvPr/>
        </p:nvSpPr>
        <p:spPr>
          <a:xfrm>
            <a:off x="640080" y="309060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B1</a:t>
            </a:r>
            <a:endParaRPr lang="fr-FR" sz="1100" b="0" u="none" strike="noStrike">
              <a:solidFill>
                <a:srgbClr val="FFFFFF"/>
              </a:solidFill>
              <a:effectLst/>
              <a:uFillTx/>
              <a:latin typeface="Arial"/>
            </a:endParaRPr>
          </a:p>
        </p:txBody>
      </p:sp>
      <p:sp>
        <p:nvSpPr>
          <p:cNvPr id="72" name="TextBox 6"/>
          <p:cNvSpPr/>
          <p:nvPr/>
        </p:nvSpPr>
        <p:spPr>
          <a:xfrm>
            <a:off x="1207080" y="301752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Comparaison des modèles d'organisation</a:t>
            </a:r>
            <a:endParaRPr lang="fr-FR" sz="1050" b="0" u="none" strike="noStrike">
              <a:solidFill>
                <a:srgbClr val="FFFFFF"/>
              </a:solidFill>
              <a:effectLst/>
              <a:uFillTx/>
              <a:latin typeface="Arial"/>
            </a:endParaRPr>
          </a:p>
        </p:txBody>
      </p:sp>
      <p:sp>
        <p:nvSpPr>
          <p:cNvPr id="73" name="Oval 7"/>
          <p:cNvSpPr/>
          <p:nvPr/>
        </p:nvSpPr>
        <p:spPr>
          <a:xfrm>
            <a:off x="4389120" y="309060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74" name="TextBox 8"/>
          <p:cNvSpPr/>
          <p:nvPr/>
        </p:nvSpPr>
        <p:spPr>
          <a:xfrm>
            <a:off x="4389120" y="309060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B2</a:t>
            </a:r>
            <a:endParaRPr lang="fr-FR" sz="1100" b="0" u="none" strike="noStrike">
              <a:solidFill>
                <a:srgbClr val="FFFFFF"/>
              </a:solidFill>
              <a:effectLst/>
              <a:uFillTx/>
              <a:latin typeface="Arial"/>
            </a:endParaRPr>
          </a:p>
        </p:txBody>
      </p:sp>
      <p:sp>
        <p:nvSpPr>
          <p:cNvPr id="75" name="TextBox 9"/>
          <p:cNvSpPr/>
          <p:nvPr/>
        </p:nvSpPr>
        <p:spPr>
          <a:xfrm>
            <a:off x="4956120" y="301752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Justification complète de la sélection d'outils</a:t>
            </a:r>
            <a:endParaRPr lang="fr-FR" sz="1050" b="0" u="none" strike="noStrike">
              <a:solidFill>
                <a:srgbClr val="FFFFFF"/>
              </a:solidFill>
              <a:effectLst/>
              <a:uFillTx/>
              <a:latin typeface="Arial"/>
            </a:endParaRPr>
          </a:p>
        </p:txBody>
      </p:sp>
      <p:sp>
        <p:nvSpPr>
          <p:cNvPr id="76" name="Oval 10"/>
          <p:cNvSpPr/>
          <p:nvPr/>
        </p:nvSpPr>
        <p:spPr>
          <a:xfrm>
            <a:off x="8138160" y="309060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77" name="TextBox 11"/>
          <p:cNvSpPr/>
          <p:nvPr/>
        </p:nvSpPr>
        <p:spPr>
          <a:xfrm>
            <a:off x="8138160" y="309060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B3</a:t>
            </a:r>
            <a:endParaRPr lang="fr-FR" sz="1100" b="0" u="none" strike="noStrike">
              <a:solidFill>
                <a:srgbClr val="FFFFFF"/>
              </a:solidFill>
              <a:effectLst/>
              <a:uFillTx/>
              <a:latin typeface="Arial"/>
            </a:endParaRPr>
          </a:p>
        </p:txBody>
      </p:sp>
      <p:sp>
        <p:nvSpPr>
          <p:cNvPr id="78" name="TextBox 12"/>
          <p:cNvSpPr/>
          <p:nvPr/>
        </p:nvSpPr>
        <p:spPr>
          <a:xfrm>
            <a:off x="8705160" y="301752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Circuit de gouvernance IA - RACI complètes</a:t>
            </a:r>
            <a:endParaRPr lang="fr-FR" sz="1050" b="0" u="none" strike="noStrike">
              <a:solidFill>
                <a:srgbClr val="FFFFFF"/>
              </a:solidFill>
              <a:effectLst/>
              <a:uFillTx/>
              <a:latin typeface="Arial"/>
            </a:endParaRPr>
          </a:p>
        </p:txBody>
      </p:sp>
      <p:sp>
        <p:nvSpPr>
          <p:cNvPr id="79" name="Oval 13"/>
          <p:cNvSpPr/>
          <p:nvPr/>
        </p:nvSpPr>
        <p:spPr>
          <a:xfrm>
            <a:off x="640080" y="403236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80" name="TextBox 14"/>
          <p:cNvSpPr/>
          <p:nvPr/>
        </p:nvSpPr>
        <p:spPr>
          <a:xfrm>
            <a:off x="640080" y="403236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B4</a:t>
            </a:r>
            <a:endParaRPr lang="fr-FR" sz="1100" b="0" u="none" strike="noStrike">
              <a:solidFill>
                <a:srgbClr val="FFFFFF"/>
              </a:solidFill>
              <a:effectLst/>
              <a:uFillTx/>
              <a:latin typeface="Arial"/>
            </a:endParaRPr>
          </a:p>
        </p:txBody>
      </p:sp>
      <p:sp>
        <p:nvSpPr>
          <p:cNvPr id="81" name="TextBox 15"/>
          <p:cNvSpPr/>
          <p:nvPr/>
        </p:nvSpPr>
        <p:spPr>
          <a:xfrm>
            <a:off x="1207080" y="395928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Plan pilote - calendrier détaillé des jalons</a:t>
            </a:r>
            <a:endParaRPr lang="fr-FR" sz="1050" b="0" u="none" strike="noStrike">
              <a:solidFill>
                <a:srgbClr val="FFFFFF"/>
              </a:solidFill>
              <a:effectLst/>
              <a:uFillTx/>
              <a:latin typeface="Arial"/>
            </a:endParaRPr>
          </a:p>
        </p:txBody>
      </p:sp>
      <p:sp>
        <p:nvSpPr>
          <p:cNvPr id="82" name="Oval 16"/>
          <p:cNvSpPr/>
          <p:nvPr/>
        </p:nvSpPr>
        <p:spPr>
          <a:xfrm>
            <a:off x="4389120" y="403236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83" name="TextBox 17"/>
          <p:cNvSpPr/>
          <p:nvPr/>
        </p:nvSpPr>
        <p:spPr>
          <a:xfrm>
            <a:off x="4389120" y="403236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B5</a:t>
            </a:r>
            <a:endParaRPr lang="fr-FR" sz="1100" b="0" u="none" strike="noStrike">
              <a:solidFill>
                <a:srgbClr val="FFFFFF"/>
              </a:solidFill>
              <a:effectLst/>
              <a:uFillTx/>
              <a:latin typeface="Arial"/>
            </a:endParaRPr>
          </a:p>
        </p:txBody>
      </p:sp>
      <p:sp>
        <p:nvSpPr>
          <p:cNvPr id="84" name="TextBox 18"/>
          <p:cNvSpPr/>
          <p:nvPr/>
        </p:nvSpPr>
        <p:spPr>
          <a:xfrm>
            <a:off x="4956120" y="395928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Méthode de mesure des KPIs et du double rattachement</a:t>
            </a:r>
            <a:endParaRPr lang="fr-FR" sz="1050" b="0" u="none" strike="noStrike">
              <a:solidFill>
                <a:srgbClr val="FFFFFF"/>
              </a:solidFill>
              <a:effectLst/>
              <a:uFillTx/>
              <a:latin typeface="Arial"/>
            </a:endParaRPr>
          </a:p>
        </p:txBody>
      </p:sp>
      <p:sp>
        <p:nvSpPr>
          <p:cNvPr id="85" name="Oval 19"/>
          <p:cNvSpPr/>
          <p:nvPr/>
        </p:nvSpPr>
        <p:spPr>
          <a:xfrm>
            <a:off x="8138160" y="403236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86" name="TextBox 20"/>
          <p:cNvSpPr/>
          <p:nvPr/>
        </p:nvSpPr>
        <p:spPr>
          <a:xfrm>
            <a:off x="8138160" y="403236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B6</a:t>
            </a:r>
            <a:endParaRPr lang="fr-FR" sz="1100" b="0" u="none" strike="noStrike">
              <a:solidFill>
                <a:srgbClr val="FFFFFF"/>
              </a:solidFill>
              <a:effectLst/>
              <a:uFillTx/>
              <a:latin typeface="Arial"/>
            </a:endParaRPr>
          </a:p>
        </p:txBody>
      </p:sp>
      <p:sp>
        <p:nvSpPr>
          <p:cNvPr id="87" name="TextBox 21"/>
          <p:cNvSpPr/>
          <p:nvPr/>
        </p:nvSpPr>
        <p:spPr>
          <a:xfrm>
            <a:off x="8705160" y="395928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Gestion des risques du pilote</a:t>
            </a:r>
            <a:endParaRPr lang="fr-FR" sz="1050" b="0" u="none" strike="noStrike">
              <a:solidFill>
                <a:srgbClr val="FFFFFF"/>
              </a:solidFill>
              <a:effectLst/>
              <a:uFillTx/>
              <a:latin typeface="Arial"/>
            </a:endParaRPr>
          </a:p>
        </p:txBody>
      </p:sp>
      <p:sp>
        <p:nvSpPr>
          <p:cNvPr id="88" name="Oval 22"/>
          <p:cNvSpPr/>
          <p:nvPr/>
        </p:nvSpPr>
        <p:spPr>
          <a:xfrm>
            <a:off x="640080" y="497448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89" name="TextBox 23"/>
          <p:cNvSpPr/>
          <p:nvPr/>
        </p:nvSpPr>
        <p:spPr>
          <a:xfrm>
            <a:off x="640080" y="497448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B7</a:t>
            </a:r>
            <a:endParaRPr lang="fr-FR" sz="1100" b="0" u="none" strike="noStrike">
              <a:solidFill>
                <a:srgbClr val="FFFFFF"/>
              </a:solidFill>
              <a:effectLst/>
              <a:uFillTx/>
              <a:latin typeface="Arial"/>
            </a:endParaRPr>
          </a:p>
        </p:txBody>
      </p:sp>
      <p:sp>
        <p:nvSpPr>
          <p:cNvPr id="90" name="TextBox 24"/>
          <p:cNvSpPr/>
          <p:nvPr/>
        </p:nvSpPr>
        <p:spPr>
          <a:xfrm>
            <a:off x="1207080" y="490104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Conditions de passage à l'échelle</a:t>
            </a:r>
            <a:endParaRPr lang="fr-FR" sz="1050" b="0" u="none" strike="noStrike">
              <a:solidFill>
                <a:srgbClr val="FFFFFF"/>
              </a:solidFill>
              <a:effectLst/>
              <a:uFillTx/>
              <a:latin typeface="Arial"/>
            </a:endParaRPr>
          </a:p>
        </p:txBody>
      </p:sp>
      <p:sp>
        <p:nvSpPr>
          <p:cNvPr id="91" name="Oval 25"/>
          <p:cNvSpPr/>
          <p:nvPr/>
        </p:nvSpPr>
        <p:spPr>
          <a:xfrm>
            <a:off x="4389120" y="497448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92" name="TextBox 26"/>
          <p:cNvSpPr/>
          <p:nvPr/>
        </p:nvSpPr>
        <p:spPr>
          <a:xfrm>
            <a:off x="4389120" y="497448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B8</a:t>
            </a:r>
            <a:endParaRPr lang="fr-FR" sz="1100" b="0" u="none" strike="noStrike">
              <a:solidFill>
                <a:srgbClr val="FFFFFF"/>
              </a:solidFill>
              <a:effectLst/>
              <a:uFillTx/>
              <a:latin typeface="Arial"/>
            </a:endParaRPr>
          </a:p>
        </p:txBody>
      </p:sp>
      <p:sp>
        <p:nvSpPr>
          <p:cNvPr id="93" name="TextBox 27"/>
          <p:cNvSpPr/>
          <p:nvPr/>
        </p:nvSpPr>
        <p:spPr>
          <a:xfrm>
            <a:off x="4956120" y="490104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Ajustements attendus au cadre de gouvernance</a:t>
            </a:r>
            <a:endParaRPr lang="fr-FR" sz="1050" b="0" u="none" strike="noStrike">
              <a:solidFill>
                <a:srgbClr val="FFFFFF"/>
              </a:solidFill>
              <a:effectLst/>
              <a:uFillTx/>
              <a:latin typeface="Arial"/>
            </a:endParaRPr>
          </a:p>
        </p:txBody>
      </p:sp>
      <p:sp>
        <p:nvSpPr>
          <p:cNvPr id="94" name="Oval 28"/>
          <p:cNvSpPr/>
          <p:nvPr/>
        </p:nvSpPr>
        <p:spPr>
          <a:xfrm>
            <a:off x="8138160" y="4974480"/>
            <a:ext cx="456480" cy="45648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95" name="TextBox 29"/>
          <p:cNvSpPr/>
          <p:nvPr/>
        </p:nvSpPr>
        <p:spPr>
          <a:xfrm>
            <a:off x="8138160" y="4974480"/>
            <a:ext cx="456480" cy="45648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100" b="1" u="none" strike="noStrike">
                <a:solidFill>
                  <a:srgbClr val="1B2A4A"/>
                </a:solidFill>
                <a:effectLst/>
                <a:uFillTx/>
                <a:latin typeface="Calibri"/>
              </a:rPr>
              <a:t>B9</a:t>
            </a:r>
            <a:endParaRPr lang="fr-FR" sz="1100" b="0" u="none" strike="noStrike">
              <a:solidFill>
                <a:srgbClr val="FFFFFF"/>
              </a:solidFill>
              <a:effectLst/>
              <a:uFillTx/>
              <a:latin typeface="Arial"/>
            </a:endParaRPr>
          </a:p>
        </p:txBody>
      </p:sp>
      <p:sp>
        <p:nvSpPr>
          <p:cNvPr id="96" name="TextBox 30"/>
          <p:cNvSpPr/>
          <p:nvPr/>
        </p:nvSpPr>
        <p:spPr>
          <a:xfrm>
            <a:off x="8705160" y="4901040"/>
            <a:ext cx="29527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u="none" strike="noStrike">
                <a:solidFill>
                  <a:srgbClr val="FFFFFF"/>
                </a:solidFill>
                <a:effectLst/>
                <a:uFillTx/>
                <a:latin typeface="Calibri"/>
              </a:rPr>
              <a:t>Trajectoire de maturité détaillée</a:t>
            </a:r>
            <a:endParaRPr lang="fr-FR" sz="1050" b="0" u="none" strike="noStrike">
              <a:solidFill>
                <a:srgbClr val="FFFFFF"/>
              </a:solidFill>
              <a:effectLst/>
              <a:uFillTx/>
              <a:latin typeface="Arial"/>
            </a:endParaRPr>
          </a:p>
        </p:txBody>
      </p:sp>
      <p:sp>
        <p:nvSpPr>
          <p:cNvPr id="97" name="TextBox 31"/>
          <p:cNvSpPr/>
          <p:nvPr/>
        </p:nvSpPr>
        <p:spPr>
          <a:xfrm>
            <a:off x="640080" y="6473880"/>
            <a:ext cx="8228880" cy="273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050" b="0" u="none" strike="noStrike">
                <a:solidFill>
                  <a:srgbClr val="9FB0C9"/>
                </a:solidFill>
                <a:effectLst/>
                <a:uFillTx/>
                <a:latin typeface="Calibri"/>
                <a:ea typeface="Calibri"/>
              </a:rPr>
              <a:t>Nicolas Pichon --- AIA RNCP 38777 / BC01 / Présentation / Annexes / v5 --- 2026/10/15</a:t>
            </a:r>
            <a:endParaRPr lang="fr-FR" sz="1050" b="0" u="none" strike="noStrike">
              <a:solidFill>
                <a:srgbClr val="FFFFFF"/>
              </a:solidFill>
              <a:effectLst/>
              <a:uFillTx/>
              <a:latin typeface="Arial"/>
            </a:endParaRPr>
          </a:p>
        </p:txBody>
      </p:sp>
      <p:sp>
        <p:nvSpPr>
          <p:cNvPr id="98" name="TextBox 32"/>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9FB0C9"/>
                </a:solidFill>
                <a:effectLst/>
                <a:uFillTx/>
                <a:latin typeface="Calibri"/>
              </a:rPr>
              <a:t>1 / 12</a:t>
            </a:r>
            <a:endParaRPr lang="fr-FR"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99"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B1</a:t>
            </a:r>
            <a:endParaRPr lang="fr-FR" sz="1200" b="0" u="none" strike="noStrike">
              <a:solidFill>
                <a:srgbClr val="000000"/>
              </a:solidFill>
              <a:effectLst/>
              <a:uFillTx/>
              <a:latin typeface="Arial"/>
            </a:endParaRPr>
          </a:p>
        </p:txBody>
      </p:sp>
      <p:sp>
        <p:nvSpPr>
          <p:cNvPr id="100"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Modèles d'organisation de la gouvernance data</a:t>
            </a:r>
            <a:endParaRPr lang="fr-FR" sz="2800" b="0" u="none" strike="noStrike">
              <a:solidFill>
                <a:srgbClr val="000000"/>
              </a:solidFill>
              <a:effectLst/>
              <a:uFillTx/>
              <a:latin typeface="Arial"/>
            </a:endParaRPr>
          </a:p>
        </p:txBody>
      </p:sp>
      <p:pic>
        <p:nvPicPr>
          <p:cNvPr id="101" name="Picture 3" descr="icon_users.png"/>
          <p:cNvPicPr/>
          <p:nvPr/>
        </p:nvPicPr>
        <p:blipFill>
          <a:blip r:embed="rId1"/>
          <a:stretch/>
        </p:blipFill>
        <p:spPr>
          <a:xfrm>
            <a:off x="11140200" y="365760"/>
            <a:ext cx="657720" cy="657720"/>
          </a:xfrm>
          <a:prstGeom prst="rect">
            <a:avLst/>
          </a:prstGeom>
          <a:noFill/>
          <a:ln w="0">
            <a:noFill/>
          </a:ln>
        </p:spPr>
      </p:pic>
      <p:graphicFrame>
        <p:nvGraphicFramePr>
          <p:cNvPr id="102" name="Table 4"/>
          <p:cNvGraphicFramePr/>
          <p:nvPr/>
        </p:nvGraphicFramePr>
        <p:xfrm>
          <a:off x="548640" y="1600200"/>
          <a:ext cx="10515240" cy="1828800"/>
        </p:xfrm>
        <a:graphic>
          <a:graphicData uri="http://schemas.openxmlformats.org/drawingml/2006/table">
            <a:tbl>
              <a:tblPr/>
              <a:tblGrid>
                <a:gridCol w="1554480"/>
                <a:gridCol w="4480560"/>
                <a:gridCol w="4480560"/>
              </a:tblGrid>
              <a:tr h="457200">
                <a:tc>
                  <a:txBody>
                    <a:bodyPr tIns="36360" bIns="36360" anchor="ctr">
                      <a:noAutofit/>
                    </a:bodyPr>
                    <a:p>
                      <a:pPr defTabSz="457200">
                        <a:lnSpc>
                          <a:spcPct val="100000"/>
                        </a:lnSpc>
                      </a:pPr>
                      <a:r>
                        <a:rPr lang="fr-FR" sz="1050" b="1" u="none" strike="noStrike">
                          <a:solidFill>
                            <a:srgbClr val="FFFFFF"/>
                          </a:solidFill>
                          <a:effectLst/>
                          <a:uFillTx/>
                          <a:latin typeface="Calibri"/>
                        </a:rPr>
                        <a:t>Modèle</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50" b="1" u="none" strike="noStrike">
                          <a:solidFill>
                            <a:srgbClr val="FFFFFF"/>
                          </a:solidFill>
                          <a:effectLst/>
                          <a:uFillTx/>
                          <a:latin typeface="Calibri"/>
                        </a:rPr>
                        <a:t>Avantages</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50" b="1" u="none" strike="noStrike">
                          <a:solidFill>
                            <a:srgbClr val="FFFFFF"/>
                          </a:solidFill>
                          <a:effectLst/>
                          <a:uFillTx/>
                          <a:latin typeface="Calibri"/>
                        </a:rPr>
                        <a:t>Limites</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457200">
                <a:tc>
                  <a:txBody>
                    <a:bodyPr tIns="36360" bIns="36360" anchor="ctr">
                      <a:noAutofit/>
                    </a:bodyPr>
                    <a:p>
                      <a:pPr defTabSz="457200">
                        <a:lnSpc>
                          <a:spcPct val="100000"/>
                        </a:lnSpc>
                      </a:pPr>
                      <a:r>
                        <a:rPr lang="fr-FR" sz="1000" b="0" u="none" strike="noStrike">
                          <a:solidFill>
                            <a:srgbClr val="1B2A4A"/>
                          </a:solidFill>
                          <a:effectLst/>
                          <a:uFillTx/>
                          <a:latin typeface="Calibri"/>
                        </a:rPr>
                        <a:t>Centralisé</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Simple à implémenter, priorisation facile</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Déconnexion business/data ; les besoins métier dépassent la capacité de l'équipe centrale</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tIns="36360" bIns="36360" anchor="ctr">
                      <a:noAutofit/>
                    </a:bodyPr>
                    <a:p>
                      <a:pPr defTabSz="457200">
                        <a:lnSpc>
                          <a:spcPct val="100000"/>
                        </a:lnSpc>
                      </a:pPr>
                      <a:r>
                        <a:rPr lang="fr-FR" sz="1000" b="0" u="none" strike="noStrike">
                          <a:solidFill>
                            <a:srgbClr val="1B2A4A"/>
                          </a:solidFill>
                          <a:effectLst/>
                          <a:uFillTx/>
                          <a:latin typeface="Calibri"/>
                        </a:rPr>
                        <a:t>Embarqué</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Agilité, proximité business/data, spécialisation</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Absence de source unique de vérité, silos, difficile à piloter sans bagage technique</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tIns="36360" bIns="36360" anchor="ctr">
                      <a:noAutofit/>
                    </a:bodyPr>
                    <a:p>
                      <a:pPr defTabSz="457200">
                        <a:lnSpc>
                          <a:spcPct val="100000"/>
                        </a:lnSpc>
                      </a:pPr>
                      <a:r>
                        <a:rPr lang="fr-FR" sz="1000" b="0" u="none" strike="noStrike">
                          <a:solidFill>
                            <a:srgbClr val="1B2A4A"/>
                          </a:solidFill>
                          <a:effectLst/>
                          <a:uFillTx/>
                          <a:latin typeface="Calibri"/>
                        </a:rPr>
                        <a:t>Center of Excellence</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Combine les avantages des deux modèles précédents</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00" b="0" u="none" strike="noStrike">
                          <a:solidFill>
                            <a:srgbClr val="1B2A4A"/>
                          </a:solidFill>
                          <a:effectLst/>
                          <a:uFillTx/>
                          <a:latin typeface="Calibri"/>
                        </a:rPr>
                        <a:t>Couche de coordination supplémentaire, peu adaptée aux petites/moyennes structures</a:t>
                      </a:r>
                      <a:endParaRPr lang="fr-FR" sz="10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03" name="TextBox 5"/>
          <p:cNvSpPr/>
          <p:nvPr/>
        </p:nvSpPr>
        <p:spPr>
          <a:xfrm>
            <a:off x="548640" y="3520440"/>
            <a:ext cx="1054224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C8C68"/>
                </a:solidFill>
                <a:effectLst/>
                <a:uFillTx/>
                <a:latin typeface="Calibri"/>
              </a:rPr>
              <a:t>Structure générale du modèle </a:t>
            </a:r>
            <a:r>
              <a:rPr lang="fr-FR" sz="1150" b="1" i="1" u="none" strike="noStrike">
                <a:solidFill>
                  <a:srgbClr val="1C8C68"/>
                </a:solidFill>
                <a:effectLst/>
                <a:uFillTx/>
                <a:latin typeface="Calibri"/>
              </a:rPr>
              <a:t>CoE</a:t>
            </a:r>
            <a:r>
              <a:rPr lang="fr-FR" sz="1150" b="1" u="none" strike="noStrike">
                <a:solidFill>
                  <a:srgbClr val="1C8C68"/>
                </a:solidFill>
                <a:effectLst/>
                <a:uFillTx/>
                <a:latin typeface="Calibri"/>
              </a:rPr>
              <a:t> (dit aussi </a:t>
            </a:r>
            <a:r>
              <a:rPr lang="fr-FR" sz="1150" b="1" i="1" u="none" strike="noStrike">
                <a:solidFill>
                  <a:srgbClr val="1C8C68"/>
                </a:solidFill>
                <a:effectLst/>
                <a:uFillTx/>
                <a:latin typeface="Calibri"/>
              </a:rPr>
              <a:t>hub-and-spoke</a:t>
            </a:r>
            <a:r>
              <a:rPr lang="fr-FR" sz="1150" b="1" u="none" strike="noStrike">
                <a:solidFill>
                  <a:srgbClr val="1C8C68"/>
                </a:solidFill>
                <a:effectLst/>
                <a:uFillTx/>
                <a:latin typeface="Calibri"/>
              </a:rPr>
              <a:t>) :</a:t>
            </a:r>
            <a:endParaRPr lang="fr-FR" sz="1150" b="0" u="none" strike="noStrike">
              <a:solidFill>
                <a:srgbClr val="000000"/>
              </a:solidFill>
              <a:effectLst/>
              <a:uFillTx/>
              <a:latin typeface="Arial"/>
            </a:endParaRPr>
          </a:p>
        </p:txBody>
      </p:sp>
      <p:sp>
        <p:nvSpPr>
          <p:cNvPr id="104" name="TextBox 6"/>
          <p:cNvSpPr/>
          <p:nvPr/>
        </p:nvSpPr>
        <p:spPr>
          <a:xfrm>
            <a:off x="548640" y="3822120"/>
            <a:ext cx="5394240" cy="137088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499"/>
              </a:spcAft>
              <a:buClr>
                <a:srgbClr val="1B2A4A"/>
              </a:buClr>
              <a:buFont typeface="Arial"/>
              <a:buChar char="•"/>
            </a:pPr>
            <a:r>
              <a:rPr lang="fr-FR" sz="980" b="0" u="none" strike="noStrike">
                <a:solidFill>
                  <a:srgbClr val="1B2A4A"/>
                </a:solidFill>
                <a:effectLst/>
                <a:uFillTx/>
                <a:latin typeface="Calibri"/>
              </a:rPr>
              <a:t>Le hub : petite équipe d'experts - standards, briques réutilisables, plateforme technique partagée</a:t>
            </a:r>
            <a:endParaRPr lang="fr-FR" sz="980" b="0" u="none" strike="noStrike">
              <a:solidFill>
                <a:srgbClr val="000000"/>
              </a:solidFill>
              <a:effectLst/>
              <a:uFillTx/>
              <a:latin typeface="Arial"/>
            </a:endParaRPr>
          </a:p>
          <a:p>
            <a:pPr marL="182880" indent="-182880" defTabSz="457200">
              <a:lnSpc>
                <a:spcPct val="100000"/>
              </a:lnSpc>
              <a:spcAft>
                <a:spcPts val="499"/>
              </a:spcAft>
              <a:buClr>
                <a:srgbClr val="1B2A4A"/>
              </a:buClr>
              <a:buFont typeface="Arial"/>
              <a:buChar char="•"/>
            </a:pPr>
            <a:r>
              <a:rPr lang="fr-FR" sz="980" b="0" u="none" strike="noStrike">
                <a:solidFill>
                  <a:srgbClr val="1B2A4A"/>
                </a:solidFill>
                <a:effectLst/>
                <a:uFillTx/>
                <a:latin typeface="Calibri"/>
              </a:rPr>
              <a:t>Les spokes : rôles embarqués dans chaque unité de métier, agilité et connaissance du domaine locale</a:t>
            </a:r>
            <a:endParaRPr lang="fr-FR" sz="98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980" b="0" u="none" strike="noStrike">
                <a:solidFill>
                  <a:srgbClr val="1B2A4A"/>
                </a:solidFill>
                <a:effectLst/>
                <a:uFillTx/>
                <a:latin typeface="Calibri"/>
              </a:rPr>
              <a:t>Le conseil de gouvernance : réuni périodiquement, arbitre priorités et exceptions</a:t>
            </a:r>
            <a:endParaRPr lang="fr-FR" sz="980" b="0" u="none" strike="noStrike">
              <a:solidFill>
                <a:srgbClr val="000000"/>
              </a:solidFill>
              <a:effectLst/>
              <a:uFillTx/>
              <a:latin typeface="Arial"/>
            </a:endParaRPr>
          </a:p>
        </p:txBody>
      </p:sp>
      <p:sp>
        <p:nvSpPr>
          <p:cNvPr id="105" name="TextBox 7"/>
          <p:cNvSpPr/>
          <p:nvPr/>
        </p:nvSpPr>
        <p:spPr>
          <a:xfrm>
            <a:off x="548640" y="5166360"/>
            <a:ext cx="5394240" cy="36504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80" b="0" i="1" u="none" strike="noStrike">
                <a:solidFill>
                  <a:srgbClr val="5B6B84"/>
                </a:solidFill>
                <a:effectLst/>
                <a:uFillTx/>
                <a:latin typeface="Calibri"/>
              </a:rPr>
              <a:t>Principe : « gouverner et outiller au centre, exécuter à la périphérie »</a:t>
            </a:r>
            <a:endParaRPr lang="fr-FR" sz="980" b="0" u="none" strike="noStrike">
              <a:solidFill>
                <a:srgbClr val="000000"/>
              </a:solidFill>
              <a:effectLst/>
              <a:uFillTx/>
              <a:latin typeface="Arial"/>
            </a:endParaRPr>
          </a:p>
        </p:txBody>
      </p:sp>
      <p:sp>
        <p:nvSpPr>
          <p:cNvPr id="106" name="TextBox 8"/>
          <p:cNvSpPr/>
          <p:nvPr/>
        </p:nvSpPr>
        <p:spPr>
          <a:xfrm>
            <a:off x="6172200" y="3520440"/>
            <a:ext cx="539424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C8C68"/>
                </a:solidFill>
                <a:effectLst/>
                <a:uFillTx/>
                <a:latin typeface="Calibri"/>
              </a:rPr>
              <a:t>Analyse d'adéquation au cas </a:t>
            </a:r>
            <a:r>
              <a:rPr lang="fr-FR" sz="1150" b="1" i="1" u="none" strike="noStrike">
                <a:solidFill>
                  <a:srgbClr val="1C8C68"/>
                </a:solidFill>
                <a:effectLst/>
                <a:uFillTx/>
                <a:latin typeface="Calibri"/>
              </a:rPr>
              <a:t>Spotify</a:t>
            </a:r>
            <a:r>
              <a:rPr lang="fr-FR" sz="1150" b="1" u="none" strike="noStrike">
                <a:solidFill>
                  <a:srgbClr val="1C8C68"/>
                </a:solidFill>
                <a:effectLst/>
                <a:uFillTx/>
                <a:latin typeface="Calibri"/>
              </a:rPr>
              <a:t> - deux écarts assumés :</a:t>
            </a:r>
            <a:endParaRPr lang="fr-FR" sz="1150" b="0" u="none" strike="noStrike">
              <a:solidFill>
                <a:srgbClr val="000000"/>
              </a:solidFill>
              <a:effectLst/>
              <a:uFillTx/>
              <a:latin typeface="Arial"/>
            </a:endParaRPr>
          </a:p>
        </p:txBody>
      </p:sp>
      <p:sp>
        <p:nvSpPr>
          <p:cNvPr id="107" name="TextBox 9"/>
          <p:cNvSpPr/>
          <p:nvPr/>
        </p:nvSpPr>
        <p:spPr>
          <a:xfrm>
            <a:off x="6172200" y="3822120"/>
            <a:ext cx="5394240" cy="210240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499"/>
              </a:spcAft>
              <a:buClr>
                <a:srgbClr val="1B2A4A"/>
              </a:buClr>
              <a:buFont typeface="Arial"/>
              <a:buChar char="•"/>
            </a:pPr>
            <a:r>
              <a:rPr lang="fr-FR" sz="950" b="0" u="none" strike="noStrike">
                <a:solidFill>
                  <a:srgbClr val="1B2A4A"/>
                </a:solidFill>
                <a:effectLst/>
                <a:uFillTx/>
                <a:latin typeface="Calibri"/>
              </a:rPr>
              <a:t>Centralisé écarté : isolerait la fonction data, retirerait aux DO l'autorité de proximité (E1)</a:t>
            </a:r>
            <a:endParaRPr lang="fr-FR" sz="950" b="0" u="none" strike="noStrike">
              <a:solidFill>
                <a:srgbClr val="000000"/>
              </a:solidFill>
              <a:effectLst/>
              <a:uFillTx/>
              <a:latin typeface="Arial"/>
            </a:endParaRPr>
          </a:p>
          <a:p>
            <a:pPr marL="182880" indent="-182880" defTabSz="457200">
              <a:lnSpc>
                <a:spcPct val="100000"/>
              </a:lnSpc>
              <a:spcAft>
                <a:spcPts val="499"/>
              </a:spcAft>
              <a:buClr>
                <a:srgbClr val="1B2A4A"/>
              </a:buClr>
              <a:buFont typeface="Arial"/>
              <a:buChar char="•"/>
            </a:pPr>
            <a:r>
              <a:rPr lang="fr-FR" sz="950" b="0" u="none" strike="noStrike">
                <a:solidFill>
                  <a:srgbClr val="1B2A4A"/>
                </a:solidFill>
                <a:effectLst/>
                <a:uFillTx/>
                <a:latin typeface="Calibri"/>
              </a:rPr>
              <a:t>Embarqué écarté : reconduirait les silos (E1), disperserait le juridique (E3)</a:t>
            </a:r>
            <a:endParaRPr lang="fr-FR" sz="950" b="0" u="none" strike="noStrike">
              <a:solidFill>
                <a:srgbClr val="000000"/>
              </a:solidFill>
              <a:effectLst/>
              <a:uFillTx/>
              <a:latin typeface="Arial"/>
            </a:endParaRPr>
          </a:p>
          <a:p>
            <a:pPr marL="182880" indent="-182880" defTabSz="457200">
              <a:lnSpc>
                <a:spcPct val="100000"/>
              </a:lnSpc>
              <a:spcAft>
                <a:spcPts val="499"/>
              </a:spcAft>
              <a:buClr>
                <a:srgbClr val="1B2A4A"/>
              </a:buClr>
              <a:buFont typeface="Arial"/>
              <a:buChar char="•"/>
            </a:pPr>
            <a:r>
              <a:rPr lang="fr-FR" sz="950" b="0" u="none" strike="noStrike">
                <a:solidFill>
                  <a:srgbClr val="1B2A4A"/>
                </a:solidFill>
                <a:effectLst/>
                <a:uFillTx/>
                <a:latin typeface="Calibri"/>
              </a:rPr>
              <a:t>CoE retenu : seul modèle qui répond simultanément à E1, E3 et E5</a:t>
            </a:r>
            <a:endParaRPr lang="fr-FR" sz="950" b="0" u="none" strike="noStrike">
              <a:solidFill>
                <a:srgbClr val="000000"/>
              </a:solidFill>
              <a:effectLst/>
              <a:uFillTx/>
              <a:latin typeface="Arial"/>
            </a:endParaRPr>
          </a:p>
          <a:p>
            <a:pPr marL="182880" indent="-182880" defTabSz="457200">
              <a:lnSpc>
                <a:spcPct val="100000"/>
              </a:lnSpc>
              <a:spcAft>
                <a:spcPts val="499"/>
              </a:spcAft>
              <a:buClr>
                <a:srgbClr val="1B2A4A"/>
              </a:buClr>
              <a:buFont typeface="Arial"/>
              <a:buChar char="•"/>
            </a:pPr>
            <a:r>
              <a:rPr lang="fr-FR" sz="950" b="0" u="none" strike="noStrike">
                <a:solidFill>
                  <a:srgbClr val="1B2A4A"/>
                </a:solidFill>
                <a:effectLst/>
                <a:uFillTx/>
                <a:latin typeface="Calibri"/>
              </a:rPr>
              <a:t>Écart 1 : infrastructure technique maintenue dans Engineering (dépt. pair, pas le hub)</a:t>
            </a:r>
            <a:endParaRPr lang="fr-FR" sz="95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950" b="0" u="none" strike="noStrike">
                <a:solidFill>
                  <a:srgbClr val="1B2A4A"/>
                </a:solidFill>
                <a:effectLst/>
                <a:uFillTx/>
                <a:latin typeface="Calibri"/>
              </a:rPr>
              <a:t>Écart 2 : autorités de conformité (DPO/Legal) et de gouvernance (CDO/DGC) séparées, toutes deux rattachées au CEO</a:t>
            </a:r>
            <a:endParaRPr lang="fr-FR" sz="950" b="0" u="none" strike="noStrike">
              <a:solidFill>
                <a:srgbClr val="000000"/>
              </a:solidFill>
              <a:effectLst/>
              <a:uFillTx/>
              <a:latin typeface="Arial"/>
            </a:endParaRPr>
          </a:p>
        </p:txBody>
      </p:sp>
      <p:sp>
        <p:nvSpPr>
          <p:cNvPr id="108" name="Rounded Rectangle 10"/>
          <p:cNvSpPr/>
          <p:nvPr/>
        </p:nvSpPr>
        <p:spPr>
          <a:xfrm>
            <a:off x="548640" y="5806440"/>
            <a:ext cx="11090880" cy="593640"/>
          </a:xfrm>
          <a:prstGeom prst="roundRect">
            <a:avLst>
              <a:gd name="adj" fmla="val 8000"/>
            </a:avLst>
          </a:prstGeom>
          <a:solidFill>
            <a:srgbClr val="EAF7F1"/>
          </a:solidFill>
          <a:ln w="9525">
            <a:solidFill>
              <a:srgbClr val="D8DEE6"/>
            </a:solidFill>
            <a:round/>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09" name="TextBox 11"/>
          <p:cNvSpPr/>
          <p:nvPr/>
        </p:nvSpPr>
        <p:spPr>
          <a:xfrm>
            <a:off x="777240" y="5806440"/>
            <a:ext cx="1060632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1" u="none" strike="noStrike">
                <a:solidFill>
                  <a:srgbClr val="1C8C68"/>
                </a:solidFill>
                <a:effectLst/>
                <a:uFillTx/>
                <a:latin typeface="Calibri"/>
              </a:rPr>
              <a:t>Surcoût du </a:t>
            </a:r>
            <a:r>
              <a:rPr lang="fr-FR" sz="1050" b="1" i="1" u="none" strike="noStrike">
                <a:solidFill>
                  <a:srgbClr val="1C8C68"/>
                </a:solidFill>
                <a:effectLst/>
                <a:uFillTx/>
                <a:latin typeface="Calibri"/>
              </a:rPr>
              <a:t>CoE</a:t>
            </a:r>
            <a:r>
              <a:rPr lang="fr-FR" sz="1050" b="1" u="none" strike="noStrike">
                <a:solidFill>
                  <a:srgbClr val="1C8C68"/>
                </a:solidFill>
                <a:effectLst/>
                <a:uFillTx/>
                <a:latin typeface="Calibri"/>
              </a:rPr>
              <a:t> assumé : à l'échelle de Spotify, la charge de coordination est une nécessité fonctionnelle, non un coût additionnel.</a:t>
            </a:r>
            <a:endParaRPr lang="fr-FR" sz="1050" b="0" u="none" strike="noStrike">
              <a:solidFill>
                <a:srgbClr val="000000"/>
              </a:solidFill>
              <a:effectLst/>
              <a:uFillTx/>
              <a:latin typeface="Arial"/>
            </a:endParaRPr>
          </a:p>
        </p:txBody>
      </p:sp>
      <p:sp>
        <p:nvSpPr>
          <p:cNvPr id="110" name="TextBox 12"/>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[D3-B], annexe 3.B.1-3.B.4 - [R7]</a:t>
            </a:r>
            <a:endParaRPr lang="fr-FR" sz="950" b="0" u="none" strike="noStrike">
              <a:solidFill>
                <a:srgbClr val="000000"/>
              </a:solidFill>
              <a:effectLst/>
              <a:uFillTx/>
              <a:latin typeface="Arial"/>
            </a:endParaRPr>
          </a:p>
        </p:txBody>
      </p:sp>
      <p:sp>
        <p:nvSpPr>
          <p:cNvPr id="111" name="TextBox 13"/>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2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12"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B2</a:t>
            </a:r>
            <a:endParaRPr lang="fr-FR" sz="1200" b="0" u="none" strike="noStrike">
              <a:solidFill>
                <a:srgbClr val="000000"/>
              </a:solidFill>
              <a:effectLst/>
              <a:uFillTx/>
              <a:latin typeface="Arial"/>
            </a:endParaRPr>
          </a:p>
        </p:txBody>
      </p:sp>
      <p:sp>
        <p:nvSpPr>
          <p:cNvPr id="113"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Justification de la sélection d'outils</a:t>
            </a:r>
            <a:endParaRPr lang="fr-FR" sz="2800" b="0" u="none" strike="noStrike">
              <a:solidFill>
                <a:srgbClr val="000000"/>
              </a:solidFill>
              <a:effectLst/>
              <a:uFillTx/>
              <a:latin typeface="Arial"/>
            </a:endParaRPr>
          </a:p>
        </p:txBody>
      </p:sp>
      <p:pic>
        <p:nvPicPr>
          <p:cNvPr id="114" name="Picture 3" descr="icon_tool.png"/>
          <p:cNvPicPr/>
          <p:nvPr/>
        </p:nvPicPr>
        <p:blipFill>
          <a:blip r:embed="rId1"/>
          <a:stretch/>
        </p:blipFill>
        <p:spPr>
          <a:xfrm>
            <a:off x="11140200" y="365760"/>
            <a:ext cx="657720" cy="657720"/>
          </a:xfrm>
          <a:prstGeom prst="rect">
            <a:avLst/>
          </a:prstGeom>
          <a:noFill/>
          <a:ln w="0">
            <a:noFill/>
          </a:ln>
        </p:spPr>
      </p:pic>
      <p:sp>
        <p:nvSpPr>
          <p:cNvPr id="115" name="TextBox 4"/>
          <p:cNvSpPr/>
          <p:nvPr/>
        </p:nvSpPr>
        <p:spPr>
          <a:xfrm>
            <a:off x="548640" y="1600200"/>
            <a:ext cx="11090880" cy="86796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400"/>
              </a:spcAft>
              <a:buClr>
                <a:srgbClr val="1B2A4A"/>
              </a:buClr>
              <a:buFont typeface="Arial"/>
              <a:buChar char="•"/>
            </a:pPr>
            <a:r>
              <a:rPr lang="fr-FR" sz="1000" b="0" u="none" strike="noStrike">
                <a:solidFill>
                  <a:srgbClr val="1B2A4A"/>
                </a:solidFill>
                <a:effectLst/>
                <a:uFillTx/>
                <a:latin typeface="Calibri"/>
              </a:rPr>
              <a:t>Repartir de [R8], compléter par l'open source, prioriser l'open source</a:t>
            </a:r>
            <a:endParaRPr lang="fr-FR" sz="1000" b="0" u="none" strike="noStrike">
              <a:solidFill>
                <a:srgbClr val="000000"/>
              </a:solidFill>
              <a:effectLst/>
              <a:uFillTx/>
              <a:latin typeface="Arial"/>
            </a:endParaRPr>
          </a:p>
          <a:p>
            <a:pPr marL="182880" indent="-182880" defTabSz="457200">
              <a:lnSpc>
                <a:spcPct val="100000"/>
              </a:lnSpc>
              <a:spcAft>
                <a:spcPts val="400"/>
              </a:spcAft>
              <a:buClr>
                <a:srgbClr val="1B2A4A"/>
              </a:buClr>
              <a:buFont typeface="Arial"/>
              <a:buChar char="•"/>
            </a:pPr>
            <a:r>
              <a:rPr lang="fr-FR" sz="1000" b="0" u="none" strike="noStrike">
                <a:solidFill>
                  <a:srgbClr val="1B2A4A"/>
                </a:solidFill>
                <a:effectLst/>
                <a:uFillTx/>
                <a:latin typeface="Calibri"/>
              </a:rPr>
              <a:t>Économie de licence compensée par l'hébergement, absorbée par la capacité d'ingénierie Spotify [R2]</a:t>
            </a:r>
            <a:endParaRPr lang="fr-FR" sz="100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1000" b="0" u="none" strike="noStrike">
                <a:solidFill>
                  <a:srgbClr val="1B2A4A"/>
                </a:solidFill>
                <a:effectLst/>
                <a:uFillTx/>
                <a:latin typeface="Calibri"/>
              </a:rPr>
              <a:t>Risque réglementaire chiffrable (E3, E4) → garanties commerciales ; risque opérationnel (E1, E2, E5) → coût de défaillance interne seulement</a:t>
            </a:r>
            <a:endParaRPr lang="fr-FR" sz="1000" b="0" u="none" strike="noStrike">
              <a:solidFill>
                <a:srgbClr val="000000"/>
              </a:solidFill>
              <a:effectLst/>
              <a:uFillTx/>
              <a:latin typeface="Arial"/>
            </a:endParaRPr>
          </a:p>
        </p:txBody>
      </p:sp>
      <p:sp>
        <p:nvSpPr>
          <p:cNvPr id="116" name="Rounded Rectangle 5"/>
          <p:cNvSpPr/>
          <p:nvPr/>
        </p:nvSpPr>
        <p:spPr>
          <a:xfrm>
            <a:off x="548640" y="2606040"/>
            <a:ext cx="5348520" cy="173664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17" name="TextBox 6"/>
          <p:cNvSpPr/>
          <p:nvPr/>
        </p:nvSpPr>
        <p:spPr>
          <a:xfrm>
            <a:off x="777240" y="2715840"/>
            <a:ext cx="38854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B2A4A"/>
                </a:solidFill>
                <a:effectLst/>
                <a:uFillTx/>
                <a:latin typeface="Calibri"/>
              </a:rPr>
              <a:t>Catalogage</a:t>
            </a:r>
            <a:endParaRPr lang="fr-FR" sz="1150" b="0" u="none" strike="noStrike">
              <a:solidFill>
                <a:srgbClr val="000000"/>
              </a:solidFill>
              <a:effectLst/>
              <a:uFillTx/>
              <a:latin typeface="Arial"/>
            </a:endParaRPr>
          </a:p>
        </p:txBody>
      </p:sp>
      <p:sp>
        <p:nvSpPr>
          <p:cNvPr id="118" name="TextBox 7"/>
          <p:cNvSpPr/>
          <p:nvPr/>
        </p:nvSpPr>
        <p:spPr>
          <a:xfrm>
            <a:off x="3703320" y="2715840"/>
            <a:ext cx="201096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1" u="none" strike="noStrike">
                <a:solidFill>
                  <a:srgbClr val="1C8C68"/>
                </a:solidFill>
                <a:effectLst/>
                <a:uFillTx/>
                <a:latin typeface="Calibri"/>
              </a:rPr>
              <a:t>OpenMetadata + Collibra</a:t>
            </a:r>
            <a:endParaRPr lang="fr-FR" sz="950" b="0" u="none" strike="noStrike">
              <a:solidFill>
                <a:srgbClr val="000000"/>
              </a:solidFill>
              <a:effectLst/>
              <a:uFillTx/>
              <a:latin typeface="Arial"/>
            </a:endParaRPr>
          </a:p>
        </p:txBody>
      </p:sp>
      <p:sp>
        <p:nvSpPr>
          <p:cNvPr id="119" name="TextBox 8"/>
          <p:cNvSpPr/>
          <p:nvPr/>
        </p:nvSpPr>
        <p:spPr>
          <a:xfrm>
            <a:off x="777240" y="3026520"/>
            <a:ext cx="4891320" cy="118800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Apache Atlas écarté : ancré Hadoop, absent de la stack Spotify</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Alation/Collibra retenues pour la garantie de service (E3) ; Collibra choisie pour son socle de gouvernance plus solide</a:t>
            </a:r>
            <a:endParaRPr lang="fr-FR" sz="87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870" b="0" u="none" strike="noStrike">
                <a:solidFill>
                  <a:srgbClr val="1B2A4A"/>
                </a:solidFill>
                <a:effectLst/>
                <a:uFillTx/>
                <a:latin typeface="Calibri"/>
              </a:rPr>
              <a:t>Connecteur officiel OpenMetadata ↔ Collibra (sync glossaires, correspondance des actifs)</a:t>
            </a:r>
            <a:endParaRPr lang="fr-FR" sz="870" b="0" u="none" strike="noStrike">
              <a:solidFill>
                <a:srgbClr val="000000"/>
              </a:solidFill>
              <a:effectLst/>
              <a:uFillTx/>
              <a:latin typeface="Arial"/>
            </a:endParaRPr>
          </a:p>
        </p:txBody>
      </p:sp>
      <p:sp>
        <p:nvSpPr>
          <p:cNvPr id="120" name="Rounded Rectangle 9"/>
          <p:cNvSpPr/>
          <p:nvPr/>
        </p:nvSpPr>
        <p:spPr>
          <a:xfrm>
            <a:off x="6217920" y="2606040"/>
            <a:ext cx="5348520" cy="173664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21" name="TextBox 10"/>
          <p:cNvSpPr/>
          <p:nvPr/>
        </p:nvSpPr>
        <p:spPr>
          <a:xfrm>
            <a:off x="6446520" y="2715840"/>
            <a:ext cx="38854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B2A4A"/>
                </a:solidFill>
                <a:effectLst/>
                <a:uFillTx/>
                <a:latin typeface="Calibri"/>
              </a:rPr>
              <a:t>Qualité</a:t>
            </a:r>
            <a:endParaRPr lang="fr-FR" sz="1150" b="0" u="none" strike="noStrike">
              <a:solidFill>
                <a:srgbClr val="000000"/>
              </a:solidFill>
              <a:effectLst/>
              <a:uFillTx/>
              <a:latin typeface="Arial"/>
            </a:endParaRPr>
          </a:p>
        </p:txBody>
      </p:sp>
      <p:sp>
        <p:nvSpPr>
          <p:cNvPr id="122" name="TextBox 11"/>
          <p:cNvSpPr/>
          <p:nvPr/>
        </p:nvSpPr>
        <p:spPr>
          <a:xfrm>
            <a:off x="9372600" y="2715840"/>
            <a:ext cx="201096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1" u="none" strike="noStrike">
                <a:solidFill>
                  <a:srgbClr val="1C8C68"/>
                </a:solidFill>
                <a:effectLst/>
                <a:uFillTx/>
                <a:latin typeface="Calibri"/>
              </a:rPr>
              <a:t>Soda Core (replis Cuallee / TestGen)</a:t>
            </a:r>
            <a:endParaRPr lang="fr-FR" sz="950" b="0" u="none" strike="noStrike">
              <a:solidFill>
                <a:srgbClr val="000000"/>
              </a:solidFill>
              <a:effectLst/>
              <a:uFillTx/>
              <a:latin typeface="Arial"/>
            </a:endParaRPr>
          </a:p>
        </p:txBody>
      </p:sp>
      <p:sp>
        <p:nvSpPr>
          <p:cNvPr id="123" name="TextBox 12"/>
          <p:cNvSpPr/>
          <p:nvPr/>
        </p:nvSpPr>
        <p:spPr>
          <a:xfrm>
            <a:off x="6446520" y="3026520"/>
            <a:ext cx="4891320" cy="118800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Talend écarté : redondant avec l'ETL existant</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Informatica écartée : fragmentation, compétences incompatibles avec le profil DS, coût/délais disproportionnés</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Ataccama écartée : coût élevé et opaque, non justifié pour des enjeux opérationnels</a:t>
            </a:r>
            <a:endParaRPr lang="fr-FR" sz="87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870" b="0" u="none" strike="noStrike">
                <a:solidFill>
                  <a:srgbClr val="1B2A4A"/>
                </a:solidFill>
                <a:effectLst/>
                <a:uFillTx/>
                <a:latin typeface="Calibri"/>
              </a:rPr>
              <a:t>Soda Core retenu (E2, E5) ; repli Cuallee (contrôles ML) ou TestGen (si dépriorisation confirmée)</a:t>
            </a:r>
            <a:endParaRPr lang="fr-FR" sz="870" b="0" u="none" strike="noStrike">
              <a:solidFill>
                <a:srgbClr val="000000"/>
              </a:solidFill>
              <a:effectLst/>
              <a:uFillTx/>
              <a:latin typeface="Arial"/>
            </a:endParaRPr>
          </a:p>
        </p:txBody>
      </p:sp>
      <p:sp>
        <p:nvSpPr>
          <p:cNvPr id="124" name="Rounded Rectangle 13"/>
          <p:cNvSpPr/>
          <p:nvPr/>
        </p:nvSpPr>
        <p:spPr>
          <a:xfrm>
            <a:off x="548640" y="4507920"/>
            <a:ext cx="5348520" cy="173664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25" name="TextBox 14"/>
          <p:cNvSpPr/>
          <p:nvPr/>
        </p:nvSpPr>
        <p:spPr>
          <a:xfrm>
            <a:off x="777240" y="4617720"/>
            <a:ext cx="38854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B2A4A"/>
                </a:solidFill>
                <a:effectLst/>
                <a:uFillTx/>
                <a:latin typeface="Calibri"/>
              </a:rPr>
              <a:t>Conformité réglementaire</a:t>
            </a:r>
            <a:endParaRPr lang="fr-FR" sz="1150" b="0" u="none" strike="noStrike">
              <a:solidFill>
                <a:srgbClr val="000000"/>
              </a:solidFill>
              <a:effectLst/>
              <a:uFillTx/>
              <a:latin typeface="Arial"/>
            </a:endParaRPr>
          </a:p>
        </p:txBody>
      </p:sp>
      <p:sp>
        <p:nvSpPr>
          <p:cNvPr id="126" name="TextBox 15"/>
          <p:cNvSpPr/>
          <p:nvPr/>
        </p:nvSpPr>
        <p:spPr>
          <a:xfrm>
            <a:off x="3703320" y="4617720"/>
            <a:ext cx="201096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1" u="none" strike="noStrike">
                <a:solidFill>
                  <a:srgbClr val="1C8C68"/>
                </a:solidFill>
                <a:effectLst/>
                <a:uFillTx/>
                <a:latin typeface="Calibri"/>
              </a:rPr>
              <a:t>TrustArc</a:t>
            </a:r>
            <a:endParaRPr lang="fr-FR" sz="950" b="0" u="none" strike="noStrike">
              <a:solidFill>
                <a:srgbClr val="000000"/>
              </a:solidFill>
              <a:effectLst/>
              <a:uFillTx/>
              <a:latin typeface="Arial"/>
            </a:endParaRPr>
          </a:p>
        </p:txBody>
      </p:sp>
      <p:sp>
        <p:nvSpPr>
          <p:cNvPr id="127" name="TextBox 16"/>
          <p:cNvSpPr/>
          <p:nvPr/>
        </p:nvSpPr>
        <p:spPr>
          <a:xfrm>
            <a:off x="777240" y="4928760"/>
            <a:ext cx="4891320" cy="118800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VeraSafe écarté : conseil/services managés, pas un logiciel</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DataGuard écarté : positionné PME, hors échelle Spotify</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TrustArc retenue sur OneTrust : automatisation multi-juridictionnelle + ergonomie DPO</a:t>
            </a:r>
            <a:endParaRPr lang="fr-FR" sz="87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870" b="0" u="none" strike="noStrike">
                <a:solidFill>
                  <a:srgbClr val="1B2A4A"/>
                </a:solidFill>
                <a:effectLst/>
                <a:uFillTx/>
                <a:latin typeface="Calibri"/>
              </a:rPr>
              <a:t>Couvre nativement les DSAR, attendu du dispositif central [R11, Q4]</a:t>
            </a:r>
            <a:endParaRPr lang="fr-FR" sz="870" b="0" u="none" strike="noStrike">
              <a:solidFill>
                <a:srgbClr val="000000"/>
              </a:solidFill>
              <a:effectLst/>
              <a:uFillTx/>
              <a:latin typeface="Arial"/>
            </a:endParaRPr>
          </a:p>
        </p:txBody>
      </p:sp>
      <p:sp>
        <p:nvSpPr>
          <p:cNvPr id="128" name="Rounded Rectangle 17"/>
          <p:cNvSpPr/>
          <p:nvPr/>
        </p:nvSpPr>
        <p:spPr>
          <a:xfrm>
            <a:off x="6217920" y="4507920"/>
            <a:ext cx="5348520" cy="173664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29" name="TextBox 18"/>
          <p:cNvSpPr/>
          <p:nvPr/>
        </p:nvSpPr>
        <p:spPr>
          <a:xfrm>
            <a:off x="6446520" y="4617720"/>
            <a:ext cx="38854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B2A4A"/>
                </a:solidFill>
                <a:effectLst/>
                <a:uFillTx/>
                <a:latin typeface="Calibri"/>
              </a:rPr>
              <a:t>Sécurisation données &amp; accès</a:t>
            </a:r>
            <a:endParaRPr lang="fr-FR" sz="1150" b="0" u="none" strike="noStrike">
              <a:solidFill>
                <a:srgbClr val="000000"/>
              </a:solidFill>
              <a:effectLst/>
              <a:uFillTx/>
              <a:latin typeface="Arial"/>
            </a:endParaRPr>
          </a:p>
        </p:txBody>
      </p:sp>
      <p:sp>
        <p:nvSpPr>
          <p:cNvPr id="130" name="TextBox 19"/>
          <p:cNvSpPr/>
          <p:nvPr/>
        </p:nvSpPr>
        <p:spPr>
          <a:xfrm>
            <a:off x="9372600" y="4617720"/>
            <a:ext cx="201096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1" u="none" strike="noStrike">
                <a:solidFill>
                  <a:srgbClr val="1C8C68"/>
                </a:solidFill>
                <a:effectLst/>
                <a:uFillTx/>
                <a:latin typeface="Calibri"/>
              </a:rPr>
              <a:t>Wazuh + OpenBao</a:t>
            </a:r>
            <a:endParaRPr lang="fr-FR" sz="950" b="0" u="none" strike="noStrike">
              <a:solidFill>
                <a:srgbClr val="000000"/>
              </a:solidFill>
              <a:effectLst/>
              <a:uFillTx/>
              <a:latin typeface="Arial"/>
            </a:endParaRPr>
          </a:p>
        </p:txBody>
      </p:sp>
      <p:sp>
        <p:nvSpPr>
          <p:cNvPr id="131" name="TextBox 20"/>
          <p:cNvSpPr/>
          <p:nvPr/>
        </p:nvSpPr>
        <p:spPr>
          <a:xfrm>
            <a:off x="6446520" y="4928760"/>
            <a:ext cx="4891320" cy="1188000"/>
          </a:xfrm>
          <a:prstGeom prst="rect">
            <a:avLst/>
          </a:prstGeom>
          <a:noFill/>
          <a:ln w="0">
            <a:noFill/>
          </a:ln>
        </p:spPr>
        <p:style>
          <a:lnRef idx="0"/>
          <a:fillRef idx="0"/>
          <a:effectRef idx="0"/>
          <a:fontRef idx="minor"/>
        </p:style>
        <p:txBody>
          <a:bodyPr lIns="0" tIns="0" rIns="0" bIns="0" anchor="t">
            <a:noAutofit/>
          </a:bodyPr>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DataGuard reclassée avec les outils de conformité</a:t>
            </a:r>
            <a:endParaRPr lang="fr-FR" sz="870" b="0" u="none" strike="noStrike">
              <a:solidFill>
                <a:srgbClr val="000000"/>
              </a:solidFill>
              <a:effectLst/>
              <a:uFillTx/>
              <a:latin typeface="Arial"/>
            </a:endParaRPr>
          </a:p>
          <a:p>
            <a:pPr marL="182880" indent="-182880" defTabSz="457200">
              <a:lnSpc>
                <a:spcPct val="100000"/>
              </a:lnSpc>
              <a:spcAft>
                <a:spcPts val="300"/>
              </a:spcAft>
              <a:buClr>
                <a:srgbClr val="1B2A4A"/>
              </a:buClr>
              <a:buFont typeface="Arial"/>
              <a:buChar char="•"/>
            </a:pPr>
            <a:r>
              <a:rPr lang="fr-FR" sz="870" b="0" u="none" strike="noStrike">
                <a:solidFill>
                  <a:srgbClr val="1B2A4A"/>
                </a:solidFill>
                <a:effectLst/>
                <a:uFillTx/>
                <a:latin typeface="Calibri"/>
              </a:rPr>
              <a:t>Vormetric écartée (licence propriétaire) au profit d'OpenBao (mêmes services de gestion des clés, sans coût de licence)</a:t>
            </a:r>
            <a:endParaRPr lang="fr-FR" sz="870" b="0" u="none" strike="noStrike">
              <a:solidFill>
                <a:srgbClr val="000000"/>
              </a:solidFill>
              <a:effectLst/>
              <a:uFillTx/>
              <a:latin typeface="Arial"/>
            </a:endParaRPr>
          </a:p>
          <a:p>
            <a:pPr marL="182880" indent="-182880" defTabSz="457200">
              <a:lnSpc>
                <a:spcPct val="100000"/>
              </a:lnSpc>
              <a:buClr>
                <a:srgbClr val="1B2A4A"/>
              </a:buClr>
              <a:buFont typeface="Arial"/>
              <a:buChar char="•"/>
            </a:pPr>
            <a:r>
              <a:rPr lang="fr-FR" sz="870" b="0" u="none" strike="noStrike">
                <a:solidFill>
                  <a:srgbClr val="1B2A4A"/>
                </a:solidFill>
                <a:effectLst/>
                <a:uFillTx/>
                <a:latin typeface="Calibri"/>
              </a:rPr>
              <a:t>OpenBao : gestion des clés + chiffrement à l'appel via Transit - pas un chiffrement transparent automatique</a:t>
            </a:r>
            <a:endParaRPr lang="fr-FR" sz="870" b="0" u="none" strike="noStrike">
              <a:solidFill>
                <a:srgbClr val="000000"/>
              </a:solidFill>
              <a:effectLst/>
              <a:uFillTx/>
              <a:latin typeface="Arial"/>
            </a:endParaRPr>
          </a:p>
        </p:txBody>
      </p:sp>
      <p:sp>
        <p:nvSpPr>
          <p:cNvPr id="132" name="TextBox 21"/>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[D3-C] - Alternatives évaluées : [R8]</a:t>
            </a:r>
            <a:endParaRPr lang="fr-FR" sz="950" b="0" u="none" strike="noStrike">
              <a:solidFill>
                <a:srgbClr val="000000"/>
              </a:solidFill>
              <a:effectLst/>
              <a:uFillTx/>
              <a:latin typeface="Arial"/>
            </a:endParaRPr>
          </a:p>
        </p:txBody>
      </p:sp>
      <p:sp>
        <p:nvSpPr>
          <p:cNvPr id="133" name="TextBox 22"/>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3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34"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B3</a:t>
            </a:r>
            <a:endParaRPr lang="fr-FR" sz="1200" b="0" u="none" strike="noStrike">
              <a:solidFill>
                <a:srgbClr val="000000"/>
              </a:solidFill>
              <a:effectLst/>
              <a:uFillTx/>
              <a:latin typeface="Arial"/>
            </a:endParaRPr>
          </a:p>
        </p:txBody>
      </p:sp>
      <p:sp>
        <p:nvSpPr>
          <p:cNvPr id="135" name="TextBox 2"/>
          <p:cNvSpPr/>
          <p:nvPr/>
        </p:nvSpPr>
        <p:spPr>
          <a:xfrm>
            <a:off x="548640" y="658440"/>
            <a:ext cx="1005768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400" b="1" u="none" strike="noStrike">
                <a:solidFill>
                  <a:srgbClr val="1B2A4A"/>
                </a:solidFill>
                <a:effectLst/>
                <a:uFillTx/>
                <a:latin typeface="Cambria"/>
              </a:rPr>
              <a:t>Circuit de gouvernance IA (1/2) - critères de classification</a:t>
            </a:r>
            <a:endParaRPr lang="fr-FR" sz="2400" b="0" u="none" strike="noStrike">
              <a:solidFill>
                <a:srgbClr val="000000"/>
              </a:solidFill>
              <a:effectLst/>
              <a:uFillTx/>
              <a:latin typeface="Arial"/>
            </a:endParaRPr>
          </a:p>
        </p:txBody>
      </p:sp>
      <p:pic>
        <p:nvPicPr>
          <p:cNvPr id="136" name="Picture 3" descr="icon_cpu.png"/>
          <p:cNvPicPr/>
          <p:nvPr/>
        </p:nvPicPr>
        <p:blipFill>
          <a:blip r:embed="rId1"/>
          <a:stretch/>
        </p:blipFill>
        <p:spPr>
          <a:xfrm>
            <a:off x="11140200" y="365760"/>
            <a:ext cx="657720" cy="657720"/>
          </a:xfrm>
          <a:prstGeom prst="rect">
            <a:avLst/>
          </a:prstGeom>
          <a:noFill/>
          <a:ln w="0">
            <a:noFill/>
          </a:ln>
        </p:spPr>
      </p:pic>
      <p:sp>
        <p:nvSpPr>
          <p:cNvPr id="137" name="Rounded Rectangle 4"/>
          <p:cNvSpPr/>
          <p:nvPr/>
        </p:nvSpPr>
        <p:spPr>
          <a:xfrm>
            <a:off x="548640" y="1440000"/>
            <a:ext cx="11090880" cy="899640"/>
          </a:xfrm>
          <a:prstGeom prst="roundRect">
            <a:avLst>
              <a:gd name="adj" fmla="val 8000"/>
            </a:avLst>
          </a:prstGeom>
          <a:solidFill>
            <a:srgbClr val="EAF7F1"/>
          </a:solidFill>
          <a:ln w="9525">
            <a:solidFill>
              <a:srgbClr val="D8DEE6"/>
            </a:solidFill>
            <a:round/>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38" name="TextBox 6"/>
          <p:cNvSpPr/>
          <p:nvPr/>
        </p:nvSpPr>
        <p:spPr>
          <a:xfrm>
            <a:off x="720000" y="1620000"/>
            <a:ext cx="10606320" cy="35964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0" i="1" u="none" strike="noStrike">
                <a:solidFill>
                  <a:srgbClr val="1B2A4A"/>
                </a:solidFill>
                <a:effectLst/>
                <a:uFillTx/>
                <a:latin typeface="Calibri"/>
              </a:rPr>
              <a:t>La gouvernance IA est proportionnée au niveau d'impact de chaque modèle sur l'utilisateur et sur l'entreprise, car les procédures applicables aux modèles fortement impactants ne doivent pas freiner le déploiement des modèles à faible risque (qui peuvent bénéficier d’une procédure plus simple).</a:t>
            </a:r>
            <a:endParaRPr lang="fr-FR" sz="1200" b="0" u="none" strike="noStrike">
              <a:solidFill>
                <a:srgbClr val="000000"/>
              </a:solidFill>
              <a:effectLst/>
              <a:uFillTx/>
              <a:latin typeface="Arial"/>
            </a:endParaRPr>
          </a:p>
        </p:txBody>
      </p:sp>
      <p:sp>
        <p:nvSpPr>
          <p:cNvPr id="139" name="TextBox 7"/>
          <p:cNvSpPr/>
          <p:nvPr/>
        </p:nvSpPr>
        <p:spPr>
          <a:xfrm>
            <a:off x="540000" y="2606040"/>
            <a:ext cx="1054224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1C8C68"/>
                </a:solidFill>
                <a:effectLst/>
                <a:uFillTx/>
                <a:latin typeface="Calibri"/>
              </a:rPr>
              <a:t>Critères de classification avec degré d'automatisation [D3-E] :</a:t>
            </a:r>
            <a:endParaRPr lang="fr-FR" sz="1150" b="0" u="none" strike="noStrike">
              <a:solidFill>
                <a:srgbClr val="000000"/>
              </a:solidFill>
              <a:effectLst/>
              <a:uFillTx/>
              <a:latin typeface="Arial"/>
            </a:endParaRPr>
          </a:p>
        </p:txBody>
      </p:sp>
      <p:graphicFrame>
        <p:nvGraphicFramePr>
          <p:cNvPr id="140" name="Table 8"/>
          <p:cNvGraphicFramePr/>
          <p:nvPr/>
        </p:nvGraphicFramePr>
        <p:xfrm>
          <a:off x="548640" y="3035880"/>
          <a:ext cx="11091240" cy="2724480"/>
        </p:xfrm>
        <a:graphic>
          <a:graphicData uri="http://schemas.openxmlformats.org/drawingml/2006/table">
            <a:tbl>
              <a:tblPr/>
              <a:tblGrid>
                <a:gridCol w="1200600"/>
                <a:gridCol w="2713680"/>
                <a:gridCol w="7177320"/>
              </a:tblGrid>
              <a:tr h="333720">
                <a:tc>
                  <a:txBody>
                    <a:bodyPr tIns="36360" bIns="36360" anchor="ctr">
                      <a:noAutofit/>
                    </a:bodyPr>
                    <a:p>
                      <a:pPr defTabSz="457200">
                        <a:lnSpc>
                          <a:spcPct val="100000"/>
                        </a:lnSpc>
                      </a:pPr>
                      <a:r>
                        <a:rPr lang="fr-FR" sz="1100" b="1" u="none" strike="noStrike">
                          <a:solidFill>
                            <a:srgbClr val="FFFFFF"/>
                          </a:solidFill>
                          <a:effectLst/>
                          <a:uFillTx/>
                          <a:latin typeface="Calibri"/>
                        </a:rPr>
                        <a:t>Niveau</a:t>
                      </a:r>
                      <a:endParaRPr lang="fr-FR" sz="11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100" b="1" u="none" strike="noStrike">
                          <a:solidFill>
                            <a:srgbClr val="FFFFFF"/>
                          </a:solidFill>
                          <a:effectLst/>
                          <a:uFillTx/>
                          <a:latin typeface="Calibri"/>
                        </a:rPr>
                        <a:t>Critères</a:t>
                      </a:r>
                      <a:endParaRPr lang="fr-FR" sz="11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100" b="1" u="none" strike="noStrike">
                          <a:solidFill>
                            <a:srgbClr val="FFFFFF"/>
                          </a:solidFill>
                          <a:effectLst/>
                          <a:uFillTx/>
                          <a:latin typeface="Calibri"/>
                        </a:rPr>
                        <a:t>Automatisation</a:t>
                      </a:r>
                      <a:endParaRPr lang="fr-FR" sz="11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333720">
                <a:tc>
                  <a:txBody>
                    <a:bodyPr tIns="36360" bIns="36360" anchor="ctr">
                      <a:noAutofit/>
                    </a:bodyPr>
                    <a:p>
                      <a:pPr defTabSz="457200">
                        <a:lnSpc>
                          <a:spcPct val="100000"/>
                        </a:lnSpc>
                      </a:pPr>
                      <a:r>
                        <a:rPr lang="fr-FR" sz="1050" b="0" u="none" strike="noStrike">
                          <a:solidFill>
                            <a:srgbClr val="1B2A4A"/>
                          </a:solidFill>
                          <a:effectLst/>
                          <a:uFillTx/>
                          <a:latin typeface="Calibri"/>
                        </a:rPr>
                        <a:t>Fort impact</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Portée majoritaire des utilisateurs actifs</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Calculé (métadonnées MLflow)</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endParaRPr lang="fr-FR" sz="1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Exposition art. 22 GDPR</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Calculé (lineage OpenMetadata/Collibra)</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endParaRPr lang="fr-FR" sz="1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Décision peu réversible</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Déclaratif (Model Owner)</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endParaRPr lang="fr-FR" sz="1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Fonctionnalité principale du produit</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Déclaratif (Model Owner)</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pPr defTabSz="457200">
                        <a:lnSpc>
                          <a:spcPct val="100000"/>
                        </a:lnSpc>
                      </a:pPr>
                      <a:r>
                        <a:rPr lang="fr-FR" sz="1050" b="0" u="none" strike="noStrike">
                          <a:solidFill>
                            <a:srgbClr val="1B2A4A"/>
                          </a:solidFill>
                          <a:effectLst/>
                          <a:uFillTx/>
                          <a:latin typeface="Calibri"/>
                        </a:rPr>
                        <a:t>Impact modéré</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Portée partielle (cohorte, marché, A/B test)</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Calculé</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endParaRPr lang="fr-FR" sz="1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Décision réversible sous délai court</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Déclaratif</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3720">
                <a:tc>
                  <a:txBody>
                    <a:bodyPr tIns="36360" bIns="36360" anchor="ctr">
                      <a:noAutofit/>
                    </a:bodyPr>
                    <a:p>
                      <a:pPr defTabSz="457200">
                        <a:lnSpc>
                          <a:spcPct val="100000"/>
                        </a:lnSpc>
                      </a:pPr>
                      <a:r>
                        <a:rPr lang="fr-FR" sz="1050" b="0" u="none" strike="noStrike">
                          <a:solidFill>
                            <a:srgbClr val="1B2A4A"/>
                          </a:solidFill>
                          <a:effectLst/>
                          <a:uFillTx/>
                          <a:latin typeface="Calibri"/>
                        </a:rPr>
                        <a:t>Impact faible</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Aucun critère de fort impact rempli</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050" b="0" u="none" strike="noStrike">
                          <a:solidFill>
                            <a:srgbClr val="1B2A4A"/>
                          </a:solidFill>
                          <a:effectLst/>
                          <a:uFillTx/>
                          <a:latin typeface="Calibri"/>
                        </a:rPr>
                        <a:t>Par défaut</a:t>
                      </a:r>
                      <a:endParaRPr lang="fr-FR" sz="10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41" name="Rounded Rectangle 9"/>
          <p:cNvSpPr/>
          <p:nvPr/>
        </p:nvSpPr>
        <p:spPr>
          <a:xfrm>
            <a:off x="548640" y="5815440"/>
            <a:ext cx="11090880" cy="502200"/>
          </a:xfrm>
          <a:prstGeom prst="roundRect">
            <a:avLst>
              <a:gd name="adj" fmla="val 8000"/>
            </a:avLst>
          </a:prstGeom>
          <a:solidFill>
            <a:srgbClr val="FFFFFF"/>
          </a:solidFill>
          <a:ln w="9525">
            <a:solidFill>
              <a:srgbClr val="D8DEE6"/>
            </a:solidFill>
            <a:round/>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42" name="TextBox 10"/>
          <p:cNvSpPr/>
          <p:nvPr/>
        </p:nvSpPr>
        <p:spPr>
          <a:xfrm>
            <a:off x="777240" y="5815440"/>
            <a:ext cx="10606320" cy="50220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980" b="0" i="1" u="none" strike="noStrike">
                <a:solidFill>
                  <a:srgbClr val="5B6B84"/>
                </a:solidFill>
                <a:effectLst/>
                <a:uFillTx/>
                <a:latin typeface="Calibri"/>
              </a:rPr>
              <a:t>Trois activités distinctes : classification (unique, création) - approbation de déploiement (chaque version, hérite du niveau) - reclassification (rare).</a:t>
            </a:r>
            <a:endParaRPr lang="fr-FR" sz="980" b="0" u="none" strike="noStrike">
              <a:solidFill>
                <a:srgbClr val="000000"/>
              </a:solidFill>
              <a:effectLst/>
              <a:uFillTx/>
              <a:latin typeface="Arial"/>
            </a:endParaRPr>
          </a:p>
        </p:txBody>
      </p:sp>
      <p:sp>
        <p:nvSpPr>
          <p:cNvPr id="143" name="TextBox 11"/>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[D21-A]</a:t>
            </a:r>
            <a:endParaRPr lang="fr-FR" sz="950" b="0" u="none" strike="noStrike">
              <a:solidFill>
                <a:srgbClr val="000000"/>
              </a:solidFill>
              <a:effectLst/>
              <a:uFillTx/>
              <a:latin typeface="Arial"/>
            </a:endParaRPr>
          </a:p>
        </p:txBody>
      </p:sp>
      <p:sp>
        <p:nvSpPr>
          <p:cNvPr id="144" name="TextBox 12"/>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4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45"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B3</a:t>
            </a:r>
            <a:endParaRPr lang="fr-FR" sz="1200" b="0" u="none" strike="noStrike">
              <a:solidFill>
                <a:srgbClr val="000000"/>
              </a:solidFill>
              <a:effectLst/>
              <a:uFillTx/>
              <a:latin typeface="Arial"/>
            </a:endParaRPr>
          </a:p>
        </p:txBody>
      </p:sp>
      <p:sp>
        <p:nvSpPr>
          <p:cNvPr id="146" name="TextBox 2"/>
          <p:cNvSpPr/>
          <p:nvPr/>
        </p:nvSpPr>
        <p:spPr>
          <a:xfrm>
            <a:off x="548640" y="658440"/>
            <a:ext cx="1005768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400" b="1" u="none" strike="noStrike">
                <a:solidFill>
                  <a:srgbClr val="1B2A4A"/>
                </a:solidFill>
                <a:effectLst/>
                <a:uFillTx/>
                <a:latin typeface="Cambria"/>
              </a:rPr>
              <a:t>Circuit de gouvernance IA (2/2) - matrices </a:t>
            </a:r>
            <a:r>
              <a:rPr lang="fr-FR" sz="2400" b="1" i="1" u="none" strike="noStrike">
                <a:solidFill>
                  <a:srgbClr val="1B2A4A"/>
                </a:solidFill>
                <a:effectLst/>
                <a:uFillTx/>
                <a:latin typeface="Cambria"/>
              </a:rPr>
              <a:t>RACI</a:t>
            </a:r>
            <a:endParaRPr lang="fr-FR" sz="2400" b="0" u="none" strike="noStrike">
              <a:solidFill>
                <a:srgbClr val="000000"/>
              </a:solidFill>
              <a:effectLst/>
              <a:uFillTx/>
              <a:latin typeface="Arial"/>
            </a:endParaRPr>
          </a:p>
        </p:txBody>
      </p:sp>
      <p:pic>
        <p:nvPicPr>
          <p:cNvPr id="147" name="Picture 3" descr="icon_cpu.png"/>
          <p:cNvPicPr/>
          <p:nvPr/>
        </p:nvPicPr>
        <p:blipFill>
          <a:blip r:embed="rId1"/>
          <a:stretch/>
        </p:blipFill>
        <p:spPr>
          <a:xfrm>
            <a:off x="11140200" y="365760"/>
            <a:ext cx="657720" cy="657720"/>
          </a:xfrm>
          <a:prstGeom prst="rect">
            <a:avLst/>
          </a:prstGeom>
          <a:noFill/>
          <a:ln w="0">
            <a:noFill/>
          </a:ln>
        </p:spPr>
      </p:pic>
      <p:sp>
        <p:nvSpPr>
          <p:cNvPr id="148" name="TextBox 4"/>
          <p:cNvSpPr/>
          <p:nvPr/>
        </p:nvSpPr>
        <p:spPr>
          <a:xfrm>
            <a:off x="548640" y="1645920"/>
            <a:ext cx="11090880" cy="2552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1" u="none" strike="noStrike">
                <a:solidFill>
                  <a:srgbClr val="1C8C68"/>
                </a:solidFill>
                <a:effectLst/>
                <a:uFillTx/>
                <a:latin typeface="Calibri"/>
              </a:rPr>
              <a:t>Classification (événement unique, à la création du modèle dans le registre)</a:t>
            </a:r>
            <a:endParaRPr lang="fr-FR" sz="1200" b="0" u="none" strike="noStrike">
              <a:solidFill>
                <a:srgbClr val="000000"/>
              </a:solidFill>
              <a:effectLst/>
              <a:uFillTx/>
              <a:latin typeface="Arial"/>
            </a:endParaRPr>
          </a:p>
        </p:txBody>
      </p:sp>
      <p:graphicFrame>
        <p:nvGraphicFramePr>
          <p:cNvPr id="149" name="Table 5"/>
          <p:cNvGraphicFramePr/>
          <p:nvPr/>
        </p:nvGraphicFramePr>
        <p:xfrm>
          <a:off x="548640" y="1920240"/>
          <a:ext cx="10283760" cy="548640"/>
        </p:xfrm>
        <a:graphic>
          <a:graphicData uri="http://schemas.openxmlformats.org/drawingml/2006/table">
            <a:tbl>
              <a:tblPr/>
              <a:tblGrid>
                <a:gridCol w="2331720"/>
                <a:gridCol w="795240"/>
                <a:gridCol w="795240"/>
                <a:gridCol w="795240"/>
                <a:gridCol w="795240"/>
                <a:gridCol w="795240"/>
                <a:gridCol w="795240"/>
                <a:gridCol w="795240"/>
                <a:gridCol w="795240"/>
                <a:gridCol w="795240"/>
                <a:gridCol w="795240"/>
              </a:tblGrid>
              <a:tr h="274320">
                <a:tc>
                  <a:txBody>
                    <a:bodyPr tIns="36360" bIns="36360" anchor="ctr">
                      <a:noAutofit/>
                    </a:bodyPr>
                    <a:p>
                      <a:pPr defTabSz="457200">
                        <a:lnSpc>
                          <a:spcPct val="100000"/>
                        </a:lnSpc>
                      </a:pPr>
                      <a:r>
                        <a:rPr lang="fr-FR" sz="850" b="1" u="none" strike="noStrike">
                          <a:solidFill>
                            <a:srgbClr val="FFFFFF"/>
                          </a:solidFill>
                          <a:effectLst/>
                          <a:uFillTx/>
                          <a:latin typeface="Calibri"/>
                        </a:rPr>
                        <a:t>Activité</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DGC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DPO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DS</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MRM</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Legal</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CEO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Classifier un modèle</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0" name="TextBox 6"/>
          <p:cNvSpPr/>
          <p:nvPr/>
        </p:nvSpPr>
        <p:spPr>
          <a:xfrm>
            <a:off x="548640" y="2514600"/>
            <a:ext cx="11090880" cy="2552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1" u="none" strike="noStrike">
                <a:solidFill>
                  <a:srgbClr val="1C8C68"/>
                </a:solidFill>
                <a:effectLst/>
                <a:uFillTx/>
                <a:latin typeface="Calibri"/>
              </a:rPr>
              <a:t>Approbation de déploiement (répétée à chaque version, hérite du niveau fixé)</a:t>
            </a:r>
            <a:endParaRPr lang="fr-FR" sz="1200" b="0" u="none" strike="noStrike">
              <a:solidFill>
                <a:srgbClr val="000000"/>
              </a:solidFill>
              <a:effectLst/>
              <a:uFillTx/>
              <a:latin typeface="Arial"/>
            </a:endParaRPr>
          </a:p>
        </p:txBody>
      </p:sp>
      <p:graphicFrame>
        <p:nvGraphicFramePr>
          <p:cNvPr id="151" name="Table 7"/>
          <p:cNvGraphicFramePr/>
          <p:nvPr/>
        </p:nvGraphicFramePr>
        <p:xfrm>
          <a:off x="548640" y="2788920"/>
          <a:ext cx="10283760" cy="1097280"/>
        </p:xfrm>
        <a:graphic>
          <a:graphicData uri="http://schemas.openxmlformats.org/drawingml/2006/table">
            <a:tbl>
              <a:tblPr/>
              <a:tblGrid>
                <a:gridCol w="2331720"/>
                <a:gridCol w="795240"/>
                <a:gridCol w="795240"/>
                <a:gridCol w="795240"/>
                <a:gridCol w="795240"/>
                <a:gridCol w="795240"/>
                <a:gridCol w="795240"/>
                <a:gridCol w="795240"/>
                <a:gridCol w="795240"/>
                <a:gridCol w="795240"/>
                <a:gridCol w="795240"/>
              </a:tblGrid>
              <a:tr h="274320">
                <a:tc>
                  <a:txBody>
                    <a:bodyPr tIns="36360" bIns="36360" anchor="ctr">
                      <a:noAutofit/>
                    </a:bodyPr>
                    <a:p>
                      <a:pPr defTabSz="457200">
                        <a:lnSpc>
                          <a:spcPct val="100000"/>
                        </a:lnSpc>
                      </a:pPr>
                      <a:r>
                        <a:rPr lang="fr-FR" sz="850" b="1" u="none" strike="noStrike">
                          <a:solidFill>
                            <a:srgbClr val="FFFFFF"/>
                          </a:solidFill>
                          <a:effectLst/>
                          <a:uFillTx/>
                          <a:latin typeface="Calibri"/>
                        </a:rPr>
                        <a:t>Activité</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DGC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DPO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DS</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MRM</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Legal</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CEO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Fort impact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C</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C</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C</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Impact modéré</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C</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Impact faible (auto-certif.)</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2" name="TextBox 8"/>
          <p:cNvSpPr/>
          <p:nvPr/>
        </p:nvSpPr>
        <p:spPr>
          <a:xfrm>
            <a:off x="548640" y="3886200"/>
            <a:ext cx="11090880" cy="2552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1" u="none" strike="noStrike">
                <a:solidFill>
                  <a:srgbClr val="1C8C68"/>
                </a:solidFill>
                <a:effectLst/>
                <a:uFillTx/>
                <a:latin typeface="Calibri"/>
              </a:rPr>
              <a:t>Contrôle a posteriori et reclassification (événements rares)</a:t>
            </a:r>
            <a:endParaRPr lang="fr-FR" sz="1200" b="0" u="none" strike="noStrike">
              <a:solidFill>
                <a:srgbClr val="000000"/>
              </a:solidFill>
              <a:effectLst/>
              <a:uFillTx/>
              <a:latin typeface="Arial"/>
            </a:endParaRPr>
          </a:p>
        </p:txBody>
      </p:sp>
      <p:graphicFrame>
        <p:nvGraphicFramePr>
          <p:cNvPr id="153" name="Table 9"/>
          <p:cNvGraphicFramePr/>
          <p:nvPr/>
        </p:nvGraphicFramePr>
        <p:xfrm>
          <a:off x="548640" y="4160520"/>
          <a:ext cx="10283760" cy="822960"/>
        </p:xfrm>
        <a:graphic>
          <a:graphicData uri="http://schemas.openxmlformats.org/drawingml/2006/table">
            <a:tbl>
              <a:tblPr/>
              <a:tblGrid>
                <a:gridCol w="2331720"/>
                <a:gridCol w="795240"/>
                <a:gridCol w="795240"/>
                <a:gridCol w="795240"/>
                <a:gridCol w="795240"/>
                <a:gridCol w="795240"/>
                <a:gridCol w="795240"/>
                <a:gridCol w="795240"/>
                <a:gridCol w="795240"/>
                <a:gridCol w="795240"/>
                <a:gridCol w="795240"/>
              </a:tblGrid>
              <a:tr h="274320">
                <a:tc>
                  <a:txBody>
                    <a:bodyPr tIns="36360" bIns="36360" anchor="ctr">
                      <a:noAutofit/>
                    </a:bodyPr>
                    <a:p>
                      <a:pPr defTabSz="457200">
                        <a:lnSpc>
                          <a:spcPct val="100000"/>
                        </a:lnSpc>
                      </a:pPr>
                      <a:r>
                        <a:rPr lang="fr-FR" sz="850" b="1" u="none" strike="noStrike">
                          <a:solidFill>
                            <a:srgbClr val="FFFFFF"/>
                          </a:solidFill>
                          <a:effectLst/>
                          <a:uFillTx/>
                          <a:latin typeface="Calibri"/>
                        </a:rPr>
                        <a:t>Activité</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DGC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DPO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DS</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DC</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MRM</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Legal</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CEO</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Contrôle par échantillonnage (faible)</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900" b="0" u="none" strike="noStrike">
                          <a:solidFill>
                            <a:srgbClr val="1B2A4A"/>
                          </a:solidFill>
                          <a:effectLst/>
                          <a:uFillTx/>
                          <a:latin typeface="Calibri"/>
                        </a:rPr>
                        <a:t>Reclasser un modèle</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C</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RA</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00" b="0" u="none" strike="noStrike">
                          <a:solidFill>
                            <a:srgbClr val="1B2A4A"/>
                          </a:solidFill>
                          <a:effectLst/>
                          <a:uFillTx/>
                          <a:latin typeface="Calibri"/>
                        </a:rPr>
                        <a:t>I</a:t>
                      </a:r>
                      <a:endParaRPr lang="fr-FR" sz="9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4" name="TextBox 10"/>
          <p:cNvSpPr/>
          <p:nvPr/>
        </p:nvSpPr>
        <p:spPr>
          <a:xfrm>
            <a:off x="548640" y="5074920"/>
            <a:ext cx="11090880" cy="77652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0" i="1" u="none" strike="noStrike">
                <a:solidFill>
                  <a:srgbClr val="5B6B84"/>
                </a:solidFill>
                <a:effectLst/>
                <a:uFillTx/>
                <a:latin typeface="Calibri"/>
              </a:rPr>
              <a:t>R = Responsible, A = Accountable, C = Consulted, I = Informed. </a:t>
            </a:r>
            <a:endParaRPr lang="fr-FR" sz="1200" b="0" u="none" strike="noStrike">
              <a:solidFill>
                <a:srgbClr val="000000"/>
              </a:solidFill>
              <a:effectLst/>
              <a:uFillTx/>
              <a:latin typeface="Arial"/>
            </a:endParaRPr>
          </a:p>
          <a:p>
            <a:pPr defTabSz="457200">
              <a:lnSpc>
                <a:spcPct val="100000"/>
              </a:lnSpc>
            </a:pPr>
            <a:r>
              <a:rPr lang="fr-FR" sz="1200" b="0" i="1" u="none" strike="noStrike">
                <a:solidFill>
                  <a:srgbClr val="5B6B84"/>
                </a:solidFill>
                <a:effectLst/>
                <a:uFillTx/>
                <a:latin typeface="Calibri"/>
              </a:rPr>
              <a:t>Le nombre de parties prenantes décroît mécaniquement avec le niveau d'impact.</a:t>
            </a:r>
            <a:endParaRPr lang="fr-FR" sz="1200" b="0" u="none" strike="noStrike">
              <a:solidFill>
                <a:srgbClr val="000000"/>
              </a:solidFill>
              <a:effectLst/>
              <a:uFillTx/>
              <a:latin typeface="Arial"/>
            </a:endParaRPr>
          </a:p>
        </p:txBody>
      </p:sp>
      <p:sp>
        <p:nvSpPr>
          <p:cNvPr id="155" name="TextBox 11"/>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[D21-A]</a:t>
            </a:r>
            <a:endParaRPr lang="fr-FR" sz="950" b="0" u="none" strike="noStrike">
              <a:solidFill>
                <a:srgbClr val="000000"/>
              </a:solidFill>
              <a:effectLst/>
              <a:uFillTx/>
              <a:latin typeface="Arial"/>
            </a:endParaRPr>
          </a:p>
        </p:txBody>
      </p:sp>
      <p:sp>
        <p:nvSpPr>
          <p:cNvPr id="156" name="TextBox 12"/>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5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57"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B4</a:t>
            </a:r>
            <a:endParaRPr lang="fr-FR" sz="1200" b="0" u="none" strike="noStrike">
              <a:solidFill>
                <a:srgbClr val="000000"/>
              </a:solidFill>
              <a:effectLst/>
              <a:uFillTx/>
              <a:latin typeface="Arial"/>
            </a:endParaRPr>
          </a:p>
        </p:txBody>
      </p:sp>
      <p:sp>
        <p:nvSpPr>
          <p:cNvPr id="158"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Plan pilote - calendrier détaillé des jalons</a:t>
            </a:r>
            <a:endParaRPr lang="fr-FR" sz="2800" b="0" u="none" strike="noStrike">
              <a:solidFill>
                <a:srgbClr val="000000"/>
              </a:solidFill>
              <a:effectLst/>
              <a:uFillTx/>
              <a:latin typeface="Arial"/>
            </a:endParaRPr>
          </a:p>
        </p:txBody>
      </p:sp>
      <p:pic>
        <p:nvPicPr>
          <p:cNvPr id="159" name="Picture 3" descr="icon_map.png"/>
          <p:cNvPicPr/>
          <p:nvPr/>
        </p:nvPicPr>
        <p:blipFill>
          <a:blip r:embed="rId1"/>
          <a:stretch/>
        </p:blipFill>
        <p:spPr>
          <a:xfrm>
            <a:off x="11140200" y="365760"/>
            <a:ext cx="657720" cy="657720"/>
          </a:xfrm>
          <a:prstGeom prst="rect">
            <a:avLst/>
          </a:prstGeom>
          <a:noFill/>
          <a:ln w="0">
            <a:noFill/>
          </a:ln>
        </p:spPr>
      </p:pic>
      <p:graphicFrame>
        <p:nvGraphicFramePr>
          <p:cNvPr id="160" name="Table 4"/>
          <p:cNvGraphicFramePr/>
          <p:nvPr/>
        </p:nvGraphicFramePr>
        <p:xfrm>
          <a:off x="548640" y="1572840"/>
          <a:ext cx="5394600" cy="3398400"/>
        </p:xfrm>
        <a:graphic>
          <a:graphicData uri="http://schemas.openxmlformats.org/drawingml/2006/table">
            <a:tbl>
              <a:tblPr/>
              <a:tblGrid>
                <a:gridCol w="457200"/>
                <a:gridCol w="502920"/>
                <a:gridCol w="3520440"/>
                <a:gridCol w="914400"/>
              </a:tblGrid>
              <a:tr h="339840">
                <a:tc>
                  <a:txBody>
                    <a:bodyPr tIns="36360" bIns="36360" anchor="ctr">
                      <a:noAutofit/>
                    </a:bodyPr>
                    <a:p>
                      <a:pPr defTabSz="457200">
                        <a:lnSpc>
                          <a:spcPct val="100000"/>
                        </a:lnSpc>
                      </a:pPr>
                      <a:r>
                        <a:rPr lang="fr-FR" sz="850" b="1" u="none" strike="noStrike">
                          <a:solidFill>
                            <a:srgbClr val="FFFFFF"/>
                          </a:solidFill>
                          <a:effectLst/>
                          <a:uFillTx/>
                          <a:latin typeface="Calibri"/>
                        </a:rPr>
                        <a:t>Jalon</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Sem.</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Actions</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Porteur</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Lancement, confirmation annuaire central SAML/OIDC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PPM, 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S1-S3</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Sécurisation infra. préexistantes ; régén. secrets, collecte profils</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03</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S3-S4</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Vérification capacités SSO/sync. groupes de TrustArc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DPO, Legal</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04</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S4-S5</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Vérification RBAC natif MLflow, AIF360, AIX360, Wazuh</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 MO, MRM</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05</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S5-S6</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Test d'intégration bout-en-bout (annuaire, OMD, Collibra, TrustArc, OpenBao)</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06</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S7</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Revue phase de sécurisation : poursuite ou suspension</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PPM, DGC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07.1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S8-S11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Déploiement technique (OMD, DVC, Soda Core, MLflow, AIF360, AIX360, Wazuh, OpenBao)</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07.2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S8-S17</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Population initiale du RoPA (TrustArc) scopée PD</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DPO, Legal</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08.1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Vérif. recouvrement Soda Core / module qualité OpenMetadata</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161" name="Table 5"/>
          <p:cNvGraphicFramePr/>
          <p:nvPr/>
        </p:nvGraphicFramePr>
        <p:xfrm>
          <a:off x="6080760" y="1572840"/>
          <a:ext cx="5394600" cy="3738240"/>
        </p:xfrm>
        <a:graphic>
          <a:graphicData uri="http://schemas.openxmlformats.org/drawingml/2006/table">
            <a:tbl>
              <a:tblPr/>
              <a:tblGrid>
                <a:gridCol w="457200"/>
                <a:gridCol w="502920"/>
                <a:gridCol w="3520440"/>
                <a:gridCol w="914400"/>
              </a:tblGrid>
              <a:tr h="339840">
                <a:tc>
                  <a:txBody>
                    <a:bodyPr tIns="36360" bIns="36360" anchor="ctr">
                      <a:noAutofit/>
                    </a:bodyPr>
                    <a:p>
                      <a:pPr defTabSz="457200">
                        <a:lnSpc>
                          <a:spcPct val="100000"/>
                        </a:lnSpc>
                      </a:pPr>
                      <a:r>
                        <a:rPr lang="fr-FR" sz="850" b="1" u="none" strike="noStrike">
                          <a:solidFill>
                            <a:srgbClr val="FFFFFF"/>
                          </a:solidFill>
                          <a:effectLst/>
                          <a:uFillTx/>
                          <a:latin typeface="Calibri"/>
                        </a:rPr>
                        <a:t>Jalon</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Sem.</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Actions</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850" b="1" u="none" strike="noStrike">
                          <a:solidFill>
                            <a:srgbClr val="FFFFFF"/>
                          </a:solidFill>
                          <a:effectLst/>
                          <a:uFillTx/>
                          <a:latin typeface="Calibri"/>
                        </a:rPr>
                        <a:t>Porteur</a:t>
                      </a:r>
                      <a:endParaRPr lang="fr-FR" sz="8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08.2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Population initiale du glossaire Collibra scopée PD</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DS</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09</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S13</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Vérification du connecteur Collibra-OpenMetadata</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10.1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S14</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Classification initiale du modèle testé</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MO, MRM</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10.2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S14-S17</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Exécution réelle : qualité courante et données d'entraînement, entraînement/évaluation</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DS, MO</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S16</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Vérification technique intermédiaire (résultats Soda Core)</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DS</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12</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S17</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Revue intermédiaire (Engineering overhead, adoption standards)</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PPM</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13</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S18</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1er passage du circuit d'approbation (niveau classé au J.10.1)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MRM, DGC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14</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S19</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Consolidation des indicateurs, recueil des retours</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Toute l'équipe</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15</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S20</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Revue de synthèse</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PPM</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39840">
                <a:tc>
                  <a:txBody>
                    <a:bodyPr tIns="36360" bIns="36360" anchor="ctr">
                      <a:noAutofit/>
                    </a:bodyPr>
                    <a:p>
                      <a:pPr defTabSz="457200">
                        <a:lnSpc>
                          <a:spcPct val="100000"/>
                        </a:lnSpc>
                      </a:pPr>
                      <a:r>
                        <a:rPr lang="fr-FR" sz="800" b="0" u="none" strike="noStrike">
                          <a:solidFill>
                            <a:srgbClr val="1B2A4A"/>
                          </a:solidFill>
                          <a:effectLst/>
                          <a:uFillTx/>
                          <a:latin typeface="Calibri"/>
                        </a:rPr>
                        <a:t>16</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S21</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Revue finale et clôture du pilote</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00" b="0" u="none" strike="noStrike">
                          <a:solidFill>
                            <a:srgbClr val="1B2A4A"/>
                          </a:solidFill>
                          <a:effectLst/>
                          <a:uFillTx/>
                          <a:latin typeface="Calibri"/>
                        </a:rPr>
                        <a:t>DGC</a:t>
                      </a:r>
                      <a:endParaRPr lang="fr-FR" sz="8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62" name="TextBox 6"/>
          <p:cNvSpPr/>
          <p:nvPr/>
        </p:nvSpPr>
        <p:spPr>
          <a:xfrm>
            <a:off x="548640" y="5532120"/>
            <a:ext cx="11090880" cy="68508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0" i="1" u="none" strike="noStrike">
                <a:solidFill>
                  <a:srgbClr val="5B6B84"/>
                </a:solidFill>
                <a:effectLst/>
                <a:uFillTx/>
                <a:latin typeface="Calibri"/>
              </a:rPr>
              <a:t>Livrables : rapport qualité des données - rapport de validation du circuit de classification/approbation - estimation Engineering overhead - note de recouvrement technique - note de synchronisation catalogage - note de contrôle d'accès - rapport de migration de sécurisation - rapport de déploiement initial Collibra/RoPA - retours des parties prenantes - rapport d'évaluation du double rattachement.</a:t>
            </a:r>
            <a:endParaRPr lang="fr-FR" sz="1200" b="0" u="none" strike="noStrike">
              <a:solidFill>
                <a:srgbClr val="000000"/>
              </a:solidFill>
              <a:effectLst/>
              <a:uFillTx/>
              <a:latin typeface="Arial"/>
            </a:endParaRPr>
          </a:p>
        </p:txBody>
      </p:sp>
      <p:sp>
        <p:nvSpPr>
          <p:cNvPr id="163" name="TextBox 7"/>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[D3-F]</a:t>
            </a:r>
            <a:endParaRPr lang="fr-FR" sz="950" b="0" u="none" strike="noStrike">
              <a:solidFill>
                <a:srgbClr val="000000"/>
              </a:solidFill>
              <a:effectLst/>
              <a:uFillTx/>
              <a:latin typeface="Arial"/>
            </a:endParaRPr>
          </a:p>
        </p:txBody>
      </p:sp>
      <p:sp>
        <p:nvSpPr>
          <p:cNvPr id="164" name="TextBox 8"/>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6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65"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B5</a:t>
            </a:r>
            <a:endParaRPr lang="fr-FR" sz="1200" b="0" u="none" strike="noStrike">
              <a:solidFill>
                <a:srgbClr val="000000"/>
              </a:solidFill>
              <a:effectLst/>
              <a:uFillTx/>
              <a:latin typeface="Arial"/>
            </a:endParaRPr>
          </a:p>
        </p:txBody>
      </p:sp>
      <p:sp>
        <p:nvSpPr>
          <p:cNvPr id="166"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Méthode de mesure des KPIs et du double rattachement</a:t>
            </a:r>
            <a:endParaRPr lang="fr-FR" sz="2800" b="0" u="none" strike="noStrike">
              <a:solidFill>
                <a:srgbClr val="000000"/>
              </a:solidFill>
              <a:effectLst/>
              <a:uFillTx/>
              <a:latin typeface="Arial"/>
            </a:endParaRPr>
          </a:p>
        </p:txBody>
      </p:sp>
      <p:pic>
        <p:nvPicPr>
          <p:cNvPr id="167" name="Picture 3" descr="icon_barchart.png"/>
          <p:cNvPicPr/>
          <p:nvPr/>
        </p:nvPicPr>
        <p:blipFill>
          <a:blip r:embed="rId1"/>
          <a:stretch/>
        </p:blipFill>
        <p:spPr>
          <a:xfrm>
            <a:off x="11140200" y="365760"/>
            <a:ext cx="657720" cy="657720"/>
          </a:xfrm>
          <a:prstGeom prst="rect">
            <a:avLst/>
          </a:prstGeom>
          <a:noFill/>
          <a:ln w="0">
            <a:noFill/>
          </a:ln>
        </p:spPr>
      </p:pic>
      <p:sp>
        <p:nvSpPr>
          <p:cNvPr id="168" name="TextBox 4"/>
          <p:cNvSpPr/>
          <p:nvPr/>
        </p:nvSpPr>
        <p:spPr>
          <a:xfrm>
            <a:off x="548640" y="1600200"/>
            <a:ext cx="110908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00" b="1" u="none" strike="noStrike">
                <a:solidFill>
                  <a:srgbClr val="1C8C68"/>
                </a:solidFill>
                <a:effectLst/>
                <a:uFillTx/>
                <a:latin typeface="Calibri"/>
              </a:rPr>
              <a:t>Méthode de mesure des dimensions DMAT (re-cotation sur le périmètre pilote uniquement) :</a:t>
            </a:r>
            <a:endParaRPr lang="fr-FR" sz="1100" b="0" u="none" strike="noStrike">
              <a:solidFill>
                <a:srgbClr val="000000"/>
              </a:solidFill>
              <a:effectLst/>
              <a:uFillTx/>
              <a:latin typeface="Arial"/>
            </a:endParaRPr>
          </a:p>
        </p:txBody>
      </p:sp>
      <p:graphicFrame>
        <p:nvGraphicFramePr>
          <p:cNvPr id="169" name="Table 5"/>
          <p:cNvGraphicFramePr/>
          <p:nvPr/>
        </p:nvGraphicFramePr>
        <p:xfrm>
          <a:off x="548640" y="1920240"/>
          <a:ext cx="10908360" cy="1535040"/>
        </p:xfrm>
        <a:graphic>
          <a:graphicData uri="http://schemas.openxmlformats.org/drawingml/2006/table">
            <a:tbl>
              <a:tblPr/>
              <a:tblGrid>
                <a:gridCol w="2011680"/>
                <a:gridCol w="2377440"/>
                <a:gridCol w="1188720"/>
                <a:gridCol w="5330880"/>
              </a:tblGrid>
              <a:tr h="383760">
                <a:tc>
                  <a:txBody>
                    <a:bodyPr tIns="36360" bIns="36360" anchor="ctr">
                      <a:noAutofit/>
                    </a:bodyPr>
                    <a:p>
                      <a:pPr defTabSz="457200">
                        <a:lnSpc>
                          <a:spcPct val="100000"/>
                        </a:lnSpc>
                      </a:pPr>
                      <a:r>
                        <a:rPr lang="fr-FR" sz="1000" b="1" u="none" strike="noStrike">
                          <a:solidFill>
                            <a:srgbClr val="FFFFFF"/>
                          </a:solidFill>
                          <a:effectLst/>
                          <a:uFillTx/>
                          <a:latin typeface="Calibri"/>
                        </a:rPr>
                        <a:t>Dimension</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Porteur</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Jalon</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Instrument de mesure</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383760">
                <a:tc>
                  <a:txBody>
                    <a:bodyPr tIns="36360" bIns="36360" anchor="ctr">
                      <a:noAutofit/>
                    </a:bodyPr>
                    <a:p>
                      <a:pPr defTabSz="457200">
                        <a:lnSpc>
                          <a:spcPct val="100000"/>
                        </a:lnSpc>
                      </a:pPr>
                      <a:r>
                        <a:rPr lang="fr-FR" sz="950" b="0" u="none" strike="noStrike">
                          <a:solidFill>
                            <a:srgbClr val="1B2A4A"/>
                          </a:solidFill>
                          <a:effectLst/>
                          <a:uFillTx/>
                          <a:latin typeface="Calibri"/>
                        </a:rPr>
                        <a:t>Data Governance</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PPM (auto-éval.), validation DGC</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J.16</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Re-cotation Q1-Q6, Q10-Q13 [R1]</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83760">
                <a:tc>
                  <a:txBody>
                    <a:bodyPr tIns="36360" bIns="36360" anchor="ctr">
                      <a:noAutofit/>
                    </a:bodyPr>
                    <a:p>
                      <a:pPr defTabSz="457200">
                        <a:lnSpc>
                          <a:spcPct val="100000"/>
                        </a:lnSpc>
                      </a:pPr>
                      <a:r>
                        <a:rPr lang="fr-FR" sz="950" b="0" u="none" strike="noStrike">
                          <a:solidFill>
                            <a:srgbClr val="1B2A4A"/>
                          </a:solidFill>
                          <a:effectLst/>
                          <a:uFillTx/>
                          <a:latin typeface="Calibri"/>
                        </a:rPr>
                        <a:t>Data Quality</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Data Steward, PPM</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J.12 puis 16</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Re-cotation Q36-Q39 [R1], journaux Soda Core</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83760">
                <a:tc>
                  <a:txBody>
                    <a:bodyPr tIns="36360" bIns="36360" anchor="ctr">
                      <a:noAutofit/>
                    </a:bodyPr>
                    <a:p>
                      <a:pPr defTabSz="457200">
                        <a:lnSpc>
                          <a:spcPct val="100000"/>
                        </a:lnSpc>
                      </a:pPr>
                      <a:r>
                        <a:rPr lang="fr-FR" sz="950" b="0" u="none" strike="noStrike">
                          <a:solidFill>
                            <a:srgbClr val="1B2A4A"/>
                          </a:solidFill>
                          <a:effectLst/>
                          <a:uFillTx/>
                          <a:latin typeface="Calibri"/>
                        </a:rPr>
                        <a:t>Analytics &amp; BI (IA)</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Model Owner, MRM</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J.12 puis 16</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50" b="0" u="none" strike="noStrike">
                          <a:solidFill>
                            <a:srgbClr val="1B2A4A"/>
                          </a:solidFill>
                          <a:effectLst/>
                          <a:uFillTx/>
                          <a:latin typeface="Calibri"/>
                        </a:rPr>
                        <a:t>Re-cotation Q55-Q57 [R1], dossier + AIF360/AIX360</a:t>
                      </a:r>
                      <a:endParaRPr lang="fr-FR" sz="95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70" name="TextBox 6"/>
          <p:cNvSpPr/>
          <p:nvPr/>
        </p:nvSpPr>
        <p:spPr>
          <a:xfrm>
            <a:off x="548640" y="3520440"/>
            <a:ext cx="11090880" cy="45648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5B6B84"/>
                </a:solidFill>
                <a:effectLst/>
                <a:uFillTx/>
                <a:latin typeface="Calibri"/>
              </a:rPr>
              <a:t>Nature de l'exercice : jugement qualitatif ancré à des artefacts opérationnels datés (logs, horodatages, dossiers) plutôt qu'à un texte narratif rédigé a posteriori - la validation DGC réduit le biais d'auto-évaluation sans rendre le jugement objectif.</a:t>
            </a:r>
            <a:endParaRPr lang="fr-FR" sz="950" b="0" u="none" strike="noStrike">
              <a:solidFill>
                <a:srgbClr val="000000"/>
              </a:solidFill>
              <a:effectLst/>
              <a:uFillTx/>
              <a:latin typeface="Arial"/>
            </a:endParaRPr>
          </a:p>
        </p:txBody>
      </p:sp>
      <p:sp>
        <p:nvSpPr>
          <p:cNvPr id="171" name="TextBox 7"/>
          <p:cNvSpPr/>
          <p:nvPr/>
        </p:nvSpPr>
        <p:spPr>
          <a:xfrm>
            <a:off x="548640" y="4096440"/>
            <a:ext cx="110908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00" b="1" u="none" strike="noStrike">
                <a:solidFill>
                  <a:srgbClr val="1C8C68"/>
                </a:solidFill>
                <a:effectLst/>
                <a:uFillTx/>
                <a:latin typeface="Calibri"/>
              </a:rPr>
              <a:t>Évaluation du double rattachement des Data Stewards - 5 indicateurs complémentaires :</a:t>
            </a:r>
            <a:endParaRPr lang="fr-FR" sz="1100" b="0" u="none" strike="noStrike">
              <a:solidFill>
                <a:srgbClr val="000000"/>
              </a:solidFill>
              <a:effectLst/>
              <a:uFillTx/>
              <a:latin typeface="Arial"/>
            </a:endParaRPr>
          </a:p>
        </p:txBody>
      </p:sp>
      <p:graphicFrame>
        <p:nvGraphicFramePr>
          <p:cNvPr id="172" name="Table 8"/>
          <p:cNvGraphicFramePr/>
          <p:nvPr/>
        </p:nvGraphicFramePr>
        <p:xfrm>
          <a:off x="548640" y="4407480"/>
          <a:ext cx="11091240" cy="1645920"/>
        </p:xfrm>
        <a:graphic>
          <a:graphicData uri="http://schemas.openxmlformats.org/drawingml/2006/table">
            <a:tbl>
              <a:tblPr/>
              <a:tblGrid>
                <a:gridCol w="3291840"/>
                <a:gridCol w="6245280"/>
                <a:gridCol w="1554480"/>
              </a:tblGrid>
              <a:tr h="274320">
                <a:tc>
                  <a:txBody>
                    <a:bodyPr tIns="36360" bIns="36360" anchor="ctr">
                      <a:noAutofit/>
                    </a:bodyPr>
                    <a:p>
                      <a:pPr defTabSz="457200">
                        <a:lnSpc>
                          <a:spcPct val="100000"/>
                        </a:lnSpc>
                      </a:pPr>
                      <a:r>
                        <a:rPr lang="fr-FR" sz="950" b="1" u="none" strike="noStrike">
                          <a:solidFill>
                            <a:srgbClr val="FFFFFF"/>
                          </a:solidFill>
                          <a:effectLst/>
                          <a:uFillTx/>
                          <a:latin typeface="Calibri"/>
                        </a:rPr>
                        <a:t>Indicateur</a:t>
                      </a:r>
                      <a:endParaRPr lang="fr-FR" sz="9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950" b="1" u="none" strike="noStrike">
                          <a:solidFill>
                            <a:srgbClr val="FFFFFF"/>
                          </a:solidFill>
                          <a:effectLst/>
                          <a:uFillTx/>
                          <a:latin typeface="Calibri"/>
                        </a:rPr>
                        <a:t>Méthode de mesure</a:t>
                      </a:r>
                      <a:endParaRPr lang="fr-FR" sz="9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950" b="1" u="none" strike="noStrike">
                          <a:solidFill>
                            <a:srgbClr val="FFFFFF"/>
                          </a:solidFill>
                          <a:effectLst/>
                          <a:uFillTx/>
                          <a:latin typeface="Calibri"/>
                        </a:rPr>
                        <a:t>Source</a:t>
                      </a:r>
                      <a:endParaRPr lang="fr-FR" sz="9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274320">
                <a:tc>
                  <a:txBody>
                    <a:bodyPr tIns="36360" bIns="36360" anchor="ctr">
                      <a:noAutofit/>
                    </a:bodyPr>
                    <a:p>
                      <a:pPr defTabSz="457200">
                        <a:lnSpc>
                          <a:spcPct val="100000"/>
                        </a:lnSpc>
                      </a:pPr>
                      <a:r>
                        <a:rPr lang="fr-FR" sz="880" b="0" u="none" strike="noStrike">
                          <a:solidFill>
                            <a:srgbClr val="1B2A4A"/>
                          </a:solidFill>
                          <a:effectLst/>
                          <a:uFillTx/>
                          <a:latin typeface="Calibri"/>
                        </a:rPr>
                        <a:t>Taux d'adoption des standards CDO</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Règles Soda Core « standard CDO » vs « spécifique domaine »</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DC</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880" b="0" u="none" strike="noStrike">
                          <a:solidFill>
                            <a:srgbClr val="1B2A4A"/>
                          </a:solidFill>
                          <a:effectLst/>
                          <a:uFillTx/>
                          <a:latin typeface="Calibri"/>
                        </a:rPr>
                        <a:t>Délai de propagation d'une MàJ</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Horodatage du workflow de révision/approbation Collibra</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PPM</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880" b="0" u="none" strike="noStrike">
                          <a:solidFill>
                            <a:srgbClr val="1B2A4A"/>
                          </a:solidFill>
                          <a:effectLst/>
                          <a:uFillTx/>
                          <a:latin typeface="Calibri"/>
                        </a:rPr>
                        <a:t>Fréquence de sollicitation fonctionnelle</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Comptage des échanges DS → CDO sur Collibra</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DS</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880" b="0" u="none" strike="noStrike">
                          <a:solidFill>
                            <a:srgbClr val="1B2A4A"/>
                          </a:solidFill>
                          <a:effectLst/>
                          <a:uFillTx/>
                          <a:latin typeface="Calibri"/>
                        </a:rPr>
                        <a:t>Cohérence terminologique</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Taux de correspondance exacte au glossaire Collibra</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DC, DS</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4320">
                <a:tc>
                  <a:txBody>
                    <a:bodyPr tIns="36360" bIns="36360" anchor="ctr">
                      <a:noAutofit/>
                    </a:bodyPr>
                    <a:p>
                      <a:pPr defTabSz="457200">
                        <a:lnSpc>
                          <a:spcPct val="100000"/>
                        </a:lnSpc>
                      </a:pPr>
                      <a:r>
                        <a:rPr lang="fr-FR" sz="880" b="0" u="none" strike="noStrike">
                          <a:solidFill>
                            <a:srgbClr val="1B2A4A"/>
                          </a:solidFill>
                          <a:effectLst/>
                          <a:uFillTx/>
                          <a:latin typeface="Calibri"/>
                        </a:rPr>
                        <a:t>Autonomie départementale préservée</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Part des décisions métier prises sans blocage, registre DO</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880" b="0" u="none" strike="noStrike">
                          <a:solidFill>
                            <a:srgbClr val="1B2A4A"/>
                          </a:solidFill>
                          <a:effectLst/>
                          <a:uFillTx/>
                          <a:latin typeface="Calibri"/>
                        </a:rPr>
                        <a:t>DO</a:t>
                      </a:r>
                      <a:endParaRPr lang="fr-FR" sz="88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73" name="TextBox 9"/>
          <p:cNvSpPr/>
          <p:nvPr/>
        </p:nvSpPr>
        <p:spPr>
          <a:xfrm>
            <a:off x="548640" y="6108120"/>
            <a:ext cx="11090880" cy="31932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00" b="0" i="1" u="none" strike="noStrike">
                <a:solidFill>
                  <a:srgbClr val="5B6B84"/>
                </a:solidFill>
                <a:effectLst/>
                <a:uFillTx/>
                <a:latin typeface="Calibri"/>
              </a:rPr>
              <a:t>Le critère négatif (absence de conflit) devient insuffisant seul : un canal jamais utilisé afficherait aussi zéro conflit. L'indicateur d'autonomie sert de garde-fou.</a:t>
            </a:r>
            <a:endParaRPr lang="fr-FR" sz="900" b="0" u="none" strike="noStrike">
              <a:solidFill>
                <a:srgbClr val="000000"/>
              </a:solidFill>
              <a:effectLst/>
              <a:uFillTx/>
              <a:latin typeface="Arial"/>
            </a:endParaRPr>
          </a:p>
        </p:txBody>
      </p:sp>
      <p:sp>
        <p:nvSpPr>
          <p:cNvPr id="174" name="TextBox 10"/>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[D3-F]</a:t>
            </a:r>
            <a:endParaRPr lang="fr-FR" sz="950" b="0" u="none" strike="noStrike">
              <a:solidFill>
                <a:srgbClr val="000000"/>
              </a:solidFill>
              <a:effectLst/>
              <a:uFillTx/>
              <a:latin typeface="Arial"/>
            </a:endParaRPr>
          </a:p>
        </p:txBody>
      </p:sp>
      <p:sp>
        <p:nvSpPr>
          <p:cNvPr id="175" name="TextBox 11"/>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7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76"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B6</a:t>
            </a:r>
            <a:endParaRPr lang="fr-FR" sz="1200" b="0" u="none" strike="noStrike">
              <a:solidFill>
                <a:srgbClr val="000000"/>
              </a:solidFill>
              <a:effectLst/>
              <a:uFillTx/>
              <a:latin typeface="Arial"/>
            </a:endParaRPr>
          </a:p>
        </p:txBody>
      </p:sp>
      <p:sp>
        <p:nvSpPr>
          <p:cNvPr id="177" name="TextBox 2"/>
          <p:cNvSpPr/>
          <p:nvPr/>
        </p:nvSpPr>
        <p:spPr>
          <a:xfrm>
            <a:off x="548640" y="658440"/>
            <a:ext cx="1005768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400" b="1" u="none" strike="noStrike">
                <a:solidFill>
                  <a:srgbClr val="1B2A4A"/>
                </a:solidFill>
                <a:effectLst/>
                <a:uFillTx/>
                <a:latin typeface="Cambria"/>
              </a:rPr>
              <a:t>Gestion des risques du pilote (1/2) - suspension &amp; débordement</a:t>
            </a:r>
            <a:endParaRPr lang="fr-FR" sz="2400" b="0" u="none" strike="noStrike">
              <a:solidFill>
                <a:srgbClr val="000000"/>
              </a:solidFill>
              <a:effectLst/>
              <a:uFillTx/>
              <a:latin typeface="Arial"/>
            </a:endParaRPr>
          </a:p>
        </p:txBody>
      </p:sp>
      <p:pic>
        <p:nvPicPr>
          <p:cNvPr id="178" name="Picture 3" descr="icon_alert.png"/>
          <p:cNvPicPr/>
          <p:nvPr/>
        </p:nvPicPr>
        <p:blipFill>
          <a:blip r:embed="rId1"/>
          <a:stretch/>
        </p:blipFill>
        <p:spPr>
          <a:xfrm>
            <a:off x="11140200" y="365760"/>
            <a:ext cx="657720" cy="657720"/>
          </a:xfrm>
          <a:prstGeom prst="rect">
            <a:avLst/>
          </a:prstGeom>
          <a:noFill/>
          <a:ln w="0">
            <a:noFill/>
          </a:ln>
        </p:spPr>
      </p:pic>
      <p:sp>
        <p:nvSpPr>
          <p:cNvPr id="179" name="TextBox 4"/>
          <p:cNvSpPr/>
          <p:nvPr/>
        </p:nvSpPr>
        <p:spPr>
          <a:xfrm>
            <a:off x="548640" y="1645920"/>
            <a:ext cx="110908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97402F"/>
                </a:solidFill>
                <a:effectLst/>
                <a:uFillTx/>
                <a:latin typeface="Calibri"/>
              </a:rPr>
              <a:t>Risques de suspension (sans repli) :</a:t>
            </a:r>
            <a:endParaRPr lang="fr-FR" sz="1150" b="0" u="none" strike="noStrike">
              <a:solidFill>
                <a:srgbClr val="000000"/>
              </a:solidFill>
              <a:effectLst/>
              <a:uFillTx/>
              <a:latin typeface="Arial"/>
            </a:endParaRPr>
          </a:p>
        </p:txBody>
      </p:sp>
      <p:graphicFrame>
        <p:nvGraphicFramePr>
          <p:cNvPr id="180" name="Table 5"/>
          <p:cNvGraphicFramePr/>
          <p:nvPr/>
        </p:nvGraphicFramePr>
        <p:xfrm>
          <a:off x="548640" y="1965960"/>
          <a:ext cx="11091240" cy="1371600"/>
        </p:xfrm>
        <a:graphic>
          <a:graphicData uri="http://schemas.openxmlformats.org/drawingml/2006/table">
            <a:tbl>
              <a:tblPr/>
              <a:tblGrid>
                <a:gridCol w="3291840"/>
                <a:gridCol w="1463040"/>
                <a:gridCol w="2377440"/>
                <a:gridCol w="3959280"/>
              </a:tblGrid>
              <a:tr h="457200">
                <a:tc>
                  <a:txBody>
                    <a:bodyPr tIns="36360" bIns="36360" anchor="ctr">
                      <a:noAutofit/>
                    </a:bodyPr>
                    <a:p>
                      <a:pPr defTabSz="457200">
                        <a:lnSpc>
                          <a:spcPct val="100000"/>
                        </a:lnSpc>
                      </a:pPr>
                      <a:r>
                        <a:rPr lang="fr-FR" sz="1000" b="1" u="none" strike="noStrike">
                          <a:solidFill>
                            <a:srgbClr val="FFFFFF"/>
                          </a:solidFill>
                          <a:effectLst/>
                          <a:uFillTx/>
                          <a:latin typeface="Calibri"/>
                        </a:rPr>
                        <a:t>Risque</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Probabilité</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Impact</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Mitigation</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457200">
                <a:tc>
                  <a:txBody>
                    <a:bodyPr tIns="36360" bIns="36360" anchor="ctr">
                      <a:noAutofit/>
                    </a:bodyPr>
                    <a:p>
                      <a:pPr defTabSz="457200">
                        <a:lnSpc>
                          <a:spcPct val="100000"/>
                        </a:lnSpc>
                      </a:pPr>
                      <a:r>
                        <a:rPr lang="fr-FR" sz="930" b="0" u="none" strike="noStrike">
                          <a:solidFill>
                            <a:srgbClr val="1B2A4A"/>
                          </a:solidFill>
                          <a:effectLst/>
                          <a:uFillTx/>
                          <a:latin typeface="Calibri"/>
                        </a:rPr>
                        <a:t>Absence d'annuaire central apte SAML/OIDC (J.01)</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Faible à 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Suspension totale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Devient un chantier d'infrastructure séparé</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tIns="36360" bIns="36360" anchor="ctr">
                      <a:noAutofit/>
                    </a:bodyPr>
                    <a:p>
                      <a:pPr defTabSz="457200">
                        <a:lnSpc>
                          <a:spcPct val="100000"/>
                        </a:lnSpc>
                      </a:pPr>
                      <a:r>
                        <a:rPr lang="fr-FR" sz="930" b="0" u="none" strike="noStrike">
                          <a:solidFill>
                            <a:srgbClr val="1B2A4A"/>
                          </a:solidFill>
                          <a:effectLst/>
                          <a:uFillTx/>
                          <a:latin typeface="Calibri"/>
                        </a:rPr>
                        <a:t>Défaut de sécurisation non corrigeable (J.02)</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Faible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Suspension si non corrigé avant J.06</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Repli possible si périmètre isolable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1" name="TextBox 6"/>
          <p:cNvSpPr/>
          <p:nvPr/>
        </p:nvSpPr>
        <p:spPr>
          <a:xfrm>
            <a:off x="548640" y="3456360"/>
            <a:ext cx="110908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150" b="1" u="none" strike="noStrike">
                <a:solidFill>
                  <a:srgbClr val="97402F"/>
                </a:solidFill>
                <a:effectLst/>
                <a:uFillTx/>
                <a:latin typeface="Calibri"/>
              </a:rPr>
              <a:t>Risques de débordement de planning :</a:t>
            </a:r>
            <a:endParaRPr lang="fr-FR" sz="1150" b="0" u="none" strike="noStrike">
              <a:solidFill>
                <a:srgbClr val="000000"/>
              </a:solidFill>
              <a:effectLst/>
              <a:uFillTx/>
              <a:latin typeface="Arial"/>
            </a:endParaRPr>
          </a:p>
        </p:txBody>
      </p:sp>
      <p:graphicFrame>
        <p:nvGraphicFramePr>
          <p:cNvPr id="182" name="Table 7"/>
          <p:cNvGraphicFramePr/>
          <p:nvPr/>
        </p:nvGraphicFramePr>
        <p:xfrm>
          <a:off x="548640" y="3767400"/>
          <a:ext cx="11091240" cy="1828800"/>
        </p:xfrm>
        <a:graphic>
          <a:graphicData uri="http://schemas.openxmlformats.org/drawingml/2006/table">
            <a:tbl>
              <a:tblPr/>
              <a:tblGrid>
                <a:gridCol w="3291840"/>
                <a:gridCol w="1463040"/>
                <a:gridCol w="2377440"/>
                <a:gridCol w="3959280"/>
              </a:tblGrid>
              <a:tr h="457200">
                <a:tc>
                  <a:txBody>
                    <a:bodyPr tIns="36360" bIns="36360" anchor="ctr">
                      <a:noAutofit/>
                    </a:bodyPr>
                    <a:p>
                      <a:pPr defTabSz="457200">
                        <a:lnSpc>
                          <a:spcPct val="100000"/>
                        </a:lnSpc>
                      </a:pPr>
                      <a:r>
                        <a:rPr lang="fr-FR" sz="1000" b="1" u="none" strike="noStrike">
                          <a:solidFill>
                            <a:srgbClr val="FFFFFF"/>
                          </a:solidFill>
                          <a:effectLst/>
                          <a:uFillTx/>
                          <a:latin typeface="Calibri"/>
                        </a:rPr>
                        <a:t>Risque</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Probabilité</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Impact</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00" b="1" u="none" strike="noStrike">
                          <a:solidFill>
                            <a:srgbClr val="FFFFFF"/>
                          </a:solidFill>
                          <a:effectLst/>
                          <a:uFillTx/>
                          <a:latin typeface="Calibri"/>
                        </a:rPr>
                        <a:t>Mitigation</a:t>
                      </a:r>
                      <a:endParaRPr lang="fr-FR" sz="10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457200">
                <a:tc>
                  <a:txBody>
                    <a:bodyPr tIns="36360" bIns="36360" anchor="ctr">
                      <a:noAutofit/>
                    </a:bodyPr>
                    <a:p>
                      <a:pPr defTabSz="457200">
                        <a:lnSpc>
                          <a:spcPct val="100000"/>
                        </a:lnSpc>
                      </a:pPr>
                      <a:r>
                        <a:rPr lang="fr-FR" sz="930" b="0" u="none" strike="noStrike">
                          <a:solidFill>
                            <a:srgbClr val="1B2A4A"/>
                          </a:solidFill>
                          <a:effectLst/>
                          <a:uFillTx/>
                          <a:latin typeface="Calibri"/>
                        </a:rPr>
                        <a:t>Délai de réponse TrustArc (SSO, J.03)</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Débordement du J.03</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Gestion manuelle temporaire, documentée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tIns="36360" bIns="36360" anchor="ctr">
                      <a:noAutofit/>
                    </a:bodyPr>
                    <a:p>
                      <a:pPr defTabSz="457200">
                        <a:lnSpc>
                          <a:spcPct val="100000"/>
                        </a:lnSpc>
                      </a:pPr>
                      <a:r>
                        <a:rPr lang="fr-FR" sz="930" b="0" u="none" strike="noStrike">
                          <a:solidFill>
                            <a:srgbClr val="1B2A4A"/>
                          </a:solidFill>
                          <a:effectLst/>
                          <a:uFillTx/>
                          <a:latin typeface="Calibri"/>
                        </a:rPr>
                        <a:t>Échec du test d'intégration bout-en-bout (J.05)</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Débordement du J.06, retard en cascade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Identifier le maillon défaillant avant correction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tIns="36360" bIns="36360" anchor="ctr">
                      <a:noAutofit/>
                    </a:bodyPr>
                    <a:p>
                      <a:pPr defTabSz="457200">
                        <a:lnSpc>
                          <a:spcPct val="100000"/>
                        </a:lnSpc>
                      </a:pPr>
                      <a:r>
                        <a:rPr lang="fr-FR" sz="930" b="0" u="none" strike="noStrike">
                          <a:solidFill>
                            <a:srgbClr val="1B2A4A"/>
                          </a:solidFill>
                          <a:effectLst/>
                          <a:uFillTx/>
                          <a:latin typeface="Calibri"/>
                        </a:rPr>
                        <a:t>Compression de l'exécution réelle (J.10.2, 4 sem.)</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Fiabilité réduite des indicateurs</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Rallongement ponctuel si J.11 instable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3" name="Rounded Rectangle 8"/>
          <p:cNvSpPr/>
          <p:nvPr/>
        </p:nvSpPr>
        <p:spPr>
          <a:xfrm>
            <a:off x="548640" y="5715000"/>
            <a:ext cx="11090880" cy="712440"/>
          </a:xfrm>
          <a:prstGeom prst="roundRect">
            <a:avLst>
              <a:gd name="adj" fmla="val 8000"/>
            </a:avLst>
          </a:prstGeom>
          <a:solidFill>
            <a:srgbClr val="FBEDEA"/>
          </a:solidFill>
          <a:ln w="9525">
            <a:solidFill>
              <a:srgbClr val="D8DEE6"/>
            </a:solidFill>
            <a:round/>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184" name="TextBox 9"/>
          <p:cNvSpPr/>
          <p:nvPr/>
        </p:nvSpPr>
        <p:spPr>
          <a:xfrm>
            <a:off x="777240" y="5715000"/>
            <a:ext cx="10606320" cy="7124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00" b="0" i="1" u="none" strike="noStrike">
                <a:solidFill>
                  <a:srgbClr val="97402F"/>
                </a:solidFill>
                <a:effectLst/>
                <a:uFillTx/>
                <a:latin typeface="Calibri"/>
              </a:rPr>
              <a:t>Ces deux catégories sont propres à la phase de sécurisation (Jalons 01-06) et signalées explicitement plutôt que noyées dans le reste du tableau des risques opérationnels (slide suivante).</a:t>
            </a:r>
            <a:endParaRPr lang="fr-FR" sz="1000" b="0" u="none" strike="noStrike">
              <a:solidFill>
                <a:srgbClr val="000000"/>
              </a:solidFill>
              <a:effectLst/>
              <a:uFillTx/>
              <a:latin typeface="Arial"/>
            </a:endParaRPr>
          </a:p>
        </p:txBody>
      </p:sp>
      <p:sp>
        <p:nvSpPr>
          <p:cNvPr id="185" name="TextBox 10"/>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 §3.F.8</a:t>
            </a:r>
            <a:endParaRPr lang="fr-FR" sz="950" b="0" u="none" strike="noStrike">
              <a:solidFill>
                <a:srgbClr val="000000"/>
              </a:solidFill>
              <a:effectLst/>
              <a:uFillTx/>
              <a:latin typeface="Arial"/>
            </a:endParaRPr>
          </a:p>
        </p:txBody>
      </p:sp>
      <p:sp>
        <p:nvSpPr>
          <p:cNvPr id="186" name="TextBox 11"/>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8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87"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B6</a:t>
            </a:r>
            <a:endParaRPr lang="fr-FR" sz="1200" b="0" u="none" strike="noStrike">
              <a:solidFill>
                <a:srgbClr val="000000"/>
              </a:solidFill>
              <a:effectLst/>
              <a:uFillTx/>
              <a:latin typeface="Arial"/>
            </a:endParaRPr>
          </a:p>
        </p:txBody>
      </p:sp>
      <p:sp>
        <p:nvSpPr>
          <p:cNvPr id="188" name="TextBox 2"/>
          <p:cNvSpPr/>
          <p:nvPr/>
        </p:nvSpPr>
        <p:spPr>
          <a:xfrm>
            <a:off x="548640" y="658440"/>
            <a:ext cx="1005768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400" b="1" u="none" strike="noStrike">
                <a:solidFill>
                  <a:srgbClr val="1B2A4A"/>
                </a:solidFill>
                <a:effectLst/>
                <a:uFillTx/>
                <a:latin typeface="Cambria"/>
              </a:rPr>
              <a:t>Gestion des risques du pilote (2/2) - risques opérationnels</a:t>
            </a:r>
            <a:endParaRPr lang="fr-FR" sz="2400" b="0" u="none" strike="noStrike">
              <a:solidFill>
                <a:srgbClr val="000000"/>
              </a:solidFill>
              <a:effectLst/>
              <a:uFillTx/>
              <a:latin typeface="Arial"/>
            </a:endParaRPr>
          </a:p>
        </p:txBody>
      </p:sp>
      <p:pic>
        <p:nvPicPr>
          <p:cNvPr id="189" name="Picture 3" descr="icon_alert.png"/>
          <p:cNvPicPr/>
          <p:nvPr/>
        </p:nvPicPr>
        <p:blipFill>
          <a:blip r:embed="rId1"/>
          <a:stretch/>
        </p:blipFill>
        <p:spPr>
          <a:xfrm>
            <a:off x="11140200" y="365760"/>
            <a:ext cx="657720" cy="657720"/>
          </a:xfrm>
          <a:prstGeom prst="rect">
            <a:avLst/>
          </a:prstGeom>
          <a:noFill/>
          <a:ln w="0">
            <a:noFill/>
          </a:ln>
        </p:spPr>
      </p:pic>
      <p:graphicFrame>
        <p:nvGraphicFramePr>
          <p:cNvPr id="190" name="Table 4"/>
          <p:cNvGraphicFramePr/>
          <p:nvPr/>
        </p:nvGraphicFramePr>
        <p:xfrm>
          <a:off x="548640" y="1691640"/>
          <a:ext cx="11091240" cy="4423320"/>
        </p:xfrm>
        <a:graphic>
          <a:graphicData uri="http://schemas.openxmlformats.org/drawingml/2006/table">
            <a:tbl>
              <a:tblPr/>
              <a:tblGrid>
                <a:gridCol w="3566160"/>
                <a:gridCol w="868680"/>
                <a:gridCol w="1051560"/>
                <a:gridCol w="5605200"/>
              </a:tblGrid>
              <a:tr h="402120">
                <a:tc>
                  <a:txBody>
                    <a:bodyPr tIns="36360" bIns="36360" anchor="ctr">
                      <a:noAutofit/>
                    </a:bodyPr>
                    <a:p>
                      <a:pPr defTabSz="457200">
                        <a:lnSpc>
                          <a:spcPct val="100000"/>
                        </a:lnSpc>
                      </a:pPr>
                      <a:r>
                        <a:rPr lang="fr-FR" sz="1050" b="1" u="none" strike="noStrike">
                          <a:solidFill>
                            <a:srgbClr val="FFFFFF"/>
                          </a:solidFill>
                          <a:effectLst/>
                          <a:uFillTx/>
                          <a:latin typeface="Calibri"/>
                        </a:rPr>
                        <a:t>Risque</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50" b="1" u="none" strike="noStrike">
                          <a:solidFill>
                            <a:srgbClr val="FFFFFF"/>
                          </a:solidFill>
                          <a:effectLst/>
                          <a:uFillTx/>
                          <a:latin typeface="Calibri"/>
                        </a:rPr>
                        <a:t>Prob.</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50" b="1" u="none" strike="noStrike">
                          <a:solidFill>
                            <a:srgbClr val="FFFFFF"/>
                          </a:solidFill>
                          <a:effectLst/>
                          <a:uFillTx/>
                          <a:latin typeface="Calibri"/>
                        </a:rPr>
                        <a:t>Impact</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050" b="1" u="none" strike="noStrike">
                          <a:solidFill>
                            <a:srgbClr val="FFFFFF"/>
                          </a:solidFill>
                          <a:effectLst/>
                          <a:uFillTx/>
                          <a:latin typeface="Calibri"/>
                        </a:rPr>
                        <a:t>Mitigation</a:t>
                      </a:r>
                      <a:endParaRPr lang="fr-FR" sz="105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Charge Data Custodians sous-estimée (4 outils/10)</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Élevée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Élevé</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Suivi hebdo ; bascule possible vers Collate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Collecte incomplète des profils d'accès (J.02)</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Élevé</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Recoupement systématique avant redéfinition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Soda Core insuffisant pour E5</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Vérif. J.08.1/11 ; repli Cuallee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Dépriorisation long terme de Soda Core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Faible-moyen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Suivi post-pilote ; repli TestGen si confirmé</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Décalage sync. Collibra/OpenMetadata</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Faible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Vérif. J.09 ; calibrage sur délai 72h</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Seuils de classification mal calibrés</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Mesure du délai réel au J.13 ; resserrement</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Résistance au changement du dépt. pilote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Cf. formation §3.F.9</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Désalignement cycles budgétaires trimestriels</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Anticiper la demande Phase 3 avant clôture P2</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Déploiement Collibra/RoPA plus long que prévu</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Moyenne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Prioriser la classification des données sensibles</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120">
                <a:tc>
                  <a:txBody>
                    <a:bodyPr tIns="36360" bIns="36360" anchor="ctr">
                      <a:noAutofit/>
                    </a:bodyPr>
                    <a:p>
                      <a:pPr defTabSz="457200">
                        <a:lnSpc>
                          <a:spcPct val="100000"/>
                        </a:lnSpc>
                      </a:pPr>
                      <a:r>
                        <a:rPr lang="fr-FR" sz="930" b="0" u="none" strike="noStrike">
                          <a:solidFill>
                            <a:srgbClr val="1B2A4A"/>
                          </a:solidFill>
                          <a:effectLst/>
                          <a:uFillTx/>
                          <a:latin typeface="Calibri"/>
                        </a:rPr>
                        <a:t>Absence de classification préalable (RoPA)</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Élevée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Moyen</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930" b="0" u="none" strike="noStrike">
                          <a:solidFill>
                            <a:srgbClr val="1B2A4A"/>
                          </a:solidFill>
                          <a:effectLst/>
                          <a:uFillTx/>
                          <a:latin typeface="Calibri"/>
                        </a:rPr>
                        <a:t>Population du RoPA documentée comme provisoire</a:t>
                      </a:r>
                      <a:endParaRPr lang="fr-FR" sz="93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91" name="TextBox 5"/>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 §3.F.8</a:t>
            </a:r>
            <a:endParaRPr lang="fr-FR" sz="950" b="0" u="none" strike="noStrike">
              <a:solidFill>
                <a:srgbClr val="000000"/>
              </a:solidFill>
              <a:effectLst/>
              <a:uFillTx/>
              <a:latin typeface="Arial"/>
            </a:endParaRPr>
          </a:p>
        </p:txBody>
      </p:sp>
      <p:sp>
        <p:nvSpPr>
          <p:cNvPr id="192" name="TextBox 6"/>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9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93"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B7</a:t>
            </a:r>
            <a:endParaRPr lang="fr-FR" sz="1200" b="0" u="none" strike="noStrike">
              <a:solidFill>
                <a:srgbClr val="000000"/>
              </a:solidFill>
              <a:effectLst/>
              <a:uFillTx/>
              <a:latin typeface="Arial"/>
            </a:endParaRPr>
          </a:p>
        </p:txBody>
      </p:sp>
      <p:sp>
        <p:nvSpPr>
          <p:cNvPr id="194"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spcBef>
                <a:spcPts val="1191"/>
              </a:spcBef>
              <a:spcAft>
                <a:spcPts val="992"/>
              </a:spcAft>
            </a:pPr>
            <a:r>
              <a:rPr lang="fr-FR" sz="2800" b="1" u="none" strike="noStrike">
                <a:solidFill>
                  <a:srgbClr val="1B2A4A"/>
                </a:solidFill>
                <a:effectLst/>
                <a:uFillTx/>
                <a:latin typeface="Cambria"/>
              </a:rPr>
              <a:t>Conditions de passage à l'échelle (feu 🟢 🟠 🔴)</a:t>
            </a:r>
            <a:endParaRPr lang="fr-FR" sz="2800" b="0" u="none" strike="noStrike">
              <a:solidFill>
                <a:srgbClr val="000000"/>
              </a:solidFill>
              <a:effectLst/>
              <a:uFillTx/>
              <a:latin typeface="Arial"/>
            </a:endParaRPr>
          </a:p>
        </p:txBody>
      </p:sp>
      <p:pic>
        <p:nvPicPr>
          <p:cNvPr id="195" name="Picture 3" descr="icon_flag.png"/>
          <p:cNvPicPr/>
          <p:nvPr/>
        </p:nvPicPr>
        <p:blipFill>
          <a:blip r:embed="rId1"/>
          <a:stretch/>
        </p:blipFill>
        <p:spPr>
          <a:xfrm>
            <a:off x="11140200" y="365760"/>
            <a:ext cx="657720" cy="657720"/>
          </a:xfrm>
          <a:prstGeom prst="rect">
            <a:avLst/>
          </a:prstGeom>
          <a:noFill/>
          <a:ln w="0">
            <a:noFill/>
          </a:ln>
        </p:spPr>
      </p:pic>
      <p:graphicFrame>
        <p:nvGraphicFramePr>
          <p:cNvPr id="196" name="Table 4"/>
          <p:cNvGraphicFramePr/>
          <p:nvPr/>
        </p:nvGraphicFramePr>
        <p:xfrm>
          <a:off x="548640" y="1691640"/>
          <a:ext cx="11091240" cy="4526280"/>
        </p:xfrm>
        <a:graphic>
          <a:graphicData uri="http://schemas.openxmlformats.org/drawingml/2006/table">
            <a:tbl>
              <a:tblPr/>
              <a:tblGrid>
                <a:gridCol w="3017520"/>
                <a:gridCol w="4480560"/>
                <a:gridCol w="3593520"/>
              </a:tblGrid>
              <a:tr h="502920">
                <a:tc>
                  <a:txBody>
                    <a:bodyPr tIns="36360" bIns="36360" anchor="ctr">
                      <a:noAutofit/>
                    </a:bodyPr>
                    <a:p>
                      <a:pPr defTabSz="457200">
                        <a:lnSpc>
                          <a:spcPct val="100000"/>
                        </a:lnSpc>
                      </a:pPr>
                      <a:r>
                        <a:rPr lang="fr-FR" sz="1200" b="1" u="none" strike="noStrike">
                          <a:solidFill>
                            <a:srgbClr val="FFFFFF"/>
                          </a:solidFill>
                          <a:effectLst/>
                          <a:uFillTx/>
                          <a:latin typeface="Calibri"/>
                        </a:rPr>
                        <a:t>Dispositif testé</a:t>
                      </a:r>
                      <a:endParaRPr lang="fr-FR" sz="12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200" b="1" u="none" strike="noStrike">
                          <a:solidFill>
                            <a:srgbClr val="FFFFFF"/>
                          </a:solidFill>
                          <a:effectLst/>
                          <a:uFillTx/>
                          <a:latin typeface="Calibri"/>
                        </a:rPr>
                        <a:t>Critère de passage à l'échelle</a:t>
                      </a:r>
                      <a:endParaRPr lang="fr-FR" sz="12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200" b="1" u="none" strike="noStrike">
                          <a:solidFill>
                            <a:srgbClr val="FFFFFF"/>
                          </a:solidFill>
                          <a:effectLst/>
                          <a:uFillTx/>
                          <a:latin typeface="Calibri"/>
                        </a:rPr>
                        <a:t>Si échec / résultat mitigé</a:t>
                      </a:r>
                      <a:endParaRPr lang="fr-FR" sz="12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Double rattachement Data Steward (E1)</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Absence de conflit d'autorité rapporté</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Clarifier par écrit avant extension, plutôt qu'abandonner</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Soda Core / module qualité OpenMetadata</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Décision explicite au Jalon 08.1</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Généraliser uniquement l'outil retenu</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Connecteur Collibra/OpenMetadata</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Synchronisation vérifiée (J.09), compatible délai 72h</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Resserrer la fréquence ou intégration complémentaire</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Soda Core pour la qualité ML (E5)</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Contrôles jugés suffisants entre J.08.1 et 11</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Bascule vers Cuallee, sans réintroduire Deequ/Spark</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Circuit de classification/approbation ([D3-E])</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Délai mesuré au J.13, compatible mise en prod.</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Resserrer les critères plutôt qu'alléger le circuit</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Déploiement incrémental Collibra/RoPA (E1, E3)</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Configuration scopée PD extensible sans reconstruction</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Revoir l'architecture avant Phase 3</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Engineering overhead Data Custodians</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Estimation (J.12) vs capacité réelle</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Séquencer le déploiement sur plusieurs trimestres</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02920">
                <a:tc>
                  <a:txBody>
                    <a:bodyPr tIns="36360" bIns="36360" anchor="ctr">
                      <a:noAutofit/>
                    </a:bodyPr>
                    <a:p>
                      <a:pPr defTabSz="457200">
                        <a:lnSpc>
                          <a:spcPct val="100000"/>
                        </a:lnSpc>
                      </a:pPr>
                      <a:r>
                        <a:rPr lang="fr-FR" sz="1200" b="0" u="none" strike="noStrike">
                          <a:solidFill>
                            <a:srgbClr val="1B2A4A"/>
                          </a:solidFill>
                          <a:effectLst/>
                          <a:uFillTx/>
                          <a:latin typeface="Calibri"/>
                        </a:rPr>
                        <a:t>Phase de sécurisation elle-même</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Franchissement du J.06 sans suspension</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200" b="0" u="none" strike="noStrike">
                          <a:solidFill>
                            <a:srgbClr val="1B2A4A"/>
                          </a:solidFill>
                          <a:effectLst/>
                          <a:uFillTx/>
                          <a:latin typeface="Calibri"/>
                        </a:rPr>
                        <a:t>Traiter comme chantier séparé avant généralisation</a:t>
                      </a:r>
                      <a:endParaRPr lang="fr-FR" sz="12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97" name="TextBox 5"/>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[D3-G]</a:t>
            </a:r>
            <a:endParaRPr lang="fr-FR" sz="950" b="0" u="none" strike="noStrike">
              <a:solidFill>
                <a:srgbClr val="000000"/>
              </a:solidFill>
              <a:effectLst/>
              <a:uFillTx/>
              <a:latin typeface="Arial"/>
            </a:endParaRPr>
          </a:p>
        </p:txBody>
      </p:sp>
      <p:sp>
        <p:nvSpPr>
          <p:cNvPr id="198" name="TextBox 6"/>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10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99"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B8</a:t>
            </a:r>
            <a:endParaRPr lang="fr-FR" sz="1200" b="0" u="none" strike="noStrike">
              <a:solidFill>
                <a:srgbClr val="000000"/>
              </a:solidFill>
              <a:effectLst/>
              <a:uFillTx/>
              <a:latin typeface="Arial"/>
            </a:endParaRPr>
          </a:p>
        </p:txBody>
      </p:sp>
      <p:sp>
        <p:nvSpPr>
          <p:cNvPr id="200"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Ajustements du cadre de gouvernance</a:t>
            </a:r>
            <a:endParaRPr lang="fr-FR" sz="2800" b="0" u="none" strike="noStrike">
              <a:solidFill>
                <a:srgbClr val="000000"/>
              </a:solidFill>
              <a:effectLst/>
              <a:uFillTx/>
              <a:latin typeface="Arial"/>
            </a:endParaRPr>
          </a:p>
        </p:txBody>
      </p:sp>
      <p:pic>
        <p:nvPicPr>
          <p:cNvPr id="201" name="Picture 3" descr="icon_shield.png"/>
          <p:cNvPicPr/>
          <p:nvPr/>
        </p:nvPicPr>
        <p:blipFill>
          <a:blip r:embed="rId1"/>
          <a:stretch/>
        </p:blipFill>
        <p:spPr>
          <a:xfrm>
            <a:off x="11140200" y="365760"/>
            <a:ext cx="657720" cy="657720"/>
          </a:xfrm>
          <a:prstGeom prst="rect">
            <a:avLst/>
          </a:prstGeom>
          <a:noFill/>
          <a:ln w="0">
            <a:noFill/>
          </a:ln>
        </p:spPr>
      </p:pic>
      <p:sp>
        <p:nvSpPr>
          <p:cNvPr id="202" name="Rounded Rectangle 4"/>
          <p:cNvSpPr/>
          <p:nvPr/>
        </p:nvSpPr>
        <p:spPr>
          <a:xfrm>
            <a:off x="548640" y="1737360"/>
            <a:ext cx="11090880" cy="77652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03" name="Oval 5"/>
          <p:cNvSpPr/>
          <p:nvPr/>
        </p:nvSpPr>
        <p:spPr>
          <a:xfrm>
            <a:off x="749880" y="1906560"/>
            <a:ext cx="438120" cy="43812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04" name="TextBox 6"/>
          <p:cNvSpPr/>
          <p:nvPr/>
        </p:nvSpPr>
        <p:spPr>
          <a:xfrm>
            <a:off x="749880" y="1906560"/>
            <a:ext cx="438120" cy="43812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300" b="1" u="none" strike="noStrike">
                <a:solidFill>
                  <a:srgbClr val="1B2A4A"/>
                </a:solidFill>
                <a:effectLst/>
                <a:uFillTx/>
                <a:latin typeface="Calibri"/>
              </a:rPr>
              <a:t>1</a:t>
            </a:r>
            <a:endParaRPr lang="fr-FR" sz="1300" b="0" u="none" strike="noStrike">
              <a:solidFill>
                <a:srgbClr val="000000"/>
              </a:solidFill>
              <a:effectLst/>
              <a:uFillTx/>
              <a:latin typeface="Arial"/>
            </a:endParaRPr>
          </a:p>
        </p:txBody>
      </p:sp>
      <p:sp>
        <p:nvSpPr>
          <p:cNvPr id="205" name="TextBox 7"/>
          <p:cNvSpPr/>
          <p:nvPr/>
        </p:nvSpPr>
        <p:spPr>
          <a:xfrm>
            <a:off x="1417320" y="1828800"/>
            <a:ext cx="996624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0" u="none" strike="noStrike">
                <a:solidFill>
                  <a:srgbClr val="1B2A4A"/>
                </a:solidFill>
                <a:effectLst/>
                <a:uFillTx/>
                <a:latin typeface="Calibri"/>
              </a:rPr>
              <a:t>Calibrer les seuils des critères des niveaux d’impact des modèles =, selon les résultats du pilote</a:t>
            </a:r>
            <a:endParaRPr lang="fr-FR" sz="1200" b="0" u="none" strike="noStrike">
              <a:solidFill>
                <a:srgbClr val="000000"/>
              </a:solidFill>
              <a:effectLst/>
              <a:uFillTx/>
              <a:latin typeface="Arial"/>
            </a:endParaRPr>
          </a:p>
        </p:txBody>
      </p:sp>
      <p:sp>
        <p:nvSpPr>
          <p:cNvPr id="206" name="Rounded Rectangle 8"/>
          <p:cNvSpPr/>
          <p:nvPr/>
        </p:nvSpPr>
        <p:spPr>
          <a:xfrm>
            <a:off x="548640" y="2606040"/>
            <a:ext cx="11090880" cy="77652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07" name="Oval 9"/>
          <p:cNvSpPr/>
          <p:nvPr/>
        </p:nvSpPr>
        <p:spPr>
          <a:xfrm>
            <a:off x="749880" y="2775240"/>
            <a:ext cx="438120" cy="43812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08" name="TextBox 10"/>
          <p:cNvSpPr/>
          <p:nvPr/>
        </p:nvSpPr>
        <p:spPr>
          <a:xfrm>
            <a:off x="749880" y="2775240"/>
            <a:ext cx="438120" cy="43812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300" b="1" u="none" strike="noStrike">
                <a:solidFill>
                  <a:srgbClr val="1B2A4A"/>
                </a:solidFill>
                <a:effectLst/>
                <a:uFillTx/>
                <a:latin typeface="Calibri"/>
              </a:rPr>
              <a:t>2</a:t>
            </a:r>
            <a:endParaRPr lang="fr-FR" sz="1300" b="0" u="none" strike="noStrike">
              <a:solidFill>
                <a:srgbClr val="000000"/>
              </a:solidFill>
              <a:effectLst/>
              <a:uFillTx/>
              <a:latin typeface="Arial"/>
            </a:endParaRPr>
          </a:p>
        </p:txBody>
      </p:sp>
      <p:sp>
        <p:nvSpPr>
          <p:cNvPr id="209" name="TextBox 11"/>
          <p:cNvSpPr/>
          <p:nvPr/>
        </p:nvSpPr>
        <p:spPr>
          <a:xfrm>
            <a:off x="1417320" y="2697480"/>
            <a:ext cx="996624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0" u="none" strike="noStrike">
                <a:solidFill>
                  <a:srgbClr val="1B2A4A"/>
                </a:solidFill>
                <a:effectLst/>
                <a:uFillTx/>
                <a:latin typeface="Calibri"/>
              </a:rPr>
              <a:t>Réviser le tableau d'outils sur les deux lignes explicitement testées (recouvrement Soda Core/OpenMetadata &amp; capacité de Soda Core / E5)</a:t>
            </a:r>
            <a:endParaRPr lang="fr-FR" sz="1200" b="0" u="none" strike="noStrike">
              <a:solidFill>
                <a:srgbClr val="000000"/>
              </a:solidFill>
              <a:effectLst/>
              <a:uFillTx/>
              <a:latin typeface="Arial"/>
            </a:endParaRPr>
          </a:p>
        </p:txBody>
      </p:sp>
      <p:sp>
        <p:nvSpPr>
          <p:cNvPr id="210" name="Rounded Rectangle 12"/>
          <p:cNvSpPr/>
          <p:nvPr/>
        </p:nvSpPr>
        <p:spPr>
          <a:xfrm>
            <a:off x="548640" y="3474720"/>
            <a:ext cx="11090880" cy="77652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11" name="Oval 13"/>
          <p:cNvSpPr/>
          <p:nvPr/>
        </p:nvSpPr>
        <p:spPr>
          <a:xfrm>
            <a:off x="749880" y="3643920"/>
            <a:ext cx="438120" cy="43812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12" name="TextBox 14"/>
          <p:cNvSpPr/>
          <p:nvPr/>
        </p:nvSpPr>
        <p:spPr>
          <a:xfrm>
            <a:off x="749880" y="3643920"/>
            <a:ext cx="438120" cy="43812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300" b="1" u="none" strike="noStrike">
                <a:solidFill>
                  <a:srgbClr val="1B2A4A"/>
                </a:solidFill>
                <a:effectLst/>
                <a:uFillTx/>
                <a:latin typeface="Calibri"/>
              </a:rPr>
              <a:t>3</a:t>
            </a:r>
            <a:endParaRPr lang="fr-FR" sz="1300" b="0" u="none" strike="noStrike">
              <a:solidFill>
                <a:srgbClr val="000000"/>
              </a:solidFill>
              <a:effectLst/>
              <a:uFillTx/>
              <a:latin typeface="Arial"/>
            </a:endParaRPr>
          </a:p>
        </p:txBody>
      </p:sp>
      <p:sp>
        <p:nvSpPr>
          <p:cNvPr id="213" name="TextBox 15"/>
          <p:cNvSpPr/>
          <p:nvPr/>
        </p:nvSpPr>
        <p:spPr>
          <a:xfrm>
            <a:off x="1417320" y="3566160"/>
            <a:ext cx="996624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0" u="none" strike="noStrike">
                <a:solidFill>
                  <a:srgbClr val="1B2A4A"/>
                </a:solidFill>
                <a:effectLst/>
                <a:uFillTx/>
                <a:latin typeface="Calibri"/>
              </a:rPr>
              <a:t>Établir un coût total de possession (infrastructure, maintenance pluriannuelle) dès qu’un historique d'exploitation suffisant est disponible</a:t>
            </a:r>
            <a:endParaRPr lang="fr-FR" sz="1200" b="0" u="none" strike="noStrike">
              <a:solidFill>
                <a:srgbClr val="000000"/>
              </a:solidFill>
              <a:effectLst/>
              <a:uFillTx/>
              <a:latin typeface="Arial"/>
            </a:endParaRPr>
          </a:p>
        </p:txBody>
      </p:sp>
      <p:sp>
        <p:nvSpPr>
          <p:cNvPr id="214" name="Rounded Rectangle 16"/>
          <p:cNvSpPr/>
          <p:nvPr/>
        </p:nvSpPr>
        <p:spPr>
          <a:xfrm>
            <a:off x="536760" y="4335120"/>
            <a:ext cx="11090880" cy="77652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15" name="Oval 17"/>
          <p:cNvSpPr/>
          <p:nvPr/>
        </p:nvSpPr>
        <p:spPr>
          <a:xfrm>
            <a:off x="749880" y="4512600"/>
            <a:ext cx="438120" cy="43812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16" name="TextBox 18"/>
          <p:cNvSpPr/>
          <p:nvPr/>
        </p:nvSpPr>
        <p:spPr>
          <a:xfrm>
            <a:off x="749880" y="4512600"/>
            <a:ext cx="438120" cy="43812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300" b="1" u="none" strike="noStrike">
                <a:solidFill>
                  <a:srgbClr val="1B2A4A"/>
                </a:solidFill>
                <a:effectLst/>
                <a:uFillTx/>
                <a:latin typeface="Calibri"/>
              </a:rPr>
              <a:t>4</a:t>
            </a:r>
            <a:endParaRPr lang="fr-FR" sz="1300" b="0" u="none" strike="noStrike">
              <a:solidFill>
                <a:srgbClr val="000000"/>
              </a:solidFill>
              <a:effectLst/>
              <a:uFillTx/>
              <a:latin typeface="Arial"/>
            </a:endParaRPr>
          </a:p>
        </p:txBody>
      </p:sp>
      <p:sp>
        <p:nvSpPr>
          <p:cNvPr id="217" name="TextBox 19"/>
          <p:cNvSpPr/>
          <p:nvPr/>
        </p:nvSpPr>
        <p:spPr>
          <a:xfrm>
            <a:off x="1417320" y="4434840"/>
            <a:ext cx="996624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0" u="none" strike="noStrike">
                <a:solidFill>
                  <a:srgbClr val="1B2A4A"/>
                </a:solidFill>
                <a:effectLst/>
                <a:uFillTx/>
                <a:latin typeface="Calibri"/>
                <a:ea typeface="Microsoft YaHei"/>
              </a:rPr>
              <a:t>Valider la couverture </a:t>
            </a:r>
            <a:r>
              <a:rPr lang="fr-FR" sz="1200" b="0" i="1" u="none" strike="noStrike">
                <a:solidFill>
                  <a:srgbClr val="1B2A4A"/>
                </a:solidFill>
                <a:effectLst/>
                <a:uFillTx/>
                <a:latin typeface="Calibri"/>
                <a:ea typeface="Microsoft YaHei"/>
              </a:rPr>
              <a:t>DSAR</a:t>
            </a:r>
            <a:r>
              <a:rPr lang="fr-FR" sz="1200" b="0" u="none" strike="noStrike">
                <a:solidFill>
                  <a:srgbClr val="1B2A4A"/>
                </a:solidFill>
                <a:effectLst/>
                <a:uFillTx/>
                <a:latin typeface="Calibri"/>
                <a:ea typeface="Microsoft YaHei"/>
              </a:rPr>
              <a:t> de </a:t>
            </a:r>
            <a:r>
              <a:rPr lang="fr-FR" sz="1200" b="0" i="1" u="none" strike="noStrike">
                <a:solidFill>
                  <a:srgbClr val="1B2A4A"/>
                </a:solidFill>
                <a:effectLst/>
                <a:uFillTx/>
                <a:latin typeface="Calibri"/>
                <a:ea typeface="Microsoft YaHei"/>
              </a:rPr>
              <a:t>TrustArc</a:t>
            </a:r>
            <a:r>
              <a:rPr lang="fr-FR" sz="1200" b="0" u="none" strike="noStrike">
                <a:solidFill>
                  <a:srgbClr val="1B2A4A"/>
                </a:solidFill>
                <a:effectLst/>
                <a:uFillTx/>
                <a:latin typeface="Calibri"/>
                <a:ea typeface="Microsoft YaHei"/>
              </a:rPr>
              <a:t> (en s'appuyant sur le </a:t>
            </a:r>
            <a:r>
              <a:rPr lang="fr-FR" sz="1200" b="0" i="1" u="none" strike="noStrike">
                <a:solidFill>
                  <a:srgbClr val="1B2A4A"/>
                </a:solidFill>
                <a:effectLst/>
                <a:uFillTx/>
                <a:latin typeface="Calibri"/>
                <a:ea typeface="Microsoft YaHei"/>
              </a:rPr>
              <a:t>RoPA</a:t>
            </a:r>
            <a:r>
              <a:rPr lang="fr-FR" sz="1200" b="0" u="none" strike="noStrike">
                <a:solidFill>
                  <a:srgbClr val="1B2A4A"/>
                </a:solidFill>
                <a:effectLst/>
                <a:uFillTx/>
                <a:latin typeface="Calibri"/>
                <a:ea typeface="Microsoft YaHei"/>
              </a:rPr>
              <a:t> pilote</a:t>
            </a:r>
            <a:r>
              <a:rPr lang="fr-FR" sz="1200" b="0" i="1" u="none" strike="noStrike">
                <a:solidFill>
                  <a:srgbClr val="1B2A4A"/>
                </a:solidFill>
                <a:effectLst/>
                <a:uFillTx/>
                <a:latin typeface="Calibri"/>
                <a:ea typeface="Microsoft YaHei"/>
              </a:rPr>
              <a:t>)</a:t>
            </a:r>
            <a:endParaRPr lang="fr-FR" sz="1200" b="0" u="none" strike="noStrike">
              <a:solidFill>
                <a:srgbClr val="000000"/>
              </a:solidFill>
              <a:effectLst/>
              <a:uFillTx/>
              <a:latin typeface="Arial"/>
            </a:endParaRPr>
          </a:p>
        </p:txBody>
      </p:sp>
      <p:sp>
        <p:nvSpPr>
          <p:cNvPr id="218" name="Rounded Rectangle 20"/>
          <p:cNvSpPr/>
          <p:nvPr/>
        </p:nvSpPr>
        <p:spPr>
          <a:xfrm>
            <a:off x="548640" y="5212080"/>
            <a:ext cx="11090880" cy="776520"/>
          </a:xfrm>
          <a:prstGeom prst="roundRect">
            <a:avLst>
              <a:gd name="adj" fmla="val 8000"/>
            </a:avLst>
          </a:prstGeom>
          <a:solidFill>
            <a:srgbClr val="FFFFFF"/>
          </a:solidFill>
          <a:ln w="9525">
            <a:solidFill>
              <a:srgbClr val="D8DEE6"/>
            </a:solidFill>
            <a:round/>
          </a:ln>
          <a:effectLst>
            <a:outerShdw blurRad="63360" dir="5400000" dist="19080" rotWithShape="0">
              <a:srgbClr val="1B2A4A">
                <a:alpha val="12000"/>
              </a:srgbClr>
            </a:outerShdw>
          </a:effectLst>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19" name="Oval 21"/>
          <p:cNvSpPr/>
          <p:nvPr/>
        </p:nvSpPr>
        <p:spPr>
          <a:xfrm>
            <a:off x="749880" y="5381280"/>
            <a:ext cx="438120" cy="438120"/>
          </a:xfrm>
          <a:prstGeom prst="ellipse">
            <a:avLst/>
          </a:prstGeom>
          <a:solidFill>
            <a:srgbClr val="2DBE8C"/>
          </a:solidFill>
          <a:ln w="0">
            <a:noFill/>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20" name="TextBox 22"/>
          <p:cNvSpPr/>
          <p:nvPr/>
        </p:nvSpPr>
        <p:spPr>
          <a:xfrm>
            <a:off x="749880" y="5381280"/>
            <a:ext cx="438120" cy="438120"/>
          </a:xfrm>
          <a:prstGeom prst="rect">
            <a:avLst/>
          </a:prstGeom>
          <a:noFill/>
          <a:ln w="0">
            <a:noFill/>
          </a:ln>
        </p:spPr>
        <p:style>
          <a:lnRef idx="0"/>
          <a:fillRef idx="0"/>
          <a:effectRef idx="0"/>
          <a:fontRef idx="minor"/>
        </p:style>
        <p:txBody>
          <a:bodyPr lIns="0" tIns="0" rIns="0" bIns="0" anchor="ctr">
            <a:noAutofit/>
          </a:bodyPr>
          <a:p>
            <a:pPr algn="ctr" defTabSz="457200">
              <a:lnSpc>
                <a:spcPct val="100000"/>
              </a:lnSpc>
            </a:pPr>
            <a:r>
              <a:rPr lang="fr-FR" sz="1300" b="1" u="none" strike="noStrike">
                <a:solidFill>
                  <a:srgbClr val="1B2A4A"/>
                </a:solidFill>
                <a:effectLst/>
                <a:uFillTx/>
                <a:latin typeface="Calibri"/>
              </a:rPr>
              <a:t>5</a:t>
            </a:r>
            <a:endParaRPr lang="fr-FR" sz="1300" b="0" u="none" strike="noStrike">
              <a:solidFill>
                <a:srgbClr val="000000"/>
              </a:solidFill>
              <a:effectLst/>
              <a:uFillTx/>
              <a:latin typeface="Arial"/>
            </a:endParaRPr>
          </a:p>
        </p:txBody>
      </p:sp>
      <p:sp>
        <p:nvSpPr>
          <p:cNvPr id="221" name="TextBox 23"/>
          <p:cNvSpPr/>
          <p:nvPr/>
        </p:nvSpPr>
        <p:spPr>
          <a:xfrm>
            <a:off x="1417320" y="5303520"/>
            <a:ext cx="9966240" cy="59364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200" b="0" u="none" strike="noStrike">
                <a:solidFill>
                  <a:srgbClr val="1B2A4A"/>
                </a:solidFill>
                <a:effectLst/>
                <a:uFillTx/>
                <a:latin typeface="Calibri"/>
                <a:ea typeface="Microsoft YaHei"/>
              </a:rPr>
              <a:t>Documenter l'extension légère de sécurisation (régénération des secrets, collecte des profils) - répétée pour chaque département </a:t>
            </a:r>
            <a:endParaRPr lang="fr-FR" sz="1200" b="0" u="none" strike="noStrike">
              <a:solidFill>
                <a:srgbClr val="000000"/>
              </a:solidFill>
              <a:effectLst/>
              <a:uFillTx/>
              <a:latin typeface="Arial"/>
            </a:endParaRPr>
          </a:p>
        </p:txBody>
      </p:sp>
      <p:sp>
        <p:nvSpPr>
          <p:cNvPr id="222" name="TextBox 24"/>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[D3-G]</a:t>
            </a:r>
            <a:endParaRPr lang="fr-FR" sz="950" b="0" u="none" strike="noStrike">
              <a:solidFill>
                <a:srgbClr val="000000"/>
              </a:solidFill>
              <a:effectLst/>
              <a:uFillTx/>
              <a:latin typeface="Arial"/>
            </a:endParaRPr>
          </a:p>
        </p:txBody>
      </p:sp>
      <p:sp>
        <p:nvSpPr>
          <p:cNvPr id="223" name="TextBox 25"/>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11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224" name="TextBox 1"/>
          <p:cNvSpPr/>
          <p:nvPr/>
        </p:nvSpPr>
        <p:spPr>
          <a:xfrm>
            <a:off x="548640" y="384120"/>
            <a:ext cx="7314480" cy="29196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1200" b="1" u="none" spc="201" strike="noStrike">
                <a:solidFill>
                  <a:srgbClr val="1C8C68"/>
                </a:solidFill>
                <a:effectLst/>
                <a:uFillTx/>
                <a:latin typeface="Calibri"/>
              </a:rPr>
              <a:t>B9</a:t>
            </a:r>
            <a:endParaRPr lang="fr-FR" sz="1200" b="0" u="none" strike="noStrike">
              <a:solidFill>
                <a:srgbClr val="000000"/>
              </a:solidFill>
              <a:effectLst/>
              <a:uFillTx/>
              <a:latin typeface="Arial"/>
            </a:endParaRPr>
          </a:p>
        </p:txBody>
      </p:sp>
      <p:sp>
        <p:nvSpPr>
          <p:cNvPr id="225" name="TextBox 2"/>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457200">
              <a:lnSpc>
                <a:spcPct val="102000"/>
              </a:lnSpc>
            </a:pPr>
            <a:r>
              <a:rPr lang="fr-FR" sz="2800" b="1" u="none" strike="noStrike">
                <a:solidFill>
                  <a:srgbClr val="1B2A4A"/>
                </a:solidFill>
                <a:effectLst/>
                <a:uFillTx/>
                <a:latin typeface="Cambria"/>
              </a:rPr>
              <a:t>Trajectoire de maturité détaillée</a:t>
            </a:r>
            <a:endParaRPr lang="fr-FR" sz="2800" b="0" u="none" strike="noStrike">
              <a:solidFill>
                <a:srgbClr val="000000"/>
              </a:solidFill>
              <a:effectLst/>
              <a:uFillTx/>
              <a:latin typeface="Arial"/>
            </a:endParaRPr>
          </a:p>
        </p:txBody>
      </p:sp>
      <p:pic>
        <p:nvPicPr>
          <p:cNvPr id="226" name="Picture 3" descr="icon_globe.png"/>
          <p:cNvPicPr/>
          <p:nvPr/>
        </p:nvPicPr>
        <p:blipFill>
          <a:blip r:embed="rId1"/>
          <a:stretch/>
        </p:blipFill>
        <p:spPr>
          <a:xfrm>
            <a:off x="11140200" y="365760"/>
            <a:ext cx="657720" cy="657720"/>
          </a:xfrm>
          <a:prstGeom prst="rect">
            <a:avLst/>
          </a:prstGeom>
          <a:noFill/>
          <a:ln w="0">
            <a:noFill/>
          </a:ln>
        </p:spPr>
      </p:pic>
      <p:graphicFrame>
        <p:nvGraphicFramePr>
          <p:cNvPr id="227" name="Table 4"/>
          <p:cNvGraphicFramePr/>
          <p:nvPr/>
        </p:nvGraphicFramePr>
        <p:xfrm>
          <a:off x="548640" y="1691640"/>
          <a:ext cx="11091240" cy="3399840"/>
        </p:xfrm>
        <a:graphic>
          <a:graphicData uri="http://schemas.openxmlformats.org/drawingml/2006/table">
            <a:tbl>
              <a:tblPr/>
              <a:tblGrid>
                <a:gridCol w="1188720"/>
                <a:gridCol w="3383280"/>
                <a:gridCol w="3684960"/>
                <a:gridCol w="2834640"/>
              </a:tblGrid>
              <a:tr h="566640">
                <a:tc>
                  <a:txBody>
                    <a:bodyPr tIns="36360" bIns="36360" anchor="ctr">
                      <a:noAutofit/>
                    </a:bodyPr>
                    <a:p>
                      <a:pPr defTabSz="457200">
                        <a:lnSpc>
                          <a:spcPct val="100000"/>
                        </a:lnSpc>
                      </a:pPr>
                      <a:r>
                        <a:rPr lang="fr-FR" sz="1400" b="1" u="none" strike="noStrike">
                          <a:solidFill>
                            <a:srgbClr val="FFFFFF"/>
                          </a:solidFill>
                          <a:effectLst/>
                          <a:uFillTx/>
                          <a:latin typeface="Calibri"/>
                        </a:rPr>
                        <a:t>Échéance</a:t>
                      </a:r>
                      <a:endParaRPr lang="fr-FR" sz="14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400" b="1" u="none" strike="noStrike">
                          <a:solidFill>
                            <a:srgbClr val="FFFFFF"/>
                          </a:solidFill>
                          <a:effectLst/>
                          <a:uFillTx/>
                          <a:latin typeface="Calibri"/>
                        </a:rPr>
                        <a:t>Étape</a:t>
                      </a:r>
                      <a:endParaRPr lang="fr-FR" sz="14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400" b="1" u="none" strike="noStrike">
                          <a:solidFill>
                            <a:srgbClr val="FFFFFF"/>
                          </a:solidFill>
                          <a:effectLst/>
                          <a:uFillTx/>
                          <a:latin typeface="Calibri"/>
                        </a:rPr>
                        <a:t>Niveau de maturité visé</a:t>
                      </a:r>
                      <a:endParaRPr lang="fr-FR" sz="14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c>
                  <a:txBody>
                    <a:bodyPr tIns="36360" bIns="36360" anchor="ctr">
                      <a:noAutofit/>
                    </a:bodyPr>
                    <a:p>
                      <a:pPr defTabSz="457200">
                        <a:lnSpc>
                          <a:spcPct val="100000"/>
                        </a:lnSpc>
                      </a:pPr>
                      <a:r>
                        <a:rPr lang="fr-FR" sz="1400" b="1" u="none" strike="noStrike">
                          <a:solidFill>
                            <a:srgbClr val="FFFFFF"/>
                          </a:solidFill>
                          <a:effectLst/>
                          <a:uFillTx/>
                          <a:latin typeface="Calibri"/>
                        </a:rPr>
                        <a:t>Repère exécutif [R11, Q7]</a:t>
                      </a:r>
                      <a:endParaRPr lang="fr-FR" sz="1400" b="0" u="none" strike="noStrike">
                        <a:solidFill>
                          <a:srgbClr val="FFFFFF"/>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B2A4A"/>
                    </a:solidFill>
                  </a:tcPr>
                </a:tc>
              </a:tr>
              <a:tr h="566640">
                <a:tc>
                  <a:txBody>
                    <a:bodyPr tIns="36360" bIns="36360" anchor="ctr">
                      <a:noAutofit/>
                    </a:bodyPr>
                    <a:p>
                      <a:pPr defTabSz="457200">
                        <a:lnSpc>
                          <a:spcPct val="100000"/>
                        </a:lnSpc>
                      </a:pPr>
                      <a:r>
                        <a:rPr lang="fr-FR" sz="1100" b="0" u="none" strike="noStrike">
                          <a:solidFill>
                            <a:srgbClr val="1B2A4A"/>
                          </a:solidFill>
                          <a:effectLst/>
                          <a:uFillTx/>
                          <a:latin typeface="Calibri"/>
                        </a:rPr>
                        <a:t>M5</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Pilote clos, décisions go/no-go prises</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Niveau 2 sur le périmètre pilote (Governance, Quality)</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Borne haute fourchette pilote (3-6 mois)</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6640">
                <a:tc>
                  <a:txBody>
                    <a:bodyPr tIns="36360" bIns="36360" anchor="ctr">
                      <a:noAutofit/>
                    </a:bodyPr>
                    <a:p>
                      <a:pPr defTabSz="457200">
                        <a:lnSpc>
                          <a:spcPct val="100000"/>
                        </a:lnSpc>
                      </a:pPr>
                      <a:r>
                        <a:rPr lang="fr-FR" sz="1100" b="0" u="none" strike="noStrike">
                          <a:solidFill>
                            <a:srgbClr val="1B2A4A"/>
                          </a:solidFill>
                          <a:effectLst/>
                          <a:uFillTx/>
                          <a:latin typeface="Calibri"/>
                        </a:rPr>
                        <a:t>M10</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Product Development couvert dans son ensemble</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Niveau 2-3 sur Governance et Quality, étendu à tout PD</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Dans la fenêtre de déploiement (+12-18 mois)</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6640">
                <a:tc>
                  <a:txBody>
                    <a:bodyPr tIns="36360" bIns="36360" anchor="ctr">
                      <a:noAutofit/>
                    </a:bodyPr>
                    <a:p>
                      <a:pPr defTabSz="457200">
                        <a:lnSpc>
                          <a:spcPct val="100000"/>
                        </a:lnSpc>
                      </a:pPr>
                      <a:r>
                        <a:rPr lang="fr-FR" sz="1100" b="0" u="none" strike="noStrike">
                          <a:solidFill>
                            <a:srgbClr val="1B2A4A"/>
                          </a:solidFill>
                          <a:effectLst/>
                          <a:uFillTx/>
                          <a:latin typeface="Calibri"/>
                        </a:rPr>
                        <a:t>M15</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Marketing couvert</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Niveau 2-3 sur Compliance et Data Usage &amp; Accessibility</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Dans la fenêtre de déploiement</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6640">
                <a:tc>
                  <a:txBody>
                    <a:bodyPr tIns="36360" bIns="36360" anchor="ctr">
                      <a:noAutofit/>
                    </a:bodyPr>
                    <a:p>
                      <a:pPr defTabSz="457200">
                        <a:lnSpc>
                          <a:spcPct val="100000"/>
                        </a:lnSpc>
                      </a:pPr>
                      <a:r>
                        <a:rPr lang="fr-FR" sz="1100" b="0" u="none" strike="noStrike">
                          <a:solidFill>
                            <a:srgbClr val="1B2A4A"/>
                          </a:solidFill>
                          <a:effectLst/>
                          <a:uFillTx/>
                          <a:latin typeface="Calibri"/>
                        </a:rPr>
                        <a:t>M20</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Content Curation couvert, Engineering élargi</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Niveau 3 sur Metadata et Master &amp; Reference Data</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Borne haute du déploiement complet</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6640">
                <a:tc>
                  <a:txBody>
                    <a:bodyPr tIns="36360" bIns="36360" anchor="ctr">
                      <a:noAutofit/>
                    </a:bodyPr>
                    <a:p>
                      <a:pPr defTabSz="457200">
                        <a:lnSpc>
                          <a:spcPct val="100000"/>
                        </a:lnSpc>
                      </a:pPr>
                      <a:r>
                        <a:rPr lang="fr-FR" sz="1100" b="0" u="none" strike="noStrike">
                          <a:solidFill>
                            <a:srgbClr val="1B2A4A"/>
                          </a:solidFill>
                          <a:effectLst/>
                          <a:uFillTx/>
                          <a:latin typeface="Calibri"/>
                        </a:rPr>
                        <a:t>M22-M24</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Ensemble des départements couverts</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Niveau 3 généralisé [D21 §2.1.7]</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tIns="36360" bIns="36360" anchor="ctr">
                      <a:noAutofit/>
                    </a:bodyPr>
                    <a:p>
                      <a:pPr defTabSz="457200">
                        <a:lnSpc>
                          <a:spcPct val="100000"/>
                        </a:lnSpc>
                      </a:pPr>
                      <a:r>
                        <a:rPr lang="fr-FR" sz="1100" b="0" u="none" strike="noStrike">
                          <a:solidFill>
                            <a:srgbClr val="1B2A4A"/>
                          </a:solidFill>
                          <a:effectLst/>
                          <a:uFillTx/>
                          <a:latin typeface="Calibri"/>
                        </a:rPr>
                        <a:t>Borne haute de la fourchette [R11, Q7]</a:t>
                      </a:r>
                      <a:endParaRPr lang="fr-FR" sz="1100" b="0" u="none" strike="noStrike">
                        <a:solidFill>
                          <a:srgbClr val="000000"/>
                        </a:solidFill>
                        <a:effectLst/>
                        <a:uFillTx/>
                        <a:latin typeface="Arial"/>
                      </a:endParaRPr>
                    </a:p>
                  </a:txBody>
                  <a:tcPr anchor="ctr" marL="91440" marR="9144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28" name="Rounded Rectangle 5"/>
          <p:cNvSpPr/>
          <p:nvPr/>
        </p:nvSpPr>
        <p:spPr>
          <a:xfrm>
            <a:off x="548640" y="5349240"/>
            <a:ext cx="11090880" cy="776520"/>
          </a:xfrm>
          <a:prstGeom prst="roundRect">
            <a:avLst>
              <a:gd name="adj" fmla="val 8000"/>
            </a:avLst>
          </a:prstGeom>
          <a:solidFill>
            <a:srgbClr val="F7F8FA"/>
          </a:solidFill>
          <a:ln w="9525">
            <a:solidFill>
              <a:srgbClr val="D8DEE6"/>
            </a:solidFill>
            <a:round/>
          </a:ln>
        </p:spPr>
        <p:style>
          <a:lnRef idx="0"/>
          <a:fillRef idx="0"/>
          <a:effectRef idx="0"/>
          <a:fontRef idx="minor"/>
        </p:style>
        <p:txBody>
          <a:bodyPr lIns="90000" tIns="45000" rIns="90000" bIns="45000" anchor="ctr">
            <a:noAutofit/>
          </a:bodyPr>
          <a:p>
            <a:endParaRPr lang="fr-FR" sz="1800" b="0" u="none" strike="noStrike">
              <a:solidFill>
                <a:schemeClr val="dk1"/>
              </a:solidFill>
              <a:effectLst/>
              <a:uFillTx/>
              <a:latin typeface="Calibri"/>
            </a:endParaRPr>
          </a:p>
        </p:txBody>
      </p:sp>
      <p:sp>
        <p:nvSpPr>
          <p:cNvPr id="229" name="TextBox 6"/>
          <p:cNvSpPr/>
          <p:nvPr/>
        </p:nvSpPr>
        <p:spPr>
          <a:xfrm>
            <a:off x="777240" y="5349240"/>
            <a:ext cx="10606320" cy="776520"/>
          </a:xfrm>
          <a:prstGeom prst="rect">
            <a:avLst/>
          </a:prstGeom>
          <a:noFill/>
          <a:ln w="0">
            <a:noFill/>
          </a:ln>
        </p:spPr>
        <p:style>
          <a:lnRef idx="0"/>
          <a:fillRef idx="0"/>
          <a:effectRef idx="0"/>
          <a:fontRef idx="minor"/>
        </p:style>
        <p:txBody>
          <a:bodyPr lIns="0" tIns="0" rIns="0" bIns="0" anchor="ctr">
            <a:noAutofit/>
          </a:bodyPr>
          <a:p>
            <a:pPr defTabSz="457200">
              <a:lnSpc>
                <a:spcPct val="100000"/>
              </a:lnSpc>
            </a:pPr>
            <a:r>
              <a:rPr lang="fr-FR" sz="1050" b="0" i="1" u="none" strike="noStrike">
                <a:solidFill>
                  <a:srgbClr val="1B2A4A"/>
                </a:solidFill>
                <a:effectLst/>
                <a:uFillTx/>
                <a:latin typeface="Calibri"/>
              </a:rPr>
              <a:t>Trajectoire indicative : chaque jalon de phase est un point de réévaluation, la feuille de route elle-même soumise au principe d'amélioration continue qu'elle sert à mettre en œuvre</a:t>
            </a:r>
            <a:endParaRPr lang="fr-FR" sz="1050" b="0" u="none" strike="noStrike">
              <a:solidFill>
                <a:srgbClr val="000000"/>
              </a:solidFill>
              <a:effectLst/>
              <a:uFillTx/>
              <a:latin typeface="Arial"/>
            </a:endParaRPr>
          </a:p>
        </p:txBody>
      </p:sp>
      <p:sp>
        <p:nvSpPr>
          <p:cNvPr id="230" name="TextBox 7"/>
          <p:cNvSpPr/>
          <p:nvPr/>
        </p:nvSpPr>
        <p:spPr>
          <a:xfrm>
            <a:off x="548640" y="6473880"/>
            <a:ext cx="8686080" cy="273600"/>
          </a:xfrm>
          <a:prstGeom prst="rect">
            <a:avLst/>
          </a:prstGeom>
          <a:noFill/>
          <a:ln w="0">
            <a:noFill/>
          </a:ln>
        </p:spPr>
        <p:style>
          <a:lnRef idx="0"/>
          <a:fillRef idx="0"/>
          <a:effectRef idx="0"/>
          <a:fontRef idx="minor"/>
        </p:style>
        <p:txBody>
          <a:bodyPr lIns="0" tIns="0" rIns="0" bIns="0" anchor="t">
            <a:noAutofit/>
          </a:bodyPr>
          <a:p>
            <a:pPr defTabSz="457200">
              <a:lnSpc>
                <a:spcPct val="100000"/>
              </a:lnSpc>
            </a:pPr>
            <a:r>
              <a:rPr lang="fr-FR" sz="950" b="0" i="1" u="none" strike="noStrike">
                <a:solidFill>
                  <a:srgbClr val="8493A8"/>
                </a:solidFill>
                <a:effectLst/>
                <a:uFillTx/>
                <a:latin typeface="Calibri"/>
              </a:rPr>
              <a:t>Source : [D3-G]</a:t>
            </a:r>
            <a:endParaRPr lang="fr-FR" sz="950" b="0" u="none" strike="noStrike">
              <a:solidFill>
                <a:srgbClr val="000000"/>
              </a:solidFill>
              <a:effectLst/>
              <a:uFillTx/>
              <a:latin typeface="Arial"/>
            </a:endParaRPr>
          </a:p>
        </p:txBody>
      </p:sp>
      <p:sp>
        <p:nvSpPr>
          <p:cNvPr id="231" name="TextBox 8"/>
          <p:cNvSpPr/>
          <p:nvPr/>
        </p:nvSpPr>
        <p:spPr>
          <a:xfrm>
            <a:off x="11003040" y="6473880"/>
            <a:ext cx="822240" cy="273600"/>
          </a:xfrm>
          <a:prstGeom prst="rect">
            <a:avLst/>
          </a:prstGeom>
          <a:noFill/>
          <a:ln w="0">
            <a:noFill/>
          </a:ln>
        </p:spPr>
        <p:style>
          <a:lnRef idx="0"/>
          <a:fillRef idx="0"/>
          <a:effectRef idx="0"/>
          <a:fontRef idx="minor"/>
        </p:style>
        <p:txBody>
          <a:bodyPr lIns="0" tIns="0" rIns="0" bIns="0" anchor="t">
            <a:noAutofit/>
          </a:bodyPr>
          <a:p>
            <a:pPr algn="r" defTabSz="457200">
              <a:lnSpc>
                <a:spcPct val="100000"/>
              </a:lnSpc>
            </a:pPr>
            <a:r>
              <a:rPr lang="fr-FR" sz="950" b="0" u="none" strike="noStrike">
                <a:solidFill>
                  <a:srgbClr val="8493A8"/>
                </a:solidFill>
                <a:effectLst/>
                <a:uFillTx/>
                <a:latin typeface="Calibri"/>
              </a:rPr>
              <a:t>12 / 12</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21</TotalTime>
  <Application>LibreOffice/26.2.1.2$Windows_X86_64 LibreOffice_project/620$Build-2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Nicolas Pichon</dc:creator>
  <dc:description>generated using python-pptx</dc:description>
  <dc:language>fr-FR</dc:language>
  <cp:lastModifiedBy/>
  <dcterms:modified xsi:type="dcterms:W3CDTF">2026-10-13T13:24:23Z</dcterms:modified>
  <cp:revision>6</cp:revision>
  <dc:subject>Data &amp; AI Governance - Slides de backup (Step 4)</dc:subject>
  <dc:title>Spotify - Gouvernance des Données et de l'IA (Annexes)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