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déplacer 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 diapo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</a:t>
            </a: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modifier le format </a:t>
            </a: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 notes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&lt;en-tête&gt;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09A0ED6-A8F2-418A-B3ED-31E7D48C30D9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Ces slides de backup portent le detail qui etaye le corps de la presentation [D4] : elles sont concues pour repondre en direct a une question precise du comite (modele organisationnel, choix d'outils, circuits RACI, calendrier, risques, criteres de passage a l'echelle) sans alourdir le deroule principal. Contenu repris fidelement des annexes 3.A-3.G du plan d'implementation [D3].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28C3771-925E-46A2-AA10-CDFEFD08A12A}" type="slidenum"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D29355-8069-44DC-B115-024E0C6F121C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DC284C-E2FE-475C-BAA7-C2D367AC4BB9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ic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CBF1BC-F6E7-49E1-B2C5-8F42A9B1D20F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Master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AD69F0-C65E-458E-AB8F-480F24390856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F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F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</a:t>
            </a:r>
            <a:r>
              <a:rPr lang="fr-F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fr-FR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fr-F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fr-F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fr-FR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9CE981-BEFC-4B2D-992A-E9001AA71A28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B57E8C-BC41-40B8-AAEC-359CC924DFC6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49BB67-7FB9-48B0-9F9C-2F3D4ACF05B8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fr-F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067B46-F963-4D83-A861-26EDDA6BE5F4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8D78B5-A0F1-4CA0-972E-DF4F5C4F93ED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</a:t>
            </a: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du texte-titre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F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fr-F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fr-F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fr-F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fr-F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852CF7-376D-4ED9-9A8E-7A8A1D87654B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F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F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fr-F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fr-F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fr-F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fr-F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fr-F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&lt;date/heure&gt;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82E9D9-4728-4680-AFE9-7288BC5185E6}" type="slidenum">
              <a:rPr lang="fr-F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640080" y="6400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300" b="1" u="none" spc="201" strike="noStrike">
                <a:solidFill>
                  <a:srgbClr val="2DBE8C"/>
                </a:solidFill>
                <a:effectLst/>
                <a:uFillTx/>
                <a:latin typeface="Calibri"/>
              </a:rPr>
              <a:t>SPOTIFY - DATA &amp; AI </a:t>
            </a:r>
            <a:r>
              <a:rPr lang="fr-FR" sz="1300" b="1" u="none" spc="201" strike="noStrike">
                <a:solidFill>
                  <a:srgbClr val="2DBE8C"/>
                </a:solidFill>
                <a:effectLst/>
                <a:uFillTx/>
                <a:latin typeface="Calibri"/>
              </a:rPr>
              <a:t>GOVERNANCE PROJECT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640080" y="1188720"/>
            <a:ext cx="9143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5000"/>
              </a:lnSpc>
            </a:pPr>
            <a:r>
              <a:rPr lang="fr-FR" sz="3600" b="1" u="none" strike="noStrike">
                <a:solidFill>
                  <a:srgbClr val="FFFFFF"/>
                </a:solidFill>
                <a:effectLst/>
                <a:uFillTx/>
                <a:latin typeface="Cambria"/>
              </a:rPr>
              <a:t>Annexes - </a:t>
            </a:r>
            <a:r>
              <a:rPr lang="fr-FR" sz="3600" b="1" u="none" strike="noStrike">
                <a:solidFill>
                  <a:srgbClr val="FFFFFF"/>
                </a:solidFill>
                <a:effectLst/>
                <a:uFillTx/>
                <a:latin typeface="Cambria"/>
              </a:rPr>
              <a:t>Slides de </a:t>
            </a:r>
            <a:r>
              <a:rPr lang="fr-FR" sz="3600" b="1" u="none" strike="noStrike">
                <a:solidFill>
                  <a:srgbClr val="FFFFFF"/>
                </a:solidFill>
                <a:effectLst/>
                <a:uFillTx/>
                <a:latin typeface="Cambria"/>
              </a:rPr>
              <a:t>Backup</a:t>
            </a:r>
            <a:endParaRPr lang="fr-F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640080" y="2148840"/>
            <a:ext cx="9875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400" b="0" i="1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Slides de réserve destinées à </a:t>
            </a:r>
            <a:r>
              <a:rPr lang="fr-FR" sz="1400" b="0" i="1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répondre aux questions du </a:t>
            </a:r>
            <a:r>
              <a:rPr lang="fr-FR" sz="1400" b="0" i="1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Comité Exécutif et du </a:t>
            </a:r>
            <a:r>
              <a:rPr lang="fr-FR" sz="1400" b="0" i="1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Leadership IA, dans l'esprit du </a:t>
            </a:r>
            <a:r>
              <a:rPr lang="fr-FR" sz="1400" b="0" i="1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guide [R11], sans alourdir le </a:t>
            </a:r>
            <a:r>
              <a:rPr lang="fr-FR" sz="1400" b="0" i="1" u="none" strike="noStrike">
                <a:solidFill>
                  <a:srgbClr val="CADCFC"/>
                </a:solidFill>
                <a:effectLst/>
                <a:uFillTx/>
                <a:latin typeface="Calibri"/>
              </a:rPr>
              <a:t>corps de la présentation [D4].</a:t>
            </a:r>
            <a:endParaRPr lang="fr-F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Oval 4"/>
          <p:cNvSpPr/>
          <p:nvPr/>
        </p:nvSpPr>
        <p:spPr>
          <a:xfrm>
            <a:off x="640080" y="3090600"/>
            <a:ext cx="456840" cy="456840"/>
          </a:xfrm>
          <a:prstGeom prst="ellipse">
            <a:avLst/>
          </a:prstGeom>
          <a:solidFill>
            <a:srgbClr val="2DB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640080" y="30906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fr-FR" sz="11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B1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1207080" y="3017520"/>
            <a:ext cx="2953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fr-FR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Comparaison des modèles </a:t>
            </a:r>
            <a:r>
              <a:rPr lang="fr-FR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d'organisation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Oval 7"/>
          <p:cNvSpPr/>
          <p:nvPr/>
        </p:nvSpPr>
        <p:spPr>
          <a:xfrm>
            <a:off x="4389120" y="3090600"/>
            <a:ext cx="456840" cy="456840"/>
          </a:xfrm>
          <a:prstGeom prst="ellipse">
            <a:avLst/>
          </a:prstGeom>
          <a:solidFill>
            <a:srgbClr val="2DB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4389120" y="30906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fr-FR" sz="11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B2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4956120" y="3017520"/>
            <a:ext cx="2953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fr-FR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Justification complète de la sélection </a:t>
            </a:r>
            <a:r>
              <a:rPr lang="fr-FR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d'outils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Oval 10"/>
          <p:cNvSpPr/>
          <p:nvPr/>
        </p:nvSpPr>
        <p:spPr>
          <a:xfrm>
            <a:off x="8138160" y="3090600"/>
            <a:ext cx="456840" cy="456840"/>
          </a:xfrm>
          <a:prstGeom prst="ellipse">
            <a:avLst/>
          </a:prstGeom>
          <a:solidFill>
            <a:srgbClr val="2DB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11"/>
          <p:cNvSpPr/>
          <p:nvPr/>
        </p:nvSpPr>
        <p:spPr>
          <a:xfrm>
            <a:off x="8138160" y="30906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fr-FR" sz="11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B3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8705160" y="3017520"/>
            <a:ext cx="2953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fr-FR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Circuit de gouvernance IA - RACI </a:t>
            </a:r>
            <a:r>
              <a:rPr lang="fr-FR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complètes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Oval 13"/>
          <p:cNvSpPr/>
          <p:nvPr/>
        </p:nvSpPr>
        <p:spPr>
          <a:xfrm>
            <a:off x="640080" y="4032360"/>
            <a:ext cx="456840" cy="456840"/>
          </a:xfrm>
          <a:prstGeom prst="ellipse">
            <a:avLst/>
          </a:prstGeom>
          <a:solidFill>
            <a:srgbClr val="2DB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14"/>
          <p:cNvSpPr/>
          <p:nvPr/>
        </p:nvSpPr>
        <p:spPr>
          <a:xfrm>
            <a:off x="640080" y="4032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fr-FR" sz="11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B4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5"/>
          <p:cNvSpPr/>
          <p:nvPr/>
        </p:nvSpPr>
        <p:spPr>
          <a:xfrm>
            <a:off x="1207080" y="3959280"/>
            <a:ext cx="2953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fr-FR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Plan pilote - calendrier détaillé des </a:t>
            </a:r>
            <a:r>
              <a:rPr lang="fr-FR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jalons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Oval 16"/>
          <p:cNvSpPr/>
          <p:nvPr/>
        </p:nvSpPr>
        <p:spPr>
          <a:xfrm>
            <a:off x="4389120" y="4032360"/>
            <a:ext cx="456840" cy="456840"/>
          </a:xfrm>
          <a:prstGeom prst="ellipse">
            <a:avLst/>
          </a:prstGeom>
          <a:solidFill>
            <a:srgbClr val="2DB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17"/>
          <p:cNvSpPr/>
          <p:nvPr/>
        </p:nvSpPr>
        <p:spPr>
          <a:xfrm>
            <a:off x="4389120" y="4032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fr-FR" sz="11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B5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8"/>
          <p:cNvSpPr/>
          <p:nvPr/>
        </p:nvSpPr>
        <p:spPr>
          <a:xfrm>
            <a:off x="4956120" y="3959280"/>
            <a:ext cx="2953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fr-FR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Méthode de mesure des KPIs et du </a:t>
            </a:r>
            <a:r>
              <a:rPr lang="fr-FR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double rattachement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Oval 19"/>
          <p:cNvSpPr/>
          <p:nvPr/>
        </p:nvSpPr>
        <p:spPr>
          <a:xfrm>
            <a:off x="8138160" y="4032360"/>
            <a:ext cx="456840" cy="456840"/>
          </a:xfrm>
          <a:prstGeom prst="ellipse">
            <a:avLst/>
          </a:prstGeom>
          <a:solidFill>
            <a:srgbClr val="2DB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20"/>
          <p:cNvSpPr/>
          <p:nvPr/>
        </p:nvSpPr>
        <p:spPr>
          <a:xfrm>
            <a:off x="8138160" y="40323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fr-FR" sz="11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B6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21"/>
          <p:cNvSpPr/>
          <p:nvPr/>
        </p:nvSpPr>
        <p:spPr>
          <a:xfrm>
            <a:off x="8705160" y="3959280"/>
            <a:ext cx="2953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fr-FR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Gestion des risques du pilote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Oval 22"/>
          <p:cNvSpPr/>
          <p:nvPr/>
        </p:nvSpPr>
        <p:spPr>
          <a:xfrm>
            <a:off x="640080" y="4974480"/>
            <a:ext cx="456840" cy="456840"/>
          </a:xfrm>
          <a:prstGeom prst="ellipse">
            <a:avLst/>
          </a:prstGeom>
          <a:solidFill>
            <a:srgbClr val="2DB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23"/>
          <p:cNvSpPr/>
          <p:nvPr/>
        </p:nvSpPr>
        <p:spPr>
          <a:xfrm>
            <a:off x="640080" y="49744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fr-FR" sz="11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B7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4"/>
          <p:cNvSpPr/>
          <p:nvPr/>
        </p:nvSpPr>
        <p:spPr>
          <a:xfrm>
            <a:off x="1207080" y="4901040"/>
            <a:ext cx="2953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fr-FR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Conditions de passage à l'échelle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Oval 25"/>
          <p:cNvSpPr/>
          <p:nvPr/>
        </p:nvSpPr>
        <p:spPr>
          <a:xfrm>
            <a:off x="4389120" y="4974480"/>
            <a:ext cx="456840" cy="456840"/>
          </a:xfrm>
          <a:prstGeom prst="ellipse">
            <a:avLst/>
          </a:prstGeom>
          <a:solidFill>
            <a:srgbClr val="2DB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26"/>
          <p:cNvSpPr/>
          <p:nvPr/>
        </p:nvSpPr>
        <p:spPr>
          <a:xfrm>
            <a:off x="4389120" y="49744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fr-FR" sz="11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B8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7"/>
          <p:cNvSpPr/>
          <p:nvPr/>
        </p:nvSpPr>
        <p:spPr>
          <a:xfrm>
            <a:off x="4956120" y="4901040"/>
            <a:ext cx="2953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fr-FR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Ajustements attendus au cadre de gouvernance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Oval 28"/>
          <p:cNvSpPr/>
          <p:nvPr/>
        </p:nvSpPr>
        <p:spPr>
          <a:xfrm>
            <a:off x="8138160" y="4974480"/>
            <a:ext cx="456840" cy="456840"/>
          </a:xfrm>
          <a:prstGeom prst="ellipse">
            <a:avLst/>
          </a:prstGeom>
          <a:solidFill>
            <a:srgbClr val="2DB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9"/>
          <p:cNvSpPr/>
          <p:nvPr/>
        </p:nvSpPr>
        <p:spPr>
          <a:xfrm>
            <a:off x="8138160" y="49744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fr-FR" sz="11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B9</a:t>
            </a:r>
            <a:endParaRPr lang="fr-F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0"/>
          <p:cNvSpPr/>
          <p:nvPr/>
        </p:nvSpPr>
        <p:spPr>
          <a:xfrm>
            <a:off x="8705160" y="4901040"/>
            <a:ext cx="2953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fr-FR" sz="105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Trajectoire de maturité détaillée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31"/>
          <p:cNvSpPr/>
          <p:nvPr/>
        </p:nvSpPr>
        <p:spPr>
          <a:xfrm>
            <a:off x="640080" y="6473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fr-FR" sz="1050" b="0" u="none" strike="noStrike">
                <a:solidFill>
                  <a:srgbClr val="9FB0C9"/>
                </a:solidFill>
                <a:effectLst/>
                <a:uFillTx/>
                <a:latin typeface="Calibri"/>
                <a:ea typeface="Calibri"/>
              </a:rPr>
              <a:t>Nicolas Pichon - AIA RNCP 38777 / </a:t>
            </a:r>
            <a:r>
              <a:rPr lang="fr-FR" sz="1050" b="0" u="none" strike="noStrike">
                <a:solidFill>
                  <a:srgbClr val="9FB0C9"/>
                </a:solidFill>
                <a:effectLst/>
                <a:uFillTx/>
                <a:latin typeface="Calibri"/>
                <a:ea typeface="Calibri"/>
              </a:rPr>
              <a:t>BC01 / Présenta</a:t>
            </a:r>
            <a:r>
              <a:rPr lang="fr-FR" sz="1050" b="0" u="none" strike="noStrike">
                <a:solidFill>
                  <a:srgbClr val="9FB0C9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lang="fr-FR" sz="1050" b="0" u="none" strike="noStrike">
                <a:solidFill>
                  <a:srgbClr val="9FB0C9"/>
                </a:solidFill>
                <a:effectLst/>
                <a:uFillTx/>
                <a:latin typeface="Calibri"/>
                <a:ea typeface="Calibri"/>
              </a:rPr>
              <a:t>tion / Annexes / v4 - </a:t>
            </a:r>
            <a:r>
              <a:rPr lang="fr-FR" sz="1050" b="0" u="none" strike="noStrike">
                <a:solidFill>
                  <a:srgbClr val="9FB0C9"/>
                </a:solidFill>
                <a:effectLst/>
                <a:uFillTx/>
                <a:latin typeface="Calibri"/>
                <a:ea typeface="Calibri"/>
              </a:rPr>
              <a:t>2026/10/15</a:t>
            </a:r>
            <a:endParaRPr lang="fr-F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32"/>
          <p:cNvSpPr/>
          <p:nvPr/>
        </p:nvSpPr>
        <p:spPr>
          <a:xfrm>
            <a:off x="11003040" y="64738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fr-FR" sz="950" b="0" u="none" strike="noStrike">
                <a:solidFill>
                  <a:srgbClr val="9FB0C9"/>
                </a:solidFill>
                <a:effectLst/>
                <a:uFillTx/>
                <a:latin typeface="Calibri"/>
              </a:rPr>
              <a:t>1 / 12</a:t>
            </a:r>
            <a:endParaRPr lang="fr-F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1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200" b="1" u="none" spc="201" strike="noStrike">
                <a:solidFill>
                  <a:srgbClr val="1C8C68"/>
                </a:solidFill>
                <a:effectLst/>
                <a:uFillTx/>
                <a:latin typeface="Calibri"/>
              </a:rPr>
              <a:t>B1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548640" y="658440"/>
            <a:ext cx="9692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2000"/>
              </a:lnSpc>
            </a:pP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Modèles </a:t>
            </a: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d'organisati</a:t>
            </a: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on de la </a:t>
            </a: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gouvernance </a:t>
            </a: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data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Picture 3" descr="icon_users.png"/>
          <p:cNvPicPr/>
          <p:nvPr/>
        </p:nvPicPr>
        <p:blipFill>
          <a:blip r:embed="rId1"/>
          <a:stretch/>
        </p:blipFill>
        <p:spPr>
          <a:xfrm>
            <a:off x="11140200" y="365760"/>
            <a:ext cx="658080" cy="65808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02" name="Table 4"/>
          <p:cNvGraphicFramePr/>
          <p:nvPr/>
        </p:nvGraphicFramePr>
        <p:xfrm>
          <a:off x="548640" y="1600200"/>
          <a:ext cx="10515240" cy="1828800"/>
        </p:xfrm>
        <a:graphic>
          <a:graphicData uri="http://schemas.openxmlformats.org/drawingml/2006/table">
            <a:tbl>
              <a:tblPr/>
              <a:tblGrid>
                <a:gridCol w="1554480"/>
                <a:gridCol w="4480560"/>
                <a:gridCol w="4480560"/>
              </a:tblGrid>
              <a:tr h="45720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Modèle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Avantages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Limites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Centralisé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Simple à implémenter, priorisation facile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Déconnexion business/data ; les besoins métier dépassent la capacité de l'équipe centrale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Embarqué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Agilité, proximité business/data, spécialisation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Absence de source unique de vérité, silos, difficile à piloter sans bagage technique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Center of Excellence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Combine les avantages des deux modèles précédents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Couche de coordination supplémentaire, peu adaptée aux petites/moyennes structures</a:t>
                      </a:r>
                      <a:endParaRPr lang="fr-FR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" name="TextBox 5"/>
          <p:cNvSpPr/>
          <p:nvPr/>
        </p:nvSpPr>
        <p:spPr>
          <a:xfrm>
            <a:off x="548640" y="3520440"/>
            <a:ext cx="1054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1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Structure générale du modèle </a:t>
            </a:r>
            <a:r>
              <a:rPr lang="fr-FR" sz="1150" b="1" i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CoE</a:t>
            </a:r>
            <a:r>
              <a:rPr lang="fr-FR" sz="11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 </a:t>
            </a:r>
            <a:r>
              <a:rPr lang="fr-FR" sz="11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(dit aussi </a:t>
            </a:r>
            <a:r>
              <a:rPr lang="fr-FR" sz="1150" b="1" i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hub-and-spoke</a:t>
            </a:r>
            <a:r>
              <a:rPr lang="fr-FR" sz="11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) :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6"/>
          <p:cNvSpPr/>
          <p:nvPr/>
        </p:nvSpPr>
        <p:spPr>
          <a:xfrm>
            <a:off x="548640" y="3822120"/>
            <a:ext cx="5394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82880" indent="-182880" defTabSz="457200">
              <a:lnSpc>
                <a:spcPct val="100000"/>
              </a:lnSpc>
              <a:spcAft>
                <a:spcPts val="499"/>
              </a:spcAft>
              <a:buClr>
                <a:srgbClr val="1B2A4A"/>
              </a:buClr>
              <a:buFont typeface="Arial"/>
              <a:buChar char="•"/>
            </a:pPr>
            <a:r>
              <a:rPr lang="fr-FR" sz="98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Le hub : petite équipe d'experts - </a:t>
            </a:r>
            <a:r>
              <a:rPr lang="fr-FR" sz="98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standards, briques réutilisables, </a:t>
            </a:r>
            <a:r>
              <a:rPr lang="fr-FR" sz="98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plateforme technique partagée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457200">
              <a:lnSpc>
                <a:spcPct val="100000"/>
              </a:lnSpc>
              <a:spcAft>
                <a:spcPts val="499"/>
              </a:spcAft>
              <a:buClr>
                <a:srgbClr val="1B2A4A"/>
              </a:buClr>
              <a:buFont typeface="Arial"/>
              <a:buChar char="•"/>
            </a:pPr>
            <a:r>
              <a:rPr lang="fr-FR" sz="98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Les spokes : rôles embarqués dans </a:t>
            </a:r>
            <a:r>
              <a:rPr lang="fr-FR" sz="98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chaque unité de métier, agilité et </a:t>
            </a:r>
            <a:r>
              <a:rPr lang="fr-FR" sz="98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connaissance du domaine locale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457200">
              <a:lnSpc>
                <a:spcPct val="100000"/>
              </a:lnSpc>
              <a:buClr>
                <a:srgbClr val="1B2A4A"/>
              </a:buClr>
              <a:buFont typeface="Arial"/>
              <a:buChar char="•"/>
            </a:pPr>
            <a:r>
              <a:rPr lang="fr-FR" sz="98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Le conseil de gouvernance : réuni </a:t>
            </a:r>
            <a:r>
              <a:rPr lang="fr-FR" sz="98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périodiquement, arbitre priorités et </a:t>
            </a:r>
            <a:r>
              <a:rPr lang="fr-FR" sz="98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exceptions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7"/>
          <p:cNvSpPr/>
          <p:nvPr/>
        </p:nvSpPr>
        <p:spPr>
          <a:xfrm>
            <a:off x="548640" y="516636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980" b="0" i="1" u="none" strike="noStrike">
                <a:solidFill>
                  <a:srgbClr val="5B6B84"/>
                </a:solidFill>
                <a:effectLst/>
                <a:uFillTx/>
                <a:latin typeface="Calibri"/>
              </a:rPr>
              <a:t>Principe : « gouverner et outiller au </a:t>
            </a:r>
            <a:r>
              <a:rPr lang="fr-FR" sz="980" b="0" i="1" u="none" strike="noStrike">
                <a:solidFill>
                  <a:srgbClr val="5B6B84"/>
                </a:solidFill>
                <a:effectLst/>
                <a:uFillTx/>
                <a:latin typeface="Calibri"/>
              </a:rPr>
              <a:t>centre, exécuter à la périphérie »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8"/>
          <p:cNvSpPr/>
          <p:nvPr/>
        </p:nvSpPr>
        <p:spPr>
          <a:xfrm>
            <a:off x="6172200" y="3520440"/>
            <a:ext cx="5394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1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Analyse d'adéquation au cas </a:t>
            </a:r>
            <a:r>
              <a:rPr lang="fr-FR" sz="1150" b="1" i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Spotify</a:t>
            </a:r>
            <a:r>
              <a:rPr lang="fr-FR" sz="11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 - deux écarts assumés :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9"/>
          <p:cNvSpPr/>
          <p:nvPr/>
        </p:nvSpPr>
        <p:spPr>
          <a:xfrm>
            <a:off x="6172200" y="3822120"/>
            <a:ext cx="53946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82880" indent="-182880" defTabSz="457200">
              <a:lnSpc>
                <a:spcPct val="100000"/>
              </a:lnSpc>
              <a:spcAft>
                <a:spcPts val="499"/>
              </a:spcAft>
              <a:buClr>
                <a:srgbClr val="1B2A4A"/>
              </a:buClr>
              <a:buFont typeface="Arial"/>
              <a:buChar char="•"/>
            </a:pPr>
            <a:r>
              <a:rPr lang="fr-FR" sz="95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Centralisé écarté : isolerait la fonction </a:t>
            </a:r>
            <a:r>
              <a:rPr lang="fr-FR" sz="95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data, retirerait aux DO l'autorité de </a:t>
            </a:r>
            <a:r>
              <a:rPr lang="fr-FR" sz="95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proximité (E1)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457200">
              <a:lnSpc>
                <a:spcPct val="100000"/>
              </a:lnSpc>
              <a:spcAft>
                <a:spcPts val="499"/>
              </a:spcAft>
              <a:buClr>
                <a:srgbClr val="1B2A4A"/>
              </a:buClr>
              <a:buFont typeface="Arial"/>
              <a:buChar char="•"/>
            </a:pPr>
            <a:r>
              <a:rPr lang="fr-FR" sz="95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Embarqué écarté : reconduirait les silos </a:t>
            </a:r>
            <a:r>
              <a:rPr lang="fr-FR" sz="95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(E1), disperserait le juridique (E3)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457200">
              <a:lnSpc>
                <a:spcPct val="100000"/>
              </a:lnSpc>
              <a:spcAft>
                <a:spcPts val="499"/>
              </a:spcAft>
              <a:buClr>
                <a:srgbClr val="1B2A4A"/>
              </a:buClr>
              <a:buFont typeface="Arial"/>
              <a:buChar char="•"/>
            </a:pPr>
            <a:r>
              <a:rPr lang="fr-FR" sz="95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CoE retenu : seul modèle qui répond </a:t>
            </a:r>
            <a:r>
              <a:rPr lang="fr-FR" sz="95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simultanément à E1, E3 et E5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457200">
              <a:lnSpc>
                <a:spcPct val="100000"/>
              </a:lnSpc>
              <a:spcAft>
                <a:spcPts val="499"/>
              </a:spcAft>
              <a:buClr>
                <a:srgbClr val="1B2A4A"/>
              </a:buClr>
              <a:buFont typeface="Arial"/>
              <a:buChar char="•"/>
            </a:pPr>
            <a:r>
              <a:rPr lang="fr-FR" sz="95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Écart 1 : infrastructure technique </a:t>
            </a:r>
            <a:r>
              <a:rPr lang="fr-FR" sz="95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maintenue dans Engineering (dépt. pair, </a:t>
            </a:r>
            <a:r>
              <a:rPr lang="fr-FR" sz="95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pas le hub)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457200">
              <a:lnSpc>
                <a:spcPct val="100000"/>
              </a:lnSpc>
              <a:buClr>
                <a:srgbClr val="1B2A4A"/>
              </a:buClr>
              <a:buFont typeface="Arial"/>
              <a:buChar char="•"/>
            </a:pPr>
            <a:r>
              <a:rPr lang="fr-FR" sz="95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Écart 2 : autorités de conformité </a:t>
            </a:r>
            <a:r>
              <a:rPr lang="fr-FR" sz="95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(DPO/Legal) et de gouvernance </a:t>
            </a:r>
            <a:r>
              <a:rPr lang="fr-FR" sz="95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(CDO/DGC) séparées, toutes deux </a:t>
            </a:r>
            <a:r>
              <a:rPr lang="fr-FR" sz="95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rattachées au CEO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10"/>
          <p:cNvSpPr/>
          <p:nvPr/>
        </p:nvSpPr>
        <p:spPr>
          <a:xfrm>
            <a:off x="548640" y="5806440"/>
            <a:ext cx="11091240" cy="594000"/>
          </a:xfrm>
          <a:prstGeom prst="roundRect">
            <a:avLst>
              <a:gd name="adj" fmla="val 8000"/>
            </a:avLst>
          </a:prstGeom>
          <a:solidFill>
            <a:srgbClr val="EAF7F1"/>
          </a:solidFill>
          <a:ln w="9525">
            <a:solidFill>
              <a:srgbClr val="D8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11"/>
          <p:cNvSpPr/>
          <p:nvPr/>
        </p:nvSpPr>
        <p:spPr>
          <a:xfrm>
            <a:off x="777240" y="5806440"/>
            <a:ext cx="10606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fr-FR" sz="10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Surcoût du </a:t>
            </a:r>
            <a:r>
              <a:rPr lang="fr-FR" sz="1050" b="1" i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CoE</a:t>
            </a:r>
            <a:r>
              <a:rPr lang="fr-FR" sz="10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 assumé : à l'échelle de </a:t>
            </a:r>
            <a:r>
              <a:rPr lang="fr-FR" sz="10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Spotify, la charge de coordination est </a:t>
            </a:r>
            <a:r>
              <a:rPr lang="fr-FR" sz="10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une nécessité fonctionnelle, non un </a:t>
            </a:r>
            <a:r>
              <a:rPr lang="fr-FR" sz="10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coût additionnel.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2"/>
          <p:cNvSpPr/>
          <p:nvPr/>
        </p:nvSpPr>
        <p:spPr>
          <a:xfrm>
            <a:off x="548640" y="647388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950" b="0" i="1" u="none" strike="noStrike">
                <a:solidFill>
                  <a:srgbClr val="8493A8"/>
                </a:solidFill>
                <a:effectLst/>
                <a:uFillTx/>
                <a:latin typeface="Calibri"/>
              </a:rPr>
              <a:t>Source : [D3-B], annexe 3.B.1-3.B.4 - [R7]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3"/>
          <p:cNvSpPr/>
          <p:nvPr/>
        </p:nvSpPr>
        <p:spPr>
          <a:xfrm>
            <a:off x="11003040" y="64738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fr-FR" sz="950" b="0" u="none" strike="noStrike">
                <a:solidFill>
                  <a:srgbClr val="8493A8"/>
                </a:solidFill>
                <a:effectLst/>
                <a:uFillTx/>
                <a:latin typeface="Calibri"/>
              </a:rPr>
              <a:t>2 / 12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200" b="1" u="none" spc="201" strike="noStrike">
                <a:solidFill>
                  <a:srgbClr val="1C8C68"/>
                </a:solidFill>
                <a:effectLst/>
                <a:uFillTx/>
                <a:latin typeface="Calibri"/>
              </a:rPr>
              <a:t>B2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548640" y="658440"/>
            <a:ext cx="9692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2000"/>
              </a:lnSpc>
            </a:pP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Justification </a:t>
            </a: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de la </a:t>
            </a: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sélection </a:t>
            </a: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d'outils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Picture 3" descr="icon_tool.png"/>
          <p:cNvPicPr/>
          <p:nvPr/>
        </p:nvPicPr>
        <p:blipFill>
          <a:blip r:embed="rId1"/>
          <a:stretch/>
        </p:blipFill>
        <p:spPr>
          <a:xfrm>
            <a:off x="11140200" y="365760"/>
            <a:ext cx="658080" cy="65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Box 4"/>
          <p:cNvSpPr/>
          <p:nvPr/>
        </p:nvSpPr>
        <p:spPr>
          <a:xfrm>
            <a:off x="548640" y="1600200"/>
            <a:ext cx="1109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82880" indent="-182880" defTabSz="457200">
              <a:lnSpc>
                <a:spcPct val="100000"/>
              </a:lnSpc>
              <a:spcAft>
                <a:spcPts val="400"/>
              </a:spcAft>
              <a:buClr>
                <a:srgbClr val="1B2A4A"/>
              </a:buClr>
              <a:buFont typeface="Arial"/>
              <a:buChar char="•"/>
            </a:pPr>
            <a:r>
              <a:rPr lang="fr-FR" sz="100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Repartir de [R8], compléter par l'open </a:t>
            </a:r>
            <a:r>
              <a:rPr lang="fr-FR" sz="100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source, prioriser l'open source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457200">
              <a:lnSpc>
                <a:spcPct val="100000"/>
              </a:lnSpc>
              <a:spcAft>
                <a:spcPts val="400"/>
              </a:spcAft>
              <a:buClr>
                <a:srgbClr val="1B2A4A"/>
              </a:buClr>
              <a:buFont typeface="Arial"/>
              <a:buChar char="•"/>
            </a:pPr>
            <a:r>
              <a:rPr lang="fr-FR" sz="100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Économie de licence compensée par </a:t>
            </a:r>
            <a:r>
              <a:rPr lang="fr-FR" sz="100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l'hébergement, absorbée par la </a:t>
            </a:r>
            <a:r>
              <a:rPr lang="fr-FR" sz="100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capacité d'ingénierie Spotify [R2]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457200">
              <a:lnSpc>
                <a:spcPct val="100000"/>
              </a:lnSpc>
              <a:buClr>
                <a:srgbClr val="1B2A4A"/>
              </a:buClr>
              <a:buFont typeface="Arial"/>
              <a:buChar char="•"/>
            </a:pPr>
            <a:r>
              <a:rPr lang="fr-FR" sz="100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Risque réglementaire chiffrable (E3, </a:t>
            </a:r>
            <a:r>
              <a:rPr lang="fr-FR" sz="100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E4) → garanties commerciales ; risque </a:t>
            </a:r>
            <a:r>
              <a:rPr lang="fr-FR" sz="100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opérationnel (E1, E2, E5) → coût de </a:t>
            </a:r>
            <a:r>
              <a:rPr lang="fr-FR" sz="100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défaillance interne seulement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5"/>
          <p:cNvSpPr/>
          <p:nvPr/>
        </p:nvSpPr>
        <p:spPr>
          <a:xfrm>
            <a:off x="548640" y="2606040"/>
            <a:ext cx="5348880" cy="173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  <a:round/>
          </a:ln>
          <a:effectLst>
            <a:outerShdw blurRad="63360" dir="5400000" dist="1908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6"/>
          <p:cNvSpPr/>
          <p:nvPr/>
        </p:nvSpPr>
        <p:spPr>
          <a:xfrm>
            <a:off x="777240" y="271584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15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Catalogage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7"/>
          <p:cNvSpPr/>
          <p:nvPr/>
        </p:nvSpPr>
        <p:spPr>
          <a:xfrm>
            <a:off x="3703320" y="271584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O</a:t>
            </a: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p</a:t>
            </a: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e</a:t>
            </a: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n</a:t>
            </a: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M</a:t>
            </a: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e</a:t>
            </a: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t</a:t>
            </a: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a</a:t>
            </a: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d</a:t>
            </a: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a</a:t>
            </a: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t</a:t>
            </a: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a</a:t>
            </a: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 </a:t>
            </a: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+</a:t>
            </a: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 </a:t>
            </a: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C</a:t>
            </a: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o</a:t>
            </a: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l</a:t>
            </a: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l</a:t>
            </a: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i</a:t>
            </a: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b</a:t>
            </a: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r</a:t>
            </a: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a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8"/>
          <p:cNvSpPr/>
          <p:nvPr/>
        </p:nvSpPr>
        <p:spPr>
          <a:xfrm>
            <a:off x="777240" y="3026520"/>
            <a:ext cx="48916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82880" indent="-182880" defTabSz="457200">
              <a:lnSpc>
                <a:spcPct val="100000"/>
              </a:lnSpc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lang="fr-FR" sz="87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Apache Atlas écarté : ancré Hadoop, absent de la stack Spotify</a:t>
            </a:r>
            <a:endParaRPr lang="fr-F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457200">
              <a:lnSpc>
                <a:spcPct val="100000"/>
              </a:lnSpc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lang="fr-FR" sz="87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Alation/Collibra retenues pour la garantie de service (E3) ; Collibra choisie pour son socle de gouvernance plus solide</a:t>
            </a:r>
            <a:endParaRPr lang="fr-F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457200">
              <a:lnSpc>
                <a:spcPct val="100000"/>
              </a:lnSpc>
              <a:buClr>
                <a:srgbClr val="1B2A4A"/>
              </a:buClr>
              <a:buFont typeface="Arial"/>
              <a:buChar char="•"/>
            </a:pPr>
            <a:r>
              <a:rPr lang="fr-FR" sz="87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Connecteur officiel OpenMetadata ↔ Collibra (sync glossaires, correspondance des actifs)</a:t>
            </a:r>
            <a:endParaRPr lang="fr-F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9"/>
          <p:cNvSpPr/>
          <p:nvPr/>
        </p:nvSpPr>
        <p:spPr>
          <a:xfrm>
            <a:off x="6217920" y="2606040"/>
            <a:ext cx="5348880" cy="173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  <a:round/>
          </a:ln>
          <a:effectLst>
            <a:outerShdw blurRad="63360" dir="5400000" dist="1908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10"/>
          <p:cNvSpPr/>
          <p:nvPr/>
        </p:nvSpPr>
        <p:spPr>
          <a:xfrm>
            <a:off x="6446520" y="271584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15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Qualité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1"/>
          <p:cNvSpPr/>
          <p:nvPr/>
        </p:nvSpPr>
        <p:spPr>
          <a:xfrm>
            <a:off x="9372600" y="271584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Soda Core (replis Cuallee / TestGen)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2"/>
          <p:cNvSpPr/>
          <p:nvPr/>
        </p:nvSpPr>
        <p:spPr>
          <a:xfrm>
            <a:off x="6446520" y="3026520"/>
            <a:ext cx="48916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82880" indent="-182880" defTabSz="457200">
              <a:lnSpc>
                <a:spcPct val="100000"/>
              </a:lnSpc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lang="fr-FR" sz="87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Talend écarté : redondant avec l'ETL existant</a:t>
            </a:r>
            <a:endParaRPr lang="fr-F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457200">
              <a:lnSpc>
                <a:spcPct val="100000"/>
              </a:lnSpc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lang="fr-FR" sz="87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Informatica écartée : fragmentation, </a:t>
            </a:r>
            <a:r>
              <a:rPr lang="fr-FR" sz="87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compétences incompatibles avec le profil </a:t>
            </a:r>
            <a:r>
              <a:rPr lang="fr-FR" sz="87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DS, coût/délais disproportionnés</a:t>
            </a:r>
            <a:endParaRPr lang="fr-F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457200">
              <a:lnSpc>
                <a:spcPct val="100000"/>
              </a:lnSpc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lang="fr-FR" sz="87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Ataccama écartée : coût élevé et opaque, </a:t>
            </a:r>
            <a:r>
              <a:rPr lang="fr-FR" sz="87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non justifié pour des enjeux opérationnels</a:t>
            </a:r>
            <a:endParaRPr lang="fr-F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457200">
              <a:lnSpc>
                <a:spcPct val="100000"/>
              </a:lnSpc>
              <a:buClr>
                <a:srgbClr val="1B2A4A"/>
              </a:buClr>
              <a:buFont typeface="Arial"/>
              <a:buChar char="•"/>
            </a:pPr>
            <a:r>
              <a:rPr lang="fr-FR" sz="87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Soda Core retenu (E2, E5) ; repli Cuallee </a:t>
            </a:r>
            <a:r>
              <a:rPr lang="fr-FR" sz="87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(contrôles ML) ou TestGen (si dépriorisation </a:t>
            </a:r>
            <a:r>
              <a:rPr lang="fr-FR" sz="87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confirmée)</a:t>
            </a:r>
            <a:endParaRPr lang="fr-F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ounded Rectangle 13"/>
          <p:cNvSpPr/>
          <p:nvPr/>
        </p:nvSpPr>
        <p:spPr>
          <a:xfrm>
            <a:off x="548640" y="4507920"/>
            <a:ext cx="5348880" cy="173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  <a:round/>
          </a:ln>
          <a:effectLst>
            <a:outerShdw blurRad="63360" dir="5400000" dist="1908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14"/>
          <p:cNvSpPr/>
          <p:nvPr/>
        </p:nvSpPr>
        <p:spPr>
          <a:xfrm>
            <a:off x="777240" y="461772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15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Conformité réglementaire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15"/>
          <p:cNvSpPr/>
          <p:nvPr/>
        </p:nvSpPr>
        <p:spPr>
          <a:xfrm>
            <a:off x="3703320" y="46177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TrustArc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16"/>
          <p:cNvSpPr/>
          <p:nvPr/>
        </p:nvSpPr>
        <p:spPr>
          <a:xfrm>
            <a:off x="777240" y="4928760"/>
            <a:ext cx="48916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82880" indent="-182880" defTabSz="457200">
              <a:lnSpc>
                <a:spcPct val="100000"/>
              </a:lnSpc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lang="fr-FR" sz="87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VeraSafe écarté : conseil/services managés, pas un logiciel</a:t>
            </a:r>
            <a:endParaRPr lang="fr-F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457200">
              <a:lnSpc>
                <a:spcPct val="100000"/>
              </a:lnSpc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lang="fr-FR" sz="87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DataGuard écarté : positionné PME, hors échelle Spotify</a:t>
            </a:r>
            <a:endParaRPr lang="fr-F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457200">
              <a:lnSpc>
                <a:spcPct val="100000"/>
              </a:lnSpc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lang="fr-FR" sz="87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TrustArc retenue sur OneTrust : automatisation multi-juridictionnelle + </a:t>
            </a:r>
            <a:r>
              <a:rPr lang="fr-FR" sz="87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ergonomie DPO</a:t>
            </a:r>
            <a:endParaRPr lang="fr-F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457200">
              <a:lnSpc>
                <a:spcPct val="100000"/>
              </a:lnSpc>
              <a:buClr>
                <a:srgbClr val="1B2A4A"/>
              </a:buClr>
              <a:buFont typeface="Arial"/>
              <a:buChar char="•"/>
            </a:pPr>
            <a:r>
              <a:rPr lang="fr-FR" sz="87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Couvre nativement les DSAR, attendu du dispositif central [R11, Q4]</a:t>
            </a:r>
            <a:endParaRPr lang="fr-F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ounded Rectangle 17"/>
          <p:cNvSpPr/>
          <p:nvPr/>
        </p:nvSpPr>
        <p:spPr>
          <a:xfrm>
            <a:off x="6217920" y="4507920"/>
            <a:ext cx="5348880" cy="173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  <a:round/>
          </a:ln>
          <a:effectLst>
            <a:outerShdw blurRad="63360" dir="5400000" dist="1908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18"/>
          <p:cNvSpPr/>
          <p:nvPr/>
        </p:nvSpPr>
        <p:spPr>
          <a:xfrm>
            <a:off x="6446520" y="4617720"/>
            <a:ext cx="3885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15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Sécurisation données &amp; accès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19"/>
          <p:cNvSpPr/>
          <p:nvPr/>
        </p:nvSpPr>
        <p:spPr>
          <a:xfrm>
            <a:off x="9372600" y="46177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fr-FR" sz="9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Wazuh + OpenBao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20"/>
          <p:cNvSpPr/>
          <p:nvPr/>
        </p:nvSpPr>
        <p:spPr>
          <a:xfrm>
            <a:off x="6446520" y="4928760"/>
            <a:ext cx="48916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82880" indent="-182880" defTabSz="457200">
              <a:lnSpc>
                <a:spcPct val="100000"/>
              </a:lnSpc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lang="fr-FR" sz="87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DataGuard reclassée avec les outils de conformité</a:t>
            </a:r>
            <a:endParaRPr lang="fr-F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457200">
              <a:lnSpc>
                <a:spcPct val="100000"/>
              </a:lnSpc>
              <a:spcAft>
                <a:spcPts val="300"/>
              </a:spcAft>
              <a:buClr>
                <a:srgbClr val="1B2A4A"/>
              </a:buClr>
              <a:buFont typeface="Arial"/>
              <a:buChar char="•"/>
            </a:pPr>
            <a:r>
              <a:rPr lang="fr-FR" sz="87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Vormetric écartée (licence propriétaire) au profit d'OpenBao (mêmes services de gestion des clés, sans coût de licence)</a:t>
            </a:r>
            <a:endParaRPr lang="fr-F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" indent="-182880" defTabSz="457200">
              <a:lnSpc>
                <a:spcPct val="100000"/>
              </a:lnSpc>
              <a:buClr>
                <a:srgbClr val="1B2A4A"/>
              </a:buClr>
              <a:buFont typeface="Arial"/>
              <a:buChar char="•"/>
            </a:pPr>
            <a:r>
              <a:rPr lang="fr-FR" sz="87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OpenBao : gestion des clés + chiffrement à l'appel via Transit - pas un chiffrement transparent automatique</a:t>
            </a:r>
            <a:endParaRPr lang="fr-F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21"/>
          <p:cNvSpPr/>
          <p:nvPr/>
        </p:nvSpPr>
        <p:spPr>
          <a:xfrm>
            <a:off x="548640" y="647388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950" b="0" i="1" u="none" strike="noStrike">
                <a:solidFill>
                  <a:srgbClr val="8493A8"/>
                </a:solidFill>
                <a:effectLst/>
                <a:uFillTx/>
                <a:latin typeface="Calibri"/>
              </a:rPr>
              <a:t>Source : [D3-C] - Alternatives évaluées : [R8]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22"/>
          <p:cNvSpPr/>
          <p:nvPr/>
        </p:nvSpPr>
        <p:spPr>
          <a:xfrm>
            <a:off x="11003040" y="64738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fr-FR" sz="950" b="0" u="none" strike="noStrike">
                <a:solidFill>
                  <a:srgbClr val="8493A8"/>
                </a:solidFill>
                <a:effectLst/>
                <a:uFillTx/>
                <a:latin typeface="Calibri"/>
              </a:rPr>
              <a:t>3 / 12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1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200" b="1" u="none" spc="201" strike="noStrike">
                <a:solidFill>
                  <a:srgbClr val="1C8C68"/>
                </a:solidFill>
                <a:effectLst/>
                <a:uFillTx/>
                <a:latin typeface="Calibri"/>
              </a:rPr>
              <a:t>B3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2"/>
          <p:cNvSpPr/>
          <p:nvPr/>
        </p:nvSpPr>
        <p:spPr>
          <a:xfrm>
            <a:off x="548640" y="658440"/>
            <a:ext cx="10058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2000"/>
              </a:lnSpc>
            </a:pP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Ci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r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c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u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it 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d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e 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g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o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u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v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e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r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n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a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n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c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e 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I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A 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(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1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/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2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) 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- 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c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ri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tè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r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e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s 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d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e 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cl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a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s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si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fi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c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at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io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Picture 3" descr="icon_cpu.png"/>
          <p:cNvPicPr/>
          <p:nvPr/>
        </p:nvPicPr>
        <p:blipFill>
          <a:blip r:embed="rId1"/>
          <a:stretch/>
        </p:blipFill>
        <p:spPr>
          <a:xfrm>
            <a:off x="11140200" y="365760"/>
            <a:ext cx="658080" cy="65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Rounded Rectangle 4"/>
          <p:cNvSpPr/>
          <p:nvPr/>
        </p:nvSpPr>
        <p:spPr>
          <a:xfrm>
            <a:off x="548640" y="1440000"/>
            <a:ext cx="11091240" cy="900000"/>
          </a:xfrm>
          <a:prstGeom prst="roundRect">
            <a:avLst>
              <a:gd name="adj" fmla="val 8000"/>
            </a:avLst>
          </a:prstGeom>
          <a:solidFill>
            <a:srgbClr val="EAF7F1"/>
          </a:solidFill>
          <a:ln w="9525">
            <a:solidFill>
              <a:srgbClr val="D8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6"/>
          <p:cNvSpPr/>
          <p:nvPr/>
        </p:nvSpPr>
        <p:spPr>
          <a:xfrm>
            <a:off x="720000" y="1620000"/>
            <a:ext cx="10606680" cy="36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La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gou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vern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anc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e IA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est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pro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port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ionn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ée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au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nive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au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d'im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pact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de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cha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que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mo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dèle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sur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l'util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isat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eur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et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sur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l'ent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repr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ise,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car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les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proc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édu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res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appl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icab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les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aux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mo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dèle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s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fort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eme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nt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imp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acta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nts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ne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doiv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ent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pas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frei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ner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le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dépl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oie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men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t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des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mo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dèle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s à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faibl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e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risq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ue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(qui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peu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vent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bén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éfici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er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d’un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e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proc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édu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re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plus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sim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ple).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7"/>
          <p:cNvSpPr/>
          <p:nvPr/>
        </p:nvSpPr>
        <p:spPr>
          <a:xfrm>
            <a:off x="540000" y="2606040"/>
            <a:ext cx="1054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15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Critères de classification avec degré d'automatisation [D3-E] :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0" name="Table 8"/>
          <p:cNvGraphicFramePr/>
          <p:nvPr/>
        </p:nvGraphicFramePr>
        <p:xfrm>
          <a:off x="548640" y="3035880"/>
          <a:ext cx="11091240" cy="2724480"/>
        </p:xfrm>
        <a:graphic>
          <a:graphicData uri="http://schemas.openxmlformats.org/drawingml/2006/table">
            <a:tbl>
              <a:tblPr/>
              <a:tblGrid>
                <a:gridCol w="1200600"/>
                <a:gridCol w="2713680"/>
                <a:gridCol w="7177320"/>
              </a:tblGrid>
              <a:tr h="3337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Niveau</a:t>
                      </a:r>
                      <a:endParaRPr lang="fr-F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Critères</a:t>
                      </a:r>
                      <a:endParaRPr lang="fr-F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Automatisation</a:t>
                      </a:r>
                      <a:endParaRPr lang="fr-FR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3337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Fort impact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Portée majoritaire des utilisateurs actifs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Calculé (métadonnées MLflow)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720">
                <a:tc>
                  <a:txBody>
                    <a:bodyPr tIns="36360" bIns="36360" anchor="ctr">
                      <a:noAutofit/>
                    </a:bodyPr>
                    <a:p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Exposition art. 22 GDPR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Calculé (lineage OpenMetadata/Collibra)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720">
                <a:tc>
                  <a:txBody>
                    <a:bodyPr tIns="36360" bIns="36360" anchor="ctr">
                      <a:noAutofit/>
                    </a:bodyPr>
                    <a:p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Décision peu réversible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Déclaratif (Model Owner)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720">
                <a:tc>
                  <a:txBody>
                    <a:bodyPr tIns="36360" bIns="36360" anchor="ctr">
                      <a:noAutofit/>
                    </a:bodyPr>
                    <a:p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Fonctionnalité principale du produit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Déclaratif (Model Owner)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7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Impact modéré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Portée partielle (cohorte, marché, A/B test)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Calculé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720">
                <a:tc>
                  <a:txBody>
                    <a:bodyPr tIns="36360" bIns="36360" anchor="ctr">
                      <a:noAutofit/>
                    </a:bodyPr>
                    <a:p>
                      <a:endParaRPr lang="fr-FR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Décision réversible sous délai court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Déclaratif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37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Impact faible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Aucun critère de fort impact rempli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Par défaut</a:t>
                      </a:r>
                      <a:endParaRPr lang="fr-FR" sz="10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1" name="Rounded Rectangle 9"/>
          <p:cNvSpPr/>
          <p:nvPr/>
        </p:nvSpPr>
        <p:spPr>
          <a:xfrm>
            <a:off x="548640" y="5815440"/>
            <a:ext cx="11091240" cy="502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777240" y="581544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fr-FR" sz="980" b="0" i="1" u="none" strike="noStrike">
                <a:solidFill>
                  <a:srgbClr val="5B6B84"/>
                </a:solidFill>
                <a:effectLst/>
                <a:uFillTx/>
                <a:latin typeface="Calibri"/>
              </a:rPr>
              <a:t>Trois activités distinctes : classification </a:t>
            </a:r>
            <a:r>
              <a:rPr lang="fr-FR" sz="980" b="0" i="1" u="none" strike="noStrike">
                <a:solidFill>
                  <a:srgbClr val="5B6B84"/>
                </a:solidFill>
                <a:effectLst/>
                <a:uFillTx/>
                <a:latin typeface="Calibri"/>
              </a:rPr>
              <a:t>(unique, création) - approbation de </a:t>
            </a:r>
            <a:r>
              <a:rPr lang="fr-FR" sz="980" b="0" i="1" u="none" strike="noStrike">
                <a:solidFill>
                  <a:srgbClr val="5B6B84"/>
                </a:solidFill>
                <a:effectLst/>
                <a:uFillTx/>
                <a:latin typeface="Calibri"/>
              </a:rPr>
              <a:t>déploiement (chaque version, hérite du </a:t>
            </a:r>
            <a:r>
              <a:rPr lang="fr-FR" sz="980" b="0" i="1" u="none" strike="noStrike">
                <a:solidFill>
                  <a:srgbClr val="5B6B84"/>
                </a:solidFill>
                <a:effectLst/>
                <a:uFillTx/>
                <a:latin typeface="Calibri"/>
              </a:rPr>
              <a:t>niveau) - reclassification (rare).</a:t>
            </a:r>
            <a:endParaRPr lang="fr-FR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1"/>
          <p:cNvSpPr/>
          <p:nvPr/>
        </p:nvSpPr>
        <p:spPr>
          <a:xfrm>
            <a:off x="548640" y="647388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950" b="0" i="1" u="none" strike="noStrike">
                <a:solidFill>
                  <a:srgbClr val="8493A8"/>
                </a:solidFill>
                <a:effectLst/>
                <a:uFillTx/>
                <a:latin typeface="Calibri"/>
              </a:rPr>
              <a:t>Source : [D21-A]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12"/>
          <p:cNvSpPr/>
          <p:nvPr/>
        </p:nvSpPr>
        <p:spPr>
          <a:xfrm>
            <a:off x="11003040" y="64738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fr-FR" sz="950" b="0" u="none" strike="noStrike">
                <a:solidFill>
                  <a:srgbClr val="8493A8"/>
                </a:solidFill>
                <a:effectLst/>
                <a:uFillTx/>
                <a:latin typeface="Calibri"/>
              </a:rPr>
              <a:t>4 / </a:t>
            </a:r>
            <a:r>
              <a:rPr lang="fr-FR" sz="950" b="0" u="none" strike="noStrike">
                <a:solidFill>
                  <a:srgbClr val="8493A8"/>
                </a:solidFill>
                <a:effectLst/>
                <a:uFillTx/>
                <a:latin typeface="Calibri"/>
              </a:rPr>
              <a:t>12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1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200" b="1" u="none" spc="201" strike="noStrike">
                <a:solidFill>
                  <a:srgbClr val="1C8C68"/>
                </a:solidFill>
                <a:effectLst/>
                <a:uFillTx/>
                <a:latin typeface="Calibri"/>
              </a:rPr>
              <a:t>B3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548640" y="658440"/>
            <a:ext cx="10058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2000"/>
              </a:lnSpc>
            </a:pP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Circuit de 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gouvernance 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IA (2/2) - </a:t>
            </a: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matrices </a:t>
            </a:r>
            <a:r>
              <a:rPr lang="fr-FR" sz="2400" b="1" i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RACI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Picture 3" descr="icon_cpu.png"/>
          <p:cNvPicPr/>
          <p:nvPr/>
        </p:nvPicPr>
        <p:blipFill>
          <a:blip r:embed="rId1"/>
          <a:stretch/>
        </p:blipFill>
        <p:spPr>
          <a:xfrm>
            <a:off x="11140200" y="365760"/>
            <a:ext cx="658080" cy="65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Box 4"/>
          <p:cNvSpPr/>
          <p:nvPr/>
        </p:nvSpPr>
        <p:spPr>
          <a:xfrm>
            <a:off x="548640" y="1645920"/>
            <a:ext cx="1109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Classification (événement unique, à la création du modèle dans le registre)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9" name="Table 5"/>
          <p:cNvGraphicFramePr/>
          <p:nvPr/>
        </p:nvGraphicFramePr>
        <p:xfrm>
          <a:off x="548640" y="1920240"/>
          <a:ext cx="10286640" cy="548640"/>
        </p:xfrm>
        <a:graphic>
          <a:graphicData uri="http://schemas.openxmlformats.org/drawingml/2006/table">
            <a:tbl>
              <a:tblPr/>
              <a:tblGrid>
                <a:gridCol w="2331720"/>
                <a:gridCol w="795240"/>
                <a:gridCol w="795240"/>
                <a:gridCol w="795240"/>
                <a:gridCol w="795240"/>
                <a:gridCol w="795240"/>
                <a:gridCol w="795240"/>
                <a:gridCol w="795240"/>
                <a:gridCol w="795240"/>
                <a:gridCol w="795240"/>
                <a:gridCol w="795240"/>
              </a:tblGrid>
              <a:tr h="2743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Activité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DGC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CDO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DPO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DO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DS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DC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MO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MRM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Legal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CEO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Classifier un modèle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–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R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–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0" name="TextBox 6"/>
          <p:cNvSpPr/>
          <p:nvPr/>
        </p:nvSpPr>
        <p:spPr>
          <a:xfrm>
            <a:off x="548640" y="2514600"/>
            <a:ext cx="1109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A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p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p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r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o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b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at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io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n 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d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e 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d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é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pl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oi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e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m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e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n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t 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(r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é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p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ét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é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e 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à 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c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h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a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q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u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e 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v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er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si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o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n, 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h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é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ri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te 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d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u 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ni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v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e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a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u 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fi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x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é)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1" name="Table 7"/>
          <p:cNvGraphicFramePr/>
          <p:nvPr/>
        </p:nvGraphicFramePr>
        <p:xfrm>
          <a:off x="548640" y="2788920"/>
          <a:ext cx="10286640" cy="1097280"/>
        </p:xfrm>
        <a:graphic>
          <a:graphicData uri="http://schemas.openxmlformats.org/drawingml/2006/table">
            <a:tbl>
              <a:tblPr/>
              <a:tblGrid>
                <a:gridCol w="2331720"/>
                <a:gridCol w="795240"/>
                <a:gridCol w="795240"/>
                <a:gridCol w="795240"/>
                <a:gridCol w="795240"/>
                <a:gridCol w="795240"/>
                <a:gridCol w="795240"/>
                <a:gridCol w="795240"/>
                <a:gridCol w="795240"/>
                <a:gridCol w="795240"/>
                <a:gridCol w="795240"/>
              </a:tblGrid>
              <a:tr h="2743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Activité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DGC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CDO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DPO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DO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DS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DC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MO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MRM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Legal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CEO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Fort impact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R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Impact modéré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R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A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Impact faible (auto-certif.)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–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–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RA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–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–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2" name="TextBox 8"/>
          <p:cNvSpPr/>
          <p:nvPr/>
        </p:nvSpPr>
        <p:spPr>
          <a:xfrm>
            <a:off x="548640" y="3886200"/>
            <a:ext cx="1109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Contrôle a posteriori et 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reclassification (événements </a:t>
            </a:r>
            <a:r>
              <a:rPr lang="fr-FR" sz="12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rares)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3" name="Table 9"/>
          <p:cNvGraphicFramePr/>
          <p:nvPr/>
        </p:nvGraphicFramePr>
        <p:xfrm>
          <a:off x="548640" y="4160520"/>
          <a:ext cx="10286640" cy="822960"/>
        </p:xfrm>
        <a:graphic>
          <a:graphicData uri="http://schemas.openxmlformats.org/drawingml/2006/table">
            <a:tbl>
              <a:tblPr/>
              <a:tblGrid>
                <a:gridCol w="2331720"/>
                <a:gridCol w="795240"/>
                <a:gridCol w="795240"/>
                <a:gridCol w="795240"/>
                <a:gridCol w="795240"/>
                <a:gridCol w="795240"/>
                <a:gridCol w="795240"/>
                <a:gridCol w="795240"/>
                <a:gridCol w="795240"/>
                <a:gridCol w="795240"/>
                <a:gridCol w="795240"/>
              </a:tblGrid>
              <a:tr h="2743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Activité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DGC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CDO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DPO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DO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DS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DC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MO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MRM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Legal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CEO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Contrôle par échantillonnage (faible)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–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RA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–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–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Reclasser un modèle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–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RA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–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</a:t>
                      </a:r>
                      <a:endParaRPr lang="fr-FR" sz="9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4" name="TextBox 10"/>
          <p:cNvSpPr/>
          <p:nvPr/>
        </p:nvSpPr>
        <p:spPr>
          <a:xfrm>
            <a:off x="548640" y="5074920"/>
            <a:ext cx="11091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200" b="0" i="1" u="none" strike="noStrike">
                <a:solidFill>
                  <a:srgbClr val="5B6B84"/>
                </a:solidFill>
                <a:effectLst/>
                <a:uFillTx/>
                <a:latin typeface="Calibri"/>
              </a:rPr>
              <a:t>R = Responsible, A = Accountable, </a:t>
            </a:r>
            <a:r>
              <a:rPr lang="fr-FR" sz="1200" b="0" i="1" u="none" strike="noStrike">
                <a:solidFill>
                  <a:srgbClr val="5B6B84"/>
                </a:solidFill>
                <a:effectLst/>
                <a:uFillTx/>
                <a:latin typeface="Calibri"/>
              </a:rPr>
              <a:t>C = Consulted, I = Informed.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fr-FR" sz="1200" b="0" i="1" u="none" strike="noStrike">
                <a:solidFill>
                  <a:srgbClr val="5B6B84"/>
                </a:solidFill>
                <a:effectLst/>
                <a:uFillTx/>
                <a:latin typeface="Calibri"/>
              </a:rPr>
              <a:t>Le nombre de parties prenantes </a:t>
            </a:r>
            <a:r>
              <a:rPr lang="fr-FR" sz="1200" b="0" i="1" u="none" strike="noStrike">
                <a:solidFill>
                  <a:srgbClr val="5B6B84"/>
                </a:solidFill>
                <a:effectLst/>
                <a:uFillTx/>
                <a:latin typeface="Calibri"/>
              </a:rPr>
              <a:t>décroît mécaniquement avec le </a:t>
            </a:r>
            <a:r>
              <a:rPr lang="fr-FR" sz="1200" b="0" i="1" u="none" strike="noStrike">
                <a:solidFill>
                  <a:srgbClr val="5B6B84"/>
                </a:solidFill>
                <a:effectLst/>
                <a:uFillTx/>
                <a:latin typeface="Calibri"/>
              </a:rPr>
              <a:t>niveau d'impact.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1"/>
          <p:cNvSpPr/>
          <p:nvPr/>
        </p:nvSpPr>
        <p:spPr>
          <a:xfrm>
            <a:off x="548640" y="647388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950" b="0" i="1" u="none" strike="noStrike">
                <a:solidFill>
                  <a:srgbClr val="8493A8"/>
                </a:solidFill>
                <a:effectLst/>
                <a:uFillTx/>
                <a:latin typeface="Calibri"/>
              </a:rPr>
              <a:t>Source : [D21-A]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12"/>
          <p:cNvSpPr/>
          <p:nvPr/>
        </p:nvSpPr>
        <p:spPr>
          <a:xfrm>
            <a:off x="11003040" y="64738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fr-FR" sz="950" b="0" u="none" strike="noStrike">
                <a:solidFill>
                  <a:srgbClr val="8493A8"/>
                </a:solidFill>
                <a:effectLst/>
                <a:uFillTx/>
                <a:latin typeface="Calibri"/>
              </a:rPr>
              <a:t>5 / 12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Box 1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200" b="1" u="none" spc="201" strike="noStrike">
                <a:solidFill>
                  <a:srgbClr val="1C8C68"/>
                </a:solidFill>
                <a:effectLst/>
                <a:uFillTx/>
                <a:latin typeface="Calibri"/>
              </a:rPr>
              <a:t>B4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2"/>
          <p:cNvSpPr/>
          <p:nvPr/>
        </p:nvSpPr>
        <p:spPr>
          <a:xfrm>
            <a:off x="548640" y="658440"/>
            <a:ext cx="9692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2000"/>
              </a:lnSpc>
            </a:pP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Plan pilote - </a:t>
            </a: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calendrier </a:t>
            </a: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détaillé des </a:t>
            </a: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jalons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Picture 3" descr="icon_map.png"/>
          <p:cNvPicPr/>
          <p:nvPr/>
        </p:nvPicPr>
        <p:blipFill>
          <a:blip r:embed="rId1"/>
          <a:stretch/>
        </p:blipFill>
        <p:spPr>
          <a:xfrm>
            <a:off x="11140200" y="365760"/>
            <a:ext cx="658080" cy="65808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60" name="Table 4"/>
          <p:cNvGraphicFramePr/>
          <p:nvPr/>
        </p:nvGraphicFramePr>
        <p:xfrm>
          <a:off x="548640" y="1572840"/>
          <a:ext cx="5394600" cy="3401280"/>
        </p:xfrm>
        <a:graphic>
          <a:graphicData uri="http://schemas.openxmlformats.org/drawingml/2006/table">
            <a:tbl>
              <a:tblPr/>
              <a:tblGrid>
                <a:gridCol w="457200"/>
                <a:gridCol w="502920"/>
                <a:gridCol w="3520440"/>
                <a:gridCol w="914400"/>
              </a:tblGrid>
              <a:tr h="3398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Jalon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Sem.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Actions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Porteur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3398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01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S1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Lancement, confirmation annuaire central SAML/OIDC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PPM, DC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98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02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S1-S3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Sécurisation infra. préexistantes ; régén. secrets, collecte profils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DC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98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03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S3-S4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Vérification capacités SSO/sync. groupes de TrustArc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DPO, Legal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98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04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S4-S5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Vérification RBAC natif MLflow, AIF360, AIX360, Wazuh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DC, MO, MRM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98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05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S5-S6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Test d'intégration bout-en-bout (annuaire, OMD, Collibra, TrustArc, OpenBao)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DC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98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06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S7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Revue phase de sécurisation : poursuite ou suspension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PPM, DGC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98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07.1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S8-S11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Déploiement technique (OMD, DVC, Soda Core, MLflow, AIF360, AIX360, Wazuh, OpenBao)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DC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98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07.2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S8-S17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Population initiale du RoPA (TrustArc) scopée PD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DPO, Legal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98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08.1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S12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Vérif. recouvrement Soda Core / module qualité OpenMetadata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DC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1" name="Table 5"/>
          <p:cNvGraphicFramePr/>
          <p:nvPr/>
        </p:nvGraphicFramePr>
        <p:xfrm>
          <a:off x="6080760" y="1572840"/>
          <a:ext cx="5394600" cy="3741480"/>
        </p:xfrm>
        <a:graphic>
          <a:graphicData uri="http://schemas.openxmlformats.org/drawingml/2006/table">
            <a:tbl>
              <a:tblPr/>
              <a:tblGrid>
                <a:gridCol w="457200"/>
                <a:gridCol w="502920"/>
                <a:gridCol w="3520440"/>
                <a:gridCol w="914400"/>
              </a:tblGrid>
              <a:tr h="3398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Jalon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Sem.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Actions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Porteur</a:t>
                      </a:r>
                      <a:endParaRPr lang="fr-FR" sz="8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3398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08.2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S12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Population initiale du glossaire Collibra scopée PD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DS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98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09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S13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Vérification du connecteur Collibra-OpenMetadata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DC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98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10.1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S14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Classification initiale du modèle testé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MO, MRM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98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10.2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S14-S17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Exécution réelle : qualité courante et données d'entraînement, entraînement/évaluation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DS, MO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98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11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S16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Vérification technique intermédiaire (résultats Soda Core)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DS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98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12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S17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Revue intermédiaire (Engineering overhead, adoption standards)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PPM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98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13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S18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1er passage du circuit d'approbation (niveau classé au J.10.1)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MRM, DGC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98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14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S19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Consolidation des indicateurs, recueil des retours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Toute l'équipe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98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15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S20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Revue de synthèse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PPM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98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16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S21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Revue finale et clôture du pilote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DGC</a:t>
                      </a:r>
                      <a:endParaRPr lang="fr-FR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2" name="TextBox 6"/>
          <p:cNvSpPr/>
          <p:nvPr/>
        </p:nvSpPr>
        <p:spPr>
          <a:xfrm>
            <a:off x="548640" y="5532120"/>
            <a:ext cx="11091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200" b="0" i="1" u="none" strike="noStrike">
                <a:solidFill>
                  <a:srgbClr val="5B6B84"/>
                </a:solidFill>
                <a:effectLst/>
                <a:uFillTx/>
                <a:latin typeface="Calibri"/>
              </a:rPr>
              <a:t>Livrables : rapport qualité des données - rapport de validation du circuit de classification/approbation - estimation Engineering overhead - note de recouvrement technique - note de synchronisation catalogage - note de contrôle d'accès - rapport de migration de sécurisation - rapport de déploiement initial Collibra/RoPA - retours des parties prenantes - rapport d'évaluation du double rattachement.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7"/>
          <p:cNvSpPr/>
          <p:nvPr/>
        </p:nvSpPr>
        <p:spPr>
          <a:xfrm>
            <a:off x="548640" y="647388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950" b="0" i="1" u="none" strike="noStrike">
                <a:solidFill>
                  <a:srgbClr val="8493A8"/>
                </a:solidFill>
                <a:effectLst/>
                <a:uFillTx/>
                <a:latin typeface="Calibri"/>
              </a:rPr>
              <a:t>Source : [D3-F]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8"/>
          <p:cNvSpPr/>
          <p:nvPr/>
        </p:nvSpPr>
        <p:spPr>
          <a:xfrm>
            <a:off x="11003040" y="64738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fr-FR" sz="950" b="0" u="none" strike="noStrike">
                <a:solidFill>
                  <a:srgbClr val="8493A8"/>
                </a:solidFill>
                <a:effectLst/>
                <a:uFillTx/>
                <a:latin typeface="Calibri"/>
              </a:rPr>
              <a:t>6 / 12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Box 1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200" b="1" u="none" spc="201" strike="noStrike">
                <a:solidFill>
                  <a:srgbClr val="1C8C68"/>
                </a:solidFill>
                <a:effectLst/>
                <a:uFillTx/>
                <a:latin typeface="Calibri"/>
              </a:rPr>
              <a:t>B5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2"/>
          <p:cNvSpPr/>
          <p:nvPr/>
        </p:nvSpPr>
        <p:spPr>
          <a:xfrm>
            <a:off x="548640" y="658440"/>
            <a:ext cx="9692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2000"/>
              </a:lnSpc>
            </a:pP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Méthode de mesure des KPIs et du double rattachement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7" name="Picture 3" descr="icon_barchart.png"/>
          <p:cNvPicPr/>
          <p:nvPr/>
        </p:nvPicPr>
        <p:blipFill>
          <a:blip r:embed="rId1"/>
          <a:stretch/>
        </p:blipFill>
        <p:spPr>
          <a:xfrm>
            <a:off x="11140200" y="365760"/>
            <a:ext cx="658080" cy="65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Box 4"/>
          <p:cNvSpPr/>
          <p:nvPr/>
        </p:nvSpPr>
        <p:spPr>
          <a:xfrm>
            <a:off x="548640" y="1600200"/>
            <a:ext cx="1109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1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Méthode de mesure des dimensions DMAT (re-cotation sur le périmètre pilote uniquement) :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9" name="Table 5"/>
          <p:cNvGraphicFramePr/>
          <p:nvPr/>
        </p:nvGraphicFramePr>
        <p:xfrm>
          <a:off x="548640" y="1920240"/>
          <a:ext cx="10908360" cy="153576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1188720"/>
                <a:gridCol w="5330880"/>
              </a:tblGrid>
              <a:tr h="38376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Dimension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Porteur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Jalon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Instrument de mesure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38376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Data Governance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PPM (auto-éval.), validation DGC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J.16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Re-cotation Q1-Q6, Q10-Q13 [R1]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Data Quality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Data Steward, PPM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J.12 puis 16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Re-cotation Q36-Q39 [R1], journaux Soda Core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Analytics &amp; BI (IA)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Model Owner, MRM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J.12 puis 16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5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Re-cotation Q55-Q57 [R1], dossier + AIF360/AIX360</a:t>
                      </a:r>
                      <a:endParaRPr lang="fr-FR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0" name="TextBox 6"/>
          <p:cNvSpPr/>
          <p:nvPr/>
        </p:nvSpPr>
        <p:spPr>
          <a:xfrm>
            <a:off x="548640" y="3520440"/>
            <a:ext cx="1109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950" b="0" i="1" u="none" strike="noStrike">
                <a:solidFill>
                  <a:srgbClr val="5B6B84"/>
                </a:solidFill>
                <a:effectLst/>
                <a:uFillTx/>
                <a:latin typeface="Calibri"/>
              </a:rPr>
              <a:t>Nature de l'exercice : jugement qualitatif ancré à des artefacts opérationnels datés (logs, horodatages, dossiers) plutôt qu'à un texte narratif rédigé a posteriori - la validation DGC réduit le biais d'auto-évaluation sans rendre le jugement objectif.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7"/>
          <p:cNvSpPr/>
          <p:nvPr/>
        </p:nvSpPr>
        <p:spPr>
          <a:xfrm>
            <a:off x="548640" y="4096440"/>
            <a:ext cx="1109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100" b="1" u="none" strike="noStrike">
                <a:solidFill>
                  <a:srgbClr val="1C8C68"/>
                </a:solidFill>
                <a:effectLst/>
                <a:uFillTx/>
                <a:latin typeface="Calibri"/>
              </a:rPr>
              <a:t>Évaluation du double rattachement des Data Stewards - 5 indicateurs complémentaires :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2" name="Table 8"/>
          <p:cNvGraphicFramePr/>
          <p:nvPr/>
        </p:nvGraphicFramePr>
        <p:xfrm>
          <a:off x="548640" y="4407480"/>
          <a:ext cx="11091240" cy="1645920"/>
        </p:xfrm>
        <a:graphic>
          <a:graphicData uri="http://schemas.openxmlformats.org/drawingml/2006/table">
            <a:tbl>
              <a:tblPr/>
              <a:tblGrid>
                <a:gridCol w="3291840"/>
                <a:gridCol w="6245280"/>
                <a:gridCol w="1554480"/>
              </a:tblGrid>
              <a:tr h="2743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Indicateur</a:t>
                      </a:r>
                      <a:endParaRPr lang="fr-FR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Méthode de mesure</a:t>
                      </a:r>
                      <a:endParaRPr lang="fr-FR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Source</a:t>
                      </a:r>
                      <a:endParaRPr lang="fr-FR" sz="9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8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Taux d'adoption des standards CDO</a:t>
                      </a:r>
                      <a:endParaRPr lang="fr-FR" sz="8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8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Règles Soda Core « standard CDO » vs « spécifique domaine »</a:t>
                      </a:r>
                      <a:endParaRPr lang="fr-FR" sz="8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8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DC</a:t>
                      </a:r>
                      <a:endParaRPr lang="fr-FR" sz="8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8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Délai de propagation d'une MàJ</a:t>
                      </a:r>
                      <a:endParaRPr lang="fr-FR" sz="8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8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Horodatage du workflow de révision/approbation Collibra</a:t>
                      </a:r>
                      <a:endParaRPr lang="fr-FR" sz="8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8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PPM</a:t>
                      </a:r>
                      <a:endParaRPr lang="fr-FR" sz="8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8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Fréquence de sollicitation fonctionnelle</a:t>
                      </a:r>
                      <a:endParaRPr lang="fr-FR" sz="8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8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Comptage des échanges DS → CDO sur Collibra</a:t>
                      </a:r>
                      <a:endParaRPr lang="fr-FR" sz="8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8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DS</a:t>
                      </a:r>
                      <a:endParaRPr lang="fr-FR" sz="8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8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Cohérence terminologique</a:t>
                      </a:r>
                      <a:endParaRPr lang="fr-FR" sz="8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8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Taux de correspondance exacte au glossaire Collibra</a:t>
                      </a:r>
                      <a:endParaRPr lang="fr-FR" sz="8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8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DC, DS</a:t>
                      </a:r>
                      <a:endParaRPr lang="fr-FR" sz="8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8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Autonomie départementale préservée</a:t>
                      </a:r>
                      <a:endParaRPr lang="fr-FR" sz="8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8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Part des décisions métier prises sans blocage, registre DO</a:t>
                      </a:r>
                      <a:endParaRPr lang="fr-FR" sz="8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88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DO</a:t>
                      </a:r>
                      <a:endParaRPr lang="fr-FR" sz="8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3" name="TextBox 9"/>
          <p:cNvSpPr/>
          <p:nvPr/>
        </p:nvSpPr>
        <p:spPr>
          <a:xfrm>
            <a:off x="548640" y="6108120"/>
            <a:ext cx="1109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900" b="0" i="1" u="none" strike="noStrike">
                <a:solidFill>
                  <a:srgbClr val="5B6B84"/>
                </a:solidFill>
                <a:effectLst/>
                <a:uFillTx/>
                <a:latin typeface="Calibri"/>
              </a:rPr>
              <a:t>Le critère négatif (absence de conflit) devient insuffisant seul : un canal jamais utilisé afficherait aussi zéro conflit. L'indicateur d'autonomie sert de garde-fou.</a:t>
            </a:r>
            <a:endParaRPr lang="fr-F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10"/>
          <p:cNvSpPr/>
          <p:nvPr/>
        </p:nvSpPr>
        <p:spPr>
          <a:xfrm>
            <a:off x="548640" y="647388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950" b="0" i="1" u="none" strike="noStrike">
                <a:solidFill>
                  <a:srgbClr val="8493A8"/>
                </a:solidFill>
                <a:effectLst/>
                <a:uFillTx/>
                <a:latin typeface="Calibri"/>
              </a:rPr>
              <a:t>Source : [D3-F]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11"/>
          <p:cNvSpPr/>
          <p:nvPr/>
        </p:nvSpPr>
        <p:spPr>
          <a:xfrm>
            <a:off x="11003040" y="64738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fr-FR" sz="950" b="0" u="none" strike="noStrike">
                <a:solidFill>
                  <a:srgbClr val="8493A8"/>
                </a:solidFill>
                <a:effectLst/>
                <a:uFillTx/>
                <a:latin typeface="Calibri"/>
              </a:rPr>
              <a:t>7 / 12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200" b="1" u="none" spc="201" strike="noStrike">
                <a:solidFill>
                  <a:srgbClr val="1C8C68"/>
                </a:solidFill>
                <a:effectLst/>
                <a:uFillTx/>
                <a:latin typeface="Calibri"/>
              </a:rPr>
              <a:t>B6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2"/>
          <p:cNvSpPr/>
          <p:nvPr/>
        </p:nvSpPr>
        <p:spPr>
          <a:xfrm>
            <a:off x="548640" y="658440"/>
            <a:ext cx="10058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2000"/>
              </a:lnSpc>
            </a:pP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Gestion des risques du pilote (1/2) - suspension &amp; débordement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8" name="Picture 3" descr="icon_alert.png"/>
          <p:cNvPicPr/>
          <p:nvPr/>
        </p:nvPicPr>
        <p:blipFill>
          <a:blip r:embed="rId1"/>
          <a:stretch/>
        </p:blipFill>
        <p:spPr>
          <a:xfrm>
            <a:off x="11140200" y="365760"/>
            <a:ext cx="658080" cy="65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Box 4"/>
          <p:cNvSpPr/>
          <p:nvPr/>
        </p:nvSpPr>
        <p:spPr>
          <a:xfrm>
            <a:off x="548640" y="1645920"/>
            <a:ext cx="1109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150" b="1" u="none" strike="noStrike">
                <a:solidFill>
                  <a:srgbClr val="97402F"/>
                </a:solidFill>
                <a:effectLst/>
                <a:uFillTx/>
                <a:latin typeface="Calibri"/>
              </a:rPr>
              <a:t>Risques de suspension (sans repli) :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0" name="Table 5"/>
          <p:cNvGraphicFramePr/>
          <p:nvPr/>
        </p:nvGraphicFramePr>
        <p:xfrm>
          <a:off x="548640" y="1965960"/>
          <a:ext cx="11091240" cy="1371600"/>
        </p:xfrm>
        <a:graphic>
          <a:graphicData uri="http://schemas.openxmlformats.org/drawingml/2006/table">
            <a:tbl>
              <a:tblPr/>
              <a:tblGrid>
                <a:gridCol w="3291840"/>
                <a:gridCol w="1463040"/>
                <a:gridCol w="2377440"/>
                <a:gridCol w="3959280"/>
              </a:tblGrid>
              <a:tr h="45720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Risque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Probabilité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Impact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Mitigation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Absence d'annuaire central apte SAML/OIDC (J.01)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Faible à moyenne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Suspension totale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Devient un chantier d'infrastructure séparé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Défaut de sécurisation non corrigeable (J.02)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Faible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Suspension si non corrigé avant J.06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Repli possible si périmètre isolable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1" name="TextBox 6"/>
          <p:cNvSpPr/>
          <p:nvPr/>
        </p:nvSpPr>
        <p:spPr>
          <a:xfrm>
            <a:off x="548640" y="3456360"/>
            <a:ext cx="1109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150" b="1" u="none" strike="noStrike">
                <a:solidFill>
                  <a:srgbClr val="97402F"/>
                </a:solidFill>
                <a:effectLst/>
                <a:uFillTx/>
                <a:latin typeface="Calibri"/>
              </a:rPr>
              <a:t>Risques de débordement de planning :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2" name="Table 7"/>
          <p:cNvGraphicFramePr/>
          <p:nvPr/>
        </p:nvGraphicFramePr>
        <p:xfrm>
          <a:off x="548640" y="3767400"/>
          <a:ext cx="11091240" cy="1828800"/>
        </p:xfrm>
        <a:graphic>
          <a:graphicData uri="http://schemas.openxmlformats.org/drawingml/2006/table">
            <a:tbl>
              <a:tblPr/>
              <a:tblGrid>
                <a:gridCol w="3291840"/>
                <a:gridCol w="1463040"/>
                <a:gridCol w="2377440"/>
                <a:gridCol w="3959280"/>
              </a:tblGrid>
              <a:tr h="45720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Risque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Probabilité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Impact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Mitigation</a:t>
                      </a:r>
                      <a:endParaRPr lang="fr-FR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Délai de réponse TrustArc (SSO, J.03)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Moyenne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Débordement du J.03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Gestion manuelle temporaire, documentée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Échec du test d'intégration bout-en-bout (J.05)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Moyenne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Débordement du J.06, retard en cascade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Identifier le maillon défaillant avant correction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Compression de l'exécution réelle (J.10.2, 4 sem.)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Moyenne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Fiabilité réduite des indicateurs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Rallongement ponctuel si J.11 instable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3" name="Rounded Rectangle 8"/>
          <p:cNvSpPr/>
          <p:nvPr/>
        </p:nvSpPr>
        <p:spPr>
          <a:xfrm>
            <a:off x="548640" y="5715000"/>
            <a:ext cx="11091240" cy="712800"/>
          </a:xfrm>
          <a:prstGeom prst="roundRect">
            <a:avLst>
              <a:gd name="adj" fmla="val 8000"/>
            </a:avLst>
          </a:prstGeom>
          <a:solidFill>
            <a:srgbClr val="FBEDEA"/>
          </a:solidFill>
          <a:ln w="9525">
            <a:solidFill>
              <a:srgbClr val="D8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9"/>
          <p:cNvSpPr/>
          <p:nvPr/>
        </p:nvSpPr>
        <p:spPr>
          <a:xfrm>
            <a:off x="777240" y="5715000"/>
            <a:ext cx="106066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fr-FR" sz="1000" b="0" i="1" u="none" strike="noStrike">
                <a:solidFill>
                  <a:srgbClr val="97402F"/>
                </a:solidFill>
                <a:effectLst/>
                <a:uFillTx/>
                <a:latin typeface="Calibri"/>
              </a:rPr>
              <a:t>Ces deux catégories sont propres à la phase de sécurisation (Jalons 01-06) et signalées explicitement plutôt que noyées dans le reste du tableau des risques opérationnels (slide suivante).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0"/>
          <p:cNvSpPr/>
          <p:nvPr/>
        </p:nvSpPr>
        <p:spPr>
          <a:xfrm>
            <a:off x="548640" y="647388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950" b="0" i="1" u="none" strike="noStrike">
                <a:solidFill>
                  <a:srgbClr val="8493A8"/>
                </a:solidFill>
                <a:effectLst/>
                <a:uFillTx/>
                <a:latin typeface="Calibri"/>
              </a:rPr>
              <a:t>Source : [D3] §3.F.8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1"/>
          <p:cNvSpPr/>
          <p:nvPr/>
        </p:nvSpPr>
        <p:spPr>
          <a:xfrm>
            <a:off x="11003040" y="64738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fr-FR" sz="950" b="0" u="none" strike="noStrike">
                <a:solidFill>
                  <a:srgbClr val="8493A8"/>
                </a:solidFill>
                <a:effectLst/>
                <a:uFillTx/>
                <a:latin typeface="Calibri"/>
              </a:rPr>
              <a:t>8 / 12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Box 1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200" b="1" u="none" spc="201" strike="noStrike">
                <a:solidFill>
                  <a:srgbClr val="1C8C68"/>
                </a:solidFill>
                <a:effectLst/>
                <a:uFillTx/>
                <a:latin typeface="Calibri"/>
              </a:rPr>
              <a:t>B6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2"/>
          <p:cNvSpPr/>
          <p:nvPr/>
        </p:nvSpPr>
        <p:spPr>
          <a:xfrm>
            <a:off x="548640" y="658440"/>
            <a:ext cx="10058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2000"/>
              </a:lnSpc>
            </a:pPr>
            <a:r>
              <a:rPr lang="fr-FR" sz="24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Gestion des risques du pilote (2/2) - risques opérationnels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9" name="Picture 3" descr="icon_alert.png"/>
          <p:cNvPicPr/>
          <p:nvPr/>
        </p:nvPicPr>
        <p:blipFill>
          <a:blip r:embed="rId1"/>
          <a:stretch/>
        </p:blipFill>
        <p:spPr>
          <a:xfrm>
            <a:off x="11140200" y="365760"/>
            <a:ext cx="658080" cy="65808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90" name="Table 4"/>
          <p:cNvGraphicFramePr/>
          <p:nvPr/>
        </p:nvGraphicFramePr>
        <p:xfrm>
          <a:off x="548640" y="1691640"/>
          <a:ext cx="11091240" cy="4425480"/>
        </p:xfrm>
        <a:graphic>
          <a:graphicData uri="http://schemas.openxmlformats.org/drawingml/2006/table">
            <a:tbl>
              <a:tblPr/>
              <a:tblGrid>
                <a:gridCol w="3566160"/>
                <a:gridCol w="868680"/>
                <a:gridCol w="1051560"/>
                <a:gridCol w="5605200"/>
              </a:tblGrid>
              <a:tr h="4021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Risque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Prob.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Impact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Mitigation</a:t>
                      </a:r>
                      <a:endParaRPr lang="fr-FR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4021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Charge Data Custodians sous-estimée (4 outils/10)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Élevée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Élevé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Suivi hebdo ; bascule possible vers Collate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Collecte incomplète des profils d'accès (J.02)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Moyenne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Élevé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Recoupement systématique avant redéfinition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Soda Core insuffisant pour E5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Moyenne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Moyen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Vérif. J.08.1/11 ; repli Cuallee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Dépriorisation long terme de Soda Core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Moyenne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Faible-moyen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Suivi post-pilote ; repli TestGen si confirmé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Décalage sync. Collibra/OpenMetadata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Faible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Moyen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Vérif. J.09 ; calibrage sur délai 72h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Seuils de classification mal calibrés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Moyenne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Moyen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Mesure du délai réel au J.13 ; resserrement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Résistance au changement du dépt. pilote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Moyenne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Moyen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Cf. formation §3.F.9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Désalignement cycles budgétaires trimestriels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Moyenne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Moyen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Anticiper la demande Phase 3 avant clôture P2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Déploiement Collibra/RoPA plus long que prévu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Moyenne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Moyen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Prioriser la classification des données sensibles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1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Absence de classification préalable (RoPA)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Élevée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Moyen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93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Population du RoPA documentée comme provisoire</a:t>
                      </a:r>
                      <a:endParaRPr lang="fr-FR" sz="9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1" name="TextBox 5"/>
          <p:cNvSpPr/>
          <p:nvPr/>
        </p:nvSpPr>
        <p:spPr>
          <a:xfrm>
            <a:off x="548640" y="647388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950" b="0" i="1" u="none" strike="noStrike">
                <a:solidFill>
                  <a:srgbClr val="8493A8"/>
                </a:solidFill>
                <a:effectLst/>
                <a:uFillTx/>
                <a:latin typeface="Calibri"/>
              </a:rPr>
              <a:t>Source : [D3] §3.F.8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6"/>
          <p:cNvSpPr/>
          <p:nvPr/>
        </p:nvSpPr>
        <p:spPr>
          <a:xfrm>
            <a:off x="11003040" y="64738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fr-FR" sz="950" b="0" u="none" strike="noStrike">
                <a:solidFill>
                  <a:srgbClr val="8493A8"/>
                </a:solidFill>
                <a:effectLst/>
                <a:uFillTx/>
                <a:latin typeface="Calibri"/>
              </a:rPr>
              <a:t>9 / 12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1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200" b="1" u="none" spc="201" strike="noStrike">
                <a:solidFill>
                  <a:srgbClr val="1C8C68"/>
                </a:solidFill>
                <a:effectLst/>
                <a:uFillTx/>
                <a:latin typeface="Calibri"/>
              </a:rPr>
              <a:t>B7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2"/>
          <p:cNvSpPr/>
          <p:nvPr/>
        </p:nvSpPr>
        <p:spPr>
          <a:xfrm>
            <a:off x="548640" y="658440"/>
            <a:ext cx="9692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2000"/>
              </a:lnSpc>
              <a:spcBef>
                <a:spcPts val="1191"/>
              </a:spcBef>
              <a:spcAft>
                <a:spcPts val="992"/>
              </a:spcAft>
            </a:pP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Conditions de passage à l'échelle (feu 🟢 🟠 🔴)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5" name="Picture 3" descr="icon_flag.png"/>
          <p:cNvPicPr/>
          <p:nvPr/>
        </p:nvPicPr>
        <p:blipFill>
          <a:blip r:embed="rId1"/>
          <a:stretch/>
        </p:blipFill>
        <p:spPr>
          <a:xfrm>
            <a:off x="11140200" y="365760"/>
            <a:ext cx="658080" cy="65808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96" name="Table 4"/>
          <p:cNvGraphicFramePr/>
          <p:nvPr/>
        </p:nvGraphicFramePr>
        <p:xfrm>
          <a:off x="548640" y="1691640"/>
          <a:ext cx="11091240" cy="4526280"/>
        </p:xfrm>
        <a:graphic>
          <a:graphicData uri="http://schemas.openxmlformats.org/drawingml/2006/table">
            <a:tbl>
              <a:tblPr/>
              <a:tblGrid>
                <a:gridCol w="3017520"/>
                <a:gridCol w="4480560"/>
                <a:gridCol w="3593520"/>
              </a:tblGrid>
              <a:tr h="5029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Dispositif testé</a:t>
                      </a:r>
                      <a:endParaRPr lang="fr-F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Critère de passage à l'échelle</a:t>
                      </a:r>
                      <a:endParaRPr lang="fr-F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Si échec / résultat mitigé</a:t>
                      </a:r>
                      <a:endParaRPr lang="fr-F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Double rattachement Data Steward (E1)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Absence de conflit d'autorité rapporté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Clarifier par écrit avant extension, plutôt qu'abandonner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Soda Core / module qualité OpenMetadata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Décision explicite au Jalon 08.1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Généraliser uniquement l'outil retenu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Connecteur Collibra/OpenMetadata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Synchronisation vérifiée (J.09), compatible délai 72h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Resserrer la fréquence ou intégration complémentaire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Soda Core pour la qualité ML (E5)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Contrôles jugés suffisants entre J.08.1 et 11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Bascule vers Cuallee, sans réintroduire Deequ/Spark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Circuit de classification/approbation ([D3-E])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Délai mesuré au J.13, compatible mise en prod.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Resserrer les critères plutôt qu'alléger le circuit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Déploiement incrémental Collibra/RoPA (E1, E3)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Configuration scopée PD extensible sans reconstruction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Revoir l'architecture avant Phase 3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Engineering overhead Data Custodians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Estimation (J.12) vs capacité réelle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Séquencer le déploiement sur plusieurs trimestres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Phase de sécurisation elle-même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Franchissement du J.06 sans suspension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2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Traiter comme chantier séparé avant généralisation</a:t>
                      </a:r>
                      <a:endParaRPr lang="fr-F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7" name="TextBox 5"/>
          <p:cNvSpPr/>
          <p:nvPr/>
        </p:nvSpPr>
        <p:spPr>
          <a:xfrm>
            <a:off x="548640" y="647388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950" b="0" i="1" u="none" strike="noStrike">
                <a:solidFill>
                  <a:srgbClr val="8493A8"/>
                </a:solidFill>
                <a:effectLst/>
                <a:uFillTx/>
                <a:latin typeface="Calibri"/>
              </a:rPr>
              <a:t>Source : [D3-G]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6"/>
          <p:cNvSpPr/>
          <p:nvPr/>
        </p:nvSpPr>
        <p:spPr>
          <a:xfrm>
            <a:off x="11003040" y="64738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fr-FR" sz="950" b="0" u="none" strike="noStrike">
                <a:solidFill>
                  <a:srgbClr val="8493A8"/>
                </a:solidFill>
                <a:effectLst/>
                <a:uFillTx/>
                <a:latin typeface="Calibri"/>
              </a:rPr>
              <a:t>10 / 12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Box 1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200" b="1" u="none" spc="201" strike="noStrike">
                <a:solidFill>
                  <a:srgbClr val="1C8C68"/>
                </a:solidFill>
                <a:effectLst/>
                <a:uFillTx/>
                <a:latin typeface="Calibri"/>
              </a:rPr>
              <a:t>B8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2"/>
          <p:cNvSpPr/>
          <p:nvPr/>
        </p:nvSpPr>
        <p:spPr>
          <a:xfrm>
            <a:off x="548640" y="658440"/>
            <a:ext cx="9692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2000"/>
              </a:lnSpc>
            </a:pP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Ajustements du cadre de gouvernance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1" name="Picture 3" descr="icon_shield.png"/>
          <p:cNvPicPr/>
          <p:nvPr/>
        </p:nvPicPr>
        <p:blipFill>
          <a:blip r:embed="rId1"/>
          <a:stretch/>
        </p:blipFill>
        <p:spPr>
          <a:xfrm>
            <a:off x="11140200" y="365760"/>
            <a:ext cx="658080" cy="65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Rounded Rectangle 4"/>
          <p:cNvSpPr/>
          <p:nvPr/>
        </p:nvSpPr>
        <p:spPr>
          <a:xfrm>
            <a:off x="548640" y="1737360"/>
            <a:ext cx="11091240" cy="776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  <a:round/>
          </a:ln>
          <a:effectLst>
            <a:outerShdw blurRad="63360" dir="5400000" dist="1908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3" name="Oval 5"/>
          <p:cNvSpPr/>
          <p:nvPr/>
        </p:nvSpPr>
        <p:spPr>
          <a:xfrm>
            <a:off x="749880" y="1906560"/>
            <a:ext cx="438480" cy="438480"/>
          </a:xfrm>
          <a:prstGeom prst="ellipse">
            <a:avLst/>
          </a:prstGeom>
          <a:solidFill>
            <a:srgbClr val="2DB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6"/>
          <p:cNvSpPr/>
          <p:nvPr/>
        </p:nvSpPr>
        <p:spPr>
          <a:xfrm>
            <a:off x="749880" y="190656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fr-FR" sz="13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1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7"/>
          <p:cNvSpPr/>
          <p:nvPr/>
        </p:nvSpPr>
        <p:spPr>
          <a:xfrm>
            <a:off x="1417320" y="1828800"/>
            <a:ext cx="9966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Calibrer les seuils des critères des niveaux d’impact des modèles =, selon les résultats du pilote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ounded Rectangle 8"/>
          <p:cNvSpPr/>
          <p:nvPr/>
        </p:nvSpPr>
        <p:spPr>
          <a:xfrm>
            <a:off x="548640" y="2606040"/>
            <a:ext cx="11091240" cy="776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  <a:round/>
          </a:ln>
          <a:effectLst>
            <a:outerShdw blurRad="63360" dir="5400000" dist="1908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Oval 9"/>
          <p:cNvSpPr/>
          <p:nvPr/>
        </p:nvSpPr>
        <p:spPr>
          <a:xfrm>
            <a:off x="749880" y="2775240"/>
            <a:ext cx="438480" cy="438480"/>
          </a:xfrm>
          <a:prstGeom prst="ellipse">
            <a:avLst/>
          </a:prstGeom>
          <a:solidFill>
            <a:srgbClr val="2DB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10"/>
          <p:cNvSpPr/>
          <p:nvPr/>
        </p:nvSpPr>
        <p:spPr>
          <a:xfrm>
            <a:off x="749880" y="277524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fr-FR" sz="13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2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11"/>
          <p:cNvSpPr/>
          <p:nvPr/>
        </p:nvSpPr>
        <p:spPr>
          <a:xfrm>
            <a:off x="1417320" y="2697480"/>
            <a:ext cx="9966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Réviser le tableau d'outils sur les deux lignes explicitement testées (recouvrement Soda Core/OpenMetadata &amp; capacité de Soda Core / E5)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ounded Rectangle 12"/>
          <p:cNvSpPr/>
          <p:nvPr/>
        </p:nvSpPr>
        <p:spPr>
          <a:xfrm>
            <a:off x="548640" y="3474720"/>
            <a:ext cx="11091240" cy="776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  <a:round/>
          </a:ln>
          <a:effectLst>
            <a:outerShdw blurRad="63360" dir="5400000" dist="1908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1" name="Oval 13"/>
          <p:cNvSpPr/>
          <p:nvPr/>
        </p:nvSpPr>
        <p:spPr>
          <a:xfrm>
            <a:off x="749880" y="3643920"/>
            <a:ext cx="438480" cy="438480"/>
          </a:xfrm>
          <a:prstGeom prst="ellipse">
            <a:avLst/>
          </a:prstGeom>
          <a:solidFill>
            <a:srgbClr val="2DB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14"/>
          <p:cNvSpPr/>
          <p:nvPr/>
        </p:nvSpPr>
        <p:spPr>
          <a:xfrm>
            <a:off x="749880" y="364392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fr-FR" sz="13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3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15"/>
          <p:cNvSpPr/>
          <p:nvPr/>
        </p:nvSpPr>
        <p:spPr>
          <a:xfrm>
            <a:off x="1417320" y="3566160"/>
            <a:ext cx="9966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Établir un coût total de possession (infrastructure, maintenance pluriannuelle) dès qu’un historique d'exploitation suffisant est disponible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ounded Rectangle 16"/>
          <p:cNvSpPr/>
          <p:nvPr/>
        </p:nvSpPr>
        <p:spPr>
          <a:xfrm>
            <a:off x="536760" y="4335120"/>
            <a:ext cx="11091240" cy="776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  <a:round/>
          </a:ln>
          <a:effectLst>
            <a:outerShdw blurRad="63360" dir="5400000" dist="1908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5" name="Oval 17"/>
          <p:cNvSpPr/>
          <p:nvPr/>
        </p:nvSpPr>
        <p:spPr>
          <a:xfrm>
            <a:off x="749880" y="4512600"/>
            <a:ext cx="438480" cy="438480"/>
          </a:xfrm>
          <a:prstGeom prst="ellipse">
            <a:avLst/>
          </a:prstGeom>
          <a:solidFill>
            <a:srgbClr val="2DB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18"/>
          <p:cNvSpPr/>
          <p:nvPr/>
        </p:nvSpPr>
        <p:spPr>
          <a:xfrm>
            <a:off x="749880" y="451260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fr-FR" sz="13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4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19"/>
          <p:cNvSpPr/>
          <p:nvPr/>
        </p:nvSpPr>
        <p:spPr>
          <a:xfrm>
            <a:off x="1417320" y="4434840"/>
            <a:ext cx="9966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Microsoft YaHei"/>
              </a:rPr>
              <a:t>Valider la couverture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  <a:ea typeface="Microsoft YaHei"/>
              </a:rPr>
              <a:t>DSAR</a:t>
            </a: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Microsoft YaHei"/>
              </a:rPr>
              <a:t> de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  <a:ea typeface="Microsoft YaHei"/>
              </a:rPr>
              <a:t>TrustArc</a:t>
            </a: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Microsoft YaHei"/>
              </a:rPr>
              <a:t> (en s'appuyant sur le 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  <a:ea typeface="Microsoft YaHei"/>
              </a:rPr>
              <a:t>RoPA</a:t>
            </a: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Microsoft YaHei"/>
              </a:rPr>
              <a:t> pilote</a:t>
            </a:r>
            <a:r>
              <a:rPr lang="fr-FR" sz="1200" b="0" i="1" u="none" strike="noStrike">
                <a:solidFill>
                  <a:srgbClr val="1B2A4A"/>
                </a:solidFill>
                <a:effectLst/>
                <a:uFillTx/>
                <a:latin typeface="Calibri"/>
                <a:ea typeface="Microsoft YaHei"/>
              </a:rPr>
              <a:t>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ounded Rectangle 20"/>
          <p:cNvSpPr/>
          <p:nvPr/>
        </p:nvSpPr>
        <p:spPr>
          <a:xfrm>
            <a:off x="548640" y="5212080"/>
            <a:ext cx="11091240" cy="776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DEE6"/>
            </a:solidFill>
            <a:round/>
          </a:ln>
          <a:effectLst>
            <a:outerShdw blurRad="63360" dir="5400000" dist="19080" rotWithShape="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9" name="Oval 21"/>
          <p:cNvSpPr/>
          <p:nvPr/>
        </p:nvSpPr>
        <p:spPr>
          <a:xfrm>
            <a:off x="749880" y="5381280"/>
            <a:ext cx="438480" cy="438480"/>
          </a:xfrm>
          <a:prstGeom prst="ellipse">
            <a:avLst/>
          </a:prstGeom>
          <a:solidFill>
            <a:srgbClr val="2DBE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Box 22"/>
          <p:cNvSpPr/>
          <p:nvPr/>
        </p:nvSpPr>
        <p:spPr>
          <a:xfrm>
            <a:off x="749880" y="5381280"/>
            <a:ext cx="4384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fr-FR" sz="13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5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23"/>
          <p:cNvSpPr/>
          <p:nvPr/>
        </p:nvSpPr>
        <p:spPr>
          <a:xfrm>
            <a:off x="1417320" y="5303520"/>
            <a:ext cx="99666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fr-FR" sz="1200" b="0" u="none" strike="noStrike">
                <a:solidFill>
                  <a:srgbClr val="1B2A4A"/>
                </a:solidFill>
                <a:effectLst/>
                <a:uFillTx/>
                <a:latin typeface="Calibri"/>
                <a:ea typeface="Microsoft YaHei"/>
              </a:rPr>
              <a:t>Documenter l'extension légère de sécurisation (régénération des secrets, collecte des profils) - répétée pour chaque département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24"/>
          <p:cNvSpPr/>
          <p:nvPr/>
        </p:nvSpPr>
        <p:spPr>
          <a:xfrm>
            <a:off x="548640" y="647388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950" b="0" i="1" u="none" strike="noStrike">
                <a:solidFill>
                  <a:srgbClr val="8493A8"/>
                </a:solidFill>
                <a:effectLst/>
                <a:uFillTx/>
                <a:latin typeface="Calibri"/>
              </a:rPr>
              <a:t>Source : [D3-G]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25"/>
          <p:cNvSpPr/>
          <p:nvPr/>
        </p:nvSpPr>
        <p:spPr>
          <a:xfrm>
            <a:off x="11003040" y="64738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fr-FR" sz="950" b="0" u="none" strike="noStrike">
                <a:solidFill>
                  <a:srgbClr val="8493A8"/>
                </a:solidFill>
                <a:effectLst/>
                <a:uFillTx/>
                <a:latin typeface="Calibri"/>
              </a:rPr>
              <a:t>11 / 12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1"/>
          <p:cNvSpPr/>
          <p:nvPr/>
        </p:nvSpPr>
        <p:spPr>
          <a:xfrm>
            <a:off x="548640" y="38412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1200" b="1" u="none" spc="201" strike="noStrike">
                <a:solidFill>
                  <a:srgbClr val="1C8C68"/>
                </a:solidFill>
                <a:effectLst/>
                <a:uFillTx/>
                <a:latin typeface="Calibri"/>
              </a:rPr>
              <a:t>B9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2"/>
          <p:cNvSpPr/>
          <p:nvPr/>
        </p:nvSpPr>
        <p:spPr>
          <a:xfrm>
            <a:off x="548640" y="658440"/>
            <a:ext cx="9692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2000"/>
              </a:lnSpc>
            </a:pPr>
            <a:r>
              <a:rPr lang="fr-FR" sz="2800" b="1" u="none" strike="noStrike">
                <a:solidFill>
                  <a:srgbClr val="1B2A4A"/>
                </a:solidFill>
                <a:effectLst/>
                <a:uFillTx/>
                <a:latin typeface="Cambria"/>
              </a:rPr>
              <a:t>Trajectoire de maturité détaillée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6" name="Picture 3" descr="icon_globe.png"/>
          <p:cNvPicPr/>
          <p:nvPr/>
        </p:nvPicPr>
        <p:blipFill>
          <a:blip r:embed="rId1"/>
          <a:stretch/>
        </p:blipFill>
        <p:spPr>
          <a:xfrm>
            <a:off x="11140200" y="365760"/>
            <a:ext cx="658080" cy="65808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227" name="Table 4"/>
          <p:cNvGraphicFramePr/>
          <p:nvPr/>
        </p:nvGraphicFramePr>
        <p:xfrm>
          <a:off x="548640" y="1691640"/>
          <a:ext cx="11091240" cy="3399480"/>
        </p:xfrm>
        <a:graphic>
          <a:graphicData uri="http://schemas.openxmlformats.org/drawingml/2006/table">
            <a:tbl>
              <a:tblPr/>
              <a:tblGrid>
                <a:gridCol w="1188720"/>
                <a:gridCol w="3383280"/>
                <a:gridCol w="3684960"/>
                <a:gridCol w="2834640"/>
              </a:tblGrid>
              <a:tr h="5666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Échéance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Étape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Niveau de maturité visé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Repère exécutif [R11, Q7]</a:t>
                      </a:r>
                      <a:endParaRPr lang="fr-FR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5666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1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M5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1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Pilote clos, décisions go/no-go prises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1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Niveau 2 sur le périmètre pilote (Governance, Quality)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1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Borne haute fourchette pilote (3-6 mois)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1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M10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1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Product Development couvert dans son ensemble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1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Niveau 2-3 sur Governance et Quality, étendu à tout PD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1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Dans la fenêtre de déploiement (+12-18 mois)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1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M15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1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Marketing couvert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1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Niveau 2-3 sur Compliance et Data Usage &amp; Accessibility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1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Dans la fenêtre de déploiement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1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M20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1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Content Curation couvert, Engineering élargi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1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Niveau 3 sur Metadata et Master &amp; Reference Data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1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Borne haute du déploiement complet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1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M22-M24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1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Ensemble des départements couverts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1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Niveau 3 généralisé [D21 §2.1.7]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tIns="36360" bIns="3636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fr-FR" sz="1100" b="0" u="none" strike="noStrike">
                          <a:solidFill>
                            <a:srgbClr val="1B2A4A"/>
                          </a:solidFill>
                          <a:effectLst/>
                          <a:uFillTx/>
                          <a:latin typeface="Calibri"/>
                        </a:rPr>
                        <a:t>Borne haute de la fourchette [R11, Q7]</a:t>
                      </a:r>
                      <a:endParaRPr lang="fr-FR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36360" marB="3636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8" name="Rounded Rectangle 5"/>
          <p:cNvSpPr/>
          <p:nvPr/>
        </p:nvSpPr>
        <p:spPr>
          <a:xfrm>
            <a:off x="548640" y="5349240"/>
            <a:ext cx="11091240" cy="776880"/>
          </a:xfrm>
          <a:prstGeom prst="roundRect">
            <a:avLst>
              <a:gd name="adj" fmla="val 8000"/>
            </a:avLst>
          </a:prstGeom>
          <a:solidFill>
            <a:srgbClr val="F7F8FA"/>
          </a:solidFill>
          <a:ln w="9525">
            <a:solidFill>
              <a:srgbClr val="D8DE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6"/>
          <p:cNvSpPr/>
          <p:nvPr/>
        </p:nvSpPr>
        <p:spPr>
          <a:xfrm>
            <a:off x="777240" y="5349240"/>
            <a:ext cx="106066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457200">
              <a:lnSpc>
                <a:spcPct val="100000"/>
              </a:lnSpc>
            </a:pPr>
            <a:r>
              <a:rPr lang="fr-FR" sz="1050" b="0" i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Trajectoire indicative : chaque jalon de phase est un point de réévaluation, la feuille de route elle-même soumise au principe d'amélioration continue qu'elle sert à mettre en œuvre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7"/>
          <p:cNvSpPr/>
          <p:nvPr/>
        </p:nvSpPr>
        <p:spPr>
          <a:xfrm>
            <a:off x="548640" y="6473880"/>
            <a:ext cx="8686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fr-FR" sz="950" b="0" i="1" u="none" strike="noStrike">
                <a:solidFill>
                  <a:srgbClr val="8493A8"/>
                </a:solidFill>
                <a:effectLst/>
                <a:uFillTx/>
                <a:latin typeface="Calibri"/>
              </a:rPr>
              <a:t>Source : [D3-G]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8"/>
          <p:cNvSpPr/>
          <p:nvPr/>
        </p:nvSpPr>
        <p:spPr>
          <a:xfrm>
            <a:off x="11003040" y="6473880"/>
            <a:ext cx="822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fr-FR" sz="950" b="0" u="none" strike="noStrike">
                <a:solidFill>
                  <a:srgbClr val="8493A8"/>
                </a:solidFill>
                <a:effectLst/>
                <a:uFillTx/>
                <a:latin typeface="Calibri"/>
              </a:rPr>
              <a:t>12 / 12</a:t>
            </a:r>
            <a:endParaRPr lang="fr-F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LibreOffice/26.2.1.2$Windows_X86_64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Nicolas Pichon</dc:creator>
  <dc:description>generated using python-pptx</dc:description>
  <dc:language>fr-FR</dc:language>
  <cp:lastModifiedBy/>
  <dcterms:modified xsi:type="dcterms:W3CDTF">2026-10-13T01:28:28Z</dcterms:modified>
  <cp:revision>5</cp:revision>
  <dc:subject>Data &amp; AI Governance - Slides de backup (Step 4)</dc:subject>
  <dc:title>Spotify - Gouvernance des Données et de l'IA (Annexes)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