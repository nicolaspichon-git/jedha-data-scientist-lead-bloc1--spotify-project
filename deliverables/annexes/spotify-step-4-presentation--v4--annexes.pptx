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fr-FR" altLang="en-US"/>
    </a:defPPr>
    <a:lvl1pPr marL="0" algn="l" defTabSz="457200" rtl="0" eaLnBrk="1" latinLnBrk="0" hangingPunct="1">
      <a:defRPr sz="1800" kern="1200" lang="fr-FR" altLang="en-US">
        <a:solidFill>
          <a:schemeClr val="tx1"/>
        </a:solidFill>
        <a:latin typeface="+mn-lt"/>
        <a:ea typeface="+mn-ea"/>
        <a:cs typeface="+mn-cs"/>
      </a:defRPr>
    </a:lvl1pPr>
    <a:lvl2pPr marL="457200" algn="l" defTabSz="457200" rtl="0" eaLnBrk="1" latinLnBrk="0" hangingPunct="1">
      <a:defRPr sz="1800" kern="1200" lang="fr-FR" altLang="en-US">
        <a:solidFill>
          <a:schemeClr val="tx1"/>
        </a:solidFill>
        <a:latin typeface="+mn-lt"/>
        <a:ea typeface="+mn-ea"/>
        <a:cs typeface="+mn-cs"/>
      </a:defRPr>
    </a:lvl2pPr>
    <a:lvl3pPr marL="914400" algn="l" defTabSz="457200" rtl="0" eaLnBrk="1" latinLnBrk="0" hangingPunct="1">
      <a:defRPr sz="1800" kern="1200" lang="fr-FR" altLang="en-US">
        <a:solidFill>
          <a:schemeClr val="tx1"/>
        </a:solidFill>
        <a:latin typeface="+mn-lt"/>
        <a:ea typeface="+mn-ea"/>
        <a:cs typeface="+mn-cs"/>
      </a:defRPr>
    </a:lvl3pPr>
    <a:lvl4pPr marL="1371600" algn="l" defTabSz="457200" rtl="0" eaLnBrk="1" latinLnBrk="0" hangingPunct="1">
      <a:defRPr sz="1800" kern="1200" lang="fr-FR" altLang="en-US">
        <a:solidFill>
          <a:schemeClr val="tx1"/>
        </a:solidFill>
        <a:latin typeface="+mn-lt"/>
        <a:ea typeface="+mn-ea"/>
        <a:cs typeface="+mn-cs"/>
      </a:defRPr>
    </a:lvl4pPr>
    <a:lvl5pPr marL="1828800" algn="l" defTabSz="457200" rtl="0" eaLnBrk="1" latinLnBrk="0" hangingPunct="1">
      <a:defRPr sz="1800" kern="1200" lang="fr-FR" altLang="en-US">
        <a:solidFill>
          <a:schemeClr val="tx1"/>
        </a:solidFill>
        <a:latin typeface="+mn-lt"/>
        <a:ea typeface="+mn-ea"/>
        <a:cs typeface="+mn-cs"/>
      </a:defRPr>
    </a:lvl5pPr>
    <a:lvl6pPr marL="2286000" algn="l" defTabSz="457200" rtl="0" eaLnBrk="1" latinLnBrk="0" hangingPunct="1">
      <a:defRPr sz="1800" kern="1200" lang="fr-FR" altLang="en-US">
        <a:solidFill>
          <a:schemeClr val="tx1"/>
        </a:solidFill>
        <a:latin typeface="+mn-lt"/>
        <a:ea typeface="+mn-ea"/>
        <a:cs typeface="+mn-cs"/>
      </a:defRPr>
    </a:lvl6pPr>
    <a:lvl7pPr marL="2743200" algn="l" defTabSz="457200" rtl="0" eaLnBrk="1" latinLnBrk="0" hangingPunct="1">
      <a:defRPr sz="1800" kern="1200" lang="fr-FR" altLang="en-US">
        <a:solidFill>
          <a:schemeClr val="tx1"/>
        </a:solidFill>
        <a:latin typeface="+mn-lt"/>
        <a:ea typeface="+mn-ea"/>
        <a:cs typeface="+mn-cs"/>
      </a:defRPr>
    </a:lvl7pPr>
    <a:lvl8pPr marL="3200400" algn="l" defTabSz="457200" rtl="0" eaLnBrk="1" latinLnBrk="0" hangingPunct="1">
      <a:defRPr sz="1800" kern="1200" lang="fr-FR" altLang="en-US">
        <a:solidFill>
          <a:schemeClr val="tx1"/>
        </a:solidFill>
        <a:latin typeface="+mn-lt"/>
        <a:ea typeface="+mn-ea"/>
        <a:cs typeface="+mn-cs"/>
      </a:defRPr>
    </a:lvl8pPr>
    <a:lvl9pPr marL="3657600" algn="l" defTabSz="457200" rtl="0" eaLnBrk="1" latinLnBrk="0" hangingPunct="1">
      <a:defRPr sz="1800" kern="1200" lang="fr-FR" alt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lang="fr-FR" altLang="en-US"/>
            </a:lvl1pPr>
          </a:lstStyle>
          <a:p>
            <a:endParaRPr lang="fr-FR"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lang="fr-FR" altLang="en-US"/>
            </a:lvl1pPr>
          </a:lstStyle>
          <a:p>
            <a:fld id="{0F89C1C7-3DCD-1040-A9CF-14679D8B5DDD}" type="datetimeFigureOut">
              <a:rPr lang="fr-FR" smtClean="0" altLang="en-US"/>
              <a:t>10/17/16</a:t>
            </a:fld>
            <a:endParaRPr lang="fr-FR"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lang="fr-FR" altLang="en-US"/>
            </a:lvl1pPr>
          </a:lstStyle>
          <a:p>
            <a:endParaRPr lang="fr-FR"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lang="fr-FR" altLang="en-US"/>
            </a:lvl1pPr>
          </a:lstStyle>
          <a:p>
            <a:fld id="{BB5E49A5-4136-284D-997B-48E1D791AD67}" type="slidenum">
              <a:rPr lang="fr-FR" smtClean="0" altLang="en-US"/>
              <a:t>‹#›</a:t>
            </a:fld>
            <a:endParaRPr lang="fr-FR" alt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lang="fr-FR" altLang="en-US">
        <a:solidFill>
          <a:schemeClr val="tx1"/>
        </a:solidFill>
        <a:latin typeface="+mn-lt"/>
        <a:ea typeface="+mn-ea"/>
        <a:cs typeface="+mn-cs"/>
      </a:defRPr>
    </a:lvl1pPr>
    <a:lvl2pPr marL="457200" algn="l" defTabSz="457200" rtl="0" eaLnBrk="1" latinLnBrk="0" hangingPunct="1">
      <a:defRPr sz="1200" kern="1200" lang="fr-FR" altLang="en-US">
        <a:solidFill>
          <a:schemeClr val="tx1"/>
        </a:solidFill>
        <a:latin typeface="+mn-lt"/>
        <a:ea typeface="+mn-ea"/>
        <a:cs typeface="+mn-cs"/>
      </a:defRPr>
    </a:lvl2pPr>
    <a:lvl3pPr marL="914400" algn="l" defTabSz="457200" rtl="0" eaLnBrk="1" latinLnBrk="0" hangingPunct="1">
      <a:defRPr sz="1200" kern="1200" lang="fr-FR" altLang="en-US">
        <a:solidFill>
          <a:schemeClr val="tx1"/>
        </a:solidFill>
        <a:latin typeface="+mn-lt"/>
        <a:ea typeface="+mn-ea"/>
        <a:cs typeface="+mn-cs"/>
      </a:defRPr>
    </a:lvl3pPr>
    <a:lvl4pPr marL="1371600" algn="l" defTabSz="457200" rtl="0" eaLnBrk="1" latinLnBrk="0" hangingPunct="1">
      <a:defRPr sz="1200" kern="1200" lang="fr-FR" altLang="en-US">
        <a:solidFill>
          <a:schemeClr val="tx1"/>
        </a:solidFill>
        <a:latin typeface="+mn-lt"/>
        <a:ea typeface="+mn-ea"/>
        <a:cs typeface="+mn-cs"/>
      </a:defRPr>
    </a:lvl4pPr>
    <a:lvl5pPr marL="1828800" algn="l" defTabSz="457200" rtl="0" eaLnBrk="1" latinLnBrk="0" hangingPunct="1">
      <a:defRPr sz="1200" kern="1200" lang="fr-FR" altLang="en-US">
        <a:solidFill>
          <a:schemeClr val="tx1"/>
        </a:solidFill>
        <a:latin typeface="+mn-lt"/>
        <a:ea typeface="+mn-ea"/>
        <a:cs typeface="+mn-cs"/>
      </a:defRPr>
    </a:lvl5pPr>
    <a:lvl6pPr marL="2286000" algn="l" defTabSz="457200" rtl="0" eaLnBrk="1" latinLnBrk="0" hangingPunct="1">
      <a:defRPr sz="1200" kern="1200" lang="fr-FR" altLang="en-US">
        <a:solidFill>
          <a:schemeClr val="tx1"/>
        </a:solidFill>
        <a:latin typeface="+mn-lt"/>
        <a:ea typeface="+mn-ea"/>
        <a:cs typeface="+mn-cs"/>
      </a:defRPr>
    </a:lvl6pPr>
    <a:lvl7pPr marL="2743200" algn="l" defTabSz="457200" rtl="0" eaLnBrk="1" latinLnBrk="0" hangingPunct="1">
      <a:defRPr sz="1200" kern="1200" lang="fr-FR" altLang="en-US">
        <a:solidFill>
          <a:schemeClr val="tx1"/>
        </a:solidFill>
        <a:latin typeface="+mn-lt"/>
        <a:ea typeface="+mn-ea"/>
        <a:cs typeface="+mn-cs"/>
      </a:defRPr>
    </a:lvl7pPr>
    <a:lvl8pPr marL="3200400" algn="l" defTabSz="457200" rtl="0" eaLnBrk="1" latinLnBrk="0" hangingPunct="1">
      <a:defRPr sz="1200" kern="1200" lang="fr-FR" altLang="en-US">
        <a:solidFill>
          <a:schemeClr val="tx1"/>
        </a:solidFill>
        <a:latin typeface="+mn-lt"/>
        <a:ea typeface="+mn-ea"/>
        <a:cs typeface="+mn-cs"/>
      </a:defRPr>
    </a:lvl8pPr>
    <a:lvl9pPr marL="3657600" algn="l" defTabSz="457200" rtl="0" eaLnBrk="1" latinLnBrk="0" hangingPunct="1">
      <a:defRPr sz="1200" kern="1200" lang="fr-FR" altLang="en-US">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slides de backup portent le detail qui etaye le corps de la presentation [D4] : elles sont concues pour repondre en direct a une question precise du comite (modele organisationnel, choix d'outils, circuits RACI, calendrier, risques, criteres de passage a l'echelle) sans alourdir le deroule principal. Contenu repris fidelement des annexes 3.A-3.G du plan d'implementation [D3].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fr-FR" smtClean="0" altLang="en-US"/>
              <a:t>Click to edit Master title style</a:t>
            </a:r>
            <a:endParaRPr lang="fr-FR"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lang="fr-FR" altLang="en-US">
                <a:solidFill>
                  <a:schemeClr val="tx1">
                    <a:tint val="75000"/>
                  </a:schemeClr>
                </a:solidFill>
              </a:defRPr>
            </a:lvl1pPr>
            <a:lvl2pPr marL="457200" indent="0" algn="ctr">
              <a:buNone/>
              <a:defRPr lang="fr-FR" altLang="en-US">
                <a:solidFill>
                  <a:schemeClr val="tx1">
                    <a:tint val="75000"/>
                  </a:schemeClr>
                </a:solidFill>
              </a:defRPr>
            </a:lvl2pPr>
            <a:lvl3pPr marL="914400" indent="0" algn="ctr">
              <a:buNone/>
              <a:defRPr lang="fr-FR" altLang="en-US">
                <a:solidFill>
                  <a:schemeClr val="tx1">
                    <a:tint val="75000"/>
                  </a:schemeClr>
                </a:solidFill>
              </a:defRPr>
            </a:lvl3pPr>
            <a:lvl4pPr marL="1371600" indent="0" algn="ctr">
              <a:buNone/>
              <a:defRPr lang="fr-FR" altLang="en-US">
                <a:solidFill>
                  <a:schemeClr val="tx1">
                    <a:tint val="75000"/>
                  </a:schemeClr>
                </a:solidFill>
              </a:defRPr>
            </a:lvl4pPr>
            <a:lvl5pPr marL="1828800" indent="0" algn="ctr">
              <a:buNone/>
              <a:defRPr lang="fr-FR" altLang="en-US">
                <a:solidFill>
                  <a:schemeClr val="tx1">
                    <a:tint val="75000"/>
                  </a:schemeClr>
                </a:solidFill>
              </a:defRPr>
            </a:lvl5pPr>
            <a:lvl6pPr marL="2286000" indent="0" algn="ctr">
              <a:buNone/>
              <a:defRPr lang="fr-FR" altLang="en-US">
                <a:solidFill>
                  <a:schemeClr val="tx1">
                    <a:tint val="75000"/>
                  </a:schemeClr>
                </a:solidFill>
              </a:defRPr>
            </a:lvl6pPr>
            <a:lvl7pPr marL="2743200" indent="0" algn="ctr">
              <a:buNone/>
              <a:defRPr lang="fr-FR" altLang="en-US">
                <a:solidFill>
                  <a:schemeClr val="tx1">
                    <a:tint val="75000"/>
                  </a:schemeClr>
                </a:solidFill>
              </a:defRPr>
            </a:lvl7pPr>
            <a:lvl8pPr marL="3200400" indent="0" algn="ctr">
              <a:buNone/>
              <a:defRPr lang="fr-FR" altLang="en-US">
                <a:solidFill>
                  <a:schemeClr val="tx1">
                    <a:tint val="75000"/>
                  </a:schemeClr>
                </a:solidFill>
              </a:defRPr>
            </a:lvl8pPr>
            <a:lvl9pPr marL="3657600" indent="0" algn="ctr">
              <a:buNone/>
              <a:defRPr lang="fr-FR" altLang="en-US">
                <a:solidFill>
                  <a:schemeClr val="tx1">
                    <a:tint val="75000"/>
                  </a:schemeClr>
                </a:solidFill>
              </a:defRPr>
            </a:lvl9pPr>
          </a:lstStyle>
          <a:p>
            <a:r>
              <a:rPr lang="fr-FR" smtClean="0" altLang="en-US"/>
              <a:t>Click to edit Master subtitle style</a:t>
            </a:r>
            <a:endParaRPr lang="fr-FR" altLang="en-US"/>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ltLang="en-US"/>
              <a:t>Click to edit Master title style</a:t>
            </a:r>
            <a:endParaRPr lang="fr-FR" altLang="en-US"/>
          </a:p>
        </p:txBody>
      </p:sp>
      <p:sp>
        <p:nvSpPr>
          <p:cNvPr id="3" name="Content Placeholder 2"/>
          <p:cNvSpPr>
            <a:spLocks noGrp="1"/>
          </p:cNvSpPr>
          <p:nvPr>
            <p:ph idx="1"/>
          </p:nvPr>
        </p:nvSpPr>
        <p:spPr/>
        <p:txBody>
          <a:body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lang="fr-FR" altLang="en-US"/>
            </a:lvl1pPr>
          </a:lstStyle>
          <a:p>
            <a:r>
              <a:rPr lang="fr-FR" smtClean="0" altLang="en-US"/>
              <a:t>Click to edit Master title style</a:t>
            </a:r>
            <a:endParaRPr lang="fr-FR"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lang="fr-FR" altLang="en-US">
                <a:solidFill>
                  <a:schemeClr val="tx1">
                    <a:tint val="75000"/>
                  </a:schemeClr>
                </a:solidFill>
              </a:defRPr>
            </a:lvl1pPr>
            <a:lvl2pPr marL="457200" indent="0">
              <a:buNone/>
              <a:defRPr sz="1800" lang="fr-FR" altLang="en-US">
                <a:solidFill>
                  <a:schemeClr val="tx1">
                    <a:tint val="75000"/>
                  </a:schemeClr>
                </a:solidFill>
              </a:defRPr>
            </a:lvl2pPr>
            <a:lvl3pPr marL="914400" indent="0">
              <a:buNone/>
              <a:defRPr sz="1600" lang="fr-FR" altLang="en-US">
                <a:solidFill>
                  <a:schemeClr val="tx1">
                    <a:tint val="75000"/>
                  </a:schemeClr>
                </a:solidFill>
              </a:defRPr>
            </a:lvl3pPr>
            <a:lvl4pPr marL="1371600" indent="0">
              <a:buNone/>
              <a:defRPr sz="1400" lang="fr-FR" altLang="en-US">
                <a:solidFill>
                  <a:schemeClr val="tx1">
                    <a:tint val="75000"/>
                  </a:schemeClr>
                </a:solidFill>
              </a:defRPr>
            </a:lvl4pPr>
            <a:lvl5pPr marL="1828800" indent="0">
              <a:buNone/>
              <a:defRPr sz="1400" lang="fr-FR" altLang="en-US">
                <a:solidFill>
                  <a:schemeClr val="tx1">
                    <a:tint val="75000"/>
                  </a:schemeClr>
                </a:solidFill>
              </a:defRPr>
            </a:lvl5pPr>
            <a:lvl6pPr marL="2286000" indent="0">
              <a:buNone/>
              <a:defRPr sz="1400" lang="fr-FR" altLang="en-US">
                <a:solidFill>
                  <a:schemeClr val="tx1">
                    <a:tint val="75000"/>
                  </a:schemeClr>
                </a:solidFill>
              </a:defRPr>
            </a:lvl6pPr>
            <a:lvl7pPr marL="2743200" indent="0">
              <a:buNone/>
              <a:defRPr sz="1400" lang="fr-FR" altLang="en-US">
                <a:solidFill>
                  <a:schemeClr val="tx1">
                    <a:tint val="75000"/>
                  </a:schemeClr>
                </a:solidFill>
              </a:defRPr>
            </a:lvl7pPr>
            <a:lvl8pPr marL="3200400" indent="0">
              <a:buNone/>
              <a:defRPr sz="1400" lang="fr-FR" altLang="en-US">
                <a:solidFill>
                  <a:schemeClr val="tx1">
                    <a:tint val="75000"/>
                  </a:schemeClr>
                </a:solidFill>
              </a:defRPr>
            </a:lvl8pPr>
            <a:lvl9pPr marL="3657600" indent="0">
              <a:buNone/>
              <a:defRPr sz="1400" lang="fr-FR" altLang="en-US">
                <a:solidFill>
                  <a:schemeClr val="tx1">
                    <a:tint val="75000"/>
                  </a:schemeClr>
                </a:solidFill>
              </a:defRPr>
            </a:lvl9pPr>
          </a:lstStyle>
          <a:p>
            <a:pPr lvl="0"/>
            <a:r>
              <a:rPr lang="fr-FR" smtClean="0" alt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ltLang="en-US"/>
              <a:t>Click to edit Master title style</a:t>
            </a:r>
            <a:endParaRPr lang="fr-FR" altLang="en-US"/>
          </a:p>
        </p:txBody>
      </p:sp>
      <p:sp>
        <p:nvSpPr>
          <p:cNvPr id="3" name="Content Placeholder 2"/>
          <p:cNvSpPr>
            <a:spLocks noGrp="1"/>
          </p:cNvSpPr>
          <p:nvPr>
            <p:ph sz="half" idx="1"/>
          </p:nvPr>
        </p:nvSpPr>
        <p:spPr>
          <a:xfrm>
            <a:off x="457200" y="1600200"/>
            <a:ext cx="4038600" cy="4525963"/>
          </a:xfrm>
        </p:spPr>
        <p:txBody>
          <a:bodyPr/>
          <a:lstStyle>
            <a:lvl1pPr>
              <a:defRPr sz="2800" lang="fr-FR" altLang="en-US"/>
            </a:lvl1pPr>
            <a:lvl2pPr>
              <a:defRPr sz="2400" lang="fr-FR" altLang="en-US"/>
            </a:lvl2pPr>
            <a:lvl3pPr>
              <a:defRPr sz="2000" lang="fr-FR" altLang="en-US"/>
            </a:lvl3pPr>
            <a:lvl4pPr>
              <a:defRPr sz="1800" lang="fr-FR" altLang="en-US"/>
            </a:lvl4pPr>
            <a:lvl5pPr>
              <a:defRPr sz="1800" lang="fr-FR" altLang="en-US"/>
            </a:lvl5pPr>
            <a:lvl6pPr>
              <a:defRPr sz="1800" lang="fr-FR" altLang="en-US"/>
            </a:lvl6pPr>
            <a:lvl7pPr>
              <a:defRPr sz="1800" lang="fr-FR" altLang="en-US"/>
            </a:lvl7pPr>
            <a:lvl8pPr>
              <a:defRPr sz="1800" lang="fr-FR" altLang="en-US"/>
            </a:lvl8pPr>
            <a:lvl9pPr>
              <a:defRPr sz="18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Content Placeholder 3"/>
          <p:cNvSpPr>
            <a:spLocks noGrp="1"/>
          </p:cNvSpPr>
          <p:nvPr>
            <p:ph sz="half" idx="2"/>
          </p:nvPr>
        </p:nvSpPr>
        <p:spPr>
          <a:xfrm>
            <a:off x="4648200" y="1600200"/>
            <a:ext cx="4038600" cy="4525963"/>
          </a:xfrm>
        </p:spPr>
        <p:txBody>
          <a:bodyPr/>
          <a:lstStyle>
            <a:lvl1pPr>
              <a:defRPr sz="2800" lang="fr-FR" altLang="en-US"/>
            </a:lvl1pPr>
            <a:lvl2pPr>
              <a:defRPr sz="2400" lang="fr-FR" altLang="en-US"/>
            </a:lvl2pPr>
            <a:lvl3pPr>
              <a:defRPr sz="2000" lang="fr-FR" altLang="en-US"/>
            </a:lvl3pPr>
            <a:lvl4pPr>
              <a:defRPr sz="1800" lang="fr-FR" altLang="en-US"/>
            </a:lvl4pPr>
            <a:lvl5pPr>
              <a:defRPr sz="1800" lang="fr-FR" altLang="en-US"/>
            </a:lvl5pPr>
            <a:lvl6pPr>
              <a:defRPr sz="1800" lang="fr-FR" altLang="en-US"/>
            </a:lvl6pPr>
            <a:lvl7pPr>
              <a:defRPr sz="1800" lang="fr-FR" altLang="en-US"/>
            </a:lvl7pPr>
            <a:lvl8pPr>
              <a:defRPr sz="1800" lang="fr-FR" altLang="en-US"/>
            </a:lvl8pPr>
            <a:lvl9pPr>
              <a:defRPr sz="18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5" name="Date Placeholder 4"/>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6" name="Footer Placeholder 5"/>
          <p:cNvSpPr>
            <a:spLocks noGrp="1"/>
          </p:cNvSpPr>
          <p:nvPr>
            <p:ph type="ftr" sz="quarter" idx="11"/>
          </p:nvPr>
        </p:nvSpPr>
        <p:spPr/>
        <p:txBody>
          <a:bodyPr/>
          <a:lstStyle/>
          <a:p>
            <a:endParaRPr lang="fr-FR" altLang="en-US"/>
          </a:p>
        </p:txBody>
      </p:sp>
      <p:sp>
        <p:nvSpPr>
          <p:cNvPr id="7" name="Slide Number Placeholder 6"/>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fr-FR" altLang="en-US"/>
            </a:lvl1pPr>
          </a:lstStyle>
          <a:p>
            <a:r>
              <a:rPr lang="fr-FR" smtClean="0" altLang="en-US"/>
              <a:t>Click to edit Master title style</a:t>
            </a:r>
            <a:endParaRPr lang="fr-FR"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lang="fr-FR" altLang="en-US"/>
            </a:lvl1pPr>
            <a:lvl2pPr marL="457200" indent="0">
              <a:buNone/>
              <a:defRPr sz="2000" b="1" lang="fr-FR" altLang="en-US"/>
            </a:lvl2pPr>
            <a:lvl3pPr marL="914400" indent="0">
              <a:buNone/>
              <a:defRPr sz="1800" b="1" lang="fr-FR" altLang="en-US"/>
            </a:lvl3pPr>
            <a:lvl4pPr marL="1371600" indent="0">
              <a:buNone/>
              <a:defRPr sz="1600" b="1" lang="fr-FR" altLang="en-US"/>
            </a:lvl4pPr>
            <a:lvl5pPr marL="1828800" indent="0">
              <a:buNone/>
              <a:defRPr sz="1600" b="1" lang="fr-FR" altLang="en-US"/>
            </a:lvl5pPr>
            <a:lvl6pPr marL="2286000" indent="0">
              <a:buNone/>
              <a:defRPr sz="1600" b="1" lang="fr-FR" altLang="en-US"/>
            </a:lvl6pPr>
            <a:lvl7pPr marL="2743200" indent="0">
              <a:buNone/>
              <a:defRPr sz="1600" b="1" lang="fr-FR" altLang="en-US"/>
            </a:lvl7pPr>
            <a:lvl8pPr marL="3200400" indent="0">
              <a:buNone/>
              <a:defRPr sz="1600" b="1" lang="fr-FR" altLang="en-US"/>
            </a:lvl8pPr>
            <a:lvl9pPr marL="3657600" indent="0">
              <a:buNone/>
              <a:defRPr sz="1600" b="1" lang="fr-FR" altLang="en-US"/>
            </a:lvl9pPr>
          </a:lstStyle>
          <a:p>
            <a:pPr lvl="0"/>
            <a:r>
              <a:rPr lang="fr-FR" smtClean="0" alt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lang="fr-FR" altLang="en-US"/>
            </a:lvl1pPr>
            <a:lvl2pPr>
              <a:defRPr sz="2000" lang="fr-FR" altLang="en-US"/>
            </a:lvl2pPr>
            <a:lvl3pPr>
              <a:defRPr sz="1800" lang="fr-FR" altLang="en-US"/>
            </a:lvl3pPr>
            <a:lvl4pPr>
              <a:defRPr sz="1600" lang="fr-FR" altLang="en-US"/>
            </a:lvl4pPr>
            <a:lvl5pPr>
              <a:defRPr sz="1600" lang="fr-FR" altLang="en-US"/>
            </a:lvl5pPr>
            <a:lvl6pPr>
              <a:defRPr sz="1600" lang="fr-FR" altLang="en-US"/>
            </a:lvl6pPr>
            <a:lvl7pPr>
              <a:defRPr sz="1600" lang="fr-FR" altLang="en-US"/>
            </a:lvl7pPr>
            <a:lvl8pPr>
              <a:defRPr sz="1600" lang="fr-FR" altLang="en-US"/>
            </a:lvl8pPr>
            <a:lvl9pPr>
              <a:defRPr sz="16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lang="fr-FR" altLang="en-US"/>
            </a:lvl1pPr>
            <a:lvl2pPr marL="457200" indent="0">
              <a:buNone/>
              <a:defRPr sz="2000" b="1" lang="fr-FR" altLang="en-US"/>
            </a:lvl2pPr>
            <a:lvl3pPr marL="914400" indent="0">
              <a:buNone/>
              <a:defRPr sz="1800" b="1" lang="fr-FR" altLang="en-US"/>
            </a:lvl3pPr>
            <a:lvl4pPr marL="1371600" indent="0">
              <a:buNone/>
              <a:defRPr sz="1600" b="1" lang="fr-FR" altLang="en-US"/>
            </a:lvl4pPr>
            <a:lvl5pPr marL="1828800" indent="0">
              <a:buNone/>
              <a:defRPr sz="1600" b="1" lang="fr-FR" altLang="en-US"/>
            </a:lvl5pPr>
            <a:lvl6pPr marL="2286000" indent="0">
              <a:buNone/>
              <a:defRPr sz="1600" b="1" lang="fr-FR" altLang="en-US"/>
            </a:lvl6pPr>
            <a:lvl7pPr marL="2743200" indent="0">
              <a:buNone/>
              <a:defRPr sz="1600" b="1" lang="fr-FR" altLang="en-US"/>
            </a:lvl7pPr>
            <a:lvl8pPr marL="3200400" indent="0">
              <a:buNone/>
              <a:defRPr sz="1600" b="1" lang="fr-FR" altLang="en-US"/>
            </a:lvl8pPr>
            <a:lvl9pPr marL="3657600" indent="0">
              <a:buNone/>
              <a:defRPr sz="1600" b="1" lang="fr-FR" altLang="en-US"/>
            </a:lvl9pPr>
          </a:lstStyle>
          <a:p>
            <a:pPr lvl="0"/>
            <a:r>
              <a:rPr lang="fr-FR" smtClean="0" alt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lang="fr-FR" altLang="en-US"/>
            </a:lvl1pPr>
            <a:lvl2pPr>
              <a:defRPr sz="2000" lang="fr-FR" altLang="en-US"/>
            </a:lvl2pPr>
            <a:lvl3pPr>
              <a:defRPr sz="1800" lang="fr-FR" altLang="en-US"/>
            </a:lvl3pPr>
            <a:lvl4pPr>
              <a:defRPr sz="1600" lang="fr-FR" altLang="en-US"/>
            </a:lvl4pPr>
            <a:lvl5pPr>
              <a:defRPr sz="1600" lang="fr-FR" altLang="en-US"/>
            </a:lvl5pPr>
            <a:lvl6pPr>
              <a:defRPr sz="1600" lang="fr-FR" altLang="en-US"/>
            </a:lvl6pPr>
            <a:lvl7pPr>
              <a:defRPr sz="1600" lang="fr-FR" altLang="en-US"/>
            </a:lvl7pPr>
            <a:lvl8pPr>
              <a:defRPr sz="1600" lang="fr-FR" altLang="en-US"/>
            </a:lvl8pPr>
            <a:lvl9pPr>
              <a:defRPr sz="16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7" name="Date Placeholder 6"/>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8" name="Footer Placeholder 7"/>
          <p:cNvSpPr>
            <a:spLocks noGrp="1"/>
          </p:cNvSpPr>
          <p:nvPr>
            <p:ph type="ftr" sz="quarter" idx="11"/>
          </p:nvPr>
        </p:nvSpPr>
        <p:spPr/>
        <p:txBody>
          <a:bodyPr/>
          <a:lstStyle/>
          <a:p>
            <a:endParaRPr lang="fr-FR" altLang="en-US"/>
          </a:p>
        </p:txBody>
      </p:sp>
      <p:sp>
        <p:nvSpPr>
          <p:cNvPr id="9" name="Slide Number Placeholder 8"/>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ltLang="en-US"/>
              <a:t>Click to edit Master title style</a:t>
            </a:r>
            <a:endParaRPr lang="fr-FR" altLang="en-US"/>
          </a:p>
        </p:txBody>
      </p:sp>
      <p:sp>
        <p:nvSpPr>
          <p:cNvPr id="3" name="Date Placeholder 2"/>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4" name="Footer Placeholder 3"/>
          <p:cNvSpPr>
            <a:spLocks noGrp="1"/>
          </p:cNvSpPr>
          <p:nvPr>
            <p:ph type="ftr" sz="quarter" idx="11"/>
          </p:nvPr>
        </p:nvSpPr>
        <p:spPr/>
        <p:txBody>
          <a:bodyPr/>
          <a:lstStyle/>
          <a:p>
            <a:endParaRPr lang="fr-FR" altLang="en-US"/>
          </a:p>
        </p:txBody>
      </p:sp>
      <p:sp>
        <p:nvSpPr>
          <p:cNvPr id="5" name="Slide Number Placeholder 4"/>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3" name="Footer Placeholder 2"/>
          <p:cNvSpPr>
            <a:spLocks noGrp="1"/>
          </p:cNvSpPr>
          <p:nvPr>
            <p:ph type="ftr" sz="quarter" idx="11"/>
          </p:nvPr>
        </p:nvSpPr>
        <p:spPr/>
        <p:txBody>
          <a:bodyPr/>
          <a:lstStyle/>
          <a:p>
            <a:endParaRPr lang="fr-FR" altLang="en-US"/>
          </a:p>
        </p:txBody>
      </p:sp>
      <p:sp>
        <p:nvSpPr>
          <p:cNvPr id="4" name="Slide Number Placeholder 3"/>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lang="fr-FR" altLang="en-US"/>
            </a:lvl1pPr>
          </a:lstStyle>
          <a:p>
            <a:r>
              <a:rPr lang="fr-FR" smtClean="0" altLang="en-US"/>
              <a:t>Click to edit Master title style</a:t>
            </a:r>
            <a:endParaRPr lang="fr-FR" altLang="en-US"/>
          </a:p>
        </p:txBody>
      </p:sp>
      <p:sp>
        <p:nvSpPr>
          <p:cNvPr id="3" name="Content Placeholder 2"/>
          <p:cNvSpPr>
            <a:spLocks noGrp="1"/>
          </p:cNvSpPr>
          <p:nvPr>
            <p:ph idx="1"/>
          </p:nvPr>
        </p:nvSpPr>
        <p:spPr>
          <a:xfrm>
            <a:off x="3575050" y="273050"/>
            <a:ext cx="5111750" cy="5853113"/>
          </a:xfrm>
        </p:spPr>
        <p:txBody>
          <a:bodyPr/>
          <a:lstStyle>
            <a:lvl1pPr>
              <a:defRPr sz="3200" lang="fr-FR" altLang="en-US"/>
            </a:lvl1pPr>
            <a:lvl2pPr>
              <a:defRPr sz="2800" lang="fr-FR" altLang="en-US"/>
            </a:lvl2pPr>
            <a:lvl3pPr>
              <a:defRPr sz="2400" lang="fr-FR" altLang="en-US"/>
            </a:lvl3pPr>
            <a:lvl4pPr>
              <a:defRPr sz="2000" lang="fr-FR" altLang="en-US"/>
            </a:lvl4pPr>
            <a:lvl5pPr>
              <a:defRPr sz="2000" lang="fr-FR" altLang="en-US"/>
            </a:lvl5pPr>
            <a:lvl6pPr>
              <a:defRPr sz="2000" lang="fr-FR" altLang="en-US"/>
            </a:lvl6pPr>
            <a:lvl7pPr>
              <a:defRPr sz="2000" lang="fr-FR" altLang="en-US"/>
            </a:lvl7pPr>
            <a:lvl8pPr>
              <a:defRPr sz="2000" lang="fr-FR" altLang="en-US"/>
            </a:lvl8pPr>
            <a:lvl9pPr>
              <a:defRPr sz="2000" lang="fr-FR" altLang="en-US"/>
            </a:lvl9p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lang="fr-FR" altLang="en-US"/>
            </a:lvl1pPr>
            <a:lvl2pPr marL="457200" indent="0">
              <a:buNone/>
              <a:defRPr sz="1200" lang="fr-FR" altLang="en-US"/>
            </a:lvl2pPr>
            <a:lvl3pPr marL="914400" indent="0">
              <a:buNone/>
              <a:defRPr sz="1000" lang="fr-FR" altLang="en-US"/>
            </a:lvl3pPr>
            <a:lvl4pPr marL="1371600" indent="0">
              <a:buNone/>
              <a:defRPr sz="900" lang="fr-FR" altLang="en-US"/>
            </a:lvl4pPr>
            <a:lvl5pPr marL="1828800" indent="0">
              <a:buNone/>
              <a:defRPr sz="900" lang="fr-FR" altLang="en-US"/>
            </a:lvl5pPr>
            <a:lvl6pPr marL="2286000" indent="0">
              <a:buNone/>
              <a:defRPr sz="900" lang="fr-FR" altLang="en-US"/>
            </a:lvl6pPr>
            <a:lvl7pPr marL="2743200" indent="0">
              <a:buNone/>
              <a:defRPr sz="900" lang="fr-FR" altLang="en-US"/>
            </a:lvl7pPr>
            <a:lvl8pPr marL="3200400" indent="0">
              <a:buNone/>
              <a:defRPr sz="900" lang="fr-FR" altLang="en-US"/>
            </a:lvl8pPr>
            <a:lvl9pPr marL="3657600" indent="0">
              <a:buNone/>
              <a:defRPr sz="900" lang="fr-FR" altLang="en-US"/>
            </a:lvl9pPr>
          </a:lstStyle>
          <a:p>
            <a:pPr lvl="0"/>
            <a:r>
              <a:rPr lang="fr-FR" smtClean="0" alt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6" name="Footer Placeholder 5"/>
          <p:cNvSpPr>
            <a:spLocks noGrp="1"/>
          </p:cNvSpPr>
          <p:nvPr>
            <p:ph type="ftr" sz="quarter" idx="11"/>
          </p:nvPr>
        </p:nvSpPr>
        <p:spPr/>
        <p:txBody>
          <a:bodyPr/>
          <a:lstStyle/>
          <a:p>
            <a:endParaRPr lang="fr-FR" altLang="en-US"/>
          </a:p>
        </p:txBody>
      </p:sp>
      <p:sp>
        <p:nvSpPr>
          <p:cNvPr id="7" name="Slide Number Placeholder 6"/>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lang="fr-FR" altLang="en-US"/>
            </a:lvl1pPr>
          </a:lstStyle>
          <a:p>
            <a:r>
              <a:rPr lang="fr-FR" smtClean="0" altLang="en-US"/>
              <a:t>Click to edit Master title style</a:t>
            </a:r>
            <a:endParaRPr lang="fr-FR"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lang="fr-FR" altLang="en-US"/>
            </a:lvl1pPr>
            <a:lvl2pPr marL="457200" indent="0">
              <a:buNone/>
              <a:defRPr sz="2800" lang="fr-FR" altLang="en-US"/>
            </a:lvl2pPr>
            <a:lvl3pPr marL="914400" indent="0">
              <a:buNone/>
              <a:defRPr sz="2400" lang="fr-FR" altLang="en-US"/>
            </a:lvl3pPr>
            <a:lvl4pPr marL="1371600" indent="0">
              <a:buNone/>
              <a:defRPr sz="2000" lang="fr-FR" altLang="en-US"/>
            </a:lvl4pPr>
            <a:lvl5pPr marL="1828800" indent="0">
              <a:buNone/>
              <a:defRPr sz="2000" lang="fr-FR" altLang="en-US"/>
            </a:lvl5pPr>
            <a:lvl6pPr marL="2286000" indent="0">
              <a:buNone/>
              <a:defRPr sz="2000" lang="fr-FR" altLang="en-US"/>
            </a:lvl6pPr>
            <a:lvl7pPr marL="2743200" indent="0">
              <a:buNone/>
              <a:defRPr sz="2000" lang="fr-FR" altLang="en-US"/>
            </a:lvl7pPr>
            <a:lvl8pPr marL="3200400" indent="0">
              <a:buNone/>
              <a:defRPr sz="2000" lang="fr-FR" altLang="en-US"/>
            </a:lvl8pPr>
            <a:lvl9pPr marL="3657600" indent="0">
              <a:buNone/>
              <a:defRPr sz="2000" lang="fr-FR" altLang="en-US"/>
            </a:lvl9pPr>
          </a:lstStyle>
          <a:p>
            <a:endParaRPr lang="fr-FR" alt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lang="fr-FR" altLang="en-US"/>
            </a:lvl1pPr>
            <a:lvl2pPr marL="457200" indent="0">
              <a:buNone/>
              <a:defRPr sz="1200" lang="fr-FR" altLang="en-US"/>
            </a:lvl2pPr>
            <a:lvl3pPr marL="914400" indent="0">
              <a:buNone/>
              <a:defRPr sz="1000" lang="fr-FR" altLang="en-US"/>
            </a:lvl3pPr>
            <a:lvl4pPr marL="1371600" indent="0">
              <a:buNone/>
              <a:defRPr sz="900" lang="fr-FR" altLang="en-US"/>
            </a:lvl4pPr>
            <a:lvl5pPr marL="1828800" indent="0">
              <a:buNone/>
              <a:defRPr sz="900" lang="fr-FR" altLang="en-US"/>
            </a:lvl5pPr>
            <a:lvl6pPr marL="2286000" indent="0">
              <a:buNone/>
              <a:defRPr sz="900" lang="fr-FR" altLang="en-US"/>
            </a:lvl6pPr>
            <a:lvl7pPr marL="2743200" indent="0">
              <a:buNone/>
              <a:defRPr sz="900" lang="fr-FR" altLang="en-US"/>
            </a:lvl7pPr>
            <a:lvl8pPr marL="3200400" indent="0">
              <a:buNone/>
              <a:defRPr sz="900" lang="fr-FR" altLang="en-US"/>
            </a:lvl8pPr>
            <a:lvl9pPr marL="3657600" indent="0">
              <a:buNone/>
              <a:defRPr sz="900" lang="fr-FR" altLang="en-US"/>
            </a:lvl9pPr>
          </a:lstStyle>
          <a:p>
            <a:pPr lvl="0"/>
            <a:r>
              <a:rPr lang="fr-FR" smtClean="0" alt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6" name="Footer Placeholder 5"/>
          <p:cNvSpPr>
            <a:spLocks noGrp="1"/>
          </p:cNvSpPr>
          <p:nvPr>
            <p:ph type="ftr" sz="quarter" idx="11"/>
          </p:nvPr>
        </p:nvSpPr>
        <p:spPr/>
        <p:txBody>
          <a:bodyPr/>
          <a:lstStyle/>
          <a:p>
            <a:endParaRPr lang="fr-FR" altLang="en-US"/>
          </a:p>
        </p:txBody>
      </p:sp>
      <p:sp>
        <p:nvSpPr>
          <p:cNvPr id="7" name="Slide Number Placeholder 6"/>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ltLang="en-US"/>
              <a:t>Click to edit Master title style</a:t>
            </a:r>
            <a:endParaRPr lang="fr-FR" altLang="en-US"/>
          </a:p>
        </p:txBody>
      </p:sp>
      <p:sp>
        <p:nvSpPr>
          <p:cNvPr id="3" name="Vertical Text Placeholder 2"/>
          <p:cNvSpPr>
            <a:spLocks noGrp="1"/>
          </p:cNvSpPr>
          <p:nvPr>
            <p:ph type="body" orient="vert" idx="1"/>
          </p:nvPr>
        </p:nvSpPr>
        <p:spPr/>
        <p:txBody>
          <a:bodyPr vert="eaVert"/>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smtClean="0" altLang="en-US"/>
              <a:t>Click to edit Master title style</a:t>
            </a:r>
            <a:endParaRPr lang="fr-FR" alt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Date Placeholder 3"/>
          <p:cNvSpPr>
            <a:spLocks noGrp="1"/>
          </p:cNvSpPr>
          <p:nvPr>
            <p:ph type="dt" sz="half" idx="10"/>
          </p:nvPr>
        </p:nvSpPr>
        <p:spPr/>
        <p:txBody>
          <a:body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11"/>
          </p:nvPr>
        </p:nvSpPr>
        <p:spPr/>
        <p:txBody>
          <a:bodyPr/>
          <a:lstStyle/>
          <a:p>
            <a:endParaRPr lang="fr-FR" altLang="en-US"/>
          </a:p>
        </p:txBody>
      </p:sp>
      <p:sp>
        <p:nvSpPr>
          <p:cNvPr id="6" name="Slide Number Placeholder 5"/>
          <p:cNvSpPr>
            <a:spLocks noGrp="1"/>
          </p:cNvSpPr>
          <p:nvPr>
            <p:ph type="sldNum" sz="quarter" idx="12"/>
          </p:nvPr>
        </p:nvSpPr>
        <p:spPr/>
        <p:txBody>
          <a:body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ltLang="en-US"/>
              <a:t>Click to edit Master title style</a:t>
            </a:r>
            <a:endParaRPr lang="fr-FR" alt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ltLang="en-US"/>
              <a:t>Click to edit Master text styles</a:t>
            </a:r>
          </a:p>
          <a:p>
            <a:pPr lvl="1"/>
            <a:r>
              <a:rPr lang="fr-FR" smtClean="0" altLang="en-US"/>
              <a:t>Second level</a:t>
            </a:r>
          </a:p>
          <a:p>
            <a:pPr lvl="2"/>
            <a:r>
              <a:rPr lang="fr-FR" smtClean="0" altLang="en-US"/>
              <a:t>Third level</a:t>
            </a:r>
          </a:p>
          <a:p>
            <a:pPr lvl="3"/>
            <a:r>
              <a:rPr lang="fr-FR" smtClean="0" altLang="en-US"/>
              <a:t>Fourth level</a:t>
            </a:r>
          </a:p>
          <a:p>
            <a:pPr lvl="4"/>
            <a:r>
              <a:rPr lang="fr-FR" smtClean="0" altLang="en-US"/>
              <a:t>Fifth level</a:t>
            </a:r>
            <a:endParaRPr lang="fr-FR"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fr-FR" altLang="en-US">
                <a:solidFill>
                  <a:schemeClr val="tx1">
                    <a:tint val="75000"/>
                  </a:schemeClr>
                </a:solidFill>
              </a:defRPr>
            </a:lvl1pPr>
          </a:lstStyle>
          <a:p>
            <a:fld id="{5BCAD085-E8A6-8845-BD4E-CB4CCA059FC4}" type="datetimeFigureOut">
              <a:rPr lang="fr-FR" smtClean="0" altLang="en-US"/>
              <a:t>1/27/13</a:t>
            </a:fld>
            <a:endParaRPr lang="fr-FR"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fr-FR" altLang="en-US">
                <a:solidFill>
                  <a:schemeClr val="tx1">
                    <a:tint val="75000"/>
                  </a:schemeClr>
                </a:solidFill>
              </a:defRPr>
            </a:lvl1pPr>
          </a:lstStyle>
          <a:p>
            <a:endParaRPr lang="fr-FR"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fr-FR" altLang="en-US">
                <a:solidFill>
                  <a:schemeClr val="tx1">
                    <a:tint val="75000"/>
                  </a:schemeClr>
                </a:solidFill>
              </a:defRPr>
            </a:lvl1pPr>
          </a:lstStyle>
          <a:p>
            <a:fld id="{C1FF6DA9-008F-8B48-92A6-B652298478BF}" type="slidenum">
              <a:rPr lang="fr-FR" smtClean="0" altLang="en-US"/>
              <a:t>‹#›</a:t>
            </a:fld>
            <a:endParaRPr lang="fr-FR" alt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lang="fr-FR" alt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fr-FR" alt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fr-FR" alt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fr-FR" alt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fr-FR" altLang="en-US">
          <a:solidFill>
            <a:schemeClr val="tx1"/>
          </a:solidFill>
          <a:latin typeface="+mn-lt"/>
          <a:ea typeface="+mn-ea"/>
          <a:cs typeface="+mn-cs"/>
        </a:defRPr>
      </a:lvl9pPr>
    </p:bodyStyle>
    <p:otherStyle>
      <a:defPPr>
        <a:defRPr lang="fr-FR" altLang="en-US"/>
      </a:defPPr>
      <a:lvl1pPr marL="0" algn="l" defTabSz="457200" rtl="0" eaLnBrk="1" latinLnBrk="0" hangingPunct="1">
        <a:defRPr sz="1800" kern="1200" lang="fr-FR" altLang="en-US">
          <a:solidFill>
            <a:schemeClr val="tx1"/>
          </a:solidFill>
          <a:latin typeface="+mn-lt"/>
          <a:ea typeface="+mn-ea"/>
          <a:cs typeface="+mn-cs"/>
        </a:defRPr>
      </a:lvl1pPr>
      <a:lvl2pPr marL="457200" algn="l" defTabSz="457200" rtl="0" eaLnBrk="1" latinLnBrk="0" hangingPunct="1">
        <a:defRPr sz="1800" kern="1200" lang="fr-FR" altLang="en-US">
          <a:solidFill>
            <a:schemeClr val="tx1"/>
          </a:solidFill>
          <a:latin typeface="+mn-lt"/>
          <a:ea typeface="+mn-ea"/>
          <a:cs typeface="+mn-cs"/>
        </a:defRPr>
      </a:lvl2pPr>
      <a:lvl3pPr marL="914400" algn="l" defTabSz="457200" rtl="0" eaLnBrk="1" latinLnBrk="0" hangingPunct="1">
        <a:defRPr sz="1800" kern="1200" lang="fr-FR" altLang="en-US">
          <a:solidFill>
            <a:schemeClr val="tx1"/>
          </a:solidFill>
          <a:latin typeface="+mn-lt"/>
          <a:ea typeface="+mn-ea"/>
          <a:cs typeface="+mn-cs"/>
        </a:defRPr>
      </a:lvl3pPr>
      <a:lvl4pPr marL="1371600" algn="l" defTabSz="457200" rtl="0" eaLnBrk="1" latinLnBrk="0" hangingPunct="1">
        <a:defRPr sz="1800" kern="1200" lang="fr-FR" altLang="en-US">
          <a:solidFill>
            <a:schemeClr val="tx1"/>
          </a:solidFill>
          <a:latin typeface="+mn-lt"/>
          <a:ea typeface="+mn-ea"/>
          <a:cs typeface="+mn-cs"/>
        </a:defRPr>
      </a:lvl4pPr>
      <a:lvl5pPr marL="1828800" algn="l" defTabSz="457200" rtl="0" eaLnBrk="1" latinLnBrk="0" hangingPunct="1">
        <a:defRPr sz="1800" kern="1200" lang="fr-FR" altLang="en-US">
          <a:solidFill>
            <a:schemeClr val="tx1"/>
          </a:solidFill>
          <a:latin typeface="+mn-lt"/>
          <a:ea typeface="+mn-ea"/>
          <a:cs typeface="+mn-cs"/>
        </a:defRPr>
      </a:lvl5pPr>
      <a:lvl6pPr marL="2286000" algn="l" defTabSz="457200" rtl="0" eaLnBrk="1" latinLnBrk="0" hangingPunct="1">
        <a:defRPr sz="1800" kern="1200" lang="fr-FR" altLang="en-US">
          <a:solidFill>
            <a:schemeClr val="tx1"/>
          </a:solidFill>
          <a:latin typeface="+mn-lt"/>
          <a:ea typeface="+mn-ea"/>
          <a:cs typeface="+mn-cs"/>
        </a:defRPr>
      </a:lvl6pPr>
      <a:lvl7pPr marL="2743200" algn="l" defTabSz="457200" rtl="0" eaLnBrk="1" latinLnBrk="0" hangingPunct="1">
        <a:defRPr sz="1800" kern="1200" lang="fr-FR" altLang="en-US">
          <a:solidFill>
            <a:schemeClr val="tx1"/>
          </a:solidFill>
          <a:latin typeface="+mn-lt"/>
          <a:ea typeface="+mn-ea"/>
          <a:cs typeface="+mn-cs"/>
        </a:defRPr>
      </a:lvl7pPr>
      <a:lvl8pPr marL="3200400" algn="l" defTabSz="457200" rtl="0" eaLnBrk="1" latinLnBrk="0" hangingPunct="1">
        <a:defRPr sz="1800" kern="1200" lang="fr-FR" altLang="en-US">
          <a:solidFill>
            <a:schemeClr val="tx1"/>
          </a:solidFill>
          <a:latin typeface="+mn-lt"/>
          <a:ea typeface="+mn-ea"/>
          <a:cs typeface="+mn-cs"/>
        </a:defRPr>
      </a:lvl8pPr>
      <a:lvl9pPr marL="3657600" algn="l" defTabSz="457200" rtl="0" eaLnBrk="1" latinLnBrk="0" hangingPunct="1">
        <a:defRPr sz="1800" kern="1200" lang="fr-FR" alt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640080"/>
            <a:ext cx="8229600" cy="320040"/>
          </a:xfrm>
          <a:prstGeom prst="rect">
            <a:avLst/>
          </a:prstGeom>
          <a:noFill/>
        </p:spPr>
        <p:txBody>
          <a:bodyPr wrap="square" lIns="0" rIns="0" tIns="0" bIns="0">
            <a:noAutofit/>
          </a:bodyPr>
          <a:lstStyle/>
          <a:p>
            <a:r>
              <a:rPr sz="1300" b="1" i="0" spc="200" lang="fr-FR" altLang="en-US">
                <a:solidFill>
                  <a:srgbClr val="2DBE8C"/>
                </a:solidFill>
                <a:latin typeface="Calibri"/>
              </a:rPr>
              <a:t>SPOTIFY - DATA &amp; AI GOVERNANCE PROJECT</a:t>
            </a:r>
          </a:p>
        </p:txBody>
      </p:sp>
      <p:sp>
        <p:nvSpPr>
          <p:cNvPr id="3" name="TextBox 2"/>
          <p:cNvSpPr txBox="1"/>
          <p:nvPr/>
        </p:nvSpPr>
        <p:spPr>
          <a:xfrm>
            <a:off x="640080" y="1188720"/>
            <a:ext cx="9144000" cy="914400"/>
          </a:xfrm>
          <a:prstGeom prst="rect">
            <a:avLst/>
          </a:prstGeom>
          <a:noFill/>
        </p:spPr>
        <p:txBody>
          <a:bodyPr wrap="square" lIns="0" rIns="0" tIns="0" bIns="0">
            <a:noAutofit/>
          </a:bodyPr>
          <a:lstStyle/>
          <a:p>
            <a:pPr>
              <a:lnSpc>
                <a:spcPct val="105000"/>
              </a:lnSpc>
            </a:pPr>
            <a:r>
              <a:rPr sz="3600" b="1" i="0" lang="fr-FR" altLang="en-US">
                <a:solidFill>
                  <a:srgbClr val="FFFFFF"/>
                </a:solidFill>
                <a:latin typeface="Cambria"/>
              </a:rPr>
              <a:t>Annexes - Slides de Backup</a:t>
            </a:r>
          </a:p>
        </p:txBody>
      </p:sp>
      <p:sp>
        <p:nvSpPr>
          <p:cNvPr id="4" name="TextBox 3"/>
          <p:cNvSpPr txBox="1"/>
          <p:nvPr/>
        </p:nvSpPr>
        <p:spPr>
          <a:xfrm>
            <a:off x="640080" y="2148840"/>
            <a:ext cx="9875520" cy="640080"/>
          </a:xfrm>
          <a:prstGeom prst="rect">
            <a:avLst/>
          </a:prstGeom>
          <a:noFill/>
        </p:spPr>
        <p:txBody>
          <a:bodyPr wrap="square" lIns="0" rIns="0" tIns="0" bIns="0">
            <a:noAutofit/>
          </a:bodyPr>
          <a:lstStyle/>
          <a:p>
            <a:r>
              <a:rPr sz="1400" b="0" i="1" lang="fr-FR" altLang="en-US">
                <a:solidFill>
                  <a:srgbClr val="CADCFC"/>
                </a:solidFill>
                <a:latin typeface="Calibri"/>
              </a:rPr>
              <a:t>Slides de réserve destinées à répondre aux questions du Comité Exécutif et du Leadership IA, dans l'esprit du guide [R11], sans alourdir le corps de la présentation [D4].</a:t>
            </a:r>
          </a:p>
        </p:txBody>
      </p:sp>
      <p:sp>
        <p:nvSpPr>
          <p:cNvPr id="5" name="Oval 4"/>
          <p:cNvSpPr/>
          <p:nvPr/>
        </p:nvSpPr>
        <p:spPr>
          <a:xfrm>
            <a:off x="640080" y="3090672"/>
            <a:ext cx="457200" cy="457200"/>
          </a:xfrm>
          <a:prstGeom prst="ellipse">
            <a:avLst/>
          </a:prstGeom>
          <a:solidFill>
            <a:srgbClr val="2DBE8C"/>
          </a:solidFill>
          <a:ln>
            <a:noFill/>
          </a:ln>
          <a:effectLst/>
        </p:spPr>
        <p:txBody>
          <a:bodyPr rtlCol="0" anchor="ctr"/>
          <a:lstStyle/>
          <a:p>
            <a:pPr algn="ctr"/>
          </a:p>
        </p:txBody>
      </p:sp>
      <p:sp>
        <p:nvSpPr>
          <p:cNvPr id="6" name="TextBox 5"/>
          <p:cNvSpPr txBox="1"/>
          <p:nvPr/>
        </p:nvSpPr>
        <p:spPr>
          <a:xfrm>
            <a:off x="640080" y="3090672"/>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B1</a:t>
            </a:r>
          </a:p>
        </p:txBody>
      </p:sp>
      <p:sp>
        <p:nvSpPr>
          <p:cNvPr id="7" name="TextBox 6"/>
          <p:cNvSpPr txBox="1"/>
          <p:nvPr/>
        </p:nvSpPr>
        <p:spPr>
          <a:xfrm>
            <a:off x="1207007" y="3017520"/>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Comparaison des modèles d'organisation</a:t>
            </a:r>
          </a:p>
        </p:txBody>
      </p:sp>
      <p:sp>
        <p:nvSpPr>
          <p:cNvPr id="8" name="Oval 7"/>
          <p:cNvSpPr/>
          <p:nvPr/>
        </p:nvSpPr>
        <p:spPr>
          <a:xfrm>
            <a:off x="4389120" y="3090672"/>
            <a:ext cx="457200" cy="457200"/>
          </a:xfrm>
          <a:prstGeom prst="ellipse">
            <a:avLst/>
          </a:prstGeom>
          <a:solidFill>
            <a:srgbClr val="2DBE8C"/>
          </a:solidFill>
          <a:ln>
            <a:noFill/>
          </a:ln>
          <a:effectLst/>
        </p:spPr>
        <p:txBody>
          <a:bodyPr rtlCol="0" anchor="ctr"/>
          <a:lstStyle/>
          <a:p>
            <a:pPr algn="ctr"/>
          </a:p>
        </p:txBody>
      </p:sp>
      <p:sp>
        <p:nvSpPr>
          <p:cNvPr id="9" name="TextBox 8"/>
          <p:cNvSpPr txBox="1"/>
          <p:nvPr/>
        </p:nvSpPr>
        <p:spPr>
          <a:xfrm>
            <a:off x="4389120" y="3090672"/>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B2</a:t>
            </a:r>
          </a:p>
        </p:txBody>
      </p:sp>
      <p:sp>
        <p:nvSpPr>
          <p:cNvPr id="10" name="TextBox 9"/>
          <p:cNvSpPr txBox="1"/>
          <p:nvPr/>
        </p:nvSpPr>
        <p:spPr>
          <a:xfrm>
            <a:off x="4956048" y="3017520"/>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Justification complète de la sélection d'outils</a:t>
            </a:r>
          </a:p>
        </p:txBody>
      </p:sp>
      <p:sp>
        <p:nvSpPr>
          <p:cNvPr id="11" name="Oval 10"/>
          <p:cNvSpPr/>
          <p:nvPr/>
        </p:nvSpPr>
        <p:spPr>
          <a:xfrm>
            <a:off x="8138159" y="3090672"/>
            <a:ext cx="457200" cy="457200"/>
          </a:xfrm>
          <a:prstGeom prst="ellipse">
            <a:avLst/>
          </a:prstGeom>
          <a:solidFill>
            <a:srgbClr val="2DBE8C"/>
          </a:solidFill>
          <a:ln>
            <a:noFill/>
          </a:ln>
          <a:effectLst/>
        </p:spPr>
        <p:txBody>
          <a:bodyPr rtlCol="0" anchor="ctr"/>
          <a:lstStyle/>
          <a:p>
            <a:pPr algn="ctr"/>
          </a:p>
        </p:txBody>
      </p:sp>
      <p:sp>
        <p:nvSpPr>
          <p:cNvPr id="12" name="TextBox 11"/>
          <p:cNvSpPr txBox="1"/>
          <p:nvPr/>
        </p:nvSpPr>
        <p:spPr>
          <a:xfrm>
            <a:off x="8138159" y="3090672"/>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B3</a:t>
            </a:r>
          </a:p>
        </p:txBody>
      </p:sp>
      <p:sp>
        <p:nvSpPr>
          <p:cNvPr id="13" name="TextBox 12"/>
          <p:cNvSpPr txBox="1"/>
          <p:nvPr/>
        </p:nvSpPr>
        <p:spPr>
          <a:xfrm>
            <a:off x="8705087" y="3017520"/>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Circuit de gouvernance IA - RACI complètes</a:t>
            </a:r>
          </a:p>
        </p:txBody>
      </p:sp>
      <p:sp>
        <p:nvSpPr>
          <p:cNvPr id="14" name="Oval 13"/>
          <p:cNvSpPr/>
          <p:nvPr/>
        </p:nvSpPr>
        <p:spPr>
          <a:xfrm>
            <a:off x="640080" y="4032504"/>
            <a:ext cx="457200" cy="457200"/>
          </a:xfrm>
          <a:prstGeom prst="ellipse">
            <a:avLst/>
          </a:prstGeom>
          <a:solidFill>
            <a:srgbClr val="2DBE8C"/>
          </a:solidFill>
          <a:ln>
            <a:noFill/>
          </a:ln>
          <a:effectLst/>
        </p:spPr>
        <p:txBody>
          <a:bodyPr rtlCol="0" anchor="ctr"/>
          <a:lstStyle/>
          <a:p>
            <a:pPr algn="ctr"/>
          </a:p>
        </p:txBody>
      </p:sp>
      <p:sp>
        <p:nvSpPr>
          <p:cNvPr id="15" name="TextBox 14"/>
          <p:cNvSpPr txBox="1"/>
          <p:nvPr/>
        </p:nvSpPr>
        <p:spPr>
          <a:xfrm>
            <a:off x="640080" y="4032504"/>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B4</a:t>
            </a:r>
          </a:p>
        </p:txBody>
      </p:sp>
      <p:sp>
        <p:nvSpPr>
          <p:cNvPr id="16" name="TextBox 15"/>
          <p:cNvSpPr txBox="1"/>
          <p:nvPr/>
        </p:nvSpPr>
        <p:spPr>
          <a:xfrm>
            <a:off x="1207007" y="3959352"/>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Plan pilote - calendrier détaillé des jalons</a:t>
            </a:r>
          </a:p>
        </p:txBody>
      </p:sp>
      <p:sp>
        <p:nvSpPr>
          <p:cNvPr id="17" name="Oval 16"/>
          <p:cNvSpPr/>
          <p:nvPr/>
        </p:nvSpPr>
        <p:spPr>
          <a:xfrm>
            <a:off x="4389120" y="4032504"/>
            <a:ext cx="457200" cy="457200"/>
          </a:xfrm>
          <a:prstGeom prst="ellipse">
            <a:avLst/>
          </a:prstGeom>
          <a:solidFill>
            <a:srgbClr val="2DBE8C"/>
          </a:solidFill>
          <a:ln>
            <a:noFill/>
          </a:ln>
          <a:effectLst/>
        </p:spPr>
        <p:txBody>
          <a:bodyPr rtlCol="0" anchor="ctr"/>
          <a:lstStyle/>
          <a:p>
            <a:pPr algn="ctr"/>
          </a:p>
        </p:txBody>
      </p:sp>
      <p:sp>
        <p:nvSpPr>
          <p:cNvPr id="18" name="TextBox 17"/>
          <p:cNvSpPr txBox="1"/>
          <p:nvPr/>
        </p:nvSpPr>
        <p:spPr>
          <a:xfrm>
            <a:off x="4389120" y="4032504"/>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B5</a:t>
            </a:r>
          </a:p>
        </p:txBody>
      </p:sp>
      <p:sp>
        <p:nvSpPr>
          <p:cNvPr id="19" name="TextBox 18"/>
          <p:cNvSpPr txBox="1"/>
          <p:nvPr/>
        </p:nvSpPr>
        <p:spPr>
          <a:xfrm>
            <a:off x="4956048" y="3959352"/>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Méthode de mesure des KPIs et du double rattachement</a:t>
            </a:r>
          </a:p>
        </p:txBody>
      </p:sp>
      <p:sp>
        <p:nvSpPr>
          <p:cNvPr id="20" name="Oval 19"/>
          <p:cNvSpPr/>
          <p:nvPr/>
        </p:nvSpPr>
        <p:spPr>
          <a:xfrm>
            <a:off x="8138159" y="4032504"/>
            <a:ext cx="457200" cy="457200"/>
          </a:xfrm>
          <a:prstGeom prst="ellipse">
            <a:avLst/>
          </a:prstGeom>
          <a:solidFill>
            <a:srgbClr val="2DBE8C"/>
          </a:solidFill>
          <a:ln>
            <a:noFill/>
          </a:ln>
          <a:effectLst/>
        </p:spPr>
        <p:txBody>
          <a:bodyPr rtlCol="0" anchor="ctr"/>
          <a:lstStyle/>
          <a:p>
            <a:pPr algn="ctr"/>
          </a:p>
        </p:txBody>
      </p:sp>
      <p:sp>
        <p:nvSpPr>
          <p:cNvPr id="21" name="TextBox 20"/>
          <p:cNvSpPr txBox="1"/>
          <p:nvPr/>
        </p:nvSpPr>
        <p:spPr>
          <a:xfrm>
            <a:off x="8138159" y="4032504"/>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B6</a:t>
            </a:r>
          </a:p>
        </p:txBody>
      </p:sp>
      <p:sp>
        <p:nvSpPr>
          <p:cNvPr id="22" name="TextBox 21"/>
          <p:cNvSpPr txBox="1"/>
          <p:nvPr/>
        </p:nvSpPr>
        <p:spPr>
          <a:xfrm>
            <a:off x="8705087" y="3959352"/>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Gestion des risques du pilote</a:t>
            </a:r>
          </a:p>
        </p:txBody>
      </p:sp>
      <p:sp>
        <p:nvSpPr>
          <p:cNvPr id="23" name="Oval 22"/>
          <p:cNvSpPr/>
          <p:nvPr/>
        </p:nvSpPr>
        <p:spPr>
          <a:xfrm>
            <a:off x="640080" y="4974336"/>
            <a:ext cx="457200" cy="457200"/>
          </a:xfrm>
          <a:prstGeom prst="ellipse">
            <a:avLst/>
          </a:prstGeom>
          <a:solidFill>
            <a:srgbClr val="2DBE8C"/>
          </a:solidFill>
          <a:ln>
            <a:noFill/>
          </a:ln>
          <a:effectLst/>
        </p:spPr>
        <p:txBody>
          <a:bodyPr rtlCol="0" anchor="ctr"/>
          <a:lstStyle/>
          <a:p>
            <a:pPr algn="ctr"/>
          </a:p>
        </p:txBody>
      </p:sp>
      <p:sp>
        <p:nvSpPr>
          <p:cNvPr id="24" name="TextBox 23"/>
          <p:cNvSpPr txBox="1"/>
          <p:nvPr/>
        </p:nvSpPr>
        <p:spPr>
          <a:xfrm>
            <a:off x="640080" y="4974336"/>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B7</a:t>
            </a:r>
          </a:p>
        </p:txBody>
      </p:sp>
      <p:sp>
        <p:nvSpPr>
          <p:cNvPr id="25" name="TextBox 24"/>
          <p:cNvSpPr txBox="1"/>
          <p:nvPr/>
        </p:nvSpPr>
        <p:spPr>
          <a:xfrm>
            <a:off x="1207007" y="4901183"/>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Conditions de passage à l'échelle</a:t>
            </a:r>
          </a:p>
        </p:txBody>
      </p:sp>
      <p:sp>
        <p:nvSpPr>
          <p:cNvPr id="26" name="Oval 25"/>
          <p:cNvSpPr/>
          <p:nvPr/>
        </p:nvSpPr>
        <p:spPr>
          <a:xfrm>
            <a:off x="4389120" y="4974336"/>
            <a:ext cx="457200" cy="457200"/>
          </a:xfrm>
          <a:prstGeom prst="ellipse">
            <a:avLst/>
          </a:prstGeom>
          <a:solidFill>
            <a:srgbClr val="2DBE8C"/>
          </a:solidFill>
          <a:ln>
            <a:noFill/>
          </a:ln>
          <a:effectLst/>
        </p:spPr>
        <p:txBody>
          <a:bodyPr rtlCol="0" anchor="ctr"/>
          <a:lstStyle/>
          <a:p>
            <a:pPr algn="ctr"/>
          </a:p>
        </p:txBody>
      </p:sp>
      <p:sp>
        <p:nvSpPr>
          <p:cNvPr id="27" name="TextBox 26"/>
          <p:cNvSpPr txBox="1"/>
          <p:nvPr/>
        </p:nvSpPr>
        <p:spPr>
          <a:xfrm>
            <a:off x="4389120" y="4974336"/>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B8</a:t>
            </a:r>
          </a:p>
        </p:txBody>
      </p:sp>
      <p:sp>
        <p:nvSpPr>
          <p:cNvPr id="28" name="TextBox 27"/>
          <p:cNvSpPr txBox="1"/>
          <p:nvPr/>
        </p:nvSpPr>
        <p:spPr>
          <a:xfrm>
            <a:off x="4956048" y="4901183"/>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Ajustements attendus au cadre de gouvernance</a:t>
            </a:r>
          </a:p>
        </p:txBody>
      </p:sp>
      <p:sp>
        <p:nvSpPr>
          <p:cNvPr id="29" name="Oval 28"/>
          <p:cNvSpPr/>
          <p:nvPr/>
        </p:nvSpPr>
        <p:spPr>
          <a:xfrm>
            <a:off x="8138159" y="4974336"/>
            <a:ext cx="457200" cy="457200"/>
          </a:xfrm>
          <a:prstGeom prst="ellipse">
            <a:avLst/>
          </a:prstGeom>
          <a:solidFill>
            <a:srgbClr val="2DBE8C"/>
          </a:solidFill>
          <a:ln>
            <a:noFill/>
          </a:ln>
          <a:effectLst/>
        </p:spPr>
        <p:txBody>
          <a:bodyPr rtlCol="0" anchor="ctr"/>
          <a:lstStyle/>
          <a:p>
            <a:pPr algn="ctr"/>
          </a:p>
        </p:txBody>
      </p:sp>
      <p:sp>
        <p:nvSpPr>
          <p:cNvPr id="30" name="TextBox 29"/>
          <p:cNvSpPr txBox="1"/>
          <p:nvPr/>
        </p:nvSpPr>
        <p:spPr>
          <a:xfrm>
            <a:off x="8138159" y="4974336"/>
            <a:ext cx="457200" cy="457200"/>
          </a:xfrm>
          <a:prstGeom prst="rect">
            <a:avLst/>
          </a:prstGeom>
          <a:noFill/>
        </p:spPr>
        <p:txBody>
          <a:bodyPr wrap="square" lIns="0" rIns="0" tIns="0" bIns="0" anchor="ctr">
            <a:noAutofit/>
          </a:bodyPr>
          <a:lstStyle/>
          <a:p>
            <a:pPr algn="ctr"/>
            <a:r>
              <a:rPr sz="1100" b="1" i="0" lang="fr-FR" altLang="en-US">
                <a:solidFill>
                  <a:srgbClr val="1B2A4A"/>
                </a:solidFill>
                <a:latin typeface="Calibri"/>
              </a:rPr>
              <a:t>B9</a:t>
            </a:r>
          </a:p>
        </p:txBody>
      </p:sp>
      <p:sp>
        <p:nvSpPr>
          <p:cNvPr id="31" name="TextBox 30"/>
          <p:cNvSpPr txBox="1"/>
          <p:nvPr/>
        </p:nvSpPr>
        <p:spPr>
          <a:xfrm>
            <a:off x="8705087" y="4901183"/>
            <a:ext cx="2953512" cy="777240"/>
          </a:xfrm>
          <a:prstGeom prst="rect">
            <a:avLst/>
          </a:prstGeom>
          <a:noFill/>
        </p:spPr>
        <p:txBody>
          <a:bodyPr wrap="square" lIns="0" rIns="0" tIns="0" bIns="0" anchor="ctr">
            <a:noAutofit/>
          </a:bodyPr>
          <a:lstStyle/>
          <a:p>
            <a:r>
              <a:rPr sz="1050" b="0" i="0" lang="fr-FR" altLang="en-US">
                <a:solidFill>
                  <a:srgbClr val="FFFFFF"/>
                </a:solidFill>
                <a:latin typeface="Calibri"/>
              </a:rPr>
              <a:t>Trajectoire de maturité détaillée</a:t>
            </a:r>
          </a:p>
        </p:txBody>
      </p:sp>
      <p:sp>
        <p:nvSpPr>
          <p:cNvPr id="32" name="TextBox 31"/>
          <p:cNvSpPr txBox="1"/>
          <p:nvPr/>
        </p:nvSpPr>
        <p:spPr>
          <a:xfrm>
            <a:off x="640080" y="6473952"/>
            <a:ext cx="8229600" cy="274320"/>
          </a:xfrm>
          <a:prstGeom prst="rect">
            <a:avLst/>
          </a:prstGeom>
          <a:noFill/>
        </p:spPr>
        <p:txBody>
          <a:bodyPr wrap="square" lIns="0" rIns="0" tIns="0" bIns="0">
            <a:noAutofit/>
          </a:bodyPr>
          <a:lstStyle/>
          <a:p>
            <a:r>
              <a:rPr sz="950" b="0" i="0" lang="fr-FR" altLang="en-US">
                <a:solidFill>
                  <a:srgbClr val="9FB0C9"/>
                </a:solidFill>
                <a:latin typeface="Calibri"/>
              </a:rPr>
              <a:t>Nicolas Pichon - AIA RNCP 38777 - BC01 - Step 4 (Annexes) - v4 - 2026/10/13</a:t>
            </a:r>
          </a:p>
        </p:txBody>
      </p:sp>
      <p:sp>
        <p:nvSpPr>
          <p:cNvPr id="33" name="TextBox 32"/>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9FB0C9"/>
                </a:solidFill>
                <a:latin typeface="Calibr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B1</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Comparaison des modèles d'organisation de la gouvernance data</a:t>
            </a:r>
          </a:p>
        </p:txBody>
      </p:sp>
      <p:pic>
        <p:nvPicPr>
          <p:cNvPr id="4" name="Picture 3" descr="icon_users.png"/>
          <p:cNvPicPr>
            <a:picLocks noChangeAspect="1"/>
          </p:cNvPicPr>
          <p:nvPr/>
        </p:nvPicPr>
        <p:blipFill>
          <a:blip r:embed="rId2"/>
          <a:stretch>
            <a:fillRect/>
          </a:stretch>
        </p:blipFill>
        <p:spPr>
          <a:xfrm>
            <a:off x="11140135" y="365760"/>
            <a:ext cx="658368" cy="658368"/>
          </a:xfrm>
          <a:prstGeom prst="rect">
            <a:avLst/>
          </a:prstGeom>
        </p:spPr>
      </p:pic>
      <p:graphicFrame>
        <p:nvGraphicFramePr>
          <p:cNvPr id="5" name="Table 4"/>
          <p:cNvGraphicFramePr>
            <a:graphicFrameLocks noGrp="1"/>
          </p:cNvGraphicFramePr>
          <p:nvPr/>
        </p:nvGraphicFramePr>
        <p:xfrm>
          <a:off x="548640" y="1600200"/>
          <a:ext cx="10515600" cy="1828800"/>
        </p:xfrm>
        <a:graphic>
          <a:graphicData uri="http://schemas.openxmlformats.org/drawingml/2006/table">
            <a:tbl>
              <a:tblPr>
                <a:tableStyleId>{5C22544A-7EE6-4342-B048-85BDC9FD1C3A}</a:tableStyleId>
              </a:tblPr>
              <a:tblGrid>
                <a:gridCol w="1554480"/>
                <a:gridCol w="4480560"/>
                <a:gridCol w="4480560"/>
              </a:tblGrid>
              <a:tr h="457200">
                <a:tc>
                  <a:txBody>
                    <a:bodyPr wrap="square"/>
                    <a:lstStyle/>
                    <a:p>
                      <a:pPr algn="l"/>
                      <a:r>
                        <a:rPr sz="1050" b="1" lang="fr-FR" altLang="en-US">
                          <a:solidFill>
                            <a:srgbClr val="FFFFFF"/>
                          </a:solidFill>
                          <a:latin typeface="Calibri"/>
                        </a:rPr>
                        <a:t>Modèle</a:t>
                      </a:r>
                    </a:p>
                  </a:txBody>
                  <a:tcPr anchor="ctr" marL="91440" marR="91440" marT="36576" marB="36576">
                    <a:solidFill>
                      <a:srgbClr val="1B2A4A"/>
                    </a:solidFill>
                  </a:tcPr>
                </a:tc>
                <a:tc>
                  <a:txBody>
                    <a:bodyPr wrap="square"/>
                    <a:lstStyle/>
                    <a:p>
                      <a:pPr algn="l"/>
                      <a:r>
                        <a:rPr sz="1050" b="1" lang="fr-FR" altLang="en-US">
                          <a:solidFill>
                            <a:srgbClr val="FFFFFF"/>
                          </a:solidFill>
                          <a:latin typeface="Calibri"/>
                        </a:rPr>
                        <a:t>Avantages</a:t>
                      </a:r>
                    </a:p>
                  </a:txBody>
                  <a:tcPr anchor="ctr" marL="91440" marR="91440" marT="36576" marB="36576">
                    <a:solidFill>
                      <a:srgbClr val="1B2A4A"/>
                    </a:solidFill>
                  </a:tcPr>
                </a:tc>
                <a:tc>
                  <a:txBody>
                    <a:bodyPr wrap="square"/>
                    <a:lstStyle/>
                    <a:p>
                      <a:pPr algn="l"/>
                      <a:r>
                        <a:rPr sz="1050" b="1" lang="fr-FR" altLang="en-US">
                          <a:solidFill>
                            <a:srgbClr val="FFFFFF"/>
                          </a:solidFill>
                          <a:latin typeface="Calibri"/>
                        </a:rPr>
                        <a:t>Limites</a:t>
                      </a:r>
                    </a:p>
                  </a:txBody>
                  <a:tcPr anchor="ctr" marL="91440" marR="91440" marT="36576" marB="36576">
                    <a:solidFill>
                      <a:srgbClr val="1B2A4A"/>
                    </a:solidFill>
                  </a:tcPr>
                </a:tc>
              </a:tr>
              <a:tr h="457200">
                <a:tc>
                  <a:txBody>
                    <a:bodyPr wrap="square"/>
                    <a:lstStyle/>
                    <a:p>
                      <a:pPr algn="l"/>
                      <a:r>
                        <a:rPr sz="1000" b="0" lang="fr-FR" altLang="en-US">
                          <a:solidFill>
                            <a:srgbClr val="1B2A4A"/>
                          </a:solidFill>
                          <a:latin typeface="Calibri"/>
                        </a:rPr>
                        <a:t>Centralisé</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Simple à implémenter, priorisation facile</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Déconnexion business/data ; les besoins métier dépassent la capacité de l'équipe centrale</a:t>
                      </a:r>
                    </a:p>
                  </a:txBody>
                  <a:tcPr anchor="ctr" marL="91440" marR="91440" marT="36576" marB="36576">
                    <a:solidFill>
                      <a:srgbClr val="FFFFFF"/>
                    </a:solidFill>
                  </a:tcPr>
                </a:tc>
              </a:tr>
              <a:tr h="457200">
                <a:tc>
                  <a:txBody>
                    <a:bodyPr wrap="square"/>
                    <a:lstStyle/>
                    <a:p>
                      <a:pPr algn="l"/>
                      <a:r>
                        <a:rPr sz="1000" b="0" lang="fr-FR" altLang="en-US">
                          <a:solidFill>
                            <a:srgbClr val="1B2A4A"/>
                          </a:solidFill>
                          <a:latin typeface="Calibri"/>
                        </a:rPr>
                        <a:t>Embarqué</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Agilité, proximité business/data, spécialisation</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Absence de source unique de vérité, silos, difficile à piloter sans bagage technique</a:t>
                      </a:r>
                    </a:p>
                  </a:txBody>
                  <a:tcPr anchor="ctr" marL="91440" marR="91440" marT="36576" marB="36576">
                    <a:solidFill>
                      <a:srgbClr val="FFFFFF"/>
                    </a:solidFill>
                  </a:tcPr>
                </a:tc>
              </a:tr>
              <a:tr h="457200">
                <a:tc>
                  <a:txBody>
                    <a:bodyPr wrap="square"/>
                    <a:lstStyle/>
                    <a:p>
                      <a:pPr algn="l"/>
                      <a:r>
                        <a:rPr sz="1000" b="0" lang="fr-FR" altLang="en-US">
                          <a:solidFill>
                            <a:srgbClr val="1B2A4A"/>
                          </a:solidFill>
                          <a:latin typeface="Calibri"/>
                        </a:rPr>
                        <a:t>Center of Excellence</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Combine les avantages des deux modèles précédents</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Couche de coordination supplémentaire, peu adaptée aux petites/moyennes structures</a:t>
                      </a:r>
                    </a:p>
                  </a:txBody>
                  <a:tcPr anchor="ctr" marL="91440" marR="91440" marT="36576" marB="36576">
                    <a:solidFill>
                      <a:srgbClr val="FFFFFF"/>
                    </a:solidFill>
                  </a:tcPr>
                </a:tc>
              </a:tr>
            </a:tbl>
          </a:graphicData>
        </a:graphic>
      </p:graphicFrame>
      <p:sp>
        <p:nvSpPr>
          <p:cNvPr id="6" name="TextBox 5"/>
          <p:cNvSpPr txBox="1"/>
          <p:nvPr/>
        </p:nvSpPr>
        <p:spPr>
          <a:xfrm>
            <a:off x="548640" y="3520440"/>
            <a:ext cx="10543032" cy="274320"/>
          </a:xfrm>
          <a:prstGeom prst="rect">
            <a:avLst/>
          </a:prstGeom>
          <a:noFill/>
        </p:spPr>
        <p:txBody>
          <a:bodyPr wrap="square" lIns="0" rIns="0" tIns="0" bIns="0">
            <a:noAutofit/>
          </a:bodyPr>
          <a:lstStyle/>
          <a:p>
            <a:r>
              <a:rPr sz="1150" b="1" i="0" lang="fr-FR" altLang="en-US">
                <a:solidFill>
                  <a:srgbClr val="1C8C68"/>
                </a:solidFill>
                <a:latin typeface="Calibri"/>
              </a:rPr>
              <a:t>Structure générale du modèle CoE (hub-and-spoke) :</a:t>
            </a:r>
          </a:p>
        </p:txBody>
      </p:sp>
      <p:sp>
        <p:nvSpPr>
          <p:cNvPr id="7" name="TextBox 6"/>
          <p:cNvSpPr txBox="1"/>
          <p:nvPr/>
        </p:nvSpPr>
        <p:spPr>
          <a:xfrm>
            <a:off x="548640" y="3822191"/>
            <a:ext cx="5394960" cy="1371600"/>
          </a:xfrm>
          <a:prstGeom prst="rect">
            <a:avLst/>
          </a:prstGeom>
          <a:noFill/>
        </p:spPr>
        <p:txBody>
          <a:bodyPr wrap="square" lIns="0" rIns="0" tIns="0" bIns="0" anchor="t">
            <a:noAutofit/>
          </a:bodyPr>
          <a:lstStyle/>
          <a:p>
            <a:pPr marL="182880" indent="-182880">
              <a:spcAft>
                <a:spcPts val="500"/>
              </a:spcAft>
              <a:buFont typeface="Arial"/>
              <a:buChar char="•"/>
            </a:pPr>
            <a:r>
              <a:rPr sz="980" b="0" lang="fr-FR" altLang="en-US">
                <a:solidFill>
                  <a:srgbClr val="1B2A4A"/>
                </a:solidFill>
                <a:latin typeface="Calibri"/>
              </a:rPr>
              <a:t>Le hub : petite équipe d'experts - standards, briques réutilisables, plateforme technique partagée</a:t>
            </a:r>
          </a:p>
          <a:p>
            <a:pPr marL="182880" indent="-182880">
              <a:spcAft>
                <a:spcPts val="500"/>
              </a:spcAft>
              <a:buFont typeface="Arial"/>
              <a:buChar char="•"/>
            </a:pPr>
            <a:r>
              <a:rPr sz="980" b="0" lang="fr-FR" altLang="en-US">
                <a:solidFill>
                  <a:srgbClr val="1B2A4A"/>
                </a:solidFill>
                <a:latin typeface="Calibri"/>
              </a:rPr>
              <a:t>Les spokes : rôles embarqués dans chaque unité de métier, agilité et connaissance du domaine locale</a:t>
            </a:r>
          </a:p>
          <a:p>
            <a:pPr marL="182880" indent="-182880">
              <a:spcAft>
                <a:spcPts val="0"/>
              </a:spcAft>
              <a:buFont typeface="Arial"/>
              <a:buChar char="•"/>
            </a:pPr>
            <a:r>
              <a:rPr sz="980" b="0" lang="fr-FR" altLang="en-US">
                <a:solidFill>
                  <a:srgbClr val="1B2A4A"/>
                </a:solidFill>
                <a:latin typeface="Calibri"/>
              </a:rPr>
              <a:t>Le conseil de gouvernance : réuni périodiquement, arbitre priorités et exceptions</a:t>
            </a:r>
          </a:p>
        </p:txBody>
      </p:sp>
      <p:sp>
        <p:nvSpPr>
          <p:cNvPr id="8" name="TextBox 7"/>
          <p:cNvSpPr txBox="1"/>
          <p:nvPr/>
        </p:nvSpPr>
        <p:spPr>
          <a:xfrm>
            <a:off x="548640" y="5166360"/>
            <a:ext cx="5394960" cy="365760"/>
          </a:xfrm>
          <a:prstGeom prst="rect">
            <a:avLst/>
          </a:prstGeom>
          <a:noFill/>
        </p:spPr>
        <p:txBody>
          <a:bodyPr wrap="square" lIns="0" rIns="0" tIns="0" bIns="0">
            <a:noAutofit/>
          </a:bodyPr>
          <a:lstStyle/>
          <a:p>
            <a:r>
              <a:rPr sz="980" b="0" i="1" lang="fr-FR" altLang="en-US">
                <a:solidFill>
                  <a:srgbClr val="5B6B84"/>
                </a:solidFill>
                <a:latin typeface="Calibri"/>
              </a:rPr>
              <a:t>Principe : « gouverner et outiller au centre, exécuter à la périphérie »</a:t>
            </a:r>
          </a:p>
        </p:txBody>
      </p:sp>
      <p:sp>
        <p:nvSpPr>
          <p:cNvPr id="9" name="TextBox 8"/>
          <p:cNvSpPr txBox="1"/>
          <p:nvPr/>
        </p:nvSpPr>
        <p:spPr>
          <a:xfrm>
            <a:off x="6172200" y="3520440"/>
            <a:ext cx="5394960" cy="274320"/>
          </a:xfrm>
          <a:prstGeom prst="rect">
            <a:avLst/>
          </a:prstGeom>
          <a:noFill/>
        </p:spPr>
        <p:txBody>
          <a:bodyPr wrap="square" lIns="0" rIns="0" tIns="0" bIns="0">
            <a:noAutofit/>
          </a:bodyPr>
          <a:lstStyle/>
          <a:p>
            <a:r>
              <a:rPr sz="1150" b="1" i="0" lang="fr-FR" altLang="en-US">
                <a:solidFill>
                  <a:srgbClr val="1C8C68"/>
                </a:solidFill>
                <a:latin typeface="Calibri"/>
              </a:rPr>
              <a:t>Analyse d'adéquation au cas Spotify - deux écarts assumés :</a:t>
            </a:r>
          </a:p>
        </p:txBody>
      </p:sp>
      <p:sp>
        <p:nvSpPr>
          <p:cNvPr id="10" name="TextBox 9"/>
          <p:cNvSpPr txBox="1"/>
          <p:nvPr/>
        </p:nvSpPr>
        <p:spPr>
          <a:xfrm>
            <a:off x="6172200" y="3822191"/>
            <a:ext cx="5394960" cy="2103120"/>
          </a:xfrm>
          <a:prstGeom prst="rect">
            <a:avLst/>
          </a:prstGeom>
          <a:noFill/>
        </p:spPr>
        <p:txBody>
          <a:bodyPr wrap="square" lIns="0" rIns="0" tIns="0" bIns="0" anchor="t">
            <a:noAutofit/>
          </a:bodyPr>
          <a:lstStyle/>
          <a:p>
            <a:pPr marL="182880" indent="-182880">
              <a:spcAft>
                <a:spcPts val="500"/>
              </a:spcAft>
              <a:buFont typeface="Arial"/>
              <a:buChar char="•"/>
            </a:pPr>
            <a:r>
              <a:rPr sz="950" b="0" lang="fr-FR" altLang="en-US">
                <a:solidFill>
                  <a:srgbClr val="1B2A4A"/>
                </a:solidFill>
                <a:latin typeface="Calibri"/>
              </a:rPr>
              <a:t>Centralisé écarté : isolerait la fonction data, retirerait aux DO l'autorité de proximité (E1)</a:t>
            </a:r>
          </a:p>
          <a:p>
            <a:pPr marL="182880" indent="-182880">
              <a:spcAft>
                <a:spcPts val="500"/>
              </a:spcAft>
              <a:buFont typeface="Arial"/>
              <a:buChar char="•"/>
            </a:pPr>
            <a:r>
              <a:rPr sz="950" b="0" lang="fr-FR" altLang="en-US">
                <a:solidFill>
                  <a:srgbClr val="1B2A4A"/>
                </a:solidFill>
                <a:latin typeface="Calibri"/>
              </a:rPr>
              <a:t>Embarqué écarté : reconduirait les silos (E1), disperserait le juridique (E3)</a:t>
            </a:r>
          </a:p>
          <a:p>
            <a:pPr marL="182880" indent="-182880">
              <a:spcAft>
                <a:spcPts val="500"/>
              </a:spcAft>
              <a:buFont typeface="Arial"/>
              <a:buChar char="•"/>
            </a:pPr>
            <a:r>
              <a:rPr sz="950" b="0" lang="fr-FR" altLang="en-US">
                <a:solidFill>
                  <a:srgbClr val="1B2A4A"/>
                </a:solidFill>
                <a:latin typeface="Calibri"/>
              </a:rPr>
              <a:t>CoE retenu : seul modèle qui répond simultanément à E1, E3 et E5</a:t>
            </a:r>
          </a:p>
          <a:p>
            <a:pPr marL="182880" indent="-182880">
              <a:spcAft>
                <a:spcPts val="500"/>
              </a:spcAft>
              <a:buFont typeface="Arial"/>
              <a:buChar char="•"/>
            </a:pPr>
            <a:r>
              <a:rPr sz="950" b="0" lang="fr-FR" altLang="en-US">
                <a:solidFill>
                  <a:srgbClr val="1B2A4A"/>
                </a:solidFill>
                <a:latin typeface="Calibri"/>
              </a:rPr>
              <a:t>Écart 1 : infrastructure technique maintenue dans Engineering (dépt. pair, pas le hub)</a:t>
            </a:r>
          </a:p>
          <a:p>
            <a:pPr marL="182880" indent="-182880">
              <a:spcAft>
                <a:spcPts val="0"/>
              </a:spcAft>
              <a:buFont typeface="Arial"/>
              <a:buChar char="•"/>
            </a:pPr>
            <a:r>
              <a:rPr sz="950" b="0" lang="fr-FR" altLang="en-US">
                <a:solidFill>
                  <a:srgbClr val="1B2A4A"/>
                </a:solidFill>
                <a:latin typeface="Calibri"/>
              </a:rPr>
              <a:t>Écart 2 : autorités de conformité (DPO/Legal) et de gouvernance (CDO/DGC) séparées, toutes deux rattachées au CEO</a:t>
            </a:r>
          </a:p>
        </p:txBody>
      </p:sp>
      <p:sp>
        <p:nvSpPr>
          <p:cNvPr id="11" name="Rounded Rectangle 10"/>
          <p:cNvSpPr/>
          <p:nvPr/>
        </p:nvSpPr>
        <p:spPr>
          <a:xfrm>
            <a:off x="548640" y="5806440"/>
            <a:ext cx="11091672" cy="594360"/>
          </a:xfrm>
          <a:prstGeom prst="roundRect">
            <a:avLst>
              <a:gd name="adj" fmla="val 8000"/>
            </a:avLst>
          </a:prstGeom>
          <a:solidFill>
            <a:srgbClr val="EAF7F1"/>
          </a:solidFill>
          <a:ln w="9525">
            <a:solidFill>
              <a:srgbClr val="D8DEE6"/>
            </a:solidFill>
          </a:ln>
          <a:effectLst/>
        </p:spPr>
        <p:txBody>
          <a:bodyPr rtlCol="0" anchor="ctr"/>
          <a:lstStyle/>
          <a:p>
            <a:pPr algn="ctr"/>
          </a:p>
        </p:txBody>
      </p:sp>
      <p:sp>
        <p:nvSpPr>
          <p:cNvPr id="12" name="TextBox 11"/>
          <p:cNvSpPr txBox="1"/>
          <p:nvPr/>
        </p:nvSpPr>
        <p:spPr>
          <a:xfrm>
            <a:off x="777240" y="5806440"/>
            <a:ext cx="10607040" cy="594360"/>
          </a:xfrm>
          <a:prstGeom prst="rect">
            <a:avLst/>
          </a:prstGeom>
          <a:noFill/>
        </p:spPr>
        <p:txBody>
          <a:bodyPr wrap="square" lIns="0" rIns="0" tIns="0" bIns="0" anchor="ctr">
            <a:noAutofit/>
          </a:bodyPr>
          <a:lstStyle/>
          <a:p>
            <a:r>
              <a:rPr sz="1050" b="1" i="0" lang="fr-FR" altLang="en-US">
                <a:solidFill>
                  <a:srgbClr val="1C8C68"/>
                </a:solidFill>
                <a:latin typeface="Calibri"/>
              </a:rPr>
              <a:t>Surcoût du CoE assumé : à l'échelle de Spotify, la charge de coordination est une nécessité fonctionnelle, non un coût additionnel.</a:t>
            </a:r>
          </a:p>
        </p:txBody>
      </p:sp>
      <p:sp>
        <p:nvSpPr>
          <p:cNvPr id="13" name="TextBox 12"/>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§3.B, annexe 3.B.1-3.B.4 - [R7]</a:t>
            </a:r>
          </a:p>
        </p:txBody>
      </p:sp>
      <p:sp>
        <p:nvSpPr>
          <p:cNvPr id="14" name="TextBox 13"/>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B2</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Justification complète de la sélection d'outils</a:t>
            </a:r>
          </a:p>
        </p:txBody>
      </p:sp>
      <p:pic>
        <p:nvPicPr>
          <p:cNvPr id="4" name="Picture 3" descr="icon_tool.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600200"/>
            <a:ext cx="11091672" cy="868680"/>
          </a:xfrm>
          <a:prstGeom prst="rect">
            <a:avLst/>
          </a:prstGeom>
          <a:noFill/>
        </p:spPr>
        <p:txBody>
          <a:bodyPr wrap="square" lIns="0" rIns="0" tIns="0" bIns="0" anchor="t">
            <a:noAutofit/>
          </a:bodyPr>
          <a:lstStyle/>
          <a:p>
            <a:pPr marL="182880" indent="-182880">
              <a:spcAft>
                <a:spcPts val="400"/>
              </a:spcAft>
              <a:buFont typeface="Arial"/>
              <a:buChar char="•"/>
            </a:pPr>
            <a:r>
              <a:rPr sz="1000" b="0" lang="fr-FR" altLang="en-US">
                <a:solidFill>
                  <a:srgbClr val="1B2A4A"/>
                </a:solidFill>
                <a:latin typeface="Calibri"/>
              </a:rPr>
              <a:t>Repartir de [R8], compléter par l'open source, prioriser l'open source</a:t>
            </a:r>
          </a:p>
          <a:p>
            <a:pPr marL="182880" indent="-182880">
              <a:spcAft>
                <a:spcPts val="400"/>
              </a:spcAft>
              <a:buFont typeface="Arial"/>
              <a:buChar char="•"/>
            </a:pPr>
            <a:r>
              <a:rPr sz="1000" b="0" lang="fr-FR" altLang="en-US">
                <a:solidFill>
                  <a:srgbClr val="1B2A4A"/>
                </a:solidFill>
                <a:latin typeface="Calibri"/>
              </a:rPr>
              <a:t>Économie de licence compensée par l'hébergement, absorbée par la capacité d'ingénierie Spotify [R2]</a:t>
            </a:r>
          </a:p>
          <a:p>
            <a:pPr marL="182880" indent="-182880">
              <a:spcAft>
                <a:spcPts val="0"/>
              </a:spcAft>
              <a:buFont typeface="Arial"/>
              <a:buChar char="•"/>
            </a:pPr>
            <a:r>
              <a:rPr sz="1000" b="0" lang="fr-FR" altLang="en-US">
                <a:solidFill>
                  <a:srgbClr val="1B2A4A"/>
                </a:solidFill>
                <a:latin typeface="Calibri"/>
              </a:rPr>
              <a:t>Risque réglementaire chiffrable (E3, E4) → garanties commerciales ; risque opérationnel (E1, E2, E5) → coût de défaillance interne seulement</a:t>
            </a:r>
          </a:p>
        </p:txBody>
      </p:sp>
      <p:sp>
        <p:nvSpPr>
          <p:cNvPr id="6" name="Rounded Rectangle 5"/>
          <p:cNvSpPr/>
          <p:nvPr/>
        </p:nvSpPr>
        <p:spPr>
          <a:xfrm>
            <a:off x="548640" y="2606040"/>
            <a:ext cx="5349240" cy="173736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7" name="TextBox 6"/>
          <p:cNvSpPr txBox="1"/>
          <p:nvPr/>
        </p:nvSpPr>
        <p:spPr>
          <a:xfrm>
            <a:off x="777240" y="2715768"/>
            <a:ext cx="3886200" cy="274320"/>
          </a:xfrm>
          <a:prstGeom prst="rect">
            <a:avLst/>
          </a:prstGeom>
          <a:noFill/>
        </p:spPr>
        <p:txBody>
          <a:bodyPr wrap="square" lIns="0" rIns="0" tIns="0" bIns="0">
            <a:noAutofit/>
          </a:bodyPr>
          <a:lstStyle/>
          <a:p>
            <a:r>
              <a:rPr sz="1150" b="1" i="0" lang="fr-FR" altLang="en-US">
                <a:solidFill>
                  <a:srgbClr val="1B2A4A"/>
                </a:solidFill>
                <a:latin typeface="Calibri"/>
              </a:rPr>
              <a:t>Catalogage</a:t>
            </a:r>
          </a:p>
        </p:txBody>
      </p:sp>
      <p:sp>
        <p:nvSpPr>
          <p:cNvPr id="8" name="TextBox 7"/>
          <p:cNvSpPr txBox="1"/>
          <p:nvPr/>
        </p:nvSpPr>
        <p:spPr>
          <a:xfrm>
            <a:off x="3703319" y="2715768"/>
            <a:ext cx="2011680" cy="274320"/>
          </a:xfrm>
          <a:prstGeom prst="rect">
            <a:avLst/>
          </a:prstGeom>
          <a:noFill/>
        </p:spPr>
        <p:txBody>
          <a:bodyPr wrap="square" lIns="0" rIns="0" tIns="0" bIns="0">
            <a:noAutofit/>
          </a:bodyPr>
          <a:lstStyle/>
          <a:p>
            <a:pPr algn="r"/>
            <a:r>
              <a:rPr sz="950" b="1" i="0" lang="fr-FR" altLang="en-US">
                <a:solidFill>
                  <a:srgbClr val="1C8C68"/>
                </a:solidFill>
                <a:latin typeface="Calibri"/>
              </a:rPr>
              <a:t>OpenMetadata + Collibra</a:t>
            </a:r>
          </a:p>
        </p:txBody>
      </p:sp>
      <p:sp>
        <p:nvSpPr>
          <p:cNvPr id="9" name="TextBox 8"/>
          <p:cNvSpPr txBox="1"/>
          <p:nvPr/>
        </p:nvSpPr>
        <p:spPr>
          <a:xfrm>
            <a:off x="777240" y="3026664"/>
            <a:ext cx="4892040" cy="1188719"/>
          </a:xfrm>
          <a:prstGeom prst="rect">
            <a:avLst/>
          </a:prstGeom>
          <a:noFill/>
        </p:spPr>
        <p:txBody>
          <a:bodyPr wrap="square" lIns="0" rIns="0" tIns="0" bIns="0" anchor="t">
            <a:noAutofit/>
          </a:bodyPr>
          <a:lstStyle/>
          <a:p>
            <a:pPr marL="182880" indent="-182880">
              <a:spcAft>
                <a:spcPts val="300"/>
              </a:spcAft>
              <a:buFont typeface="Arial"/>
              <a:buChar char="•"/>
            </a:pPr>
            <a:r>
              <a:rPr sz="869" b="0" lang="fr-FR" altLang="en-US">
                <a:solidFill>
                  <a:srgbClr val="1B2A4A"/>
                </a:solidFill>
                <a:latin typeface="Calibri"/>
              </a:rPr>
              <a:t>Apache Atlas écarté : ancré Hadoop, absent de la stack Spotify</a:t>
            </a:r>
          </a:p>
          <a:p>
            <a:pPr marL="182880" indent="-182880">
              <a:spcAft>
                <a:spcPts val="300"/>
              </a:spcAft>
              <a:buFont typeface="Arial"/>
              <a:buChar char="•"/>
            </a:pPr>
            <a:r>
              <a:rPr sz="869" b="0" lang="fr-FR" altLang="en-US">
                <a:solidFill>
                  <a:srgbClr val="1B2A4A"/>
                </a:solidFill>
                <a:latin typeface="Calibri"/>
              </a:rPr>
              <a:t>Alation/Collibra retenues pour la garantie de service (E3) ; Collibra choisie pour son socle de gouvernance plus solide</a:t>
            </a:r>
          </a:p>
          <a:p>
            <a:pPr marL="182880" indent="-182880">
              <a:spcAft>
                <a:spcPts val="0"/>
              </a:spcAft>
              <a:buFont typeface="Arial"/>
              <a:buChar char="•"/>
            </a:pPr>
            <a:r>
              <a:rPr sz="869" b="0" lang="fr-FR" altLang="en-US">
                <a:solidFill>
                  <a:srgbClr val="1B2A4A"/>
                </a:solidFill>
                <a:latin typeface="Calibri"/>
              </a:rPr>
              <a:t>Connecteur officiel OpenMetadata ↔ Collibra (sync glossaires, correspondance des actifs)</a:t>
            </a:r>
          </a:p>
        </p:txBody>
      </p:sp>
      <p:sp>
        <p:nvSpPr>
          <p:cNvPr id="10" name="Rounded Rectangle 9"/>
          <p:cNvSpPr/>
          <p:nvPr/>
        </p:nvSpPr>
        <p:spPr>
          <a:xfrm>
            <a:off x="6217919" y="2606040"/>
            <a:ext cx="5349240" cy="173736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1" name="TextBox 10"/>
          <p:cNvSpPr txBox="1"/>
          <p:nvPr/>
        </p:nvSpPr>
        <p:spPr>
          <a:xfrm>
            <a:off x="6446519" y="2715768"/>
            <a:ext cx="3886200" cy="274320"/>
          </a:xfrm>
          <a:prstGeom prst="rect">
            <a:avLst/>
          </a:prstGeom>
          <a:noFill/>
        </p:spPr>
        <p:txBody>
          <a:bodyPr wrap="square" lIns="0" rIns="0" tIns="0" bIns="0">
            <a:noAutofit/>
          </a:bodyPr>
          <a:lstStyle/>
          <a:p>
            <a:r>
              <a:rPr sz="1150" b="1" i="0" lang="fr-FR" altLang="en-US">
                <a:solidFill>
                  <a:srgbClr val="1B2A4A"/>
                </a:solidFill>
                <a:latin typeface="Calibri"/>
              </a:rPr>
              <a:t>Qualité</a:t>
            </a:r>
          </a:p>
        </p:txBody>
      </p:sp>
      <p:sp>
        <p:nvSpPr>
          <p:cNvPr id="12" name="TextBox 11"/>
          <p:cNvSpPr txBox="1"/>
          <p:nvPr/>
        </p:nvSpPr>
        <p:spPr>
          <a:xfrm>
            <a:off x="9372599" y="2715768"/>
            <a:ext cx="2011680" cy="274320"/>
          </a:xfrm>
          <a:prstGeom prst="rect">
            <a:avLst/>
          </a:prstGeom>
          <a:noFill/>
        </p:spPr>
        <p:txBody>
          <a:bodyPr wrap="square" lIns="0" rIns="0" tIns="0" bIns="0">
            <a:noAutofit/>
          </a:bodyPr>
          <a:lstStyle/>
          <a:p>
            <a:pPr algn="r"/>
            <a:r>
              <a:rPr sz="950" b="1" i="0" lang="fr-FR" altLang="en-US">
                <a:solidFill>
                  <a:srgbClr val="1C8C68"/>
                </a:solidFill>
                <a:latin typeface="Calibri"/>
              </a:rPr>
              <a:t>Soda Core (replis Cuallee / TestGen)</a:t>
            </a:r>
          </a:p>
        </p:txBody>
      </p:sp>
      <p:sp>
        <p:nvSpPr>
          <p:cNvPr id="13" name="TextBox 12"/>
          <p:cNvSpPr txBox="1"/>
          <p:nvPr/>
        </p:nvSpPr>
        <p:spPr>
          <a:xfrm>
            <a:off x="6446519" y="3026664"/>
            <a:ext cx="4892040" cy="1188719"/>
          </a:xfrm>
          <a:prstGeom prst="rect">
            <a:avLst/>
          </a:prstGeom>
          <a:noFill/>
        </p:spPr>
        <p:txBody>
          <a:bodyPr wrap="square" lIns="0" rIns="0" tIns="0" bIns="0" anchor="t">
            <a:noAutofit/>
          </a:bodyPr>
          <a:lstStyle/>
          <a:p>
            <a:pPr marL="182880" indent="-182880">
              <a:spcAft>
                <a:spcPts val="300"/>
              </a:spcAft>
              <a:buFont typeface="Arial"/>
              <a:buChar char="•"/>
            </a:pPr>
            <a:r>
              <a:rPr sz="869" b="0" lang="fr-FR" altLang="en-US">
                <a:solidFill>
                  <a:srgbClr val="1B2A4A"/>
                </a:solidFill>
                <a:latin typeface="Calibri"/>
              </a:rPr>
              <a:t>Talend écarté : redondant avec l'ETL existant</a:t>
            </a:r>
          </a:p>
          <a:p>
            <a:pPr marL="182880" indent="-182880">
              <a:spcAft>
                <a:spcPts val="300"/>
              </a:spcAft>
              <a:buFont typeface="Arial"/>
              <a:buChar char="•"/>
            </a:pPr>
            <a:r>
              <a:rPr sz="869" b="0" lang="fr-FR" altLang="en-US">
                <a:solidFill>
                  <a:srgbClr val="1B2A4A"/>
                </a:solidFill>
                <a:latin typeface="Calibri"/>
              </a:rPr>
              <a:t>Informatica écartée : fragmentation, compétences incompatibles avec le profil DS, coût/délais disproportionnés</a:t>
            </a:r>
          </a:p>
          <a:p>
            <a:pPr marL="182880" indent="-182880">
              <a:spcAft>
                <a:spcPts val="300"/>
              </a:spcAft>
              <a:buFont typeface="Arial"/>
              <a:buChar char="•"/>
            </a:pPr>
            <a:r>
              <a:rPr sz="869" b="0" lang="fr-FR" altLang="en-US">
                <a:solidFill>
                  <a:srgbClr val="1B2A4A"/>
                </a:solidFill>
                <a:latin typeface="Calibri"/>
              </a:rPr>
              <a:t>Ataccama écartée : coût élevé et opaque, non justifié pour des enjeux opérationnels</a:t>
            </a:r>
          </a:p>
          <a:p>
            <a:pPr marL="182880" indent="-182880">
              <a:spcAft>
                <a:spcPts val="0"/>
              </a:spcAft>
              <a:buFont typeface="Arial"/>
              <a:buChar char="•"/>
            </a:pPr>
            <a:r>
              <a:rPr sz="869" b="0" lang="fr-FR" altLang="en-US">
                <a:solidFill>
                  <a:srgbClr val="1B2A4A"/>
                </a:solidFill>
                <a:latin typeface="Calibri"/>
              </a:rPr>
              <a:t>Soda Core retenu (E2, E5) ; repli Cuallee (contrôles ML) ou TestGen (si dépriorisation confirmée)</a:t>
            </a:r>
          </a:p>
        </p:txBody>
      </p:sp>
      <p:sp>
        <p:nvSpPr>
          <p:cNvPr id="14" name="Rounded Rectangle 13"/>
          <p:cNvSpPr/>
          <p:nvPr/>
        </p:nvSpPr>
        <p:spPr>
          <a:xfrm>
            <a:off x="548640" y="4507992"/>
            <a:ext cx="5349240" cy="173736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5" name="TextBox 14"/>
          <p:cNvSpPr txBox="1"/>
          <p:nvPr/>
        </p:nvSpPr>
        <p:spPr>
          <a:xfrm>
            <a:off x="777240" y="4617720"/>
            <a:ext cx="3886200" cy="274320"/>
          </a:xfrm>
          <a:prstGeom prst="rect">
            <a:avLst/>
          </a:prstGeom>
          <a:noFill/>
        </p:spPr>
        <p:txBody>
          <a:bodyPr wrap="square" lIns="0" rIns="0" tIns="0" bIns="0">
            <a:noAutofit/>
          </a:bodyPr>
          <a:lstStyle/>
          <a:p>
            <a:r>
              <a:rPr sz="1150" b="1" i="0" lang="fr-FR" altLang="en-US">
                <a:solidFill>
                  <a:srgbClr val="1B2A4A"/>
                </a:solidFill>
                <a:latin typeface="Calibri"/>
              </a:rPr>
              <a:t>Conformité réglementaire</a:t>
            </a:r>
          </a:p>
        </p:txBody>
      </p:sp>
      <p:sp>
        <p:nvSpPr>
          <p:cNvPr id="16" name="TextBox 15"/>
          <p:cNvSpPr txBox="1"/>
          <p:nvPr/>
        </p:nvSpPr>
        <p:spPr>
          <a:xfrm>
            <a:off x="3703319" y="4617720"/>
            <a:ext cx="2011680" cy="274320"/>
          </a:xfrm>
          <a:prstGeom prst="rect">
            <a:avLst/>
          </a:prstGeom>
          <a:noFill/>
        </p:spPr>
        <p:txBody>
          <a:bodyPr wrap="square" lIns="0" rIns="0" tIns="0" bIns="0">
            <a:noAutofit/>
          </a:bodyPr>
          <a:lstStyle/>
          <a:p>
            <a:pPr algn="r"/>
            <a:r>
              <a:rPr sz="950" b="1" i="0" lang="fr-FR" altLang="en-US">
                <a:solidFill>
                  <a:srgbClr val="1C8C68"/>
                </a:solidFill>
                <a:latin typeface="Calibri"/>
              </a:rPr>
              <a:t>TrustArc</a:t>
            </a:r>
          </a:p>
        </p:txBody>
      </p:sp>
      <p:sp>
        <p:nvSpPr>
          <p:cNvPr id="17" name="TextBox 16"/>
          <p:cNvSpPr txBox="1"/>
          <p:nvPr/>
        </p:nvSpPr>
        <p:spPr>
          <a:xfrm>
            <a:off x="777240" y="4928616"/>
            <a:ext cx="4892040" cy="1188719"/>
          </a:xfrm>
          <a:prstGeom prst="rect">
            <a:avLst/>
          </a:prstGeom>
          <a:noFill/>
        </p:spPr>
        <p:txBody>
          <a:bodyPr wrap="square" lIns="0" rIns="0" tIns="0" bIns="0" anchor="t">
            <a:noAutofit/>
          </a:bodyPr>
          <a:lstStyle/>
          <a:p>
            <a:pPr marL="182880" indent="-182880">
              <a:spcAft>
                <a:spcPts val="300"/>
              </a:spcAft>
              <a:buFont typeface="Arial"/>
              <a:buChar char="•"/>
            </a:pPr>
            <a:r>
              <a:rPr sz="869" b="0" lang="fr-FR" altLang="en-US">
                <a:solidFill>
                  <a:srgbClr val="1B2A4A"/>
                </a:solidFill>
                <a:latin typeface="Calibri"/>
              </a:rPr>
              <a:t>VeraSafe écarté : conseil/services managés, pas un logiciel</a:t>
            </a:r>
          </a:p>
          <a:p>
            <a:pPr marL="182880" indent="-182880">
              <a:spcAft>
                <a:spcPts val="300"/>
              </a:spcAft>
              <a:buFont typeface="Arial"/>
              <a:buChar char="•"/>
            </a:pPr>
            <a:r>
              <a:rPr sz="869" b="0" lang="fr-FR" altLang="en-US">
                <a:solidFill>
                  <a:srgbClr val="1B2A4A"/>
                </a:solidFill>
                <a:latin typeface="Calibri"/>
              </a:rPr>
              <a:t>DataGuard écarté : positionné PME, hors échelle Spotify</a:t>
            </a:r>
          </a:p>
          <a:p>
            <a:pPr marL="182880" indent="-182880">
              <a:spcAft>
                <a:spcPts val="300"/>
              </a:spcAft>
              <a:buFont typeface="Arial"/>
              <a:buChar char="•"/>
            </a:pPr>
            <a:r>
              <a:rPr sz="869" b="0" lang="fr-FR" altLang="en-US">
                <a:solidFill>
                  <a:srgbClr val="1B2A4A"/>
                </a:solidFill>
                <a:latin typeface="Calibri"/>
              </a:rPr>
              <a:t>TrustArc retenue sur OneTrust : automatisation multi-juridictionnelle + ergonomie DPO</a:t>
            </a:r>
          </a:p>
          <a:p>
            <a:pPr marL="182880" indent="-182880">
              <a:spcAft>
                <a:spcPts val="0"/>
              </a:spcAft>
              <a:buFont typeface="Arial"/>
              <a:buChar char="•"/>
            </a:pPr>
            <a:r>
              <a:rPr sz="869" b="0" lang="fr-FR" altLang="en-US">
                <a:solidFill>
                  <a:srgbClr val="1B2A4A"/>
                </a:solidFill>
                <a:latin typeface="Calibri"/>
              </a:rPr>
              <a:t>Couvre nativement les DSAR, attendu du dispositif central [R11, Q4]</a:t>
            </a:r>
          </a:p>
        </p:txBody>
      </p:sp>
      <p:sp>
        <p:nvSpPr>
          <p:cNvPr id="18" name="Rounded Rectangle 17"/>
          <p:cNvSpPr/>
          <p:nvPr/>
        </p:nvSpPr>
        <p:spPr>
          <a:xfrm>
            <a:off x="6217919" y="4507992"/>
            <a:ext cx="5349240" cy="173736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9" name="TextBox 18"/>
          <p:cNvSpPr txBox="1"/>
          <p:nvPr/>
        </p:nvSpPr>
        <p:spPr>
          <a:xfrm>
            <a:off x="6446519" y="4617720"/>
            <a:ext cx="3886200" cy="274320"/>
          </a:xfrm>
          <a:prstGeom prst="rect">
            <a:avLst/>
          </a:prstGeom>
          <a:noFill/>
        </p:spPr>
        <p:txBody>
          <a:bodyPr wrap="square" lIns="0" rIns="0" tIns="0" bIns="0">
            <a:noAutofit/>
          </a:bodyPr>
          <a:lstStyle/>
          <a:p>
            <a:r>
              <a:rPr sz="1150" b="1" i="0" lang="fr-FR" altLang="en-US">
                <a:solidFill>
                  <a:srgbClr val="1B2A4A"/>
                </a:solidFill>
                <a:latin typeface="Calibri"/>
              </a:rPr>
              <a:t>Sécurisation données &amp; accès</a:t>
            </a:r>
          </a:p>
        </p:txBody>
      </p:sp>
      <p:sp>
        <p:nvSpPr>
          <p:cNvPr id="20" name="TextBox 19"/>
          <p:cNvSpPr txBox="1"/>
          <p:nvPr/>
        </p:nvSpPr>
        <p:spPr>
          <a:xfrm>
            <a:off x="9372599" y="4617720"/>
            <a:ext cx="2011680" cy="274320"/>
          </a:xfrm>
          <a:prstGeom prst="rect">
            <a:avLst/>
          </a:prstGeom>
          <a:noFill/>
        </p:spPr>
        <p:txBody>
          <a:bodyPr wrap="square" lIns="0" rIns="0" tIns="0" bIns="0">
            <a:noAutofit/>
          </a:bodyPr>
          <a:lstStyle/>
          <a:p>
            <a:pPr algn="r"/>
            <a:r>
              <a:rPr sz="950" b="1" i="0" lang="fr-FR" altLang="en-US">
                <a:solidFill>
                  <a:srgbClr val="1C8C68"/>
                </a:solidFill>
                <a:latin typeface="Calibri"/>
              </a:rPr>
              <a:t>Wazuh + OpenBao</a:t>
            </a:r>
          </a:p>
        </p:txBody>
      </p:sp>
      <p:sp>
        <p:nvSpPr>
          <p:cNvPr id="21" name="TextBox 20"/>
          <p:cNvSpPr txBox="1"/>
          <p:nvPr/>
        </p:nvSpPr>
        <p:spPr>
          <a:xfrm>
            <a:off x="6446519" y="4928616"/>
            <a:ext cx="4892040" cy="1188719"/>
          </a:xfrm>
          <a:prstGeom prst="rect">
            <a:avLst/>
          </a:prstGeom>
          <a:noFill/>
        </p:spPr>
        <p:txBody>
          <a:bodyPr wrap="square" lIns="0" rIns="0" tIns="0" bIns="0" anchor="t">
            <a:noAutofit/>
          </a:bodyPr>
          <a:lstStyle/>
          <a:p>
            <a:pPr marL="182880" indent="-182880">
              <a:spcAft>
                <a:spcPts val="300"/>
              </a:spcAft>
              <a:buFont typeface="Arial"/>
              <a:buChar char="•"/>
            </a:pPr>
            <a:r>
              <a:rPr sz="869" b="0" lang="fr-FR" altLang="en-US">
                <a:solidFill>
                  <a:srgbClr val="1B2A4A"/>
                </a:solidFill>
                <a:latin typeface="Calibri"/>
              </a:rPr>
              <a:t>DataGuard reclassée avec les outils de conformité</a:t>
            </a:r>
          </a:p>
          <a:p>
            <a:pPr marL="182880" indent="-182880">
              <a:spcAft>
                <a:spcPts val="300"/>
              </a:spcAft>
              <a:buFont typeface="Arial"/>
              <a:buChar char="•"/>
            </a:pPr>
            <a:r>
              <a:rPr sz="869" b="0" lang="fr-FR" altLang="en-US">
                <a:solidFill>
                  <a:srgbClr val="1B2A4A"/>
                </a:solidFill>
                <a:latin typeface="Calibri"/>
              </a:rPr>
              <a:t>Vormetric écartée (licence propriétaire) au profit d'OpenBao (mêmes services de gestion des clés, sans coût de licence)</a:t>
            </a:r>
          </a:p>
          <a:p>
            <a:pPr marL="182880" indent="-182880">
              <a:spcAft>
                <a:spcPts val="0"/>
              </a:spcAft>
              <a:buFont typeface="Arial"/>
              <a:buChar char="•"/>
            </a:pPr>
            <a:r>
              <a:rPr sz="869" b="0" lang="fr-FR" altLang="en-US">
                <a:solidFill>
                  <a:srgbClr val="1B2A4A"/>
                </a:solidFill>
                <a:latin typeface="Calibri"/>
              </a:rPr>
              <a:t>OpenBao : gestion des clés + chiffrement à l'appel via Transit - pas un chiffrement transparent automatique</a:t>
            </a:r>
          </a:p>
        </p:txBody>
      </p:sp>
      <p:sp>
        <p:nvSpPr>
          <p:cNvPr id="22" name="TextBox 21"/>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§3.C.1-§3.C.5 - Alternatives évaluées : [R8]</a:t>
            </a:r>
          </a:p>
        </p:txBody>
      </p:sp>
      <p:sp>
        <p:nvSpPr>
          <p:cNvPr id="23" name="TextBox 22"/>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B3</a:t>
            </a:r>
          </a:p>
        </p:txBody>
      </p:sp>
      <p:sp>
        <p:nvSpPr>
          <p:cNvPr id="3" name="TextBox 2"/>
          <p:cNvSpPr txBox="1"/>
          <p:nvPr/>
        </p:nvSpPr>
        <p:spPr>
          <a:xfrm>
            <a:off x="548640" y="658368"/>
            <a:ext cx="10058400" cy="868680"/>
          </a:xfrm>
          <a:prstGeom prst="rect">
            <a:avLst/>
          </a:prstGeom>
          <a:noFill/>
        </p:spPr>
        <p:txBody>
          <a:bodyPr wrap="square" lIns="0" rIns="0" tIns="0" bIns="0" anchor="t">
            <a:noAutofit/>
          </a:bodyPr>
          <a:lstStyle/>
          <a:p>
            <a:pPr>
              <a:lnSpc>
                <a:spcPct val="102000"/>
              </a:lnSpc>
            </a:pPr>
            <a:r>
              <a:rPr sz="2400" b="1" i="0" lang="fr-FR" altLang="en-US">
                <a:solidFill>
                  <a:srgbClr val="1B2A4A"/>
                </a:solidFill>
                <a:latin typeface="Cambria"/>
              </a:rPr>
              <a:t>Circuit de gouvernance IA (1/2) - amendement &amp; critères de classification</a:t>
            </a:r>
          </a:p>
        </p:txBody>
      </p:sp>
      <p:pic>
        <p:nvPicPr>
          <p:cNvPr id="4" name="Picture 3" descr="icon_cpu.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691640"/>
            <a:ext cx="11091672" cy="960120"/>
          </a:xfrm>
          <a:prstGeom prst="roundRect">
            <a:avLst>
              <a:gd name="adj" fmla="val 8000"/>
            </a:avLst>
          </a:prstGeom>
          <a:solidFill>
            <a:srgbClr val="EAF7F1"/>
          </a:solidFill>
          <a:ln w="9525">
            <a:solidFill>
              <a:srgbClr val="D8DEE6"/>
            </a:solidFill>
          </a:ln>
          <a:effectLst/>
        </p:spPr>
        <p:txBody>
          <a:bodyPr rtlCol="0" anchor="ctr"/>
          <a:lstStyle/>
          <a:p>
            <a:pPr algn="ctr"/>
          </a:p>
        </p:txBody>
      </p:sp>
      <p:sp>
        <p:nvSpPr>
          <p:cNvPr id="6" name="TextBox 5"/>
          <p:cNvSpPr txBox="1"/>
          <p:nvPr/>
        </p:nvSpPr>
        <p:spPr>
          <a:xfrm>
            <a:off x="777240" y="1810512"/>
            <a:ext cx="10607040" cy="274320"/>
          </a:xfrm>
          <a:prstGeom prst="rect">
            <a:avLst/>
          </a:prstGeom>
          <a:noFill/>
        </p:spPr>
        <p:txBody>
          <a:bodyPr wrap="square" lIns="0" rIns="0" tIns="0" bIns="0">
            <a:noAutofit/>
          </a:bodyPr>
          <a:lstStyle/>
          <a:p>
            <a:r>
              <a:rPr sz="1050" b="1" i="0" lang="fr-FR" altLang="en-US">
                <a:solidFill>
                  <a:srgbClr val="1C8C68"/>
                </a:solidFill>
                <a:latin typeface="Calibri"/>
              </a:rPr>
              <a:t>Amendement à la politique [D21 §2.1.3, P8] :</a:t>
            </a:r>
          </a:p>
        </p:txBody>
      </p:sp>
      <p:sp>
        <p:nvSpPr>
          <p:cNvPr id="7" name="TextBox 6"/>
          <p:cNvSpPr txBox="1"/>
          <p:nvPr/>
        </p:nvSpPr>
        <p:spPr>
          <a:xfrm>
            <a:off x="777240" y="2084831"/>
            <a:ext cx="10607040" cy="548640"/>
          </a:xfrm>
          <a:prstGeom prst="rect">
            <a:avLst/>
          </a:prstGeom>
          <a:noFill/>
        </p:spPr>
        <p:txBody>
          <a:bodyPr wrap="square" lIns="0" rIns="0" tIns="0" bIns="0" anchor="t">
            <a:noAutofit/>
          </a:bodyPr>
          <a:lstStyle/>
          <a:p>
            <a:r>
              <a:rPr sz="1000" b="0" i="1" lang="fr-FR" altLang="en-US">
                <a:solidFill>
                  <a:srgbClr val="1B2A4A"/>
                </a:solidFill>
                <a:latin typeface="Calibri"/>
              </a:rPr>
              <a:t>« Cette gouvernance est proportionnée au niveau d'impact de chaque modèle sur l'utilisateur et sur l'entreprise, selon les critères et les circuits de validation différenciés définis en section 2.1.5, afin que l'intensité du contrôle ne freine pas disproportionnellement le déploiement des modèles à faible risque. »</a:t>
            </a:r>
          </a:p>
        </p:txBody>
      </p:sp>
      <p:sp>
        <p:nvSpPr>
          <p:cNvPr id="8" name="TextBox 7"/>
          <p:cNvSpPr txBox="1"/>
          <p:nvPr/>
        </p:nvSpPr>
        <p:spPr>
          <a:xfrm>
            <a:off x="548640" y="2743200"/>
            <a:ext cx="10543032" cy="274320"/>
          </a:xfrm>
          <a:prstGeom prst="rect">
            <a:avLst/>
          </a:prstGeom>
          <a:noFill/>
        </p:spPr>
        <p:txBody>
          <a:bodyPr wrap="square" lIns="0" rIns="0" tIns="0" bIns="0">
            <a:noAutofit/>
          </a:bodyPr>
          <a:lstStyle/>
          <a:p>
            <a:r>
              <a:rPr sz="1150" b="1" i="0" lang="fr-FR" altLang="en-US">
                <a:solidFill>
                  <a:srgbClr val="1C8C68"/>
                </a:solidFill>
                <a:latin typeface="Calibri"/>
              </a:rPr>
              <a:t>Critères de classification, avec degré d'automatisation [D3, annexe 3.E] :</a:t>
            </a:r>
          </a:p>
        </p:txBody>
      </p:sp>
      <p:graphicFrame>
        <p:nvGraphicFramePr>
          <p:cNvPr id="9" name="Table 8"/>
          <p:cNvGraphicFramePr>
            <a:graphicFrameLocks noGrp="1"/>
          </p:cNvGraphicFramePr>
          <p:nvPr/>
        </p:nvGraphicFramePr>
        <p:xfrm>
          <a:off x="548640" y="3035808"/>
          <a:ext cx="11091672" cy="2670048"/>
        </p:xfrm>
        <a:graphic>
          <a:graphicData uri="http://schemas.openxmlformats.org/drawingml/2006/table">
            <a:tbl>
              <a:tblPr>
                <a:tableStyleId>{5C22544A-7EE6-4342-B048-85BDC9FD1C3A}</a:tableStyleId>
              </a:tblPr>
              <a:tblGrid>
                <a:gridCol w="1737360"/>
                <a:gridCol w="6062472"/>
                <a:gridCol w="3291840"/>
              </a:tblGrid>
              <a:tr h="333756">
                <a:tc>
                  <a:txBody>
                    <a:bodyPr wrap="square"/>
                    <a:lstStyle/>
                    <a:p>
                      <a:pPr algn="l"/>
                      <a:r>
                        <a:rPr sz="1100" b="1" lang="fr-FR" altLang="en-US">
                          <a:solidFill>
                            <a:srgbClr val="FFFFFF"/>
                          </a:solidFill>
                          <a:latin typeface="Calibri"/>
                        </a:rPr>
                        <a:t>Niveau</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Critères</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Automatisation</a:t>
                      </a:r>
                    </a:p>
                  </a:txBody>
                  <a:tcPr anchor="ctr" marL="91440" marR="91440" marT="36576" marB="36576">
                    <a:solidFill>
                      <a:srgbClr val="1B2A4A"/>
                    </a:solidFill>
                  </a:tcPr>
                </a:tc>
              </a:tr>
              <a:tr h="333756">
                <a:tc>
                  <a:txBody>
                    <a:bodyPr wrap="square"/>
                    <a:lstStyle/>
                    <a:p>
                      <a:pPr algn="l"/>
                      <a:r>
                        <a:rPr sz="1050" b="0" lang="fr-FR" altLang="en-US">
                          <a:solidFill>
                            <a:srgbClr val="1B2A4A"/>
                          </a:solidFill>
                          <a:latin typeface="Calibri"/>
                        </a:rPr>
                        <a:t>Fort impact</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Portée majorité des utilisateurs actifs</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Calculé (métadonnées MLflow)</a:t>
                      </a:r>
                    </a:p>
                  </a:txBody>
                  <a:tcPr anchor="ctr" marL="91440" marR="91440" marT="36576" marB="36576">
                    <a:solidFill>
                      <a:srgbClr val="FFFFFF"/>
                    </a:solidFill>
                  </a:tcPr>
                </a:tc>
              </a:tr>
              <a:tr h="333756">
                <a:tc>
                  <a:txBody>
                    <a:bodyPr wrap="square"/>
                    <a:lstStyle/>
                    <a:p>
                      <a:pPr algn="l"/>
                      <a:r>
                        <a:rPr sz="1050" b="0" lang="fr-FR" altLang="en-US">
                          <a:solidFill>
                            <a:srgbClr val="1B2A4A"/>
                          </a:solidFill>
                          <a:latin typeface="Calibri"/>
                        </a:rPr>
                        <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Exposition art. 22 GDPR</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Calculé (lineage OpenMetadata/Collibra)</a:t>
                      </a:r>
                    </a:p>
                  </a:txBody>
                  <a:tcPr anchor="ctr" marL="91440" marR="91440" marT="36576" marB="36576">
                    <a:solidFill>
                      <a:srgbClr val="FFFFFF"/>
                    </a:solidFill>
                  </a:tcPr>
                </a:tc>
              </a:tr>
              <a:tr h="333756">
                <a:tc>
                  <a:txBody>
                    <a:bodyPr wrap="square"/>
                    <a:lstStyle/>
                    <a:p>
                      <a:pPr algn="l"/>
                      <a:r>
                        <a:rPr sz="1050" b="0" lang="fr-FR" altLang="en-US">
                          <a:solidFill>
                            <a:srgbClr val="1B2A4A"/>
                          </a:solidFill>
                          <a:latin typeface="Calibri"/>
                        </a:rPr>
                        <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Décision peu réversible</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Déclaratif (Model Owner)</a:t>
                      </a:r>
                    </a:p>
                  </a:txBody>
                  <a:tcPr anchor="ctr" marL="91440" marR="91440" marT="36576" marB="36576">
                    <a:solidFill>
                      <a:srgbClr val="FFFFFF"/>
                    </a:solidFill>
                  </a:tcPr>
                </a:tc>
              </a:tr>
              <a:tr h="333756">
                <a:tc>
                  <a:txBody>
                    <a:bodyPr wrap="square"/>
                    <a:lstStyle/>
                    <a:p>
                      <a:pPr algn="l"/>
                      <a:r>
                        <a:rPr sz="1050" b="0" lang="fr-FR" altLang="en-US">
                          <a:solidFill>
                            <a:srgbClr val="1B2A4A"/>
                          </a:solidFill>
                          <a:latin typeface="Calibri"/>
                        </a:rPr>
                        <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Fonctionnalité principale du produit</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Déclaratif (Model Owner)</a:t>
                      </a:r>
                    </a:p>
                  </a:txBody>
                  <a:tcPr anchor="ctr" marL="91440" marR="91440" marT="36576" marB="36576">
                    <a:solidFill>
                      <a:srgbClr val="FFFFFF"/>
                    </a:solidFill>
                  </a:tcPr>
                </a:tc>
              </a:tr>
              <a:tr h="333756">
                <a:tc>
                  <a:txBody>
                    <a:bodyPr wrap="square"/>
                    <a:lstStyle/>
                    <a:p>
                      <a:pPr algn="l"/>
                      <a:r>
                        <a:rPr sz="1050" b="0" lang="fr-FR" altLang="en-US">
                          <a:solidFill>
                            <a:srgbClr val="1B2A4A"/>
                          </a:solidFill>
                          <a:latin typeface="Calibri"/>
                        </a:rPr>
                        <a:t>Impact modéré</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Portée partielle (cohorte, marché, A/B test)</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Calculé</a:t>
                      </a:r>
                    </a:p>
                  </a:txBody>
                  <a:tcPr anchor="ctr" marL="91440" marR="91440" marT="36576" marB="36576">
                    <a:solidFill>
                      <a:srgbClr val="FFFFFF"/>
                    </a:solidFill>
                  </a:tcPr>
                </a:tc>
              </a:tr>
              <a:tr h="333756">
                <a:tc>
                  <a:txBody>
                    <a:bodyPr wrap="square"/>
                    <a:lstStyle/>
                    <a:p>
                      <a:pPr algn="l"/>
                      <a:r>
                        <a:rPr sz="1050" b="0" lang="fr-FR" altLang="en-US">
                          <a:solidFill>
                            <a:srgbClr val="1B2A4A"/>
                          </a:solidFill>
                          <a:latin typeface="Calibri"/>
                        </a:rPr>
                        <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Décision réversible sous délai court</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Déclaratif</a:t>
                      </a:r>
                    </a:p>
                  </a:txBody>
                  <a:tcPr anchor="ctr" marL="91440" marR="91440" marT="36576" marB="36576">
                    <a:solidFill>
                      <a:srgbClr val="FFFFFF"/>
                    </a:solidFill>
                  </a:tcPr>
                </a:tc>
              </a:tr>
              <a:tr h="333756">
                <a:tc>
                  <a:txBody>
                    <a:bodyPr wrap="square"/>
                    <a:lstStyle/>
                    <a:p>
                      <a:pPr algn="l"/>
                      <a:r>
                        <a:rPr sz="1050" b="0" lang="fr-FR" altLang="en-US">
                          <a:solidFill>
                            <a:srgbClr val="1B2A4A"/>
                          </a:solidFill>
                          <a:latin typeface="Calibri"/>
                        </a:rPr>
                        <a:t>Impact faible</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Aucun critère de fort impact rempli</a:t>
                      </a:r>
                    </a:p>
                  </a:txBody>
                  <a:tcPr anchor="ctr" marL="91440" marR="91440" marT="36576" marB="36576">
                    <a:solidFill>
                      <a:srgbClr val="FFFFFF"/>
                    </a:solidFill>
                  </a:tcPr>
                </a:tc>
                <a:tc>
                  <a:txBody>
                    <a:bodyPr wrap="square"/>
                    <a:lstStyle/>
                    <a:p>
                      <a:pPr algn="l"/>
                      <a:r>
                        <a:rPr sz="1050" b="0" lang="fr-FR" altLang="en-US">
                          <a:solidFill>
                            <a:srgbClr val="1B2A4A"/>
                          </a:solidFill>
                          <a:latin typeface="Calibri"/>
                        </a:rPr>
                        <a:t>Par défaut</a:t>
                      </a:r>
                    </a:p>
                  </a:txBody>
                  <a:tcPr anchor="ctr" marL="91440" marR="91440" marT="36576" marB="36576">
                    <a:solidFill>
                      <a:srgbClr val="FFFFFF"/>
                    </a:solidFill>
                  </a:tcPr>
                </a:tc>
              </a:tr>
            </a:tbl>
          </a:graphicData>
        </a:graphic>
      </p:graphicFrame>
      <p:sp>
        <p:nvSpPr>
          <p:cNvPr id="10" name="Rounded Rectangle 9"/>
          <p:cNvSpPr/>
          <p:nvPr/>
        </p:nvSpPr>
        <p:spPr>
          <a:xfrm>
            <a:off x="548640" y="5815584"/>
            <a:ext cx="11091672" cy="502920"/>
          </a:xfrm>
          <a:prstGeom prst="roundRect">
            <a:avLst>
              <a:gd name="adj" fmla="val 8000"/>
            </a:avLst>
          </a:prstGeom>
          <a:solidFill>
            <a:srgbClr val="FFFFFF"/>
          </a:solidFill>
          <a:ln w="9525">
            <a:solidFill>
              <a:srgbClr val="D8DEE6"/>
            </a:solidFill>
          </a:ln>
          <a:effectLst/>
        </p:spPr>
        <p:txBody>
          <a:bodyPr rtlCol="0" anchor="ctr"/>
          <a:lstStyle/>
          <a:p>
            <a:pPr algn="ctr"/>
          </a:p>
        </p:txBody>
      </p:sp>
      <p:sp>
        <p:nvSpPr>
          <p:cNvPr id="11" name="TextBox 10"/>
          <p:cNvSpPr txBox="1"/>
          <p:nvPr/>
        </p:nvSpPr>
        <p:spPr>
          <a:xfrm>
            <a:off x="777240" y="5815584"/>
            <a:ext cx="10607040" cy="502920"/>
          </a:xfrm>
          <a:prstGeom prst="rect">
            <a:avLst/>
          </a:prstGeom>
          <a:noFill/>
        </p:spPr>
        <p:txBody>
          <a:bodyPr wrap="square" lIns="0" rIns="0" tIns="0" bIns="0" anchor="ctr">
            <a:noAutofit/>
          </a:bodyPr>
          <a:lstStyle/>
          <a:p>
            <a:r>
              <a:rPr sz="980" b="0" i="1" lang="fr-FR" altLang="en-US">
                <a:solidFill>
                  <a:srgbClr val="5B6B84"/>
                </a:solidFill>
                <a:latin typeface="Calibri"/>
              </a:rPr>
              <a:t>Trois activités distinctes : classification (unique, création) - approbation de déploiement (chaque version, hérite du niveau) - reclassification (rare).</a:t>
            </a:r>
          </a:p>
        </p:txBody>
      </p:sp>
      <p:sp>
        <p:nvSpPr>
          <p:cNvPr id="12" name="TextBox 11"/>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annexe 3.E</a:t>
            </a:r>
          </a:p>
        </p:txBody>
      </p:sp>
      <p:sp>
        <p:nvSpPr>
          <p:cNvPr id="13" name="TextBox 12"/>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B3</a:t>
            </a:r>
          </a:p>
        </p:txBody>
      </p:sp>
      <p:sp>
        <p:nvSpPr>
          <p:cNvPr id="3" name="TextBox 2"/>
          <p:cNvSpPr txBox="1"/>
          <p:nvPr/>
        </p:nvSpPr>
        <p:spPr>
          <a:xfrm>
            <a:off x="548640" y="658368"/>
            <a:ext cx="10058400" cy="868680"/>
          </a:xfrm>
          <a:prstGeom prst="rect">
            <a:avLst/>
          </a:prstGeom>
          <a:noFill/>
        </p:spPr>
        <p:txBody>
          <a:bodyPr wrap="square" lIns="0" rIns="0" tIns="0" bIns="0" anchor="t">
            <a:noAutofit/>
          </a:bodyPr>
          <a:lstStyle/>
          <a:p>
            <a:pPr>
              <a:lnSpc>
                <a:spcPct val="102000"/>
              </a:lnSpc>
            </a:pPr>
            <a:r>
              <a:rPr sz="2400" b="1" i="0" lang="fr-FR" altLang="en-US">
                <a:solidFill>
                  <a:srgbClr val="1B2A4A"/>
                </a:solidFill>
                <a:latin typeface="Cambria"/>
              </a:rPr>
              <a:t>Circuit de gouvernance IA (2/2) - matrices RACI complètes</a:t>
            </a:r>
          </a:p>
        </p:txBody>
      </p:sp>
      <p:pic>
        <p:nvPicPr>
          <p:cNvPr id="4" name="Picture 3" descr="icon_cpu.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645920"/>
            <a:ext cx="11091672" cy="256032"/>
          </a:xfrm>
          <a:prstGeom prst="rect">
            <a:avLst/>
          </a:prstGeom>
          <a:noFill/>
        </p:spPr>
        <p:txBody>
          <a:bodyPr wrap="square" lIns="0" rIns="0" tIns="0" bIns="0">
            <a:noAutofit/>
          </a:bodyPr>
          <a:lstStyle/>
          <a:p>
            <a:r>
              <a:rPr sz="1050" b="1" i="0" lang="fr-FR" altLang="en-US">
                <a:solidFill>
                  <a:srgbClr val="1C8C68"/>
                </a:solidFill>
                <a:latin typeface="Calibri"/>
              </a:rPr>
              <a:t>Classification (événement unique, à la création du modèle dans le registre)</a:t>
            </a:r>
          </a:p>
        </p:txBody>
      </p:sp>
      <p:graphicFrame>
        <p:nvGraphicFramePr>
          <p:cNvPr id="6" name="Table 5"/>
          <p:cNvGraphicFramePr>
            <a:graphicFrameLocks noGrp="1"/>
          </p:cNvGraphicFramePr>
          <p:nvPr/>
        </p:nvGraphicFramePr>
        <p:xfrm>
          <a:off x="548640" y="1920240"/>
          <a:ext cx="10287000" cy="548640"/>
        </p:xfrm>
        <a:graphic>
          <a:graphicData uri="http://schemas.openxmlformats.org/drawingml/2006/table">
            <a:tbl>
              <a:tblPr>
                <a:tableStyleId>{5C22544A-7EE6-4342-B048-85BDC9FD1C3A}</a:tableStyleId>
              </a:tblPr>
              <a:tblGrid>
                <a:gridCol w="2331720"/>
                <a:gridCol w="795528"/>
                <a:gridCol w="795528"/>
                <a:gridCol w="795528"/>
                <a:gridCol w="795528"/>
                <a:gridCol w="795528"/>
                <a:gridCol w="795528"/>
                <a:gridCol w="795528"/>
                <a:gridCol w="795528"/>
                <a:gridCol w="795528"/>
                <a:gridCol w="795528"/>
              </a:tblGrid>
              <a:tr h="274320">
                <a:tc>
                  <a:txBody>
                    <a:bodyPr wrap="square"/>
                    <a:lstStyle/>
                    <a:p>
                      <a:pPr algn="l"/>
                      <a:r>
                        <a:rPr sz="850" b="1" lang="fr-FR" altLang="en-US">
                          <a:solidFill>
                            <a:srgbClr val="FFFFFF"/>
                          </a:solidFill>
                          <a:latin typeface="Calibri"/>
                        </a:rPr>
                        <a:t>Activité</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DGC</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CDO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DPO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DS</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DC</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MO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MRM</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Legal</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CEO</a:t>
                      </a:r>
                    </a:p>
                  </a:txBody>
                  <a:tcPr anchor="ctr" marL="91440" marR="91440" marT="36576" marB="36576">
                    <a:solidFill>
                      <a:srgbClr val="1B2A4A"/>
                    </a:solidFill>
                  </a:tcPr>
                </a:tc>
              </a:tr>
              <a:tr h="274320">
                <a:tc>
                  <a:txBody>
                    <a:bodyPr wrap="square"/>
                    <a:lstStyle/>
                    <a:p>
                      <a:pPr algn="l"/>
                      <a:r>
                        <a:rPr sz="900" b="0" lang="fr-FR" altLang="en-US">
                          <a:solidFill>
                            <a:srgbClr val="1B2A4A"/>
                          </a:solidFill>
                          <a:latin typeface="Calibri"/>
                        </a:rPr>
                        <a:t>Classifier un modèle</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R</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r>
            </a:tbl>
          </a:graphicData>
        </a:graphic>
      </p:graphicFrame>
      <p:sp>
        <p:nvSpPr>
          <p:cNvPr id="7" name="TextBox 6"/>
          <p:cNvSpPr txBox="1"/>
          <p:nvPr/>
        </p:nvSpPr>
        <p:spPr>
          <a:xfrm>
            <a:off x="548640" y="2514600"/>
            <a:ext cx="11091672" cy="256032"/>
          </a:xfrm>
          <a:prstGeom prst="rect">
            <a:avLst/>
          </a:prstGeom>
          <a:noFill/>
        </p:spPr>
        <p:txBody>
          <a:bodyPr wrap="square" lIns="0" rIns="0" tIns="0" bIns="0">
            <a:noAutofit/>
          </a:bodyPr>
          <a:lstStyle/>
          <a:p>
            <a:r>
              <a:rPr sz="1050" b="1" i="0" lang="fr-FR" altLang="en-US">
                <a:solidFill>
                  <a:srgbClr val="1C8C68"/>
                </a:solidFill>
                <a:latin typeface="Calibri"/>
              </a:rPr>
              <a:t>Approbation de déploiement (répétée à chaque version, hérite du niveau fixé)</a:t>
            </a:r>
          </a:p>
        </p:txBody>
      </p:sp>
      <p:graphicFrame>
        <p:nvGraphicFramePr>
          <p:cNvPr id="8" name="Table 7"/>
          <p:cNvGraphicFramePr>
            <a:graphicFrameLocks noGrp="1"/>
          </p:cNvGraphicFramePr>
          <p:nvPr/>
        </p:nvGraphicFramePr>
        <p:xfrm>
          <a:off x="548640" y="2788920"/>
          <a:ext cx="10287000" cy="1097280"/>
        </p:xfrm>
        <a:graphic>
          <a:graphicData uri="http://schemas.openxmlformats.org/drawingml/2006/table">
            <a:tbl>
              <a:tblPr>
                <a:tableStyleId>{5C22544A-7EE6-4342-B048-85BDC9FD1C3A}</a:tableStyleId>
              </a:tblPr>
              <a:tblGrid>
                <a:gridCol w="2331720"/>
                <a:gridCol w="795528"/>
                <a:gridCol w="795528"/>
                <a:gridCol w="795528"/>
                <a:gridCol w="795528"/>
                <a:gridCol w="795528"/>
                <a:gridCol w="795528"/>
                <a:gridCol w="795528"/>
                <a:gridCol w="795528"/>
                <a:gridCol w="795528"/>
                <a:gridCol w="795528"/>
              </a:tblGrid>
              <a:tr h="274320">
                <a:tc>
                  <a:txBody>
                    <a:bodyPr wrap="square"/>
                    <a:lstStyle/>
                    <a:p>
                      <a:pPr algn="l"/>
                      <a:r>
                        <a:rPr sz="850" b="1" lang="fr-FR" altLang="en-US">
                          <a:solidFill>
                            <a:srgbClr val="FFFFFF"/>
                          </a:solidFill>
                          <a:latin typeface="Calibri"/>
                        </a:rPr>
                        <a:t>Activité</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DGC</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CDO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DPO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DS</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DC</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MO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MRM</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Legal</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CEO</a:t>
                      </a:r>
                    </a:p>
                  </a:txBody>
                  <a:tcPr anchor="ctr" marL="91440" marR="91440" marT="36576" marB="36576">
                    <a:solidFill>
                      <a:srgbClr val="1B2A4A"/>
                    </a:solidFill>
                  </a:tcPr>
                </a:tc>
              </a:tr>
              <a:tr h="274320">
                <a:tc>
                  <a:txBody>
                    <a:bodyPr wrap="square"/>
                    <a:lstStyle/>
                    <a:p>
                      <a:pPr algn="l"/>
                      <a:r>
                        <a:rPr sz="900" b="0" lang="fr-FR" altLang="en-US">
                          <a:solidFill>
                            <a:srgbClr val="1B2A4A"/>
                          </a:solidFill>
                          <a:latin typeface="Calibri"/>
                        </a:rPr>
                        <a:t>Fort impact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C</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C</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R</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C</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r>
              <a:tr h="274320">
                <a:tc>
                  <a:txBody>
                    <a:bodyPr wrap="square"/>
                    <a:lstStyle/>
                    <a:p>
                      <a:pPr algn="l"/>
                      <a:r>
                        <a:rPr sz="900" b="0" lang="fr-FR" altLang="en-US">
                          <a:solidFill>
                            <a:srgbClr val="1B2A4A"/>
                          </a:solidFill>
                          <a:latin typeface="Calibri"/>
                        </a:rPr>
                        <a:t>Impact modéré</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C</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R</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r>
              <a:tr h="274320">
                <a:tc>
                  <a:txBody>
                    <a:bodyPr wrap="square"/>
                    <a:lstStyle/>
                    <a:p>
                      <a:pPr algn="l"/>
                      <a:r>
                        <a:rPr sz="900" b="0" lang="fr-FR" altLang="en-US">
                          <a:solidFill>
                            <a:srgbClr val="1B2A4A"/>
                          </a:solidFill>
                          <a:latin typeface="Calibri"/>
                        </a:rPr>
                        <a:t>Impact faible (auto-certif.)</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RA</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r>
            </a:tbl>
          </a:graphicData>
        </a:graphic>
      </p:graphicFrame>
      <p:sp>
        <p:nvSpPr>
          <p:cNvPr id="9" name="TextBox 8"/>
          <p:cNvSpPr txBox="1"/>
          <p:nvPr/>
        </p:nvSpPr>
        <p:spPr>
          <a:xfrm>
            <a:off x="548640" y="3886200"/>
            <a:ext cx="11091672" cy="256032"/>
          </a:xfrm>
          <a:prstGeom prst="rect">
            <a:avLst/>
          </a:prstGeom>
          <a:noFill/>
        </p:spPr>
        <p:txBody>
          <a:bodyPr wrap="square" lIns="0" rIns="0" tIns="0" bIns="0">
            <a:noAutofit/>
          </a:bodyPr>
          <a:lstStyle/>
          <a:p>
            <a:r>
              <a:rPr sz="1050" b="1" i="0" lang="fr-FR" altLang="en-US">
                <a:solidFill>
                  <a:srgbClr val="1C8C68"/>
                </a:solidFill>
                <a:latin typeface="Calibri"/>
              </a:rPr>
              <a:t>Contrôle a posteriori et reclassification (événements rares)</a:t>
            </a:r>
          </a:p>
        </p:txBody>
      </p:sp>
      <p:graphicFrame>
        <p:nvGraphicFramePr>
          <p:cNvPr id="10" name="Table 9"/>
          <p:cNvGraphicFramePr>
            <a:graphicFrameLocks noGrp="1"/>
          </p:cNvGraphicFramePr>
          <p:nvPr/>
        </p:nvGraphicFramePr>
        <p:xfrm>
          <a:off x="548640" y="4160520"/>
          <a:ext cx="10287000" cy="822960"/>
        </p:xfrm>
        <a:graphic>
          <a:graphicData uri="http://schemas.openxmlformats.org/drawingml/2006/table">
            <a:tbl>
              <a:tblPr>
                <a:tableStyleId>{5C22544A-7EE6-4342-B048-85BDC9FD1C3A}</a:tableStyleId>
              </a:tblPr>
              <a:tblGrid>
                <a:gridCol w="2331720"/>
                <a:gridCol w="795528"/>
                <a:gridCol w="795528"/>
                <a:gridCol w="795528"/>
                <a:gridCol w="795528"/>
                <a:gridCol w="795528"/>
                <a:gridCol w="795528"/>
                <a:gridCol w="795528"/>
                <a:gridCol w="795528"/>
                <a:gridCol w="795528"/>
                <a:gridCol w="795528"/>
              </a:tblGrid>
              <a:tr h="274320">
                <a:tc>
                  <a:txBody>
                    <a:bodyPr wrap="square"/>
                    <a:lstStyle/>
                    <a:p>
                      <a:pPr algn="l"/>
                      <a:r>
                        <a:rPr sz="850" b="1" lang="fr-FR" altLang="en-US">
                          <a:solidFill>
                            <a:srgbClr val="FFFFFF"/>
                          </a:solidFill>
                          <a:latin typeface="Calibri"/>
                        </a:rPr>
                        <a:t>Activité</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DGC</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CDO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DPO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DS</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DC</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MO</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MRM</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Legal</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CEO</a:t>
                      </a:r>
                    </a:p>
                  </a:txBody>
                  <a:tcPr anchor="ctr" marL="91440" marR="91440" marT="36576" marB="36576">
                    <a:solidFill>
                      <a:srgbClr val="1B2A4A"/>
                    </a:solidFill>
                  </a:tcPr>
                </a:tc>
              </a:tr>
              <a:tr h="274320">
                <a:tc>
                  <a:txBody>
                    <a:bodyPr wrap="square"/>
                    <a:lstStyle/>
                    <a:p>
                      <a:pPr algn="l"/>
                      <a:r>
                        <a:rPr sz="900" b="0" lang="fr-FR" altLang="en-US">
                          <a:solidFill>
                            <a:srgbClr val="1B2A4A"/>
                          </a:solidFill>
                          <a:latin typeface="Calibri"/>
                        </a:rPr>
                        <a:t>Contrôle par échantillonnage (faible)</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RA</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r>
              <a:tr h="274320">
                <a:tc>
                  <a:txBody>
                    <a:bodyPr wrap="square"/>
                    <a:lstStyle/>
                    <a:p>
                      <a:pPr algn="l"/>
                      <a:r>
                        <a:rPr sz="900" b="0" lang="fr-FR" altLang="en-US">
                          <a:solidFill>
                            <a:srgbClr val="1B2A4A"/>
                          </a:solidFill>
                          <a:latin typeface="Calibri"/>
                        </a:rPr>
                        <a:t>Reclasser un modèle</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C</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RA</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a:t>
                      </a:r>
                    </a:p>
                  </a:txBody>
                  <a:tcPr anchor="ctr" marL="91440" marR="91440" marT="36576" marB="36576">
                    <a:solidFill>
                      <a:srgbClr val="FFFFFF"/>
                    </a:solidFill>
                  </a:tcPr>
                </a:tc>
                <a:tc>
                  <a:txBody>
                    <a:bodyPr wrap="square"/>
                    <a:lstStyle/>
                    <a:p>
                      <a:pPr algn="l"/>
                      <a:r>
                        <a:rPr sz="900" b="0" lang="fr-FR" altLang="en-US">
                          <a:solidFill>
                            <a:srgbClr val="1B2A4A"/>
                          </a:solidFill>
                          <a:latin typeface="Calibri"/>
                        </a:rPr>
                        <a:t>I</a:t>
                      </a:r>
                    </a:p>
                  </a:txBody>
                  <a:tcPr anchor="ctr" marL="91440" marR="91440" marT="36576" marB="36576">
                    <a:solidFill>
                      <a:srgbClr val="FFFFFF"/>
                    </a:solidFill>
                  </a:tcPr>
                </a:tc>
              </a:tr>
            </a:tbl>
          </a:graphicData>
        </a:graphic>
      </p:graphicFrame>
      <p:sp>
        <p:nvSpPr>
          <p:cNvPr id="11" name="TextBox 10"/>
          <p:cNvSpPr txBox="1"/>
          <p:nvPr/>
        </p:nvSpPr>
        <p:spPr>
          <a:xfrm>
            <a:off x="548640" y="5074920"/>
            <a:ext cx="11091672" cy="777240"/>
          </a:xfrm>
          <a:prstGeom prst="rect">
            <a:avLst/>
          </a:prstGeom>
          <a:noFill/>
        </p:spPr>
        <p:txBody>
          <a:bodyPr wrap="square" lIns="0" rIns="0" tIns="0" bIns="0" anchor="t">
            <a:noAutofit/>
          </a:bodyPr>
          <a:lstStyle/>
          <a:p>
            <a:r>
              <a:rPr sz="930" b="0" i="1" lang="fr-FR" altLang="en-US">
                <a:solidFill>
                  <a:srgbClr val="5B6B84"/>
                </a:solidFill>
                <a:latin typeface="Calibri"/>
              </a:rPr>
              <a:t>R = Responsible, A = Accountable, C = Consulted, I = Informed. Le nombre de parties prenantes décroît mécaniquement avec le niveau d'impact - proportionnalité visible dans la matrice elle-même. Statut : amendements proposés à [D21]/[D22], intégration formelle à faire séparément.</a:t>
            </a:r>
          </a:p>
        </p:txBody>
      </p:sp>
      <p:sp>
        <p:nvSpPr>
          <p:cNvPr id="12" name="TextBox 11"/>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annexe 3.E</a:t>
            </a:r>
          </a:p>
        </p:txBody>
      </p:sp>
      <p:sp>
        <p:nvSpPr>
          <p:cNvPr id="13" name="TextBox 12"/>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B4</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Plan pilote - calendrier détaillé des jalons</a:t>
            </a:r>
          </a:p>
        </p:txBody>
      </p:sp>
      <p:pic>
        <p:nvPicPr>
          <p:cNvPr id="4" name="Picture 3" descr="icon_map.png"/>
          <p:cNvPicPr>
            <a:picLocks noChangeAspect="1"/>
          </p:cNvPicPr>
          <p:nvPr/>
        </p:nvPicPr>
        <p:blipFill>
          <a:blip r:embed="rId2"/>
          <a:stretch>
            <a:fillRect/>
          </a:stretch>
        </p:blipFill>
        <p:spPr>
          <a:xfrm>
            <a:off x="11140135" y="365760"/>
            <a:ext cx="658368" cy="658368"/>
          </a:xfrm>
          <a:prstGeom prst="rect">
            <a:avLst/>
          </a:prstGeom>
        </p:spPr>
      </p:pic>
      <p:graphicFrame>
        <p:nvGraphicFramePr>
          <p:cNvPr id="5" name="Table 4"/>
          <p:cNvGraphicFramePr>
            <a:graphicFrameLocks noGrp="1"/>
          </p:cNvGraphicFramePr>
          <p:nvPr/>
        </p:nvGraphicFramePr>
        <p:xfrm>
          <a:off x="548640" y="1572768"/>
          <a:ext cx="5394960" cy="3401560"/>
        </p:xfrm>
        <a:graphic>
          <a:graphicData uri="http://schemas.openxmlformats.org/drawingml/2006/table">
            <a:tbl>
              <a:tblPr>
                <a:tableStyleId>{5C22544A-7EE6-4342-B048-85BDC9FD1C3A}</a:tableStyleId>
              </a:tblPr>
              <a:tblGrid>
                <a:gridCol w="457200"/>
                <a:gridCol w="502920"/>
                <a:gridCol w="3520440"/>
                <a:gridCol w="914400"/>
              </a:tblGrid>
              <a:tr h="340156">
                <a:tc>
                  <a:txBody>
                    <a:bodyPr wrap="square"/>
                    <a:lstStyle/>
                    <a:p>
                      <a:pPr algn="l"/>
                      <a:r>
                        <a:rPr sz="850" b="1" lang="fr-FR" altLang="en-US">
                          <a:solidFill>
                            <a:srgbClr val="FFFFFF"/>
                          </a:solidFill>
                          <a:latin typeface="Calibri"/>
                        </a:rPr>
                        <a:t>Jalon</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Sem.</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Actions</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Porteur</a:t>
                      </a:r>
                    </a:p>
                  </a:txBody>
                  <a:tcPr anchor="ctr" marL="91440" marR="91440" marT="36576" marB="36576">
                    <a:solidFill>
                      <a:srgbClr val="1B2A4A"/>
                    </a:solidFill>
                  </a:tcPr>
                </a:tc>
              </a:tr>
              <a:tr h="340156">
                <a:tc>
                  <a:txBody>
                    <a:bodyPr wrap="square"/>
                    <a:lstStyle/>
                    <a:p>
                      <a:pPr algn="l"/>
                      <a:r>
                        <a:rPr sz="800" b="0" lang="fr-FR" altLang="en-US">
                          <a:solidFill>
                            <a:srgbClr val="1B2A4A"/>
                          </a:solidFill>
                          <a:latin typeface="Calibri"/>
                        </a:rPr>
                        <a:t>01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Lancement, confirmation annuaire central SAML/OIDC</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PPM, DC</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02</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S1-S3</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Sécurisation infra. préexistantes ; régén. secrets, collecte profils</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DC</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03</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S3-S4</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Vérification capacités SSO/sync. groupes de TrustArc</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DPO, Legal</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04</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S4-S5</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Vérification RBAC natif MLflow, AIF360, AIX360, Wazuh</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DC, MO, MRM</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05</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S5-S6</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Test d'intégration bout-en-bout (annuaire, OMD, Collibra, TrustArc, OpenBao)</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DC</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06</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S7</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Revue phase de sécurisation : poursuite ou suspension</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PPM, DGC</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07.1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S8-S11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Déploiement technique (OMD, DVC, Soda Core, MLflow, AIF360, AIX360, Wazuh, OpenBao)</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DC</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07.2</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S8-S17</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Population initiale du RoPA (TrustArc) scopée PD</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DPO, Legal</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08.1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S12</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Vérif. recouvrement Soda Core / module qualité OpenMetadata</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DC</a:t>
                      </a:r>
                    </a:p>
                  </a:txBody>
                  <a:tcPr anchor="ctr" marL="91440" marR="91440" marT="36576" marB="36576">
                    <a:solidFill>
                      <a:srgbClr val="FFFFFF"/>
                    </a:solidFill>
                  </a:tcPr>
                </a:tc>
              </a:tr>
            </a:tbl>
          </a:graphicData>
        </a:graphic>
      </p:graphicFrame>
      <p:graphicFrame>
        <p:nvGraphicFramePr>
          <p:cNvPr id="6" name="Table 5"/>
          <p:cNvGraphicFramePr>
            <a:graphicFrameLocks noGrp="1"/>
          </p:cNvGraphicFramePr>
          <p:nvPr/>
        </p:nvGraphicFramePr>
        <p:xfrm>
          <a:off x="6080760" y="1572768"/>
          <a:ext cx="5394960" cy="3741716"/>
        </p:xfrm>
        <a:graphic>
          <a:graphicData uri="http://schemas.openxmlformats.org/drawingml/2006/table">
            <a:tbl>
              <a:tblPr>
                <a:tableStyleId>{5C22544A-7EE6-4342-B048-85BDC9FD1C3A}</a:tableStyleId>
              </a:tblPr>
              <a:tblGrid>
                <a:gridCol w="457200"/>
                <a:gridCol w="502920"/>
                <a:gridCol w="3520440"/>
                <a:gridCol w="914400"/>
              </a:tblGrid>
              <a:tr h="340156">
                <a:tc>
                  <a:txBody>
                    <a:bodyPr wrap="square"/>
                    <a:lstStyle/>
                    <a:p>
                      <a:pPr algn="l"/>
                      <a:r>
                        <a:rPr sz="850" b="1" lang="fr-FR" altLang="en-US">
                          <a:solidFill>
                            <a:srgbClr val="FFFFFF"/>
                          </a:solidFill>
                          <a:latin typeface="Calibri"/>
                        </a:rPr>
                        <a:t>Jalon</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Sem.</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Actions</a:t>
                      </a:r>
                    </a:p>
                  </a:txBody>
                  <a:tcPr anchor="ctr" marL="91440" marR="91440" marT="36576" marB="36576">
                    <a:solidFill>
                      <a:srgbClr val="1B2A4A"/>
                    </a:solidFill>
                  </a:tcPr>
                </a:tc>
                <a:tc>
                  <a:txBody>
                    <a:bodyPr wrap="square"/>
                    <a:lstStyle/>
                    <a:p>
                      <a:pPr algn="l"/>
                      <a:r>
                        <a:rPr sz="850" b="1" lang="fr-FR" altLang="en-US">
                          <a:solidFill>
                            <a:srgbClr val="FFFFFF"/>
                          </a:solidFill>
                          <a:latin typeface="Calibri"/>
                        </a:rPr>
                        <a:t>Porteur</a:t>
                      </a:r>
                    </a:p>
                  </a:txBody>
                  <a:tcPr anchor="ctr" marL="91440" marR="91440" marT="36576" marB="36576">
                    <a:solidFill>
                      <a:srgbClr val="1B2A4A"/>
                    </a:solidFill>
                  </a:tcPr>
                </a:tc>
              </a:tr>
              <a:tr h="340156">
                <a:tc>
                  <a:txBody>
                    <a:bodyPr wrap="square"/>
                    <a:lstStyle/>
                    <a:p>
                      <a:pPr algn="l"/>
                      <a:r>
                        <a:rPr sz="800" b="0" lang="fr-FR" altLang="en-US">
                          <a:solidFill>
                            <a:srgbClr val="1B2A4A"/>
                          </a:solidFill>
                          <a:latin typeface="Calibri"/>
                        </a:rPr>
                        <a:t>08.2</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S12</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Population initiale du glossaire Collibra scopée PD</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DS</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09</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S13</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Vérification du connecteur Collibra-OpenMetadata</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DC</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10.1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S14</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Classification initiale du modèle testé</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MO, MRM</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10.2</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S14-S17</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Exécution réelle : qualité courante et données d'entraînement, entraînement/évaluation</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DS, MO</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11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S16</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Vérification technique intermédiaire (résultats Soda Core)</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DS</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12</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S17</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Revue intermédiaire (Engineering overhead, adoption standards)</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PPM</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13</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S18</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1er passage du circuit d'approbation (niveau classé au J.10.1)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MRM, DGC</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14</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S19</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Consolidation des indicateurs, recueil des retours</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Toute l'équipe</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15</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S20</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Revue de synthèse</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PPM</a:t>
                      </a:r>
                    </a:p>
                  </a:txBody>
                  <a:tcPr anchor="ctr" marL="91440" marR="91440" marT="36576" marB="36576">
                    <a:solidFill>
                      <a:srgbClr val="FFFFFF"/>
                    </a:solidFill>
                  </a:tcPr>
                </a:tc>
              </a:tr>
              <a:tr h="340156">
                <a:tc>
                  <a:txBody>
                    <a:bodyPr wrap="square"/>
                    <a:lstStyle/>
                    <a:p>
                      <a:pPr algn="l"/>
                      <a:r>
                        <a:rPr sz="800" b="0" lang="fr-FR" altLang="en-US">
                          <a:solidFill>
                            <a:srgbClr val="1B2A4A"/>
                          </a:solidFill>
                          <a:latin typeface="Calibri"/>
                        </a:rPr>
                        <a:t>16</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S21</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Revue finale et clôture du pilote</a:t>
                      </a:r>
                    </a:p>
                  </a:txBody>
                  <a:tcPr anchor="ctr" marL="91440" marR="91440" marT="36576" marB="36576">
                    <a:solidFill>
                      <a:srgbClr val="FFFFFF"/>
                    </a:solidFill>
                  </a:tcPr>
                </a:tc>
                <a:tc>
                  <a:txBody>
                    <a:bodyPr wrap="square"/>
                    <a:lstStyle/>
                    <a:p>
                      <a:pPr algn="l"/>
                      <a:r>
                        <a:rPr sz="800" b="0" lang="fr-FR" altLang="en-US">
                          <a:solidFill>
                            <a:srgbClr val="1B2A4A"/>
                          </a:solidFill>
                          <a:latin typeface="Calibri"/>
                        </a:rPr>
                        <a:t>DGC</a:t>
                      </a:r>
                    </a:p>
                  </a:txBody>
                  <a:tcPr anchor="ctr" marL="91440" marR="91440" marT="36576" marB="36576">
                    <a:solidFill>
                      <a:srgbClr val="FFFFFF"/>
                    </a:solidFill>
                  </a:tcPr>
                </a:tc>
              </a:tr>
            </a:tbl>
          </a:graphicData>
        </a:graphic>
      </p:graphicFrame>
      <p:sp>
        <p:nvSpPr>
          <p:cNvPr id="7" name="TextBox 6"/>
          <p:cNvSpPr txBox="1"/>
          <p:nvPr/>
        </p:nvSpPr>
        <p:spPr>
          <a:xfrm>
            <a:off x="548640" y="5532120"/>
            <a:ext cx="11091672" cy="685800"/>
          </a:xfrm>
          <a:prstGeom prst="rect">
            <a:avLst/>
          </a:prstGeom>
          <a:noFill/>
        </p:spPr>
        <p:txBody>
          <a:bodyPr wrap="square" lIns="0" rIns="0" tIns="0" bIns="0" anchor="t">
            <a:noAutofit/>
          </a:bodyPr>
          <a:lstStyle/>
          <a:p>
            <a:r>
              <a:rPr sz="880" b="0" i="1" lang="fr-FR" altLang="en-US">
                <a:solidFill>
                  <a:srgbClr val="5B6B84"/>
                </a:solidFill>
                <a:latin typeface="Calibri"/>
              </a:rPr>
              <a:t>Livrables : rapport qualité des données - rapport de validation du circuit de classification/approbation - estimation Engineering overhead - note de recouvrement technique - note de synchronisation catalogage - note de contrôle d'accès - rapport de migration de sécurisation - rapport de déploiement initial Collibra/RoPA - retours des parties prenantes - rapport d'évaluation du double rattachement.</a:t>
            </a:r>
          </a:p>
        </p:txBody>
      </p:sp>
      <p:sp>
        <p:nvSpPr>
          <p:cNvPr id="8" name="TextBox 7"/>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§3.F.4-§3.F.5</a:t>
            </a:r>
          </a:p>
        </p:txBody>
      </p:sp>
      <p:sp>
        <p:nvSpPr>
          <p:cNvPr id="9" name="TextBox 8"/>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B5</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Méthode de mesure des KPIs et du double rattachement</a:t>
            </a:r>
          </a:p>
        </p:txBody>
      </p:sp>
      <p:pic>
        <p:nvPicPr>
          <p:cNvPr id="4" name="Picture 3" descr="icon_barchart.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600200"/>
            <a:ext cx="11091672" cy="274320"/>
          </a:xfrm>
          <a:prstGeom prst="rect">
            <a:avLst/>
          </a:prstGeom>
          <a:noFill/>
        </p:spPr>
        <p:txBody>
          <a:bodyPr wrap="square" lIns="0" rIns="0" tIns="0" bIns="0">
            <a:noAutofit/>
          </a:bodyPr>
          <a:lstStyle/>
          <a:p>
            <a:r>
              <a:rPr sz="1100" b="1" i="0" lang="fr-FR" altLang="en-US">
                <a:solidFill>
                  <a:srgbClr val="1C8C68"/>
                </a:solidFill>
                <a:latin typeface="Calibri"/>
              </a:rPr>
              <a:t>Méthode de mesure des dimensions DMAT (re-cotation sur le périmètre pilote uniquement) :</a:t>
            </a:r>
          </a:p>
        </p:txBody>
      </p:sp>
      <p:graphicFrame>
        <p:nvGraphicFramePr>
          <p:cNvPr id="6" name="Table 5"/>
          <p:cNvGraphicFramePr>
            <a:graphicFrameLocks noGrp="1"/>
          </p:cNvGraphicFramePr>
          <p:nvPr/>
        </p:nvGraphicFramePr>
        <p:xfrm>
          <a:off x="548640" y="1920240"/>
          <a:ext cx="10908792" cy="1536192"/>
        </p:xfrm>
        <a:graphic>
          <a:graphicData uri="http://schemas.openxmlformats.org/drawingml/2006/table">
            <a:tbl>
              <a:tblPr>
                <a:tableStyleId>{5C22544A-7EE6-4342-B048-85BDC9FD1C3A}</a:tableStyleId>
              </a:tblPr>
              <a:tblGrid>
                <a:gridCol w="2011680"/>
                <a:gridCol w="2377440"/>
                <a:gridCol w="1188720"/>
                <a:gridCol w="5330952"/>
              </a:tblGrid>
              <a:tr h="384048">
                <a:tc>
                  <a:txBody>
                    <a:bodyPr wrap="square"/>
                    <a:lstStyle/>
                    <a:p>
                      <a:pPr algn="l"/>
                      <a:r>
                        <a:rPr sz="1000" b="1" lang="fr-FR" altLang="en-US">
                          <a:solidFill>
                            <a:srgbClr val="FFFFFF"/>
                          </a:solidFill>
                          <a:latin typeface="Calibri"/>
                        </a:rPr>
                        <a:t>Dimension</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Porteur</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Jalon</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Instrument de mesure</a:t>
                      </a:r>
                    </a:p>
                  </a:txBody>
                  <a:tcPr anchor="ctr" marL="91440" marR="91440" marT="36576" marB="36576">
                    <a:solidFill>
                      <a:srgbClr val="1B2A4A"/>
                    </a:solidFill>
                  </a:tcPr>
                </a:tc>
              </a:tr>
              <a:tr h="384048">
                <a:tc>
                  <a:txBody>
                    <a:bodyPr wrap="square"/>
                    <a:lstStyle/>
                    <a:p>
                      <a:pPr algn="l"/>
                      <a:r>
                        <a:rPr sz="950" b="0" lang="fr-FR" altLang="en-US">
                          <a:solidFill>
                            <a:srgbClr val="1B2A4A"/>
                          </a:solidFill>
                          <a:latin typeface="Calibri"/>
                        </a:rPr>
                        <a:t>Data Governance</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PPM (auto-éval.), validation DGC</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J.16</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Re-cotation Q1-Q6, Q10-Q13 [R1]</a:t>
                      </a:r>
                    </a:p>
                  </a:txBody>
                  <a:tcPr anchor="ctr" marL="91440" marR="91440" marT="36576" marB="36576">
                    <a:solidFill>
                      <a:srgbClr val="FFFFFF"/>
                    </a:solidFill>
                  </a:tcPr>
                </a:tc>
              </a:tr>
              <a:tr h="384048">
                <a:tc>
                  <a:txBody>
                    <a:bodyPr wrap="square"/>
                    <a:lstStyle/>
                    <a:p>
                      <a:pPr algn="l"/>
                      <a:r>
                        <a:rPr sz="950" b="0" lang="fr-FR" altLang="en-US">
                          <a:solidFill>
                            <a:srgbClr val="1B2A4A"/>
                          </a:solidFill>
                          <a:latin typeface="Calibri"/>
                        </a:rPr>
                        <a:t>Data Quality</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Data Steward, PPM</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J.12 puis 16</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Re-cotation Q36-Q39 [R1], journaux Soda Core</a:t>
                      </a:r>
                    </a:p>
                  </a:txBody>
                  <a:tcPr anchor="ctr" marL="91440" marR="91440" marT="36576" marB="36576">
                    <a:solidFill>
                      <a:srgbClr val="FFFFFF"/>
                    </a:solidFill>
                  </a:tcPr>
                </a:tc>
              </a:tr>
              <a:tr h="384048">
                <a:tc>
                  <a:txBody>
                    <a:bodyPr wrap="square"/>
                    <a:lstStyle/>
                    <a:p>
                      <a:pPr algn="l"/>
                      <a:r>
                        <a:rPr sz="950" b="0" lang="fr-FR" altLang="en-US">
                          <a:solidFill>
                            <a:srgbClr val="1B2A4A"/>
                          </a:solidFill>
                          <a:latin typeface="Calibri"/>
                        </a:rPr>
                        <a:t>Analytics &amp; BI (IA)</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Model Owner, MRM</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J.12 puis 16</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Re-cotation Q55-Q57 [R1], dossier + AIF360/AIX360</a:t>
                      </a:r>
                    </a:p>
                  </a:txBody>
                  <a:tcPr anchor="ctr" marL="91440" marR="91440" marT="36576" marB="36576">
                    <a:solidFill>
                      <a:srgbClr val="FFFFFF"/>
                    </a:solidFill>
                  </a:tcPr>
                </a:tc>
              </a:tr>
            </a:tbl>
          </a:graphicData>
        </a:graphic>
      </p:graphicFrame>
      <p:sp>
        <p:nvSpPr>
          <p:cNvPr id="7" name="TextBox 6"/>
          <p:cNvSpPr txBox="1"/>
          <p:nvPr/>
        </p:nvSpPr>
        <p:spPr>
          <a:xfrm>
            <a:off x="548640" y="3520440"/>
            <a:ext cx="11091672" cy="457200"/>
          </a:xfrm>
          <a:prstGeom prst="rect">
            <a:avLst/>
          </a:prstGeom>
          <a:noFill/>
        </p:spPr>
        <p:txBody>
          <a:bodyPr wrap="square" lIns="0" rIns="0" tIns="0" bIns="0" anchor="t">
            <a:noAutofit/>
          </a:bodyPr>
          <a:lstStyle/>
          <a:p>
            <a:r>
              <a:rPr sz="950" b="0" i="1" lang="fr-FR" altLang="en-US">
                <a:solidFill>
                  <a:srgbClr val="5B6B84"/>
                </a:solidFill>
                <a:latin typeface="Calibri"/>
              </a:rPr>
              <a:t>Nature de l'exercice : jugement qualitatif ancré à des artefacts opérationnels datés (logs, horodatages, dossiers) plutôt qu'à un texte narratif rédigé a posteriori - la validation DGC réduit le biais d'auto-évaluation sans rendre le jugement objectif.</a:t>
            </a:r>
          </a:p>
        </p:txBody>
      </p:sp>
      <p:sp>
        <p:nvSpPr>
          <p:cNvPr id="8" name="TextBox 7"/>
          <p:cNvSpPr txBox="1"/>
          <p:nvPr/>
        </p:nvSpPr>
        <p:spPr>
          <a:xfrm>
            <a:off x="548640" y="4096512"/>
            <a:ext cx="11091672" cy="274320"/>
          </a:xfrm>
          <a:prstGeom prst="rect">
            <a:avLst/>
          </a:prstGeom>
          <a:noFill/>
        </p:spPr>
        <p:txBody>
          <a:bodyPr wrap="square" lIns="0" rIns="0" tIns="0" bIns="0">
            <a:noAutofit/>
          </a:bodyPr>
          <a:lstStyle/>
          <a:p>
            <a:r>
              <a:rPr sz="1100" b="1" i="0" lang="fr-FR" altLang="en-US">
                <a:solidFill>
                  <a:srgbClr val="1C8C68"/>
                </a:solidFill>
                <a:latin typeface="Calibri"/>
              </a:rPr>
              <a:t>Évaluation du double rattachement des Data Stewards - 5 indicateurs complémentaires :</a:t>
            </a:r>
          </a:p>
        </p:txBody>
      </p:sp>
      <p:graphicFrame>
        <p:nvGraphicFramePr>
          <p:cNvPr id="9" name="Table 8"/>
          <p:cNvGraphicFramePr>
            <a:graphicFrameLocks noGrp="1"/>
          </p:cNvGraphicFramePr>
          <p:nvPr/>
        </p:nvGraphicFramePr>
        <p:xfrm>
          <a:off x="548640" y="4407408"/>
          <a:ext cx="11091672" cy="1645920"/>
        </p:xfrm>
        <a:graphic>
          <a:graphicData uri="http://schemas.openxmlformats.org/drawingml/2006/table">
            <a:tbl>
              <a:tblPr>
                <a:tableStyleId>{5C22544A-7EE6-4342-B048-85BDC9FD1C3A}</a:tableStyleId>
              </a:tblPr>
              <a:tblGrid>
                <a:gridCol w="3291840"/>
                <a:gridCol w="6245352"/>
                <a:gridCol w="1554480"/>
              </a:tblGrid>
              <a:tr h="274320">
                <a:tc>
                  <a:txBody>
                    <a:bodyPr wrap="square"/>
                    <a:lstStyle/>
                    <a:p>
                      <a:pPr algn="l"/>
                      <a:r>
                        <a:rPr sz="950" b="1" lang="fr-FR" altLang="en-US">
                          <a:solidFill>
                            <a:srgbClr val="FFFFFF"/>
                          </a:solidFill>
                          <a:latin typeface="Calibri"/>
                        </a:rPr>
                        <a:t>Indicateur</a:t>
                      </a:r>
                    </a:p>
                  </a:txBody>
                  <a:tcPr anchor="ctr" marL="91440" marR="91440" marT="36576" marB="36576">
                    <a:solidFill>
                      <a:srgbClr val="1B2A4A"/>
                    </a:solidFill>
                  </a:tcPr>
                </a:tc>
                <a:tc>
                  <a:txBody>
                    <a:bodyPr wrap="square"/>
                    <a:lstStyle/>
                    <a:p>
                      <a:pPr algn="l"/>
                      <a:r>
                        <a:rPr sz="950" b="1" lang="fr-FR" altLang="en-US">
                          <a:solidFill>
                            <a:srgbClr val="FFFFFF"/>
                          </a:solidFill>
                          <a:latin typeface="Calibri"/>
                        </a:rPr>
                        <a:t>Méthode de mesure</a:t>
                      </a:r>
                    </a:p>
                  </a:txBody>
                  <a:tcPr anchor="ctr" marL="91440" marR="91440" marT="36576" marB="36576">
                    <a:solidFill>
                      <a:srgbClr val="1B2A4A"/>
                    </a:solidFill>
                  </a:tcPr>
                </a:tc>
                <a:tc>
                  <a:txBody>
                    <a:bodyPr wrap="square"/>
                    <a:lstStyle/>
                    <a:p>
                      <a:pPr algn="l"/>
                      <a:r>
                        <a:rPr sz="950" b="1" lang="fr-FR" altLang="en-US">
                          <a:solidFill>
                            <a:srgbClr val="FFFFFF"/>
                          </a:solidFill>
                          <a:latin typeface="Calibri"/>
                        </a:rPr>
                        <a:t>Source</a:t>
                      </a:r>
                    </a:p>
                  </a:txBody>
                  <a:tcPr anchor="ctr" marL="91440" marR="91440" marT="36576" marB="36576">
                    <a:solidFill>
                      <a:srgbClr val="1B2A4A"/>
                    </a:solidFill>
                  </a:tcPr>
                </a:tc>
              </a:tr>
              <a:tr h="274320">
                <a:tc>
                  <a:txBody>
                    <a:bodyPr wrap="square"/>
                    <a:lstStyle/>
                    <a:p>
                      <a:pPr algn="l"/>
                      <a:r>
                        <a:rPr sz="880" b="0" lang="fr-FR" altLang="en-US">
                          <a:solidFill>
                            <a:srgbClr val="1B2A4A"/>
                          </a:solidFill>
                          <a:latin typeface="Calibri"/>
                        </a:rPr>
                        <a:t>Taux d'adoption des standards CDO</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Règles Soda Core « standard CDO » vs « spécifique domaine »</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DC</a:t>
                      </a:r>
                    </a:p>
                  </a:txBody>
                  <a:tcPr anchor="ctr" marL="91440" marR="91440" marT="36576" marB="36576">
                    <a:solidFill>
                      <a:srgbClr val="FFFFFF"/>
                    </a:solidFill>
                  </a:tcPr>
                </a:tc>
              </a:tr>
              <a:tr h="274320">
                <a:tc>
                  <a:txBody>
                    <a:bodyPr wrap="square"/>
                    <a:lstStyle/>
                    <a:p>
                      <a:pPr algn="l"/>
                      <a:r>
                        <a:rPr sz="880" b="0" lang="fr-FR" altLang="en-US">
                          <a:solidFill>
                            <a:srgbClr val="1B2A4A"/>
                          </a:solidFill>
                          <a:latin typeface="Calibri"/>
                        </a:rPr>
                        <a:t>Délai de propagation d'une MàJ</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Horodatage du workflow de révision/approbation Collibra</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PPM</a:t>
                      </a:r>
                    </a:p>
                  </a:txBody>
                  <a:tcPr anchor="ctr" marL="91440" marR="91440" marT="36576" marB="36576">
                    <a:solidFill>
                      <a:srgbClr val="FFFFFF"/>
                    </a:solidFill>
                  </a:tcPr>
                </a:tc>
              </a:tr>
              <a:tr h="274320">
                <a:tc>
                  <a:txBody>
                    <a:bodyPr wrap="square"/>
                    <a:lstStyle/>
                    <a:p>
                      <a:pPr algn="l"/>
                      <a:r>
                        <a:rPr sz="880" b="0" lang="fr-FR" altLang="en-US">
                          <a:solidFill>
                            <a:srgbClr val="1B2A4A"/>
                          </a:solidFill>
                          <a:latin typeface="Calibri"/>
                        </a:rPr>
                        <a:t>Fréquence de sollicitation fonctionnelle</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Comptage des échanges DS → CDO sur Collibra</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DS</a:t>
                      </a:r>
                    </a:p>
                  </a:txBody>
                  <a:tcPr anchor="ctr" marL="91440" marR="91440" marT="36576" marB="36576">
                    <a:solidFill>
                      <a:srgbClr val="FFFFFF"/>
                    </a:solidFill>
                  </a:tcPr>
                </a:tc>
              </a:tr>
              <a:tr h="274320">
                <a:tc>
                  <a:txBody>
                    <a:bodyPr wrap="square"/>
                    <a:lstStyle/>
                    <a:p>
                      <a:pPr algn="l"/>
                      <a:r>
                        <a:rPr sz="880" b="0" lang="fr-FR" altLang="en-US">
                          <a:solidFill>
                            <a:srgbClr val="1B2A4A"/>
                          </a:solidFill>
                          <a:latin typeface="Calibri"/>
                        </a:rPr>
                        <a:t>Cohérence terminologique</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Taux de correspondance exacte au glossaire Collibra</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DC, DS</a:t>
                      </a:r>
                    </a:p>
                  </a:txBody>
                  <a:tcPr anchor="ctr" marL="91440" marR="91440" marT="36576" marB="36576">
                    <a:solidFill>
                      <a:srgbClr val="FFFFFF"/>
                    </a:solidFill>
                  </a:tcPr>
                </a:tc>
              </a:tr>
              <a:tr h="274320">
                <a:tc>
                  <a:txBody>
                    <a:bodyPr wrap="square"/>
                    <a:lstStyle/>
                    <a:p>
                      <a:pPr algn="l"/>
                      <a:r>
                        <a:rPr sz="880" b="0" lang="fr-FR" altLang="en-US">
                          <a:solidFill>
                            <a:srgbClr val="1B2A4A"/>
                          </a:solidFill>
                          <a:latin typeface="Calibri"/>
                        </a:rPr>
                        <a:t>Autonomie départementale préservée</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Part des décisions métier prises sans blocage, registre DO</a:t>
                      </a:r>
                    </a:p>
                  </a:txBody>
                  <a:tcPr anchor="ctr" marL="91440" marR="91440" marT="36576" marB="36576">
                    <a:solidFill>
                      <a:srgbClr val="FFFFFF"/>
                    </a:solidFill>
                  </a:tcPr>
                </a:tc>
                <a:tc>
                  <a:txBody>
                    <a:bodyPr wrap="square"/>
                    <a:lstStyle/>
                    <a:p>
                      <a:pPr algn="l"/>
                      <a:r>
                        <a:rPr sz="880" b="0" lang="fr-FR" altLang="en-US">
                          <a:solidFill>
                            <a:srgbClr val="1B2A4A"/>
                          </a:solidFill>
                          <a:latin typeface="Calibri"/>
                        </a:rPr>
                        <a:t>DO</a:t>
                      </a:r>
                    </a:p>
                  </a:txBody>
                  <a:tcPr anchor="ctr" marL="91440" marR="91440" marT="36576" marB="36576">
                    <a:solidFill>
                      <a:srgbClr val="FFFFFF"/>
                    </a:solidFill>
                  </a:tcPr>
                </a:tc>
              </a:tr>
            </a:tbl>
          </a:graphicData>
        </a:graphic>
      </p:graphicFrame>
      <p:sp>
        <p:nvSpPr>
          <p:cNvPr id="10" name="TextBox 9"/>
          <p:cNvSpPr txBox="1"/>
          <p:nvPr/>
        </p:nvSpPr>
        <p:spPr>
          <a:xfrm>
            <a:off x="548640" y="6108192"/>
            <a:ext cx="11091672" cy="320040"/>
          </a:xfrm>
          <a:prstGeom prst="rect">
            <a:avLst/>
          </a:prstGeom>
          <a:noFill/>
        </p:spPr>
        <p:txBody>
          <a:bodyPr wrap="square" lIns="0" rIns="0" tIns="0" bIns="0" anchor="t">
            <a:noAutofit/>
          </a:bodyPr>
          <a:lstStyle/>
          <a:p>
            <a:r>
              <a:rPr sz="900" b="0" i="1" lang="fr-FR" altLang="en-US">
                <a:solidFill>
                  <a:srgbClr val="5B6B84"/>
                </a:solidFill>
                <a:latin typeface="Calibri"/>
              </a:rPr>
              <a:t>Le critère négatif (absence de conflit) devient insuffisant seul : un canal jamais utilisé afficherait aussi zéro conflit. L'indicateur d'autonomie sert de garde-fou.</a:t>
            </a:r>
          </a:p>
        </p:txBody>
      </p:sp>
      <p:sp>
        <p:nvSpPr>
          <p:cNvPr id="11" name="TextBox 10"/>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§3.F.6</a:t>
            </a:r>
          </a:p>
        </p:txBody>
      </p:sp>
      <p:sp>
        <p:nvSpPr>
          <p:cNvPr id="12" name="TextBox 11"/>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B6</a:t>
            </a:r>
          </a:p>
        </p:txBody>
      </p:sp>
      <p:sp>
        <p:nvSpPr>
          <p:cNvPr id="3" name="TextBox 2"/>
          <p:cNvSpPr txBox="1"/>
          <p:nvPr/>
        </p:nvSpPr>
        <p:spPr>
          <a:xfrm>
            <a:off x="548640" y="658368"/>
            <a:ext cx="10058400" cy="868680"/>
          </a:xfrm>
          <a:prstGeom prst="rect">
            <a:avLst/>
          </a:prstGeom>
          <a:noFill/>
        </p:spPr>
        <p:txBody>
          <a:bodyPr wrap="square" lIns="0" rIns="0" tIns="0" bIns="0" anchor="t">
            <a:noAutofit/>
          </a:bodyPr>
          <a:lstStyle/>
          <a:p>
            <a:pPr>
              <a:lnSpc>
                <a:spcPct val="102000"/>
              </a:lnSpc>
            </a:pPr>
            <a:r>
              <a:rPr sz="2400" b="1" i="0" lang="fr-FR" altLang="en-US">
                <a:solidFill>
                  <a:srgbClr val="1B2A4A"/>
                </a:solidFill>
                <a:latin typeface="Cambria"/>
              </a:rPr>
              <a:t>Gestion des risques du pilote (1/2) - suspension &amp; débordement</a:t>
            </a:r>
          </a:p>
        </p:txBody>
      </p:sp>
      <p:pic>
        <p:nvPicPr>
          <p:cNvPr id="4" name="Picture 3" descr="icon_alert.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645920"/>
            <a:ext cx="11091672" cy="274320"/>
          </a:xfrm>
          <a:prstGeom prst="rect">
            <a:avLst/>
          </a:prstGeom>
          <a:noFill/>
        </p:spPr>
        <p:txBody>
          <a:bodyPr wrap="square" lIns="0" rIns="0" tIns="0" bIns="0">
            <a:noAutofit/>
          </a:bodyPr>
          <a:lstStyle/>
          <a:p>
            <a:r>
              <a:rPr sz="1150" b="1" i="0" lang="fr-FR" altLang="en-US">
                <a:solidFill>
                  <a:srgbClr val="97402F"/>
                </a:solidFill>
                <a:latin typeface="Calibri"/>
              </a:rPr>
              <a:t>Risques de suspension (sans repli) :</a:t>
            </a:r>
          </a:p>
        </p:txBody>
      </p:sp>
      <p:graphicFrame>
        <p:nvGraphicFramePr>
          <p:cNvPr id="6" name="Table 5"/>
          <p:cNvGraphicFramePr>
            <a:graphicFrameLocks noGrp="1"/>
          </p:cNvGraphicFramePr>
          <p:nvPr/>
        </p:nvGraphicFramePr>
        <p:xfrm>
          <a:off x="548640" y="1965960"/>
          <a:ext cx="11091672" cy="1371600"/>
        </p:xfrm>
        <a:graphic>
          <a:graphicData uri="http://schemas.openxmlformats.org/drawingml/2006/table">
            <a:tbl>
              <a:tblPr>
                <a:tableStyleId>{5C22544A-7EE6-4342-B048-85BDC9FD1C3A}</a:tableStyleId>
              </a:tblPr>
              <a:tblGrid>
                <a:gridCol w="3291840"/>
                <a:gridCol w="1463040"/>
                <a:gridCol w="2377440"/>
                <a:gridCol w="3959352"/>
              </a:tblGrid>
              <a:tr h="457200">
                <a:tc>
                  <a:txBody>
                    <a:bodyPr wrap="square"/>
                    <a:lstStyle/>
                    <a:p>
                      <a:pPr algn="l"/>
                      <a:r>
                        <a:rPr sz="1000" b="1" lang="fr-FR" altLang="en-US">
                          <a:solidFill>
                            <a:srgbClr val="FFFFFF"/>
                          </a:solidFill>
                          <a:latin typeface="Calibri"/>
                        </a:rPr>
                        <a:t>Risque</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Probabilité</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Impact</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Mitigation</a:t>
                      </a:r>
                    </a:p>
                  </a:txBody>
                  <a:tcPr anchor="ctr" marL="91440" marR="91440" marT="36576" marB="36576">
                    <a:solidFill>
                      <a:srgbClr val="1B2A4A"/>
                    </a:solidFill>
                  </a:tcPr>
                </a:tc>
              </a:tr>
              <a:tr h="457200">
                <a:tc>
                  <a:txBody>
                    <a:bodyPr wrap="square"/>
                    <a:lstStyle/>
                    <a:p>
                      <a:pPr algn="l"/>
                      <a:r>
                        <a:rPr sz="930" b="0" lang="fr-FR" altLang="en-US">
                          <a:solidFill>
                            <a:srgbClr val="1B2A4A"/>
                          </a:solidFill>
                          <a:latin typeface="Calibri"/>
                        </a:rPr>
                        <a:t>Absence d'annuaire central apte SAML/OIDC (J.01)</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Faible à 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Suspension totale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Devient un chantier d'infrastructure séparé</a:t>
                      </a:r>
                    </a:p>
                  </a:txBody>
                  <a:tcPr anchor="ctr" marL="91440" marR="91440" marT="36576" marB="36576">
                    <a:solidFill>
                      <a:srgbClr val="FFFFFF"/>
                    </a:solidFill>
                  </a:tcPr>
                </a:tc>
              </a:tr>
              <a:tr h="457200">
                <a:tc>
                  <a:txBody>
                    <a:bodyPr wrap="square"/>
                    <a:lstStyle/>
                    <a:p>
                      <a:pPr algn="l"/>
                      <a:r>
                        <a:rPr sz="930" b="0" lang="fr-FR" altLang="en-US">
                          <a:solidFill>
                            <a:srgbClr val="1B2A4A"/>
                          </a:solidFill>
                          <a:latin typeface="Calibri"/>
                        </a:rPr>
                        <a:t>Défaut de sécurisation non corrigeable (J.02)</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Faible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Suspension si non corrigé avant J.06</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Repli possible si périmètre isolable</a:t>
                      </a:r>
                    </a:p>
                  </a:txBody>
                  <a:tcPr anchor="ctr" marL="91440" marR="91440" marT="36576" marB="36576">
                    <a:solidFill>
                      <a:srgbClr val="FFFFFF"/>
                    </a:solidFill>
                  </a:tcPr>
                </a:tc>
              </a:tr>
            </a:tbl>
          </a:graphicData>
        </a:graphic>
      </p:graphicFrame>
      <p:sp>
        <p:nvSpPr>
          <p:cNvPr id="7" name="TextBox 6"/>
          <p:cNvSpPr txBox="1"/>
          <p:nvPr/>
        </p:nvSpPr>
        <p:spPr>
          <a:xfrm>
            <a:off x="548640" y="3456432"/>
            <a:ext cx="11091672" cy="274320"/>
          </a:xfrm>
          <a:prstGeom prst="rect">
            <a:avLst/>
          </a:prstGeom>
          <a:noFill/>
        </p:spPr>
        <p:txBody>
          <a:bodyPr wrap="square" lIns="0" rIns="0" tIns="0" bIns="0">
            <a:noAutofit/>
          </a:bodyPr>
          <a:lstStyle/>
          <a:p>
            <a:r>
              <a:rPr sz="1150" b="1" i="0" lang="fr-FR" altLang="en-US">
                <a:solidFill>
                  <a:srgbClr val="97402F"/>
                </a:solidFill>
                <a:latin typeface="Calibri"/>
              </a:rPr>
              <a:t>Risques de débordement de planning :</a:t>
            </a:r>
          </a:p>
        </p:txBody>
      </p:sp>
      <p:graphicFrame>
        <p:nvGraphicFramePr>
          <p:cNvPr id="8" name="Table 7"/>
          <p:cNvGraphicFramePr>
            <a:graphicFrameLocks noGrp="1"/>
          </p:cNvGraphicFramePr>
          <p:nvPr/>
        </p:nvGraphicFramePr>
        <p:xfrm>
          <a:off x="548640" y="3767328"/>
          <a:ext cx="11091672" cy="1828800"/>
        </p:xfrm>
        <a:graphic>
          <a:graphicData uri="http://schemas.openxmlformats.org/drawingml/2006/table">
            <a:tbl>
              <a:tblPr>
                <a:tableStyleId>{5C22544A-7EE6-4342-B048-85BDC9FD1C3A}</a:tableStyleId>
              </a:tblPr>
              <a:tblGrid>
                <a:gridCol w="3291840"/>
                <a:gridCol w="1463040"/>
                <a:gridCol w="2377440"/>
                <a:gridCol w="3959352"/>
              </a:tblGrid>
              <a:tr h="457200">
                <a:tc>
                  <a:txBody>
                    <a:bodyPr wrap="square"/>
                    <a:lstStyle/>
                    <a:p>
                      <a:pPr algn="l"/>
                      <a:r>
                        <a:rPr sz="1000" b="1" lang="fr-FR" altLang="en-US">
                          <a:solidFill>
                            <a:srgbClr val="FFFFFF"/>
                          </a:solidFill>
                          <a:latin typeface="Calibri"/>
                        </a:rPr>
                        <a:t>Risque</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Probabilité</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Impact</a:t>
                      </a:r>
                    </a:p>
                  </a:txBody>
                  <a:tcPr anchor="ctr" marL="91440" marR="91440" marT="36576" marB="36576">
                    <a:solidFill>
                      <a:srgbClr val="1B2A4A"/>
                    </a:solidFill>
                  </a:tcPr>
                </a:tc>
                <a:tc>
                  <a:txBody>
                    <a:bodyPr wrap="square"/>
                    <a:lstStyle/>
                    <a:p>
                      <a:pPr algn="l"/>
                      <a:r>
                        <a:rPr sz="1000" b="1" lang="fr-FR" altLang="en-US">
                          <a:solidFill>
                            <a:srgbClr val="FFFFFF"/>
                          </a:solidFill>
                          <a:latin typeface="Calibri"/>
                        </a:rPr>
                        <a:t>Mitigation</a:t>
                      </a:r>
                    </a:p>
                  </a:txBody>
                  <a:tcPr anchor="ctr" marL="91440" marR="91440" marT="36576" marB="36576">
                    <a:solidFill>
                      <a:srgbClr val="1B2A4A"/>
                    </a:solidFill>
                  </a:tcPr>
                </a:tc>
              </a:tr>
              <a:tr h="457200">
                <a:tc>
                  <a:txBody>
                    <a:bodyPr wrap="square"/>
                    <a:lstStyle/>
                    <a:p>
                      <a:pPr algn="l"/>
                      <a:r>
                        <a:rPr sz="930" b="0" lang="fr-FR" altLang="en-US">
                          <a:solidFill>
                            <a:srgbClr val="1B2A4A"/>
                          </a:solidFill>
                          <a:latin typeface="Calibri"/>
                        </a:rPr>
                        <a:t>Délai de réponse TrustArc (SSO, J.03)</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Débordement du J.03</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Gestion manuelle temporaire, documentée</a:t>
                      </a:r>
                    </a:p>
                  </a:txBody>
                  <a:tcPr anchor="ctr" marL="91440" marR="91440" marT="36576" marB="36576">
                    <a:solidFill>
                      <a:srgbClr val="FFFFFF"/>
                    </a:solidFill>
                  </a:tcPr>
                </a:tc>
              </a:tr>
              <a:tr h="457200">
                <a:tc>
                  <a:txBody>
                    <a:bodyPr wrap="square"/>
                    <a:lstStyle/>
                    <a:p>
                      <a:pPr algn="l"/>
                      <a:r>
                        <a:rPr sz="930" b="0" lang="fr-FR" altLang="en-US">
                          <a:solidFill>
                            <a:srgbClr val="1B2A4A"/>
                          </a:solidFill>
                          <a:latin typeface="Calibri"/>
                        </a:rPr>
                        <a:t>Échec du test d'intégration bout-en-bout (J.05)</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Débordement du J.06, retard en cascade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Identifier le maillon défaillant avant correction</a:t>
                      </a:r>
                    </a:p>
                  </a:txBody>
                  <a:tcPr anchor="ctr" marL="91440" marR="91440" marT="36576" marB="36576">
                    <a:solidFill>
                      <a:srgbClr val="FFFFFF"/>
                    </a:solidFill>
                  </a:tcPr>
                </a:tc>
              </a:tr>
              <a:tr h="457200">
                <a:tc>
                  <a:txBody>
                    <a:bodyPr wrap="square"/>
                    <a:lstStyle/>
                    <a:p>
                      <a:pPr algn="l"/>
                      <a:r>
                        <a:rPr sz="930" b="0" lang="fr-FR" altLang="en-US">
                          <a:solidFill>
                            <a:srgbClr val="1B2A4A"/>
                          </a:solidFill>
                          <a:latin typeface="Calibri"/>
                        </a:rPr>
                        <a:t>Compression de l'exécution réelle (J.10.2, 4 sem.)</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Fiabilité réduite des indicateurs</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Rallongement ponctuel si J.11 instable</a:t>
                      </a:r>
                    </a:p>
                  </a:txBody>
                  <a:tcPr anchor="ctr" marL="91440" marR="91440" marT="36576" marB="36576">
                    <a:solidFill>
                      <a:srgbClr val="FFFFFF"/>
                    </a:solidFill>
                  </a:tcPr>
                </a:tc>
              </a:tr>
            </a:tbl>
          </a:graphicData>
        </a:graphic>
      </p:graphicFrame>
      <p:sp>
        <p:nvSpPr>
          <p:cNvPr id="9" name="Rounded Rectangle 8"/>
          <p:cNvSpPr/>
          <p:nvPr/>
        </p:nvSpPr>
        <p:spPr>
          <a:xfrm>
            <a:off x="548640" y="5715000"/>
            <a:ext cx="11091672" cy="713232"/>
          </a:xfrm>
          <a:prstGeom prst="roundRect">
            <a:avLst>
              <a:gd name="adj" fmla="val 8000"/>
            </a:avLst>
          </a:prstGeom>
          <a:solidFill>
            <a:srgbClr val="FBEDEA"/>
          </a:solidFill>
          <a:ln w="9525">
            <a:solidFill>
              <a:srgbClr val="D8DEE6"/>
            </a:solidFill>
          </a:ln>
          <a:effectLst/>
        </p:spPr>
        <p:txBody>
          <a:bodyPr rtlCol="0" anchor="ctr"/>
          <a:lstStyle/>
          <a:p>
            <a:pPr algn="ctr"/>
          </a:p>
        </p:txBody>
      </p:sp>
      <p:sp>
        <p:nvSpPr>
          <p:cNvPr id="10" name="TextBox 9"/>
          <p:cNvSpPr txBox="1"/>
          <p:nvPr/>
        </p:nvSpPr>
        <p:spPr>
          <a:xfrm>
            <a:off x="777240" y="5715000"/>
            <a:ext cx="10607040" cy="713232"/>
          </a:xfrm>
          <a:prstGeom prst="rect">
            <a:avLst/>
          </a:prstGeom>
          <a:noFill/>
        </p:spPr>
        <p:txBody>
          <a:bodyPr wrap="square" lIns="0" rIns="0" tIns="0" bIns="0" anchor="ctr">
            <a:noAutofit/>
          </a:bodyPr>
          <a:lstStyle/>
          <a:p>
            <a:r>
              <a:rPr sz="1000" b="0" i="1" lang="fr-FR" altLang="en-US">
                <a:solidFill>
                  <a:srgbClr val="97402F"/>
                </a:solidFill>
                <a:latin typeface="Calibri"/>
              </a:rPr>
              <a:t>Ces deux catégories sont propres à la phase de sécurisation (Jalons 01-06) et signalées explicitement plutôt que noyées dans le reste du tableau des risques opérationnels (slide suivante).</a:t>
            </a:r>
          </a:p>
        </p:txBody>
      </p:sp>
      <p:sp>
        <p:nvSpPr>
          <p:cNvPr id="11" name="TextBox 10"/>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§3.F.8</a:t>
            </a:r>
          </a:p>
        </p:txBody>
      </p:sp>
      <p:sp>
        <p:nvSpPr>
          <p:cNvPr id="12" name="TextBox 11"/>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B6</a:t>
            </a:r>
          </a:p>
        </p:txBody>
      </p:sp>
      <p:sp>
        <p:nvSpPr>
          <p:cNvPr id="3" name="TextBox 2"/>
          <p:cNvSpPr txBox="1"/>
          <p:nvPr/>
        </p:nvSpPr>
        <p:spPr>
          <a:xfrm>
            <a:off x="548640" y="658368"/>
            <a:ext cx="10058400" cy="868680"/>
          </a:xfrm>
          <a:prstGeom prst="rect">
            <a:avLst/>
          </a:prstGeom>
          <a:noFill/>
        </p:spPr>
        <p:txBody>
          <a:bodyPr wrap="square" lIns="0" rIns="0" tIns="0" bIns="0" anchor="t">
            <a:noAutofit/>
          </a:bodyPr>
          <a:lstStyle/>
          <a:p>
            <a:pPr>
              <a:lnSpc>
                <a:spcPct val="102000"/>
              </a:lnSpc>
            </a:pPr>
            <a:r>
              <a:rPr sz="2400" b="1" i="0" lang="fr-FR" altLang="en-US">
                <a:solidFill>
                  <a:srgbClr val="1B2A4A"/>
                </a:solidFill>
                <a:latin typeface="Cambria"/>
              </a:rPr>
              <a:t>Gestion des risques du pilote (2/2) - risques opérationnels</a:t>
            </a:r>
          </a:p>
        </p:txBody>
      </p:sp>
      <p:pic>
        <p:nvPicPr>
          <p:cNvPr id="4" name="Picture 3" descr="icon_alert.png"/>
          <p:cNvPicPr>
            <a:picLocks noChangeAspect="1"/>
          </p:cNvPicPr>
          <p:nvPr/>
        </p:nvPicPr>
        <p:blipFill>
          <a:blip r:embed="rId2"/>
          <a:stretch>
            <a:fillRect/>
          </a:stretch>
        </p:blipFill>
        <p:spPr>
          <a:xfrm>
            <a:off x="11140135" y="365760"/>
            <a:ext cx="658368" cy="658368"/>
          </a:xfrm>
          <a:prstGeom prst="rect">
            <a:avLst/>
          </a:prstGeom>
        </p:spPr>
      </p:pic>
      <p:graphicFrame>
        <p:nvGraphicFramePr>
          <p:cNvPr id="5" name="Table 4"/>
          <p:cNvGraphicFramePr>
            <a:graphicFrameLocks noGrp="1"/>
          </p:cNvGraphicFramePr>
          <p:nvPr/>
        </p:nvGraphicFramePr>
        <p:xfrm>
          <a:off x="548640" y="1691640"/>
          <a:ext cx="11091672" cy="4425696"/>
        </p:xfrm>
        <a:graphic>
          <a:graphicData uri="http://schemas.openxmlformats.org/drawingml/2006/table">
            <a:tbl>
              <a:tblPr>
                <a:tableStyleId>{5C22544A-7EE6-4342-B048-85BDC9FD1C3A}</a:tableStyleId>
              </a:tblPr>
              <a:tblGrid>
                <a:gridCol w="3566160"/>
                <a:gridCol w="868680"/>
                <a:gridCol w="1051560"/>
                <a:gridCol w="5605272"/>
              </a:tblGrid>
              <a:tr h="402336">
                <a:tc>
                  <a:txBody>
                    <a:bodyPr wrap="square"/>
                    <a:lstStyle/>
                    <a:p>
                      <a:pPr algn="l"/>
                      <a:r>
                        <a:rPr sz="1050" b="1" lang="fr-FR" altLang="en-US">
                          <a:solidFill>
                            <a:srgbClr val="FFFFFF"/>
                          </a:solidFill>
                          <a:latin typeface="Calibri"/>
                        </a:rPr>
                        <a:t>Risque</a:t>
                      </a:r>
                    </a:p>
                  </a:txBody>
                  <a:tcPr anchor="ctr" marL="91440" marR="91440" marT="36576" marB="36576">
                    <a:solidFill>
                      <a:srgbClr val="1B2A4A"/>
                    </a:solidFill>
                  </a:tcPr>
                </a:tc>
                <a:tc>
                  <a:txBody>
                    <a:bodyPr wrap="square"/>
                    <a:lstStyle/>
                    <a:p>
                      <a:pPr algn="l"/>
                      <a:r>
                        <a:rPr sz="1050" b="1" lang="fr-FR" altLang="en-US">
                          <a:solidFill>
                            <a:srgbClr val="FFFFFF"/>
                          </a:solidFill>
                          <a:latin typeface="Calibri"/>
                        </a:rPr>
                        <a:t>Prob.</a:t>
                      </a:r>
                    </a:p>
                  </a:txBody>
                  <a:tcPr anchor="ctr" marL="91440" marR="91440" marT="36576" marB="36576">
                    <a:solidFill>
                      <a:srgbClr val="1B2A4A"/>
                    </a:solidFill>
                  </a:tcPr>
                </a:tc>
                <a:tc>
                  <a:txBody>
                    <a:bodyPr wrap="square"/>
                    <a:lstStyle/>
                    <a:p>
                      <a:pPr algn="l"/>
                      <a:r>
                        <a:rPr sz="1050" b="1" lang="fr-FR" altLang="en-US">
                          <a:solidFill>
                            <a:srgbClr val="FFFFFF"/>
                          </a:solidFill>
                          <a:latin typeface="Calibri"/>
                        </a:rPr>
                        <a:t>Impact</a:t>
                      </a:r>
                    </a:p>
                  </a:txBody>
                  <a:tcPr anchor="ctr" marL="91440" marR="91440" marT="36576" marB="36576">
                    <a:solidFill>
                      <a:srgbClr val="1B2A4A"/>
                    </a:solidFill>
                  </a:tcPr>
                </a:tc>
                <a:tc>
                  <a:txBody>
                    <a:bodyPr wrap="square"/>
                    <a:lstStyle/>
                    <a:p>
                      <a:pPr algn="l"/>
                      <a:r>
                        <a:rPr sz="1050" b="1" lang="fr-FR" altLang="en-US">
                          <a:solidFill>
                            <a:srgbClr val="FFFFFF"/>
                          </a:solidFill>
                          <a:latin typeface="Calibri"/>
                        </a:rPr>
                        <a:t>Mitigation</a:t>
                      </a:r>
                    </a:p>
                  </a:txBody>
                  <a:tcPr anchor="ctr" marL="91440" marR="91440" marT="36576" marB="36576">
                    <a:solidFill>
                      <a:srgbClr val="1B2A4A"/>
                    </a:solidFill>
                  </a:tcPr>
                </a:tc>
              </a:tr>
              <a:tr h="402336">
                <a:tc>
                  <a:txBody>
                    <a:bodyPr wrap="square"/>
                    <a:lstStyle/>
                    <a:p>
                      <a:pPr algn="l"/>
                      <a:r>
                        <a:rPr sz="930" b="0" lang="fr-FR" altLang="en-US">
                          <a:solidFill>
                            <a:srgbClr val="1B2A4A"/>
                          </a:solidFill>
                          <a:latin typeface="Calibri"/>
                        </a:rPr>
                        <a:t>Charge Data Custodians sous-estimée (4 outils/10)</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Élevée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Élevé</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Suivi hebdo ; bascule possible vers Collate</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Collecte incomplète des profils d'accès (J.02)</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Élevé</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Recoupement systématique avant redéfinition</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Soda Core insuffisant pour E5</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Vérif. J.08.1/11 ; repli Cuallee</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Dépriorisation long terme de Soda Core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Faible-moyen</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Suivi post-pilote ; repli TestGen si confirmé</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Décalage sync. Collibra/OpenMetadata</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Faible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Vérif. J.09 ; calibrage sur délai 72h</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Seuils de classification mal calibrés</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Mesure du délai réel au J.13 ; resserrement</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Résistance au changement du dépt. pilote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Cf. formation §3.F.9</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Désalignement cycles budgétaires trimestriels</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Anticiper la demande Phase 3 avant clôture P2</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Déploiement Collibra/RoPA plus long que prévu</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Moyenne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Prioriser la classification des données sensibles</a:t>
                      </a:r>
                    </a:p>
                  </a:txBody>
                  <a:tcPr anchor="ctr" marL="91440" marR="91440" marT="36576" marB="36576">
                    <a:solidFill>
                      <a:srgbClr val="FFFFFF"/>
                    </a:solidFill>
                  </a:tcPr>
                </a:tc>
              </a:tr>
              <a:tr h="402336">
                <a:tc>
                  <a:txBody>
                    <a:bodyPr wrap="square"/>
                    <a:lstStyle/>
                    <a:p>
                      <a:pPr algn="l"/>
                      <a:r>
                        <a:rPr sz="930" b="0" lang="fr-FR" altLang="en-US">
                          <a:solidFill>
                            <a:srgbClr val="1B2A4A"/>
                          </a:solidFill>
                          <a:latin typeface="Calibri"/>
                        </a:rPr>
                        <a:t>Absence de classification préalable (RoPA)</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Élevée</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Moyen</a:t>
                      </a:r>
                    </a:p>
                  </a:txBody>
                  <a:tcPr anchor="ctr" marL="91440" marR="91440" marT="36576" marB="36576">
                    <a:solidFill>
                      <a:srgbClr val="FFFFFF"/>
                    </a:solidFill>
                  </a:tcPr>
                </a:tc>
                <a:tc>
                  <a:txBody>
                    <a:bodyPr wrap="square"/>
                    <a:lstStyle/>
                    <a:p>
                      <a:pPr algn="l"/>
                      <a:r>
                        <a:rPr sz="930" b="0" lang="fr-FR" altLang="en-US">
                          <a:solidFill>
                            <a:srgbClr val="1B2A4A"/>
                          </a:solidFill>
                          <a:latin typeface="Calibri"/>
                        </a:rPr>
                        <a:t>Population du RoPA documentée comme provisoire</a:t>
                      </a:r>
                    </a:p>
                  </a:txBody>
                  <a:tcPr anchor="ctr" marL="91440" marR="91440" marT="36576" marB="36576">
                    <a:solidFill>
                      <a:srgbClr val="FFFFFF"/>
                    </a:solidFill>
                  </a:tcPr>
                </a:tc>
              </a:tr>
            </a:tbl>
          </a:graphicData>
        </a:graphic>
      </p:graphicFrame>
      <p:sp>
        <p:nvSpPr>
          <p:cNvPr id="6" name="TextBox 5"/>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§3.F.8</a:t>
            </a:r>
          </a:p>
        </p:txBody>
      </p:sp>
      <p:sp>
        <p:nvSpPr>
          <p:cNvPr id="7" name="TextBox 6"/>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B7</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Conditions de passage à l'échelle (feu vert / orange / rouge)</a:t>
            </a:r>
          </a:p>
        </p:txBody>
      </p:sp>
      <p:pic>
        <p:nvPicPr>
          <p:cNvPr id="4" name="Picture 3" descr="icon_flag.png"/>
          <p:cNvPicPr>
            <a:picLocks noChangeAspect="1"/>
          </p:cNvPicPr>
          <p:nvPr/>
        </p:nvPicPr>
        <p:blipFill>
          <a:blip r:embed="rId2"/>
          <a:stretch>
            <a:fillRect/>
          </a:stretch>
        </p:blipFill>
        <p:spPr>
          <a:xfrm>
            <a:off x="11140135" y="365760"/>
            <a:ext cx="658368" cy="658368"/>
          </a:xfrm>
          <a:prstGeom prst="rect">
            <a:avLst/>
          </a:prstGeom>
        </p:spPr>
      </p:pic>
      <p:graphicFrame>
        <p:nvGraphicFramePr>
          <p:cNvPr id="5" name="Table 4"/>
          <p:cNvGraphicFramePr>
            <a:graphicFrameLocks noGrp="1"/>
          </p:cNvGraphicFramePr>
          <p:nvPr/>
        </p:nvGraphicFramePr>
        <p:xfrm>
          <a:off x="548640" y="1691640"/>
          <a:ext cx="11091672" cy="4526280"/>
        </p:xfrm>
        <a:graphic>
          <a:graphicData uri="http://schemas.openxmlformats.org/drawingml/2006/table">
            <a:tbl>
              <a:tblPr>
                <a:tableStyleId>{5C22544A-7EE6-4342-B048-85BDC9FD1C3A}</a:tableStyleId>
              </a:tblPr>
              <a:tblGrid>
                <a:gridCol w="3017520"/>
                <a:gridCol w="4480560"/>
                <a:gridCol w="3593592"/>
              </a:tblGrid>
              <a:tr h="502920">
                <a:tc>
                  <a:txBody>
                    <a:bodyPr wrap="square"/>
                    <a:lstStyle/>
                    <a:p>
                      <a:pPr algn="l"/>
                      <a:r>
                        <a:rPr sz="1100" b="1" lang="fr-FR" altLang="en-US">
                          <a:solidFill>
                            <a:srgbClr val="FFFFFF"/>
                          </a:solidFill>
                          <a:latin typeface="Calibri"/>
                        </a:rPr>
                        <a:t>Dispositif testé</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Critère de passage à l'échelle</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Si échec / résultat mitigé</a:t>
                      </a:r>
                    </a:p>
                  </a:txBody>
                  <a:tcPr anchor="ctr" marL="91440" marR="91440" marT="36576" marB="36576">
                    <a:solidFill>
                      <a:srgbClr val="1B2A4A"/>
                    </a:solidFill>
                  </a:tcPr>
                </a:tc>
              </a:tr>
              <a:tr h="502920">
                <a:tc>
                  <a:txBody>
                    <a:bodyPr wrap="square"/>
                    <a:lstStyle/>
                    <a:p>
                      <a:pPr algn="l"/>
                      <a:r>
                        <a:rPr sz="950" b="0" lang="fr-FR" altLang="en-US">
                          <a:solidFill>
                            <a:srgbClr val="1B2A4A"/>
                          </a:solidFill>
                          <a:latin typeface="Calibri"/>
                        </a:rPr>
                        <a:t>Double rattachement Data Steward (E1)</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Absence de conflit d'autorité rapporté</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Clarifier par écrit avant extension, plutôt qu'abandonner</a:t>
                      </a:r>
                    </a:p>
                  </a:txBody>
                  <a:tcPr anchor="ctr" marL="91440" marR="91440" marT="36576" marB="36576">
                    <a:solidFill>
                      <a:srgbClr val="FFFFFF"/>
                    </a:solidFill>
                  </a:tcPr>
                </a:tc>
              </a:tr>
              <a:tr h="502920">
                <a:tc>
                  <a:txBody>
                    <a:bodyPr wrap="square"/>
                    <a:lstStyle/>
                    <a:p>
                      <a:pPr algn="l"/>
                      <a:r>
                        <a:rPr sz="950" b="0" lang="fr-FR" altLang="en-US">
                          <a:solidFill>
                            <a:srgbClr val="1B2A4A"/>
                          </a:solidFill>
                          <a:latin typeface="Calibri"/>
                        </a:rPr>
                        <a:t>Soda Core / module qualité OpenMetadata</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Décision explicite au Jalon 08.1</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Généraliser uniquement l'outil retenu</a:t>
                      </a:r>
                    </a:p>
                  </a:txBody>
                  <a:tcPr anchor="ctr" marL="91440" marR="91440" marT="36576" marB="36576">
                    <a:solidFill>
                      <a:srgbClr val="FFFFFF"/>
                    </a:solidFill>
                  </a:tcPr>
                </a:tc>
              </a:tr>
              <a:tr h="502920">
                <a:tc>
                  <a:txBody>
                    <a:bodyPr wrap="square"/>
                    <a:lstStyle/>
                    <a:p>
                      <a:pPr algn="l"/>
                      <a:r>
                        <a:rPr sz="950" b="0" lang="fr-FR" altLang="en-US">
                          <a:solidFill>
                            <a:srgbClr val="1B2A4A"/>
                          </a:solidFill>
                          <a:latin typeface="Calibri"/>
                        </a:rPr>
                        <a:t>Connecteur Collibra/OpenMetadata</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Synchronisation vérifiée (J.09), compatible délai 72h</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Resserrer la fréquence ou intégration complémentaire</a:t>
                      </a:r>
                    </a:p>
                  </a:txBody>
                  <a:tcPr anchor="ctr" marL="91440" marR="91440" marT="36576" marB="36576">
                    <a:solidFill>
                      <a:srgbClr val="FFFFFF"/>
                    </a:solidFill>
                  </a:tcPr>
                </a:tc>
              </a:tr>
              <a:tr h="502920">
                <a:tc>
                  <a:txBody>
                    <a:bodyPr wrap="square"/>
                    <a:lstStyle/>
                    <a:p>
                      <a:pPr algn="l"/>
                      <a:r>
                        <a:rPr sz="950" b="0" lang="fr-FR" altLang="en-US">
                          <a:solidFill>
                            <a:srgbClr val="1B2A4A"/>
                          </a:solidFill>
                          <a:latin typeface="Calibri"/>
                        </a:rPr>
                        <a:t>Soda Core pour la qualité ML (E5)</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Contrôles jugés suffisants entre J.08.1 et 11</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Bascule vers Cuallee, sans réintroduire Deequ/Spark</a:t>
                      </a:r>
                    </a:p>
                  </a:txBody>
                  <a:tcPr anchor="ctr" marL="91440" marR="91440" marT="36576" marB="36576">
                    <a:solidFill>
                      <a:srgbClr val="FFFFFF"/>
                    </a:solidFill>
                  </a:tcPr>
                </a:tc>
              </a:tr>
              <a:tr h="502920">
                <a:tc>
                  <a:txBody>
                    <a:bodyPr wrap="square"/>
                    <a:lstStyle/>
                    <a:p>
                      <a:pPr algn="l"/>
                      <a:r>
                        <a:rPr sz="950" b="0" lang="fr-FR" altLang="en-US">
                          <a:solidFill>
                            <a:srgbClr val="1B2A4A"/>
                          </a:solidFill>
                          <a:latin typeface="Calibri"/>
                        </a:rPr>
                        <a:t>Circuit de classification/approbation (§3.E)</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Délai mesuré au J.13, compatible mise en prod.</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Resserrer les critères plutôt qu'alléger le circuit</a:t>
                      </a:r>
                    </a:p>
                  </a:txBody>
                  <a:tcPr anchor="ctr" marL="91440" marR="91440" marT="36576" marB="36576">
                    <a:solidFill>
                      <a:srgbClr val="FFFFFF"/>
                    </a:solidFill>
                  </a:tcPr>
                </a:tc>
              </a:tr>
              <a:tr h="502920">
                <a:tc>
                  <a:txBody>
                    <a:bodyPr wrap="square"/>
                    <a:lstStyle/>
                    <a:p>
                      <a:pPr algn="l"/>
                      <a:r>
                        <a:rPr sz="950" b="0" lang="fr-FR" altLang="en-US">
                          <a:solidFill>
                            <a:srgbClr val="1B2A4A"/>
                          </a:solidFill>
                          <a:latin typeface="Calibri"/>
                        </a:rPr>
                        <a:t>Déploiement incrémental Collibra/RoPA (E1, E3)</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Configuration scopée PD extensible sans reconstruction</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Revoir l'architecture avant Phase 3</a:t>
                      </a:r>
                    </a:p>
                  </a:txBody>
                  <a:tcPr anchor="ctr" marL="91440" marR="91440" marT="36576" marB="36576">
                    <a:solidFill>
                      <a:srgbClr val="FFFFFF"/>
                    </a:solidFill>
                  </a:tcPr>
                </a:tc>
              </a:tr>
              <a:tr h="502920">
                <a:tc>
                  <a:txBody>
                    <a:bodyPr wrap="square"/>
                    <a:lstStyle/>
                    <a:p>
                      <a:pPr algn="l"/>
                      <a:r>
                        <a:rPr sz="950" b="0" lang="fr-FR" altLang="en-US">
                          <a:solidFill>
                            <a:srgbClr val="1B2A4A"/>
                          </a:solidFill>
                          <a:latin typeface="Calibri"/>
                        </a:rPr>
                        <a:t>Engineering overhead Data Custodians</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Estimation (J.12) vs capacité réelle</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Séquencer le déploiement sur plusieurs trimestres</a:t>
                      </a:r>
                    </a:p>
                  </a:txBody>
                  <a:tcPr anchor="ctr" marL="91440" marR="91440" marT="36576" marB="36576">
                    <a:solidFill>
                      <a:srgbClr val="FFFFFF"/>
                    </a:solidFill>
                  </a:tcPr>
                </a:tc>
              </a:tr>
              <a:tr h="502920">
                <a:tc>
                  <a:txBody>
                    <a:bodyPr wrap="square"/>
                    <a:lstStyle/>
                    <a:p>
                      <a:pPr algn="l"/>
                      <a:r>
                        <a:rPr sz="950" b="0" lang="fr-FR" altLang="en-US">
                          <a:solidFill>
                            <a:srgbClr val="1B2A4A"/>
                          </a:solidFill>
                          <a:latin typeface="Calibri"/>
                        </a:rPr>
                        <a:t>Phase de sécurisation elle-même</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Franchissement du J.06 sans suspension</a:t>
                      </a:r>
                    </a:p>
                  </a:txBody>
                  <a:tcPr anchor="ctr" marL="91440" marR="91440" marT="36576" marB="36576">
                    <a:solidFill>
                      <a:srgbClr val="FFFFFF"/>
                    </a:solidFill>
                  </a:tcPr>
                </a:tc>
                <a:tc>
                  <a:txBody>
                    <a:bodyPr wrap="square"/>
                    <a:lstStyle/>
                    <a:p>
                      <a:pPr algn="l"/>
                      <a:r>
                        <a:rPr sz="950" b="0" lang="fr-FR" altLang="en-US">
                          <a:solidFill>
                            <a:srgbClr val="1B2A4A"/>
                          </a:solidFill>
                          <a:latin typeface="Calibri"/>
                        </a:rPr>
                        <a:t>Traiter comme chantier séparé avant généralisation</a:t>
                      </a:r>
                    </a:p>
                  </a:txBody>
                  <a:tcPr anchor="ctr" marL="91440" marR="91440" marT="36576" marB="36576">
                    <a:solidFill>
                      <a:srgbClr val="FFFFFF"/>
                    </a:solidFill>
                  </a:tcPr>
                </a:tc>
              </a:tr>
            </a:tbl>
          </a:graphicData>
        </a:graphic>
      </p:graphicFrame>
      <p:sp>
        <p:nvSpPr>
          <p:cNvPr id="6" name="TextBox 5"/>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§3.G.1</a:t>
            </a:r>
          </a:p>
        </p:txBody>
      </p:sp>
      <p:sp>
        <p:nvSpPr>
          <p:cNvPr id="7" name="TextBox 6"/>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B8</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Ajustements attendus au cadre de gouvernance</a:t>
            </a:r>
          </a:p>
        </p:txBody>
      </p:sp>
      <p:pic>
        <p:nvPicPr>
          <p:cNvPr id="4" name="Picture 3" descr="icon_shield.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737360"/>
            <a:ext cx="11091672" cy="7772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Oval 5"/>
          <p:cNvSpPr/>
          <p:nvPr/>
        </p:nvSpPr>
        <p:spPr>
          <a:xfrm>
            <a:off x="749808" y="1906524"/>
            <a:ext cx="438912" cy="438912"/>
          </a:xfrm>
          <a:prstGeom prst="ellipse">
            <a:avLst/>
          </a:prstGeom>
          <a:solidFill>
            <a:srgbClr val="2DBE8C"/>
          </a:solidFill>
          <a:ln>
            <a:noFill/>
          </a:ln>
          <a:effectLst/>
        </p:spPr>
        <p:txBody>
          <a:bodyPr rtlCol="0" anchor="ctr"/>
          <a:lstStyle/>
          <a:p>
            <a:pPr algn="ctr"/>
          </a:p>
        </p:txBody>
      </p:sp>
      <p:sp>
        <p:nvSpPr>
          <p:cNvPr id="7" name="TextBox 6"/>
          <p:cNvSpPr txBox="1"/>
          <p:nvPr/>
        </p:nvSpPr>
        <p:spPr>
          <a:xfrm>
            <a:off x="749808" y="1906524"/>
            <a:ext cx="438912" cy="438912"/>
          </a:xfrm>
          <a:prstGeom prst="rect">
            <a:avLst/>
          </a:prstGeom>
          <a:noFill/>
        </p:spPr>
        <p:txBody>
          <a:bodyPr wrap="square" lIns="0" rIns="0" tIns="0" bIns="0" anchor="ctr">
            <a:noAutofit/>
          </a:bodyPr>
          <a:lstStyle/>
          <a:p>
            <a:pPr algn="ctr"/>
            <a:r>
              <a:rPr sz="1300" b="1" i="0" lang="fr-FR" altLang="en-US">
                <a:solidFill>
                  <a:srgbClr val="1B2A4A"/>
                </a:solidFill>
                <a:latin typeface="Calibri"/>
              </a:rPr>
              <a:t>1</a:t>
            </a:r>
          </a:p>
        </p:txBody>
      </p:sp>
      <p:sp>
        <p:nvSpPr>
          <p:cNvPr id="8" name="TextBox 7"/>
          <p:cNvSpPr txBox="1"/>
          <p:nvPr/>
        </p:nvSpPr>
        <p:spPr>
          <a:xfrm>
            <a:off x="1417320" y="1828800"/>
            <a:ext cx="9966960" cy="594359"/>
          </a:xfrm>
          <a:prstGeom prst="rect">
            <a:avLst/>
          </a:prstGeom>
          <a:noFill/>
        </p:spPr>
        <p:txBody>
          <a:bodyPr wrap="square" lIns="0" rIns="0" tIns="0" bIns="0" anchor="ctr">
            <a:noAutofit/>
          </a:bodyPr>
          <a:lstStyle/>
          <a:p>
            <a:r>
              <a:rPr sz="1030" b="0" i="0" lang="fr-FR" altLang="en-US">
                <a:solidFill>
                  <a:srgbClr val="1B2A4A"/>
                </a:solidFill>
                <a:latin typeface="Calibri"/>
              </a:rPr>
              <a:t>Intégration formelle dans [D21 §2.1.3/§2.1.5] et [D22, annexe 2.2.C] de l'amendement de proportionnalité par niveau d'impact (§3.E), avec calibration finale des seuils selon les résultats du pilote.</a:t>
            </a:r>
          </a:p>
        </p:txBody>
      </p:sp>
      <p:sp>
        <p:nvSpPr>
          <p:cNvPr id="9" name="Rounded Rectangle 8"/>
          <p:cNvSpPr/>
          <p:nvPr/>
        </p:nvSpPr>
        <p:spPr>
          <a:xfrm>
            <a:off x="548640" y="2606039"/>
            <a:ext cx="11091672" cy="7772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0" name="Oval 9"/>
          <p:cNvSpPr/>
          <p:nvPr/>
        </p:nvSpPr>
        <p:spPr>
          <a:xfrm>
            <a:off x="749808" y="2775203"/>
            <a:ext cx="438912" cy="438912"/>
          </a:xfrm>
          <a:prstGeom prst="ellipse">
            <a:avLst/>
          </a:prstGeom>
          <a:solidFill>
            <a:srgbClr val="2DBE8C"/>
          </a:solidFill>
          <a:ln>
            <a:noFill/>
          </a:ln>
          <a:effectLst/>
        </p:spPr>
        <p:txBody>
          <a:bodyPr rtlCol="0" anchor="ctr"/>
          <a:lstStyle/>
          <a:p>
            <a:pPr algn="ctr"/>
          </a:p>
        </p:txBody>
      </p:sp>
      <p:sp>
        <p:nvSpPr>
          <p:cNvPr id="11" name="TextBox 10"/>
          <p:cNvSpPr txBox="1"/>
          <p:nvPr/>
        </p:nvSpPr>
        <p:spPr>
          <a:xfrm>
            <a:off x="749808" y="2775203"/>
            <a:ext cx="438912" cy="438912"/>
          </a:xfrm>
          <a:prstGeom prst="rect">
            <a:avLst/>
          </a:prstGeom>
          <a:noFill/>
        </p:spPr>
        <p:txBody>
          <a:bodyPr wrap="square" lIns="0" rIns="0" tIns="0" bIns="0" anchor="ctr">
            <a:noAutofit/>
          </a:bodyPr>
          <a:lstStyle/>
          <a:p>
            <a:pPr algn="ctr"/>
            <a:r>
              <a:rPr sz="1300" b="1" i="0" lang="fr-FR" altLang="en-US">
                <a:solidFill>
                  <a:srgbClr val="1B2A4A"/>
                </a:solidFill>
                <a:latin typeface="Calibri"/>
              </a:rPr>
              <a:t>2</a:t>
            </a:r>
          </a:p>
        </p:txBody>
      </p:sp>
      <p:sp>
        <p:nvSpPr>
          <p:cNvPr id="12" name="TextBox 11"/>
          <p:cNvSpPr txBox="1"/>
          <p:nvPr/>
        </p:nvSpPr>
        <p:spPr>
          <a:xfrm>
            <a:off x="1417320" y="2697479"/>
            <a:ext cx="9966960" cy="594359"/>
          </a:xfrm>
          <a:prstGeom prst="rect">
            <a:avLst/>
          </a:prstGeom>
          <a:noFill/>
        </p:spPr>
        <p:txBody>
          <a:bodyPr wrap="square" lIns="0" rIns="0" tIns="0" bIns="0" anchor="ctr">
            <a:noAutofit/>
          </a:bodyPr>
          <a:lstStyle/>
          <a:p>
            <a:r>
              <a:rPr sz="1030" b="0" i="0" lang="fr-FR" altLang="en-US">
                <a:solidFill>
                  <a:srgbClr val="1B2A4A"/>
                </a:solidFill>
                <a:latin typeface="Calibri"/>
              </a:rPr>
              <a:t>Révision du tableau d'outils §3.4 sur les deux lignes explicitement testées (recouvrement Soda Core/OpenMetadata, suffisance de Soda Core pour E5) - non définitives avant la fin de la phase 1.</a:t>
            </a:r>
          </a:p>
        </p:txBody>
      </p:sp>
      <p:sp>
        <p:nvSpPr>
          <p:cNvPr id="13" name="Rounded Rectangle 12"/>
          <p:cNvSpPr/>
          <p:nvPr/>
        </p:nvSpPr>
        <p:spPr>
          <a:xfrm>
            <a:off x="548640" y="3474720"/>
            <a:ext cx="11091672" cy="7772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4" name="Oval 13"/>
          <p:cNvSpPr/>
          <p:nvPr/>
        </p:nvSpPr>
        <p:spPr>
          <a:xfrm>
            <a:off x="749808" y="3643883"/>
            <a:ext cx="438912" cy="438912"/>
          </a:xfrm>
          <a:prstGeom prst="ellipse">
            <a:avLst/>
          </a:prstGeom>
          <a:solidFill>
            <a:srgbClr val="2DBE8C"/>
          </a:solidFill>
          <a:ln>
            <a:noFill/>
          </a:ln>
          <a:effectLst/>
        </p:spPr>
        <p:txBody>
          <a:bodyPr rtlCol="0" anchor="ctr"/>
          <a:lstStyle/>
          <a:p>
            <a:pPr algn="ctr"/>
          </a:p>
        </p:txBody>
      </p:sp>
      <p:sp>
        <p:nvSpPr>
          <p:cNvPr id="15" name="TextBox 14"/>
          <p:cNvSpPr txBox="1"/>
          <p:nvPr/>
        </p:nvSpPr>
        <p:spPr>
          <a:xfrm>
            <a:off x="749808" y="3643883"/>
            <a:ext cx="438912" cy="438912"/>
          </a:xfrm>
          <a:prstGeom prst="rect">
            <a:avLst/>
          </a:prstGeom>
          <a:noFill/>
        </p:spPr>
        <p:txBody>
          <a:bodyPr wrap="square" lIns="0" rIns="0" tIns="0" bIns="0" anchor="ctr">
            <a:noAutofit/>
          </a:bodyPr>
          <a:lstStyle/>
          <a:p>
            <a:pPr algn="ctr"/>
            <a:r>
              <a:rPr sz="1300" b="1" i="0" lang="fr-FR" altLang="en-US">
                <a:solidFill>
                  <a:srgbClr val="1B2A4A"/>
                </a:solidFill>
                <a:latin typeface="Calibri"/>
              </a:rPr>
              <a:t>3</a:t>
            </a:r>
          </a:p>
        </p:txBody>
      </p:sp>
      <p:sp>
        <p:nvSpPr>
          <p:cNvPr id="16" name="TextBox 15"/>
          <p:cNvSpPr txBox="1"/>
          <p:nvPr/>
        </p:nvSpPr>
        <p:spPr>
          <a:xfrm>
            <a:off x="1417320" y="3566160"/>
            <a:ext cx="9966960" cy="594359"/>
          </a:xfrm>
          <a:prstGeom prst="rect">
            <a:avLst/>
          </a:prstGeom>
          <a:noFill/>
        </p:spPr>
        <p:txBody>
          <a:bodyPr wrap="square" lIns="0" rIns="0" tIns="0" bIns="0" anchor="ctr">
            <a:noAutofit/>
          </a:bodyPr>
          <a:lstStyle/>
          <a:p>
            <a:r>
              <a:rPr sz="1030" b="0" i="0" lang="fr-FR" altLang="en-US">
                <a:solidFill>
                  <a:srgbClr val="1B2A4A"/>
                </a:solidFill>
                <a:latin typeface="Calibri"/>
              </a:rPr>
              <a:t>Établissement d'un coût total de possession complet (infrastructure, maintenance pluriannuelle), au-delà de l'Engineering overhead mesuré en pilote, une fois un historique d'exploitation suffisant disponible.</a:t>
            </a:r>
          </a:p>
        </p:txBody>
      </p:sp>
      <p:sp>
        <p:nvSpPr>
          <p:cNvPr id="17" name="Rounded Rectangle 16"/>
          <p:cNvSpPr/>
          <p:nvPr/>
        </p:nvSpPr>
        <p:spPr>
          <a:xfrm>
            <a:off x="548640" y="4343400"/>
            <a:ext cx="11091672" cy="7772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8" name="Oval 17"/>
          <p:cNvSpPr/>
          <p:nvPr/>
        </p:nvSpPr>
        <p:spPr>
          <a:xfrm>
            <a:off x="749808" y="4512564"/>
            <a:ext cx="438912" cy="438912"/>
          </a:xfrm>
          <a:prstGeom prst="ellipse">
            <a:avLst/>
          </a:prstGeom>
          <a:solidFill>
            <a:srgbClr val="2DBE8C"/>
          </a:solidFill>
          <a:ln>
            <a:noFill/>
          </a:ln>
          <a:effectLst/>
        </p:spPr>
        <p:txBody>
          <a:bodyPr rtlCol="0" anchor="ctr"/>
          <a:lstStyle/>
          <a:p>
            <a:pPr algn="ctr"/>
          </a:p>
        </p:txBody>
      </p:sp>
      <p:sp>
        <p:nvSpPr>
          <p:cNvPr id="19" name="TextBox 18"/>
          <p:cNvSpPr txBox="1"/>
          <p:nvPr/>
        </p:nvSpPr>
        <p:spPr>
          <a:xfrm>
            <a:off x="749808" y="4512564"/>
            <a:ext cx="438912" cy="438912"/>
          </a:xfrm>
          <a:prstGeom prst="rect">
            <a:avLst/>
          </a:prstGeom>
          <a:noFill/>
        </p:spPr>
        <p:txBody>
          <a:bodyPr wrap="square" lIns="0" rIns="0" tIns="0" bIns="0" anchor="ctr">
            <a:noAutofit/>
          </a:bodyPr>
          <a:lstStyle/>
          <a:p>
            <a:pPr algn="ctr"/>
            <a:r>
              <a:rPr sz="1300" b="1" i="0" lang="fr-FR" altLang="en-US">
                <a:solidFill>
                  <a:srgbClr val="1B2A4A"/>
                </a:solidFill>
                <a:latin typeface="Calibri"/>
              </a:rPr>
              <a:t>4</a:t>
            </a:r>
          </a:p>
        </p:txBody>
      </p:sp>
      <p:sp>
        <p:nvSpPr>
          <p:cNvPr id="20" name="TextBox 19"/>
          <p:cNvSpPr txBox="1"/>
          <p:nvPr/>
        </p:nvSpPr>
        <p:spPr>
          <a:xfrm>
            <a:off x="1417320" y="4434840"/>
            <a:ext cx="9966960" cy="594359"/>
          </a:xfrm>
          <a:prstGeom prst="rect">
            <a:avLst/>
          </a:prstGeom>
          <a:noFill/>
        </p:spPr>
        <p:txBody>
          <a:bodyPr wrap="square" lIns="0" rIns="0" tIns="0" bIns="0" anchor="ctr">
            <a:noAutofit/>
          </a:bodyPr>
          <a:lstStyle/>
          <a:p>
            <a:r>
              <a:rPr sz="1030" b="0" i="0" lang="fr-FR" altLang="en-US">
                <a:solidFill>
                  <a:srgbClr val="1B2A4A"/>
                </a:solidFill>
                <a:latin typeface="Calibri"/>
              </a:rPr>
              <a:t>Validation de la couverture DSAR par TrustArc - exercice séparé, porté par DPO/Legal Team, avant l'ouverture de la Phase 3 (Marketing), en s'appuyant sur le RoPA déjà peuplé en pilote.</a:t>
            </a:r>
          </a:p>
        </p:txBody>
      </p:sp>
      <p:sp>
        <p:nvSpPr>
          <p:cNvPr id="21" name="Rounded Rectangle 20"/>
          <p:cNvSpPr/>
          <p:nvPr/>
        </p:nvSpPr>
        <p:spPr>
          <a:xfrm>
            <a:off x="548640" y="5212080"/>
            <a:ext cx="11091672" cy="7772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2" name="Oval 21"/>
          <p:cNvSpPr/>
          <p:nvPr/>
        </p:nvSpPr>
        <p:spPr>
          <a:xfrm>
            <a:off x="749808" y="5381244"/>
            <a:ext cx="438912" cy="438912"/>
          </a:xfrm>
          <a:prstGeom prst="ellipse">
            <a:avLst/>
          </a:prstGeom>
          <a:solidFill>
            <a:srgbClr val="2DBE8C"/>
          </a:solidFill>
          <a:ln>
            <a:noFill/>
          </a:ln>
          <a:effectLst/>
        </p:spPr>
        <p:txBody>
          <a:bodyPr rtlCol="0" anchor="ctr"/>
          <a:lstStyle/>
          <a:p>
            <a:pPr algn="ctr"/>
          </a:p>
        </p:txBody>
      </p:sp>
      <p:sp>
        <p:nvSpPr>
          <p:cNvPr id="23" name="TextBox 22"/>
          <p:cNvSpPr txBox="1"/>
          <p:nvPr/>
        </p:nvSpPr>
        <p:spPr>
          <a:xfrm>
            <a:off x="749808" y="5381244"/>
            <a:ext cx="438912" cy="438912"/>
          </a:xfrm>
          <a:prstGeom prst="rect">
            <a:avLst/>
          </a:prstGeom>
          <a:noFill/>
        </p:spPr>
        <p:txBody>
          <a:bodyPr wrap="square" lIns="0" rIns="0" tIns="0" bIns="0" anchor="ctr">
            <a:noAutofit/>
          </a:bodyPr>
          <a:lstStyle/>
          <a:p>
            <a:pPr algn="ctr"/>
            <a:r>
              <a:rPr sz="1300" b="1" i="0" lang="fr-FR" altLang="en-US">
                <a:solidFill>
                  <a:srgbClr val="1B2A4A"/>
                </a:solidFill>
                <a:latin typeface="Calibri"/>
              </a:rPr>
              <a:t>5</a:t>
            </a:r>
          </a:p>
        </p:txBody>
      </p:sp>
      <p:sp>
        <p:nvSpPr>
          <p:cNvPr id="24" name="TextBox 23"/>
          <p:cNvSpPr txBox="1"/>
          <p:nvPr/>
        </p:nvSpPr>
        <p:spPr>
          <a:xfrm>
            <a:off x="1417320" y="5303520"/>
            <a:ext cx="9966960" cy="594359"/>
          </a:xfrm>
          <a:prstGeom prst="rect">
            <a:avLst/>
          </a:prstGeom>
          <a:noFill/>
        </p:spPr>
        <p:txBody>
          <a:bodyPr wrap="square" lIns="0" rIns="0" tIns="0" bIns="0" anchor="ctr">
            <a:noAutofit/>
          </a:bodyPr>
          <a:lstStyle/>
          <a:p>
            <a:r>
              <a:rPr sz="1030" b="0" i="0" lang="fr-FR" altLang="en-US">
                <a:solidFill>
                  <a:srgbClr val="1B2A4A"/>
                </a:solidFill>
                <a:latin typeface="Calibri"/>
              </a:rPr>
              <a:t>Formalisation en procédure documentée et réutilisable de l'extension légère de sécurisation (régénération des secrets, collecte des profils) requise à chaque nouveau département, distincte de la phase de sécurisation complète (Jalons 01-06) qui n'a lieu qu'une fois.</a:t>
            </a:r>
          </a:p>
        </p:txBody>
      </p:sp>
      <p:sp>
        <p:nvSpPr>
          <p:cNvPr id="25" name="TextBox 24"/>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§3.G.3</a:t>
            </a:r>
          </a:p>
        </p:txBody>
      </p:sp>
      <p:sp>
        <p:nvSpPr>
          <p:cNvPr id="26" name="TextBox 25"/>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lang="fr-FR" altLang="en-US">
                <a:solidFill>
                  <a:srgbClr val="1C8C68"/>
                </a:solidFill>
                <a:latin typeface="Calibri"/>
              </a:rPr>
              <a:t>B9</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lang="fr-FR" altLang="en-US">
                <a:solidFill>
                  <a:srgbClr val="1B2A4A"/>
                </a:solidFill>
                <a:latin typeface="Cambria"/>
              </a:rPr>
              <a:t>Trajectoire de maturité détaillée</a:t>
            </a:r>
          </a:p>
        </p:txBody>
      </p:sp>
      <p:pic>
        <p:nvPicPr>
          <p:cNvPr id="4" name="Picture 3" descr="icon_globe.png"/>
          <p:cNvPicPr>
            <a:picLocks noChangeAspect="1"/>
          </p:cNvPicPr>
          <p:nvPr/>
        </p:nvPicPr>
        <p:blipFill>
          <a:blip r:embed="rId2"/>
          <a:stretch>
            <a:fillRect/>
          </a:stretch>
        </p:blipFill>
        <p:spPr>
          <a:xfrm>
            <a:off x="11140135" y="365760"/>
            <a:ext cx="658368" cy="658368"/>
          </a:xfrm>
          <a:prstGeom prst="rect">
            <a:avLst/>
          </a:prstGeom>
        </p:spPr>
      </p:pic>
      <p:graphicFrame>
        <p:nvGraphicFramePr>
          <p:cNvPr id="5" name="Table 4"/>
          <p:cNvGraphicFramePr>
            <a:graphicFrameLocks noGrp="1"/>
          </p:cNvGraphicFramePr>
          <p:nvPr/>
        </p:nvGraphicFramePr>
        <p:xfrm>
          <a:off x="548640" y="1691640"/>
          <a:ext cx="11091672" cy="3401568"/>
        </p:xfrm>
        <a:graphic>
          <a:graphicData uri="http://schemas.openxmlformats.org/drawingml/2006/table">
            <a:tbl>
              <a:tblPr>
                <a:tableStyleId>{5C22544A-7EE6-4342-B048-85BDC9FD1C3A}</a:tableStyleId>
              </a:tblPr>
              <a:tblGrid>
                <a:gridCol w="1188720"/>
                <a:gridCol w="3383280"/>
                <a:gridCol w="3685032"/>
                <a:gridCol w="2834640"/>
              </a:tblGrid>
              <a:tr h="566928">
                <a:tc>
                  <a:txBody>
                    <a:bodyPr wrap="square"/>
                    <a:lstStyle/>
                    <a:p>
                      <a:pPr algn="l"/>
                      <a:r>
                        <a:rPr sz="1100" b="1" lang="fr-FR" altLang="en-US">
                          <a:solidFill>
                            <a:srgbClr val="FFFFFF"/>
                          </a:solidFill>
                          <a:latin typeface="Calibri"/>
                        </a:rPr>
                        <a:t>Échéance</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Étape</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Niveau de maturité visé</a:t>
                      </a:r>
                    </a:p>
                  </a:txBody>
                  <a:tcPr anchor="ctr" marL="91440" marR="91440" marT="36576" marB="36576">
                    <a:solidFill>
                      <a:srgbClr val="1B2A4A"/>
                    </a:solidFill>
                  </a:tcPr>
                </a:tc>
                <a:tc>
                  <a:txBody>
                    <a:bodyPr wrap="square"/>
                    <a:lstStyle/>
                    <a:p>
                      <a:pPr algn="l"/>
                      <a:r>
                        <a:rPr sz="1100" b="1" lang="fr-FR" altLang="en-US">
                          <a:solidFill>
                            <a:srgbClr val="FFFFFF"/>
                          </a:solidFill>
                          <a:latin typeface="Calibri"/>
                        </a:rPr>
                        <a:t>Repère exécutif [R11, Q7]</a:t>
                      </a:r>
                    </a:p>
                  </a:txBody>
                  <a:tcPr anchor="ctr" marL="91440" marR="91440" marT="36576" marB="36576">
                    <a:solidFill>
                      <a:srgbClr val="1B2A4A"/>
                    </a:solidFill>
                  </a:tcPr>
                </a:tc>
              </a:tr>
              <a:tr h="566928">
                <a:tc>
                  <a:txBody>
                    <a:bodyPr wrap="square"/>
                    <a:lstStyle/>
                    <a:p>
                      <a:pPr algn="l"/>
                      <a:r>
                        <a:rPr sz="1000" b="0" lang="fr-FR" altLang="en-US">
                          <a:solidFill>
                            <a:srgbClr val="1B2A4A"/>
                          </a:solidFill>
                          <a:latin typeface="Calibri"/>
                        </a:rPr>
                        <a:t>M5</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Pilote clos, décisions go/no-go prises</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Niveau 2 sur le périmètre pilote (Governance, Quality)</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Borne haute fourchette pilote (3-6 mois)</a:t>
                      </a:r>
                    </a:p>
                  </a:txBody>
                  <a:tcPr anchor="ctr" marL="91440" marR="91440" marT="36576" marB="36576">
                    <a:solidFill>
                      <a:srgbClr val="FFFFFF"/>
                    </a:solidFill>
                  </a:tcPr>
                </a:tc>
              </a:tr>
              <a:tr h="566928">
                <a:tc>
                  <a:txBody>
                    <a:bodyPr wrap="square"/>
                    <a:lstStyle/>
                    <a:p>
                      <a:pPr algn="l"/>
                      <a:r>
                        <a:rPr sz="1000" b="0" lang="fr-FR" altLang="en-US">
                          <a:solidFill>
                            <a:srgbClr val="1B2A4A"/>
                          </a:solidFill>
                          <a:latin typeface="Calibri"/>
                        </a:rPr>
                        <a:t>M10</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Product Development couvert dans son ensemble</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Niveau 2-3 sur Governance et Quality, étendu à tout PD</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Dans la fenêtre de déploiement (+12-18 mois)</a:t>
                      </a:r>
                    </a:p>
                  </a:txBody>
                  <a:tcPr anchor="ctr" marL="91440" marR="91440" marT="36576" marB="36576">
                    <a:solidFill>
                      <a:srgbClr val="FFFFFF"/>
                    </a:solidFill>
                  </a:tcPr>
                </a:tc>
              </a:tr>
              <a:tr h="566928">
                <a:tc>
                  <a:txBody>
                    <a:bodyPr wrap="square"/>
                    <a:lstStyle/>
                    <a:p>
                      <a:pPr algn="l"/>
                      <a:r>
                        <a:rPr sz="1000" b="0" lang="fr-FR" altLang="en-US">
                          <a:solidFill>
                            <a:srgbClr val="1B2A4A"/>
                          </a:solidFill>
                          <a:latin typeface="Calibri"/>
                        </a:rPr>
                        <a:t>M15</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Marketing couvert</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Niveau 2-3 sur Compliance et Data Usage &amp; Accessibility</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Dans la fenêtre de déploiement</a:t>
                      </a:r>
                    </a:p>
                  </a:txBody>
                  <a:tcPr anchor="ctr" marL="91440" marR="91440" marT="36576" marB="36576">
                    <a:solidFill>
                      <a:srgbClr val="FFFFFF"/>
                    </a:solidFill>
                  </a:tcPr>
                </a:tc>
              </a:tr>
              <a:tr h="566928">
                <a:tc>
                  <a:txBody>
                    <a:bodyPr wrap="square"/>
                    <a:lstStyle/>
                    <a:p>
                      <a:pPr algn="l"/>
                      <a:r>
                        <a:rPr sz="1000" b="0" lang="fr-FR" altLang="en-US">
                          <a:solidFill>
                            <a:srgbClr val="1B2A4A"/>
                          </a:solidFill>
                          <a:latin typeface="Calibri"/>
                        </a:rPr>
                        <a:t>M20</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Content Curation couvert, Engineering élargi</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Niveau 3 sur Metadata et Master &amp; Reference Data</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Approche la borne haute du déploiement complet</a:t>
                      </a:r>
                    </a:p>
                  </a:txBody>
                  <a:tcPr anchor="ctr" marL="91440" marR="91440" marT="36576" marB="36576">
                    <a:solidFill>
                      <a:srgbClr val="FFFFFF"/>
                    </a:solidFill>
                  </a:tcPr>
                </a:tc>
              </a:tr>
              <a:tr h="566928">
                <a:tc>
                  <a:txBody>
                    <a:bodyPr wrap="square"/>
                    <a:lstStyle/>
                    <a:p>
                      <a:pPr algn="l"/>
                      <a:r>
                        <a:rPr sz="1000" b="0" lang="fr-FR" altLang="en-US">
                          <a:solidFill>
                            <a:srgbClr val="1B2A4A"/>
                          </a:solidFill>
                          <a:latin typeface="Calibri"/>
                        </a:rPr>
                        <a:t>M22-M24</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Ensemble des départements couverts</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Niveau 3 généralisé [D21 §2.1.7]</a:t>
                      </a:r>
                    </a:p>
                  </a:txBody>
                  <a:tcPr anchor="ctr" marL="91440" marR="91440" marT="36576" marB="36576">
                    <a:solidFill>
                      <a:srgbClr val="FFFFFF"/>
                    </a:solidFill>
                  </a:tcPr>
                </a:tc>
                <a:tc>
                  <a:txBody>
                    <a:bodyPr wrap="square"/>
                    <a:lstStyle/>
                    <a:p>
                      <a:pPr algn="l"/>
                      <a:r>
                        <a:rPr sz="1000" b="0" lang="fr-FR" altLang="en-US">
                          <a:solidFill>
                            <a:srgbClr val="1B2A4A"/>
                          </a:solidFill>
                          <a:latin typeface="Calibri"/>
                        </a:rPr>
                        <a:t>Borne haute, maximum de la fourchette [R11, Q7]</a:t>
                      </a:r>
                    </a:p>
                  </a:txBody>
                  <a:tcPr anchor="ctr" marL="91440" marR="91440" marT="36576" marB="36576">
                    <a:solidFill>
                      <a:srgbClr val="FFFFFF"/>
                    </a:solidFill>
                  </a:tcPr>
                </a:tc>
              </a:tr>
            </a:tbl>
          </a:graphicData>
        </a:graphic>
      </p:graphicFrame>
      <p:sp>
        <p:nvSpPr>
          <p:cNvPr id="6" name="Rounded Rectangle 5"/>
          <p:cNvSpPr/>
          <p:nvPr/>
        </p:nvSpPr>
        <p:spPr>
          <a:xfrm>
            <a:off x="548640" y="5349240"/>
            <a:ext cx="11091672" cy="777240"/>
          </a:xfrm>
          <a:prstGeom prst="roundRect">
            <a:avLst>
              <a:gd name="adj" fmla="val 8000"/>
            </a:avLst>
          </a:prstGeom>
          <a:solidFill>
            <a:srgbClr val="F7F8FA"/>
          </a:solidFill>
          <a:ln w="9525">
            <a:solidFill>
              <a:srgbClr val="D8DEE6"/>
            </a:solidFill>
          </a:ln>
          <a:effectLst/>
        </p:spPr>
        <p:txBody>
          <a:bodyPr rtlCol="0" anchor="ctr"/>
          <a:lstStyle/>
          <a:p>
            <a:pPr algn="ctr"/>
          </a:p>
        </p:txBody>
      </p:sp>
      <p:sp>
        <p:nvSpPr>
          <p:cNvPr id="7" name="TextBox 6"/>
          <p:cNvSpPr txBox="1"/>
          <p:nvPr/>
        </p:nvSpPr>
        <p:spPr>
          <a:xfrm>
            <a:off x="777240" y="5349240"/>
            <a:ext cx="10607040" cy="777240"/>
          </a:xfrm>
          <a:prstGeom prst="rect">
            <a:avLst/>
          </a:prstGeom>
          <a:noFill/>
        </p:spPr>
        <p:txBody>
          <a:bodyPr wrap="square" lIns="0" rIns="0" tIns="0" bIns="0" anchor="ctr">
            <a:noAutofit/>
          </a:bodyPr>
          <a:lstStyle/>
          <a:p>
            <a:r>
              <a:rPr sz="1050" b="0" i="1" lang="fr-FR" altLang="en-US">
                <a:solidFill>
                  <a:srgbClr val="1B2A4A"/>
                </a:solidFill>
                <a:latin typeface="Calibri"/>
              </a:rPr>
              <a:t>Cette trajectoire reste indicative : chaque jalon de phase est un point de réévaluation, pas un engagement figé - la feuille de route est elle-même soumise au principe d'amélioration continue qu'elle sert à mettre en œuvre.</a:t>
            </a:r>
          </a:p>
        </p:txBody>
      </p:sp>
      <p:sp>
        <p:nvSpPr>
          <p:cNvPr id="8" name="TextBox 7"/>
          <p:cNvSpPr txBox="1"/>
          <p:nvPr/>
        </p:nvSpPr>
        <p:spPr>
          <a:xfrm>
            <a:off x="548640" y="6473952"/>
            <a:ext cx="8686800" cy="274320"/>
          </a:xfrm>
          <a:prstGeom prst="rect">
            <a:avLst/>
          </a:prstGeom>
          <a:noFill/>
        </p:spPr>
        <p:txBody>
          <a:bodyPr wrap="square" lIns="0" rIns="0" tIns="0" bIns="0">
            <a:noAutofit/>
          </a:bodyPr>
          <a:lstStyle/>
          <a:p>
            <a:r>
              <a:rPr sz="950" b="0" i="1" lang="fr-FR" altLang="en-US">
                <a:solidFill>
                  <a:srgbClr val="8493A8"/>
                </a:solidFill>
                <a:latin typeface="Calibri"/>
              </a:rPr>
              <a:t>Source : [D3] §3.G.4</a:t>
            </a:r>
          </a:p>
        </p:txBody>
      </p:sp>
      <p:sp>
        <p:nvSpPr>
          <p:cNvPr id="9" name="TextBox 8"/>
          <p:cNvSpPr txBox="1"/>
          <p:nvPr/>
        </p:nvSpPr>
        <p:spPr>
          <a:xfrm>
            <a:off x="11002975" y="6473952"/>
            <a:ext cx="822960" cy="274320"/>
          </a:xfrm>
          <a:prstGeom prst="rect">
            <a:avLst/>
          </a:prstGeom>
          <a:noFill/>
        </p:spPr>
        <p:txBody>
          <a:bodyPr wrap="square" lIns="0" rIns="0" tIns="0" bIns="0">
            <a:noAutofit/>
          </a:bodyPr>
          <a:lstStyle/>
          <a:p>
            <a:pPr algn="r"/>
            <a:r>
              <a:rPr sz="950" b="0" i="0" lang="fr-FR" altLang="en-US">
                <a:solidFill>
                  <a:srgbClr val="8493A8"/>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Spotify - Gouvernance des Données et de l'IA (Annexes)</dc:title>
  <dc:subject>Data &amp; AI Governance - Slides de backup (Step 4)</dc:subject>
  <dc:creator>Nicolas Pichon</dc:creator>
  <cp:keywords/>
  <dc:description>generated using python-pptx</dc:description>
  <dc:language>fr-FR</dc:language>
  <cp:lastModifiedBy>Steve Canny</cp:lastModifiedBy>
  <cp:revision>1</cp:revision>
  <dcterms:created xsi:type="dcterms:W3CDTF">2013-01-27T09:14:16Z</dcterms:created>
  <dcterms:modified xsi:type="dcterms:W3CDTF">2013-01-27T09:15:58Z</dcterms:modified>
  <cp:category/>
</cp:coreProperties>
</file>