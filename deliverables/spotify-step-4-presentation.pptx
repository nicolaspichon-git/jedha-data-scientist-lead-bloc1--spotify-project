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1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sz="1200" b="0" u="none" strike="noStrike">
                <a:solidFill>
                  <a:srgbClr val="1B2A4A"/>
                </a:solidFill>
                <a:uFillTx/>
                <a:latin typeface="Calibri"/>
                <a:ea typeface="DejaVu Sans"/>
              </a:rPr>
              <a:t>Niveau de maturité par dimension (échelle 0–5)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Niveau de maturité</c:v>
                </c:pt>
              </c:strCache>
            </c:strRef>
          </c:tx>
          <c:spPr>
            <a:solidFill>
              <a:srgbClr val="2DBE8C"/>
            </a:solidFill>
            <a:ln w="0">
              <a:noFill/>
            </a:ln>
          </c:spPr>
          <c:invertIfNegative val="0"/>
          <c:dPt>
            <c:idx val="0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1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2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3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4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5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6"/>
            <c:invertIfNegative val="0"/>
            <c:spPr>
              <a:solidFill>
                <a:srgbClr val="2DBE8C"/>
              </a:solidFill>
              <a:ln w="0">
                <a:noFill/>
              </a:ln>
            </c:spPr>
          </c:dPt>
          <c:dPt>
            <c:idx val="7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8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9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10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Pt>
            <c:idx val="11"/>
            <c:invertIfNegative val="0"/>
            <c:spPr>
              <a:solidFill>
                <a:srgbClr val="A9B6C9"/>
              </a:solidFill>
              <a:ln w="0">
                <a:noFill/>
              </a:ln>
            </c:spPr>
          </c:dPt>
          <c:dLbls>
            <c:dLbl>
              <c:idx val="0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2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3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4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5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6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7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8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9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0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dLbl>
              <c:idx val="11"/>
              <c:numFmt formatCode="#,##0" sourceLinked="0"/>
              <c:txPr>
                <a:bodyPr wrap="square"/>
                <a:lstStyle/>
                <a:p>
                  <a:pPr>
                    <a:defRPr sz="1000" b="0" u="none" strike="noStrike">
                      <a:solidFill>
                        <a:srgbClr val="1B2A4A"/>
                      </a:solidFill>
                      <a:uFillTx/>
                      <a:latin typeface="Calibri"/>
                      <a:ea typeface="DejaVu San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eparator>; </c:separator>
            </c:dLbl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1B2A4A"/>
                    </a:solidFill>
                    <a:uFillTx/>
                    <a:latin typeface="Calibri"/>
                    <a:ea typeface="DejaVu San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12"/>
                <c:pt idx="0">
                  <c:v>Analytics &amp; BI</c:v>
                </c:pt>
                <c:pt idx="1">
                  <c:v>Intégration</c:v>
                </c:pt>
                <c:pt idx="2">
                  <c:v>Métadonnées</c:v>
                </c:pt>
                <c:pt idx="3">
                  <c:v>Master &amp; Reference Data</c:v>
                </c:pt>
                <c:pt idx="4">
                  <c:v>Littératie data</c:v>
                </c:pt>
                <c:pt idx="5">
                  <c:v>Sécurité</c:v>
                </c:pt>
                <c:pt idx="6">
                  <c:v>Usage &amp; Accessibilité</c:v>
                </c:pt>
                <c:pt idx="7">
                  <c:v>Conformité</c:v>
                </c:pt>
                <c:pt idx="8">
                  <c:v>Opérations</c:v>
                </c:pt>
                <c:pt idx="9">
                  <c:v>Architecture</c:v>
                </c:pt>
                <c:pt idx="10">
                  <c:v>Qualité</c:v>
                </c:pt>
                <c:pt idx="11">
                  <c:v>Gouvernance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</c:numCache>
            </c:numRef>
          </c:val>
        </c:ser>
        <c:gapWidth val="35"/>
        <c:overlap val="0"/>
        <c:axId val="13823998"/>
        <c:axId val="57730765"/>
      </c:barChart>
      <c:catAx>
        <c:axId val="13823998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D8DEE6"/>
            </a:solidFill>
            <a:round/>
          </a:ln>
        </c:spPr>
        <c:txPr>
          <a:bodyPr/>
          <a:lstStyle/>
          <a:p>
            <a:pPr>
              <a:defRPr sz="1050" b="0" u="none" strike="noStrike">
                <a:solidFill>
                  <a:srgbClr val="1B2A4A"/>
                </a:solidFill>
                <a:uFillTx/>
                <a:latin typeface="Calibri"/>
                <a:ea typeface="DejaVu Sans"/>
              </a:defRPr>
            </a:pPr>
          </a:p>
        </c:txPr>
        <c:crossAx val="57730765"/>
        <c:crosses val="autoZero"/>
        <c:auto val="1"/>
        <c:lblAlgn val="ctr"/>
        <c:lblOffset val="100"/>
        <c:noMultiLvlLbl val="0"/>
      </c:catAx>
      <c:valAx>
        <c:axId val="57730765"/>
        <c:scaling>
          <c:orientation val="minMax"/>
          <c:max val="5"/>
          <c:min val="0"/>
        </c:scaling>
        <c:delete val="0"/>
        <c:axPos val="l"/>
        <c:majorGridlines>
          <c:spPr>
            <a:ln w="12600">
              <a:solidFill>
                <a:srgbClr val="D8DEE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D8DEE6"/>
            </a:solidFill>
            <a:round/>
          </a:ln>
        </c:spPr>
        <c:txPr>
          <a:bodyPr/>
          <a:lstStyle/>
          <a:p>
            <a:pPr>
              <a:defRPr sz="950" b="0" u="none" strike="noStrike">
                <a:solidFill>
                  <a:srgbClr val="5B6B84"/>
                </a:solidFill>
                <a:uFillTx/>
                <a:latin typeface="Arial"/>
                <a:ea typeface="DejaVu Sans"/>
              </a:defRPr>
            </a:pPr>
          </a:p>
        </c:txPr>
        <c:crossAx val="13823998"/>
        <c:crosses val="autoZero"/>
        <c:crossBetween val="between"/>
        <c:majorUnit val="1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déplacer la diapo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modifier le format des 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&lt;en-tête&gt;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&lt;date/heure&gt;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5D2A813-7351-433B-A0D0-E3C6CDDB5123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&lt;numéro&gt;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01 : 0:45 DE 0:00 A 0:45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Spotify plateforme de streaming audio numérique d’envergure mondiale (450M+ utilisateurs, 180+ pays)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dépendance forte aux données : contenus mais aussi recommandations, personnalisations, monétisations.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Objectif projet = conception d'un cadre de gouvernance des données unifié avec intégration de la gouvernance de l'IA.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Objectif session = valider le cadre de gouvernance proposé, son organisation cible, et un plan de déploiement comprenant une pilote pilote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F10CFA-CF55-4FE2-9F26-DB19A7816BEB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500000"/>
            <a:ext cx="5483880" cy="575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02 : 1:45 DE 0:45 A 2:30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 dimensions évaluées selon DMAT [R1], appliquée au business case Spotify [R2].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Niveau moyen ~1,25 sur 5.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Points d'appui de niveau 2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Usage &amp; Accessibilité,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Literacy,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Analytics &amp; BI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(moteur de recommandation déjà en production).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autres dimensions encore au niveau 1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initiatives locales, non généralisées, non mesurées.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Message clé pour le comité : l'entreprise sait déjà produire de la valeur avec la donnée, le risque est dans la gouvernance de cette capacité, pas dans la capacité elle-même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43A1E2-D2EF-4565-A781-7BCC3B0066EC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8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03 : 1:15 DE 2:30 A 3:45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L’ordre de criticité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est justifié dans [D1].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E5 (gouvernance IA) est le seul enjeu qui n'est pas déjà identifié dans le business case [R2].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Le modèle organisationnel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[D22] répond spécifiquement aux enjeux E1 (désilotage), E3 (conformité), E5 (gouvernance IA).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La politique de gouvernance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[D21] répond aux enjeux E2 (qualité), E3 (conformité), E4 (éthique), E5 (gouvernance IA).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E6 (formation) couvert par l’organisation des rôles et des responsabilités [D22] et aussi par P9 (amélioration continue) [D21]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2829473-A762-484B-AD43-1EC7315EBC71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405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04 : 1:15 DE 3:45 A 5:00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Principes issus du référentiel [R4]</a:t>
            </a:r>
            <a:br>
              <a:rPr sz="1600"/>
            </a:b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repris pour [D21] avec peu de changements.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LIRE LES 4 GROUPES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P8 est le principe le plus opérationnalisé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avec 4 exigences concrètes 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traçabilité, biais, responsabilité, explicabilité,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détaillées dans la slide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Gouvernance IA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[D21] propose une différenciation des workflows d’approbation de déploiement des modèles ML/IA  en fonction de leur impact sur les utilisateurs,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détaillée au slide 7 (</a:t>
            </a:r>
            <a:r>
              <a:rPr lang="fr-FR" sz="1600" b="0" i="1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Responsabilité adaptées [...]</a:t>
            </a:r>
            <a:r>
              <a:rPr lang="fr-FR" sz="1600" b="0" u="none" strike="sngStrike">
                <a:solidFill>
                  <a:srgbClr val="000000"/>
                </a:solidFill>
                <a:effectLst/>
                <a:uFillTx/>
                <a:latin typeface="Arial"/>
              </a:rPr>
              <a:t>)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ED33FA-8C1F-435B-A4D0-98D4CB2F9F4D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549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05 : 1:45 DE 5:00 A 6:45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CDO, DPO &amp; Legal Team rapportent au CEO (indépendance DPO exigée par GDPR art. 38).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DGC présidé par CDO.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MRM rapporte au CDO au quotidien mais peut escalader directement au DGC -- ce qui préserve son indépendance vis-a-vis des équipes dont il évalue les modèles,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DCs centralisés dans Engineering + servent tous les départements transversalement.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MOs dans Product Development, séparés du MRM (principe de séparation exécution / contrôle).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Surcoût de coordination assumé 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à l'échelle de Spotify, cette charge est une nécessité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structurelle.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DD7147-6B70-4072-8002-D387407C4AE7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42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06 : 0:45 DE 6:45 A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7:30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FIN 06  = 7:30 = MI-PARCOURS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Les trois cadres sont traités séparément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[D21], </a:t>
            </a:r>
            <a:br>
              <a:rPr sz="1600"/>
            </a:b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chacun avec ses propres exigences opérationnelles issues de la check-liste [R5].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La difficulté spécifique de Spotify est la dimension multi-juridictionnelle (enjeu E3)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au-delà du socle GDPR/CCPA/PCI-DSS, chaque marché local (ex. </a:t>
            </a:r>
            <a:r>
              <a:rPr lang="fr-FR" sz="16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PDPA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à Singapour) doit être cartographié séparément, sous la responsabilité conjointe de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Legal Team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et </a:t>
            </a: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DPO</a:t>
            </a: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50666F-8E82-4210-BA04-998153BEAE7E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87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07 : 2:15 DE 7:30 A 9:45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différenciation des circuits d'approbation en fonction des niveaux d’impact évite qu'un circuit conçu pour les modèles à fort impact freine inutilement le déploiement des modèles mineurs.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DGC est responsable (Accountable) de l'approbation des modèles a fort impact.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CDO n'est que consultatif (Consulted) sur cette décision pour réduire le risque qu’il soit à la fois juge et partie sur ses propres arbitrages IA.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calibrage final des seuils des critères de niveau sera affiné avec les résultats du pilote [D3].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B22790-DD7F-4BF1-8005-756010DB58A3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08 : 2:15 DE 9:45 A </a:t>
            </a: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12:00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sng" strike="noStrike">
                <a:solidFill>
                  <a:srgbClr val="000000"/>
                </a:solidFill>
                <a:effectLst/>
                <a:uFillTx/>
                <a:latin typeface="Arial"/>
              </a:rPr>
              <a:t>FIN 08 = 12:00 = RESTE 3 MIN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Chaque outil répond a un rôle précis du modèle CoE et un enjeu identifie en [D1].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sélection résulte d'une comparaison entre les outils recommandes [R8] et des alternatives open source (retenues sur la majorité des lignes, sauf Collibra et TrustArc).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pilote est volontairement resserré sur un seul sous-périmètre (système de recommandation)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pour valider 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rattachement fonctionnel des Data Stewards,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circuit d'approbation des modèles,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 le coût réel d’ingénierie avant généralisation.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La conformité complète au GDPR (E3/E4) n’est pas dans le périmètre du pilote : un RoPA ne couvrant qu’un seul département ne suffit pas à mettre le projet en conformité avec l’article 30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.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784B3CB-ABB1-475D-84E7-C21E58499A83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531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09 : 1:45 DE 12:00 A 13:45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séquencement suit le niveau de risque et le coût marginal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Marketing en priorité pour E3/E4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--- (risque réglementaire le plus élevé),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puis Content Curation pour E2/métadonnées.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Inter-phases de 2 mois 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 + 2 + 3 = 10, 10 + 2 + 3 = 15, 15 + 2 + 3 = 20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La phase de sécurisation (annuaire central, rôles, intégrations SSO) n’est pas reproduite intégralement aux phases suivantes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seule une migration allégée est reconduite pour chaque département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Message pour le comité : la durée totale du projet  (22-24 mois) est délibérément prudente et sert en grande partie le financement de la phase de sécurisation.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5B8904-9C18-4A22-879F-4A85EADAD9B0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TEMPS 10 : 1:15 DE 13:45 A 15:00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Synthèse de la valeur business [R11, Q3] : économies, conformité, confiance, scalabilité.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Les prochaines étapes sont volontairement concrètes et actionnables immédiatement :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lancement du pilote,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nomination des rôles,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premières revues DMAT en milieu/fin de pilote, 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et gouvernance des décisions de passage à l'échelle phase par phase (plutôt qu'un engagement global fige sur 24 mois).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32BB3F-001D-4312-835F-B59081A76AE0}" type="slidenum">
              <a:rPr lang="fr-F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510480"/>
            <a:ext cx="1097172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texte-titre</a:t>
            </a:r>
            <a:endParaRPr lang="fr-F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éditer le format du plan de texte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niveau de plan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Troisième niveau de plan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Quatrième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Cinquième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Septième niveau de plan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0"/>
          <p:cNvSpPr/>
          <p:nvPr/>
        </p:nvSpPr>
        <p:spPr>
          <a:xfrm>
            <a:off x="640080" y="685800"/>
            <a:ext cx="8227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SPOTIFY - DATA &amp; AI GOVERNANCE PROJECT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640080" y="1417320"/>
            <a:ext cx="8501400" cy="15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fr-FR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Gouvernance des Données &amp; de l'IA</a:t>
            </a:r>
            <a:endParaRPr lang="fr-F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640080" y="2880360"/>
            <a:ext cx="786132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7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Cadre, organisation et plan de mise en œuvre</a:t>
            </a:r>
            <a:endParaRPr lang="fr-F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640080" y="4160520"/>
            <a:ext cx="23749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450M+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40080" y="4818960"/>
            <a:ext cx="23749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utilisateurs actifs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337560" y="4160520"/>
            <a:ext cx="23749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200M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3337560" y="4818960"/>
            <a:ext cx="23749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abonnés premium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7"/>
          <p:cNvSpPr/>
          <p:nvPr/>
        </p:nvSpPr>
        <p:spPr>
          <a:xfrm>
            <a:off x="6035040" y="4160520"/>
            <a:ext cx="237492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400" b="1" u="none" strike="noStrike">
                <a:solidFill>
                  <a:srgbClr val="2DBE8C"/>
                </a:solidFill>
                <a:effectLst/>
                <a:uFillTx/>
                <a:latin typeface="Cambria"/>
                <a:ea typeface="Cambria"/>
              </a:rPr>
              <a:t>180+</a:t>
            </a:r>
            <a:endParaRPr lang="fr-FR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6035040" y="4818960"/>
            <a:ext cx="23749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pays d'opération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9"/>
          <p:cNvSpPr/>
          <p:nvPr/>
        </p:nvSpPr>
        <p:spPr>
          <a:xfrm>
            <a:off x="640080" y="63550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Nicolas Pichon --- AIA RNCP 38777 / BC01 / Presentation / v6 --- 2026/10/15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0"/>
          <p:cNvSpPr/>
          <p:nvPr/>
        </p:nvSpPr>
        <p:spPr>
          <a:xfrm>
            <a:off x="11003040" y="63550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1 / 10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DIAGNOSTIC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566640" y="658440"/>
            <a:ext cx="950724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Une maturité data en </a:t>
            </a: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phase initiale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0" descr="icons/icon_barchart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6" name="Chart 0"/>
          <p:cNvGraphicFramePr/>
          <p:nvPr/>
        </p:nvGraphicFramePr>
        <p:xfrm>
          <a:off x="502920" y="1691640"/>
          <a:ext cx="6946920" cy="4478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7" name="Shape 2"/>
          <p:cNvSpPr/>
          <p:nvPr/>
        </p:nvSpPr>
        <p:spPr>
          <a:xfrm>
            <a:off x="7560000" y="1691640"/>
            <a:ext cx="4318200" cy="14148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3"/>
          <p:cNvSpPr/>
          <p:nvPr/>
        </p:nvSpPr>
        <p:spPr>
          <a:xfrm>
            <a:off x="9180000" y="1810440"/>
            <a:ext cx="251820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Niveau moyen de maturité actuel  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5"/>
          <p:cNvSpPr/>
          <p:nvPr/>
        </p:nvSpPr>
        <p:spPr>
          <a:xfrm>
            <a:off x="7560000" y="3246120"/>
            <a:ext cx="4318200" cy="1231920"/>
          </a:xfrm>
          <a:prstGeom prst="roundRect">
            <a:avLst>
              <a:gd name="adj" fmla="val 5926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7740000" y="3364920"/>
            <a:ext cx="37332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Cible à moyen terme : niveau 3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7740000" y="3730680"/>
            <a:ext cx="395820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globale &amp; bien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définie,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portée par une politique de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7560000" y="4617720"/>
            <a:ext cx="4318200" cy="15519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7740000" y="4754880"/>
            <a:ext cx="3958200" cy="12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Cadre partiellement défini </a:t>
            </a: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(rôles, outils)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mais pas encore déployé :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 pas d’audit,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 pas de monitoring,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pas de politique appliquée sur </a:t>
            </a:r>
            <a:r>
              <a:rPr lang="fr-FR" sz="14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le terrain.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548640" y="6473880"/>
            <a:ext cx="8684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[D1]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(Data &amp; AI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Maturity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Assessment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Report) -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Méthodologie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[R1]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(Australian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Government </a:t>
            </a: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DMAT)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2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43"/>
          <p:cNvSpPr/>
          <p:nvPr/>
        </p:nvSpPr>
        <p:spPr>
          <a:xfrm>
            <a:off x="7740000" y="2450520"/>
            <a:ext cx="39582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locale, réactive, dispersée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44"/>
          <p:cNvSpPr/>
          <p:nvPr/>
        </p:nvSpPr>
        <p:spPr>
          <a:xfrm>
            <a:off x="7739280" y="1800000"/>
            <a:ext cx="1438920" cy="64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30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mbria"/>
              </a:rPr>
              <a:t>1,25 / 5 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ENJEUX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"/>
          <p:cNvSpPr/>
          <p:nvPr/>
        </p:nvSpPr>
        <p:spPr>
          <a:xfrm>
            <a:off x="548640" y="658440"/>
            <a:ext cx="950724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Six enjeux majeurs - par ordre de criticité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0" descr="icons/icon_alert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Shape 2"/>
          <p:cNvSpPr/>
          <p:nvPr/>
        </p:nvSpPr>
        <p:spPr>
          <a:xfrm>
            <a:off x="591480" y="1689120"/>
            <a:ext cx="5346720" cy="1369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749880" y="1892880"/>
            <a:ext cx="564480" cy="56448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749880" y="1892880"/>
            <a:ext cx="5644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E1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1463040" y="1837800"/>
            <a:ext cx="424944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Décompartimenter les données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1463040" y="2221920"/>
            <a:ext cx="42494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Silos départementaux → vues incohérentes / incomplètes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7"/>
          <p:cNvSpPr/>
          <p:nvPr/>
        </p:nvSpPr>
        <p:spPr>
          <a:xfrm>
            <a:off x="6217920" y="1691640"/>
            <a:ext cx="5346720" cy="1369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8"/>
          <p:cNvSpPr/>
          <p:nvPr/>
        </p:nvSpPr>
        <p:spPr>
          <a:xfrm>
            <a:off x="6419160" y="1892880"/>
            <a:ext cx="564480" cy="56448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9"/>
          <p:cNvSpPr/>
          <p:nvPr/>
        </p:nvSpPr>
        <p:spPr>
          <a:xfrm>
            <a:off x="6419160" y="1892880"/>
            <a:ext cx="5644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7132320" y="1837800"/>
            <a:ext cx="424944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Maîtriser la qualité des données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7132320" y="2221920"/>
            <a:ext cx="42494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Données inexactes / métadonnées obsolètes →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recommandations dégradées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Règles de qualité à définir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2"/>
          <p:cNvSpPr/>
          <p:nvPr/>
        </p:nvSpPr>
        <p:spPr>
          <a:xfrm>
            <a:off x="548640" y="3319200"/>
            <a:ext cx="5346720" cy="1369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3"/>
          <p:cNvSpPr/>
          <p:nvPr/>
        </p:nvSpPr>
        <p:spPr>
          <a:xfrm>
            <a:off x="749880" y="3520440"/>
            <a:ext cx="564480" cy="56448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749880" y="3520440"/>
            <a:ext cx="5644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E3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5"/>
          <p:cNvSpPr/>
          <p:nvPr/>
        </p:nvSpPr>
        <p:spPr>
          <a:xfrm>
            <a:off x="1463040" y="3465720"/>
            <a:ext cx="424944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Maîtrise la conformité en contexte multi-juridictionnel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6"/>
          <p:cNvSpPr/>
          <p:nvPr/>
        </p:nvSpPr>
        <p:spPr>
          <a:xfrm>
            <a:off x="1463040" y="3849480"/>
            <a:ext cx="42494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GDPR, CCPA, PDPA + réglementations IA →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concilier sans perdre la cohérence globale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7"/>
          <p:cNvSpPr/>
          <p:nvPr/>
        </p:nvSpPr>
        <p:spPr>
          <a:xfrm>
            <a:off x="6217920" y="3319200"/>
            <a:ext cx="5346720" cy="1369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8"/>
          <p:cNvSpPr/>
          <p:nvPr/>
        </p:nvSpPr>
        <p:spPr>
          <a:xfrm>
            <a:off x="6419160" y="3520440"/>
            <a:ext cx="564480" cy="56448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9"/>
          <p:cNvSpPr/>
          <p:nvPr/>
        </p:nvSpPr>
        <p:spPr>
          <a:xfrm>
            <a:off x="6419160" y="3520440"/>
            <a:ext cx="5644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E4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7132320" y="3465720"/>
            <a:ext cx="424944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Garantir la vie privée &amp; l’usage éthique des données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1"/>
          <p:cNvSpPr/>
          <p:nvPr/>
        </p:nvSpPr>
        <p:spPr>
          <a:xfrm>
            <a:off x="7132320" y="3849480"/>
            <a:ext cx="42494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Transparence, anonymisation, maîtrise de l’utilisateur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Au-delà de la seule conformité légale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2"/>
          <p:cNvSpPr/>
          <p:nvPr/>
        </p:nvSpPr>
        <p:spPr>
          <a:xfrm>
            <a:off x="548640" y="4946760"/>
            <a:ext cx="5346720" cy="1369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3"/>
          <p:cNvSpPr/>
          <p:nvPr/>
        </p:nvSpPr>
        <p:spPr>
          <a:xfrm>
            <a:off x="749880" y="5148000"/>
            <a:ext cx="564480" cy="56448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"/>
          <p:cNvSpPr/>
          <p:nvPr/>
        </p:nvSpPr>
        <p:spPr>
          <a:xfrm>
            <a:off x="749880" y="5148000"/>
            <a:ext cx="5644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E5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5"/>
          <p:cNvSpPr/>
          <p:nvPr/>
        </p:nvSpPr>
        <p:spPr>
          <a:xfrm>
            <a:off x="1463040" y="5093280"/>
            <a:ext cx="424944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Gouverner spécifiquement  les données d’IA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6"/>
          <p:cNvSpPr/>
          <p:nvPr/>
        </p:nvSpPr>
        <p:spPr>
          <a:xfrm>
            <a:off x="1463040" y="5477400"/>
            <a:ext cx="42494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Traçabilité, biais, explicabilité, responsabilité des modèles du moteur de recommandation en production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7"/>
          <p:cNvSpPr/>
          <p:nvPr/>
        </p:nvSpPr>
        <p:spPr>
          <a:xfrm>
            <a:off x="6217920" y="4946760"/>
            <a:ext cx="5346720" cy="136908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8"/>
          <p:cNvSpPr/>
          <p:nvPr/>
        </p:nvSpPr>
        <p:spPr>
          <a:xfrm>
            <a:off x="6419160" y="5148000"/>
            <a:ext cx="564480" cy="564480"/>
          </a:xfrm>
          <a:prstGeom prst="ellipse">
            <a:avLst/>
          </a:prstGeom>
          <a:solidFill>
            <a:srgbClr val="B857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9"/>
          <p:cNvSpPr/>
          <p:nvPr/>
        </p:nvSpPr>
        <p:spPr>
          <a:xfrm>
            <a:off x="6419160" y="5148000"/>
            <a:ext cx="56448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E6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0"/>
          <p:cNvSpPr/>
          <p:nvPr/>
        </p:nvSpPr>
        <p:spPr>
          <a:xfrm>
            <a:off x="7132320" y="5093280"/>
            <a:ext cx="424944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Accompagner la montée en compétences </a:t>
            </a:r>
            <a:r>
              <a:rPr lang="fr-FR" sz="14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data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1"/>
          <p:cNvSpPr/>
          <p:nvPr/>
        </p:nvSpPr>
        <p:spPr>
          <a:xfrm>
            <a:off x="7132320" y="5477400"/>
            <a:ext cx="424944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Culture de gouvernance partagée encore à construire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Risque de résistance au changement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2"/>
          <p:cNvSpPr/>
          <p:nvPr/>
        </p:nvSpPr>
        <p:spPr>
          <a:xfrm>
            <a:off x="548640" y="6473880"/>
            <a:ext cx="8684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[D1] (Data &amp; AI Maturity Assessment Report) - enjeux dérivés de [R2] - sauf E5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3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3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POLITIQUE DE GOUVERNANCE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48640" y="658440"/>
            <a:ext cx="969012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Principes structurants du cadre de gouvernance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0" descr="icons/icon_shield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Shape 2"/>
          <p:cNvSpPr/>
          <p:nvPr/>
        </p:nvSpPr>
        <p:spPr>
          <a:xfrm>
            <a:off x="548640" y="1645920"/>
            <a:ext cx="5346720" cy="21463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3"/>
          <p:cNvSpPr/>
          <p:nvPr/>
        </p:nvSpPr>
        <p:spPr>
          <a:xfrm>
            <a:off x="720000" y="1810440"/>
            <a:ext cx="47570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Responsabilité &amp; qualité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"/>
          <p:cNvSpPr/>
          <p:nvPr/>
        </p:nvSpPr>
        <p:spPr>
          <a:xfrm>
            <a:off x="858960" y="224892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5"/>
          <p:cNvSpPr/>
          <p:nvPr/>
        </p:nvSpPr>
        <p:spPr>
          <a:xfrm>
            <a:off x="858960" y="224892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P1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6"/>
          <p:cNvSpPr/>
          <p:nvPr/>
        </p:nvSpPr>
        <p:spPr>
          <a:xfrm>
            <a:off x="1361880" y="2340000"/>
            <a:ext cx="44323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Responsabilité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un responsable / actif de données et / modèle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7"/>
          <p:cNvSpPr/>
          <p:nvPr/>
        </p:nvSpPr>
        <p:spPr>
          <a:xfrm>
            <a:off x="858960" y="292392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858960" y="292392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P4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9"/>
          <p:cNvSpPr/>
          <p:nvPr/>
        </p:nvSpPr>
        <p:spPr>
          <a:xfrm>
            <a:off x="1361880" y="3004200"/>
            <a:ext cx="425232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Qualité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règles mesurables (exactitude, complétude, fraîcheur),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   auditées régulièrement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0"/>
          <p:cNvSpPr/>
          <p:nvPr/>
        </p:nvSpPr>
        <p:spPr>
          <a:xfrm>
            <a:off x="6247800" y="1652040"/>
            <a:ext cx="5346720" cy="21463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1"/>
          <p:cNvSpPr/>
          <p:nvPr/>
        </p:nvSpPr>
        <p:spPr>
          <a:xfrm>
            <a:off x="6480000" y="1810440"/>
            <a:ext cx="481032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Confiance utilisateur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2"/>
          <p:cNvSpPr/>
          <p:nvPr/>
        </p:nvSpPr>
        <p:spPr>
          <a:xfrm>
            <a:off x="6564240" y="221292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3"/>
          <p:cNvSpPr/>
          <p:nvPr/>
        </p:nvSpPr>
        <p:spPr>
          <a:xfrm>
            <a:off x="6564240" y="221292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P2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4"/>
          <p:cNvSpPr/>
          <p:nvPr/>
        </p:nvSpPr>
        <p:spPr>
          <a:xfrm>
            <a:off x="7020000" y="2304000"/>
            <a:ext cx="429516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Transparence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information claire et gestion du consentement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6564240" y="270792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6564240" y="270792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P6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7"/>
          <p:cNvSpPr/>
          <p:nvPr/>
        </p:nvSpPr>
        <p:spPr>
          <a:xfrm>
            <a:off x="7043040" y="2808000"/>
            <a:ext cx="429516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Minimisation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collecte limitée aux finalités métier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6564240" y="320400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9"/>
          <p:cNvSpPr/>
          <p:nvPr/>
        </p:nvSpPr>
        <p:spPr>
          <a:xfrm>
            <a:off x="6564240" y="320400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P7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0"/>
          <p:cNvSpPr/>
          <p:nvPr/>
        </p:nvSpPr>
        <p:spPr>
          <a:xfrm>
            <a:off x="7020000" y="3319200"/>
            <a:ext cx="4295160" cy="45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Droits des utilisateurs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accès, modification, suppression, opposition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1"/>
          <p:cNvSpPr/>
          <p:nvPr/>
        </p:nvSpPr>
        <p:spPr>
          <a:xfrm>
            <a:off x="548640" y="4023360"/>
            <a:ext cx="5346720" cy="21463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2"/>
          <p:cNvSpPr/>
          <p:nvPr/>
        </p:nvSpPr>
        <p:spPr>
          <a:xfrm>
            <a:off x="720000" y="4187880"/>
            <a:ext cx="490104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Sécurité &amp; conformité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3"/>
          <p:cNvSpPr/>
          <p:nvPr/>
        </p:nvSpPr>
        <p:spPr>
          <a:xfrm>
            <a:off x="822960" y="459036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822960" y="459036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P3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5"/>
          <p:cNvSpPr/>
          <p:nvPr/>
        </p:nvSpPr>
        <p:spPr>
          <a:xfrm>
            <a:off x="1325880" y="4671000"/>
            <a:ext cx="429516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chiffrement, contrôle d'accès / rôle, protocoles PCI-DSS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6"/>
          <p:cNvSpPr/>
          <p:nvPr/>
        </p:nvSpPr>
        <p:spPr>
          <a:xfrm>
            <a:off x="822960" y="530136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7"/>
          <p:cNvSpPr/>
          <p:nvPr/>
        </p:nvSpPr>
        <p:spPr>
          <a:xfrm>
            <a:off x="822960" y="530136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P5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8"/>
          <p:cNvSpPr/>
          <p:nvPr/>
        </p:nvSpPr>
        <p:spPr>
          <a:xfrm>
            <a:off x="1325880" y="5381640"/>
            <a:ext cx="429516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Conformité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GDPR, CCPA, PCI-DSS et réglementations locales, veille continue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9"/>
          <p:cNvSpPr/>
          <p:nvPr/>
        </p:nvSpPr>
        <p:spPr>
          <a:xfrm>
            <a:off x="6217920" y="4023360"/>
            <a:ext cx="5346720" cy="214632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0"/>
          <p:cNvSpPr/>
          <p:nvPr/>
        </p:nvSpPr>
        <p:spPr>
          <a:xfrm>
            <a:off x="6480000" y="4187880"/>
            <a:ext cx="4810320" cy="32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IA responsable &amp; amélioration continue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1"/>
          <p:cNvSpPr/>
          <p:nvPr/>
        </p:nvSpPr>
        <p:spPr>
          <a:xfrm>
            <a:off x="6528240" y="455436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2"/>
          <p:cNvSpPr/>
          <p:nvPr/>
        </p:nvSpPr>
        <p:spPr>
          <a:xfrm>
            <a:off x="6528240" y="455436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P8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3"/>
          <p:cNvSpPr/>
          <p:nvPr/>
        </p:nvSpPr>
        <p:spPr>
          <a:xfrm>
            <a:off x="6995160" y="4653720"/>
            <a:ext cx="429516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Éthique &amp; gouvernance IA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traçabilité, biais, explicabilité, responsabilisation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34"/>
          <p:cNvSpPr/>
          <p:nvPr/>
        </p:nvSpPr>
        <p:spPr>
          <a:xfrm>
            <a:off x="6528240" y="5229360"/>
            <a:ext cx="381600" cy="381600"/>
          </a:xfrm>
          <a:prstGeom prst="ellipse">
            <a:avLst/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5"/>
          <p:cNvSpPr/>
          <p:nvPr/>
        </p:nvSpPr>
        <p:spPr>
          <a:xfrm>
            <a:off x="6528240" y="5229360"/>
            <a:ext cx="381600" cy="38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P9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36"/>
          <p:cNvSpPr/>
          <p:nvPr/>
        </p:nvSpPr>
        <p:spPr>
          <a:xfrm>
            <a:off x="6995160" y="5309640"/>
            <a:ext cx="4295160" cy="5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Amélioration continue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- revues périodiques de réalignement DMAT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7"/>
          <p:cNvSpPr/>
          <p:nvPr/>
        </p:nvSpPr>
        <p:spPr>
          <a:xfrm>
            <a:off x="548640" y="6473880"/>
            <a:ext cx="8684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Governance Policy Document) - principes issus de [R4]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8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4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ORGANISATION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48640" y="658440"/>
            <a:ext cx="950724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Modèle d’organisation </a:t>
            </a:r>
            <a:r>
              <a:rPr lang="fr-FR" sz="2800" b="1" i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Center of Excellence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Image 0" descr="icons/icon_users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Shape 2"/>
          <p:cNvSpPr/>
          <p:nvPr/>
        </p:nvSpPr>
        <p:spPr>
          <a:xfrm>
            <a:off x="548640" y="1260000"/>
            <a:ext cx="3409560" cy="500112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720000" y="1526400"/>
            <a:ext cx="2955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 modèle : </a:t>
            </a:r>
            <a:r>
              <a:rPr lang="fr-FR" sz="13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CoE</a:t>
            </a: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+ adaptation </a:t>
            </a: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Spotify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4"/>
          <p:cNvSpPr/>
          <p:nvPr/>
        </p:nvSpPr>
        <p:spPr>
          <a:xfrm>
            <a:off x="822960" y="1853280"/>
            <a:ext cx="295524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Gouvernance centralisée (CDO, DGC)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combinée à une autonomie départementale (Data Owners / métier).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&gt; répond simultanément aux enjeux E1, E3, E5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5"/>
          <p:cNvSpPr/>
          <p:nvPr/>
        </p:nvSpPr>
        <p:spPr>
          <a:xfrm rot="21593400">
            <a:off x="718200" y="3206880"/>
            <a:ext cx="295920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Écarts par rapport au modèle standard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827280" y="3521160"/>
            <a:ext cx="2955240" cy="10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Maintien de l’infrastructure technique </a:t>
            </a:r>
            <a:br>
              <a:rPr sz="1200"/>
            </a:b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dans 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Engineering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(≠ 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hub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Séparation des autorités 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B2A4A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autorité de conformité (DPO/Legal)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1B2A4A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 autorité de gouvernance (CDO/DGC).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720000" y="4964040"/>
            <a:ext cx="29552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Levier principal contre le cloisonnement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822960" y="5284080"/>
            <a:ext cx="2955240" cy="72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Le double rattachement des Data Stewards</a:t>
            </a:r>
            <a:r>
              <a:rPr lang="fr-FR" sz="12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 </a:t>
            </a: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- fonctionnel au CDO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- organisationnel au département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Image 1" descr="assets/orgchart.png"/>
          <p:cNvPicPr/>
          <p:nvPr/>
        </p:nvPicPr>
        <p:blipFill>
          <a:blip r:embed="rId2"/>
          <a:stretch/>
        </p:blipFill>
        <p:spPr>
          <a:xfrm>
            <a:off x="4183200" y="1260000"/>
            <a:ext cx="7472880" cy="454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" name="Text 9"/>
          <p:cNvSpPr/>
          <p:nvPr/>
        </p:nvSpPr>
        <p:spPr>
          <a:xfrm>
            <a:off x="4892040" y="5884920"/>
            <a:ext cx="67640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Trait plein = rattachement hiérarchique - Trait pointillé = rattachement fonctionnel / transverse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0"/>
          <p:cNvSpPr/>
          <p:nvPr/>
        </p:nvSpPr>
        <p:spPr>
          <a:xfrm>
            <a:off x="548640" y="6473880"/>
            <a:ext cx="8684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[D22] (Roles and Responsibilities Organizational Chart)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5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CONFORMITÉ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548640" y="658440"/>
            <a:ext cx="950724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Socle réglementaire structuré cadre par cadre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9" name="Image 0" descr="icons/icon_lock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Shape 2"/>
          <p:cNvSpPr/>
          <p:nvPr/>
        </p:nvSpPr>
        <p:spPr>
          <a:xfrm>
            <a:off x="548640" y="1691640"/>
            <a:ext cx="3609360" cy="3700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822960" y="1920240"/>
            <a:ext cx="3060720" cy="45468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4"/>
          <p:cNvSpPr/>
          <p:nvPr/>
        </p:nvSpPr>
        <p:spPr>
          <a:xfrm>
            <a:off x="822960" y="1920240"/>
            <a:ext cx="3060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GDPR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822960" y="2560320"/>
            <a:ext cx="3060720" cy="26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Traitement licite, loyal et transparent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Droits d'accès, rectification, suppression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Consentement explicite préalable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Notification de violation sous 72h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Data Protection Officer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nommé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6"/>
          <p:cNvSpPr/>
          <p:nvPr/>
        </p:nvSpPr>
        <p:spPr>
          <a:xfrm>
            <a:off x="4380120" y="1691640"/>
            <a:ext cx="3609360" cy="3700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7"/>
          <p:cNvSpPr/>
          <p:nvPr/>
        </p:nvSpPr>
        <p:spPr>
          <a:xfrm>
            <a:off x="4654440" y="1920240"/>
            <a:ext cx="3060720" cy="45468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4654440" y="1920240"/>
            <a:ext cx="3060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CCPA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4654440" y="2560320"/>
            <a:ext cx="3060720" cy="26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Opt-out</a:t>
            </a: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sur la vente de données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Droit d'accès, modification, suppression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Non-discrimination envers les utilisateurs exerçant leurs droits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8211240" y="1691640"/>
            <a:ext cx="3609360" cy="370080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1"/>
          <p:cNvSpPr/>
          <p:nvPr/>
        </p:nvSpPr>
        <p:spPr>
          <a:xfrm>
            <a:off x="8485560" y="1920240"/>
            <a:ext cx="3060720" cy="454680"/>
          </a:xfrm>
          <a:prstGeom prst="roundRect">
            <a:avLst>
              <a:gd name="adj" fmla="val 12000"/>
            </a:avLst>
          </a:prstGeom>
          <a:solidFill>
            <a:srgbClr val="1B2A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8485560" y="1920240"/>
            <a:ext cx="30607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PCI-DSS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3"/>
          <p:cNvSpPr/>
          <p:nvPr/>
        </p:nvSpPr>
        <p:spPr>
          <a:xfrm>
            <a:off x="8485560" y="2560320"/>
            <a:ext cx="3060720" cy="26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Sécurisation de l'infrastructure réseau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Chiffrement des données de carte bancaire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Gestion des vulnérabilités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Contrôle d'accès strict aux données de paiement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1001"/>
              </a:spcAft>
              <a:buClr>
                <a:srgbClr val="1B2A4A"/>
              </a:buClr>
              <a:buFont typeface="Symbol" charset="2"/>
              <a:buChar char=""/>
            </a:pPr>
            <a:r>
              <a:rPr lang="fr-FR" sz="13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Tests réguliers des dispositifs de sécurité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4"/>
          <p:cNvSpPr/>
          <p:nvPr/>
        </p:nvSpPr>
        <p:spPr>
          <a:xfrm>
            <a:off x="609120" y="5532120"/>
            <a:ext cx="11089080" cy="655920"/>
          </a:xfrm>
          <a:prstGeom prst="roundRect">
            <a:avLst>
              <a:gd name="adj" fmla="val 11111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5"/>
          <p:cNvSpPr/>
          <p:nvPr/>
        </p:nvSpPr>
        <p:spPr>
          <a:xfrm>
            <a:off x="822960" y="5580000"/>
            <a:ext cx="1051308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+ cartographie réglementaire marché par marché - pilotée par </a:t>
            </a:r>
            <a:r>
              <a:rPr lang="fr-FR" sz="14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Legal Team</a:t>
            </a:r>
            <a:r>
              <a:rPr lang="fr-FR" sz="14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 en lien avec </a:t>
            </a:r>
            <a:r>
              <a:rPr lang="fr-FR" sz="1400" b="1" i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DPO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548640" y="6473880"/>
            <a:ext cx="8684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Gouvernance Policy) + détails P5 (conformité réglementaire) issus du référentiel [R5] (Compliance Checklist)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6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GOUVERNANCE DE L'IA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"/>
          <p:cNvSpPr/>
          <p:nvPr/>
        </p:nvSpPr>
        <p:spPr>
          <a:xfrm>
            <a:off x="548640" y="658440"/>
            <a:ext cx="969012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Responsabilité adaptée au niveau d'impact du modèle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Image 0" descr="icons/icon_cpu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Shape 2"/>
          <p:cNvSpPr/>
          <p:nvPr/>
        </p:nvSpPr>
        <p:spPr>
          <a:xfrm>
            <a:off x="548640" y="1783080"/>
            <a:ext cx="2649240" cy="10490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731520" y="1892880"/>
            <a:ext cx="2283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Traçabilité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731520" y="2185560"/>
            <a:ext cx="228348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Chaque jeu d'entraînement documenté : source, période, transformations, lineage.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5"/>
          <p:cNvSpPr/>
          <p:nvPr/>
        </p:nvSpPr>
        <p:spPr>
          <a:xfrm>
            <a:off x="3401640" y="1783080"/>
            <a:ext cx="2649240" cy="10490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3584520" y="1892880"/>
            <a:ext cx="2283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Biais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3584520" y="2185560"/>
            <a:ext cx="228348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Évaluation périodique des biais algorithmiques 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pour les modèles à fort impact.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8"/>
          <p:cNvSpPr/>
          <p:nvPr/>
        </p:nvSpPr>
        <p:spPr>
          <a:xfrm>
            <a:off x="6254640" y="1783080"/>
            <a:ext cx="2649240" cy="10490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6437520" y="1892880"/>
            <a:ext cx="2283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Explicabilité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6437520" y="2185560"/>
            <a:ext cx="23817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Décisions automatisées à impact significatif explicables de manière intelligible.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1"/>
          <p:cNvSpPr/>
          <p:nvPr/>
        </p:nvSpPr>
        <p:spPr>
          <a:xfrm>
            <a:off x="9107280" y="1783080"/>
            <a:ext cx="2649240" cy="10490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9290160" y="1892880"/>
            <a:ext cx="22834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Responsabilisation &amp; pilotage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9290160" y="2185560"/>
            <a:ext cx="240984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Responsabilité confiée à un </a:t>
            </a:r>
            <a:r>
              <a:rPr lang="fr-FR" sz="105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Model Owner</a:t>
            </a: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-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Circuit proportionné au niveau d'impact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0"/>
          <p:cNvGraphicFramePr/>
          <p:nvPr/>
        </p:nvGraphicFramePr>
        <p:xfrm>
          <a:off x="548640" y="3154680"/>
          <a:ext cx="11091240" cy="2788920"/>
        </p:xfrm>
        <a:graphic>
          <a:graphicData uri="http://schemas.openxmlformats.org/drawingml/2006/table">
            <a:tbl>
              <a:tblPr/>
              <a:tblGrid>
                <a:gridCol w="1371600"/>
                <a:gridCol w="5675760"/>
                <a:gridCol w="4044240"/>
              </a:tblGrid>
              <a:tr h="4572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Niveau d'impact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Critères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Circuit de validation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1B2A4A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B857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Fort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Majorité des utilisateurs actifs | décision peu réversible | RGPD | fonctionnalité principale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(C) → MRM (R) → DGC (A)   [ CDO (C) ]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EDEA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C99A3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Modéré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Utilisateurs ciblés (cohorte, marché, A/B test) |  décision réversible sous délai court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(R) → MRM (A)   </a:t>
                      </a: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[ CDO (C) ]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FBF3E2"/>
                    </a:solidFill>
                  </a:tcPr>
                </a:tc>
              </a:tr>
              <a:tr h="77724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1C8C6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Faible (défaut)</a:t>
                      </a:r>
                      <a:endParaRPr lang="fr-FR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Fonction auxiliaire, sans exposition directe à l'utilisateur final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1B2A4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 (RA) + contrôle a posteriori par MRM (échantillonnage)</a:t>
                      </a:r>
                      <a:endParaRPr lang="fr-FR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9360">
                      <a:solidFill>
                        <a:srgbClr val="D8DEE6"/>
                      </a:solidFill>
                      <a:prstDash val="solid"/>
                    </a:lnL>
                    <a:lnR w="9360">
                      <a:solidFill>
                        <a:srgbClr val="D8DEE6"/>
                      </a:solidFill>
                      <a:prstDash val="solid"/>
                    </a:lnR>
                    <a:lnT w="9360">
                      <a:solidFill>
                        <a:srgbClr val="D8DEE6"/>
                      </a:solidFill>
                      <a:prstDash val="solid"/>
                    </a:lnT>
                    <a:lnB w="9360">
                      <a:solidFill>
                        <a:srgbClr val="D8DEE6"/>
                      </a:solidFill>
                      <a:prstDash val="solid"/>
                    </a:lnB>
                    <a:solidFill>
                      <a:srgbClr val="EAF7F1"/>
                    </a:solidFill>
                  </a:tcPr>
                </a:tc>
              </a:tr>
            </a:tbl>
          </a:graphicData>
        </a:graphic>
      </p:graphicFrame>
      <p:sp>
        <p:nvSpPr>
          <p:cNvPr id="162" name="Text 14"/>
          <p:cNvSpPr/>
          <p:nvPr/>
        </p:nvSpPr>
        <p:spPr>
          <a:xfrm>
            <a:off x="548640" y="6035040"/>
            <a:ext cx="110890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MO = Model Owner - MRM = Model Risk Manager - DGC = Data Governance Committee - R = Responsible, A = Accountable, C = Consulted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5"/>
          <p:cNvSpPr/>
          <p:nvPr/>
        </p:nvSpPr>
        <p:spPr>
          <a:xfrm>
            <a:off x="548640" y="6473880"/>
            <a:ext cx="8684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[D21] (Data &amp; AI Governance Policy Document) + détails P8 (gouvernance IA)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6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7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MISE EN ŒUVRE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548640" y="658440"/>
            <a:ext cx="969012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Outillage testé sur un pilote de 21 semaines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0" descr="icons/icon_tool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2"/>
          <p:cNvSpPr/>
          <p:nvPr/>
        </p:nvSpPr>
        <p:spPr>
          <a:xfrm>
            <a:off x="548640" y="1600200"/>
            <a:ext cx="5758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Outillage par catégorie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3"/>
          <p:cNvSpPr/>
          <p:nvPr/>
        </p:nvSpPr>
        <p:spPr>
          <a:xfrm>
            <a:off x="548640" y="2011680"/>
            <a:ext cx="5758200" cy="6922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4"/>
          <p:cNvSpPr/>
          <p:nvPr/>
        </p:nvSpPr>
        <p:spPr>
          <a:xfrm>
            <a:off x="713160" y="2139840"/>
            <a:ext cx="436320" cy="43632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5"/>
          <p:cNvSpPr/>
          <p:nvPr/>
        </p:nvSpPr>
        <p:spPr>
          <a:xfrm>
            <a:off x="713160" y="2139840"/>
            <a:ext cx="43632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E1, E3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6"/>
          <p:cNvSpPr/>
          <p:nvPr/>
        </p:nvSpPr>
        <p:spPr>
          <a:xfrm>
            <a:off x="1325880" y="2084760"/>
            <a:ext cx="4752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Catalogage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7"/>
          <p:cNvSpPr/>
          <p:nvPr/>
        </p:nvSpPr>
        <p:spPr>
          <a:xfrm>
            <a:off x="1325880" y="2359080"/>
            <a:ext cx="47523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Collibra (licence commerciale) + OpenMetadata (open-source)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8"/>
          <p:cNvSpPr/>
          <p:nvPr/>
        </p:nvSpPr>
        <p:spPr>
          <a:xfrm>
            <a:off x="548640" y="2797920"/>
            <a:ext cx="5758200" cy="6922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9"/>
          <p:cNvSpPr/>
          <p:nvPr/>
        </p:nvSpPr>
        <p:spPr>
          <a:xfrm>
            <a:off x="713160" y="2926080"/>
            <a:ext cx="436320" cy="43632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0"/>
          <p:cNvSpPr/>
          <p:nvPr/>
        </p:nvSpPr>
        <p:spPr>
          <a:xfrm>
            <a:off x="713160" y="2926080"/>
            <a:ext cx="43632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E2, E5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1"/>
          <p:cNvSpPr/>
          <p:nvPr/>
        </p:nvSpPr>
        <p:spPr>
          <a:xfrm>
            <a:off x="1325880" y="2871360"/>
            <a:ext cx="4752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2"/>
          <p:cNvSpPr/>
          <p:nvPr/>
        </p:nvSpPr>
        <p:spPr>
          <a:xfrm>
            <a:off x="1325880" y="3145680"/>
            <a:ext cx="47523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Soda Core (open-source)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3"/>
          <p:cNvSpPr/>
          <p:nvPr/>
        </p:nvSpPr>
        <p:spPr>
          <a:xfrm>
            <a:off x="548640" y="3584520"/>
            <a:ext cx="5758200" cy="6922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4"/>
          <p:cNvSpPr/>
          <p:nvPr/>
        </p:nvSpPr>
        <p:spPr>
          <a:xfrm>
            <a:off x="713160" y="3712320"/>
            <a:ext cx="436320" cy="43632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5"/>
          <p:cNvSpPr/>
          <p:nvPr/>
        </p:nvSpPr>
        <p:spPr>
          <a:xfrm>
            <a:off x="713160" y="3712320"/>
            <a:ext cx="43632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E3, E4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6"/>
          <p:cNvSpPr/>
          <p:nvPr/>
        </p:nvSpPr>
        <p:spPr>
          <a:xfrm>
            <a:off x="1325880" y="3657600"/>
            <a:ext cx="4752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Conformité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7"/>
          <p:cNvSpPr/>
          <p:nvPr/>
        </p:nvSpPr>
        <p:spPr>
          <a:xfrm>
            <a:off x="1325880" y="3931920"/>
            <a:ext cx="47523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TrustArc (licence commerciale)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8"/>
          <p:cNvSpPr/>
          <p:nvPr/>
        </p:nvSpPr>
        <p:spPr>
          <a:xfrm>
            <a:off x="548640" y="4370760"/>
            <a:ext cx="5758200" cy="6922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9"/>
          <p:cNvSpPr/>
          <p:nvPr/>
        </p:nvSpPr>
        <p:spPr>
          <a:xfrm>
            <a:off x="713160" y="4498920"/>
            <a:ext cx="436320" cy="43632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20"/>
          <p:cNvSpPr/>
          <p:nvPr/>
        </p:nvSpPr>
        <p:spPr>
          <a:xfrm>
            <a:off x="713160" y="4498920"/>
            <a:ext cx="43632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P3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1"/>
          <p:cNvSpPr/>
          <p:nvPr/>
        </p:nvSpPr>
        <p:spPr>
          <a:xfrm>
            <a:off x="1325880" y="4443840"/>
            <a:ext cx="4752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Sécurité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2"/>
          <p:cNvSpPr/>
          <p:nvPr/>
        </p:nvSpPr>
        <p:spPr>
          <a:xfrm>
            <a:off x="1325880" y="4718160"/>
            <a:ext cx="47523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Wazuh + OpenBao (open-sources)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3"/>
          <p:cNvSpPr/>
          <p:nvPr/>
        </p:nvSpPr>
        <p:spPr>
          <a:xfrm>
            <a:off x="548640" y="5157360"/>
            <a:ext cx="5758200" cy="6922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4"/>
          <p:cNvSpPr/>
          <p:nvPr/>
        </p:nvSpPr>
        <p:spPr>
          <a:xfrm>
            <a:off x="713160" y="5285160"/>
            <a:ext cx="436320" cy="436320"/>
          </a:xfrm>
          <a:prstGeom prst="ellipse">
            <a:avLst/>
          </a:prstGeom>
          <a:solidFill>
            <a:srgbClr val="2DBE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5"/>
          <p:cNvSpPr/>
          <p:nvPr/>
        </p:nvSpPr>
        <p:spPr>
          <a:xfrm>
            <a:off x="713160" y="5285160"/>
            <a:ext cx="43632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E5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6"/>
          <p:cNvSpPr/>
          <p:nvPr/>
        </p:nvSpPr>
        <p:spPr>
          <a:xfrm>
            <a:off x="1325880" y="5230440"/>
            <a:ext cx="4752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Gouvernance IA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7"/>
          <p:cNvSpPr/>
          <p:nvPr/>
        </p:nvSpPr>
        <p:spPr>
          <a:xfrm>
            <a:off x="1325880" y="5504760"/>
            <a:ext cx="475236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MLflow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DVC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 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AIF360 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+</a:t>
            </a:r>
            <a:r>
              <a:rPr lang="fr-FR" sz="13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AIX360</a:t>
            </a:r>
            <a:r>
              <a:rPr lang="fr-FR" sz="14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(open-sources)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28"/>
          <p:cNvSpPr/>
          <p:nvPr/>
        </p:nvSpPr>
        <p:spPr>
          <a:xfrm>
            <a:off x="6583680" y="1600200"/>
            <a:ext cx="50724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Pilote : Le système de recommandation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9"/>
          <p:cNvSpPr/>
          <p:nvPr/>
        </p:nvSpPr>
        <p:spPr>
          <a:xfrm>
            <a:off x="6583680" y="2011680"/>
            <a:ext cx="5072400" cy="1003320"/>
          </a:xfrm>
          <a:prstGeom prst="roundRect">
            <a:avLst>
              <a:gd name="adj" fmla="val 7273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0"/>
          <p:cNvSpPr/>
          <p:nvPr/>
        </p:nvSpPr>
        <p:spPr>
          <a:xfrm>
            <a:off x="6812280" y="2121480"/>
            <a:ext cx="46152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2000" b="1" u="none" strike="noStrike">
                <a:solidFill>
                  <a:srgbClr val="1C8C68"/>
                </a:solidFill>
                <a:effectLst/>
                <a:uFillTx/>
                <a:latin typeface="Cambria"/>
                <a:ea typeface="Cambria"/>
              </a:rPr>
              <a:t>21 semaines (~5 mois)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1"/>
          <p:cNvSpPr/>
          <p:nvPr/>
        </p:nvSpPr>
        <p:spPr>
          <a:xfrm>
            <a:off x="6812280" y="2541960"/>
            <a:ext cx="4615200" cy="43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dont 7 semaines de phase de sécurisation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bloquante </a:t>
            </a: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: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    &gt; annuaire central, migration des accès, intégration SSO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32"/>
          <p:cNvSpPr/>
          <p:nvPr/>
        </p:nvSpPr>
        <p:spPr>
          <a:xfrm>
            <a:off x="6583680" y="3154680"/>
            <a:ext cx="5072400" cy="11862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3"/>
          <p:cNvSpPr/>
          <p:nvPr/>
        </p:nvSpPr>
        <p:spPr>
          <a:xfrm>
            <a:off x="6812280" y="3273480"/>
            <a:ext cx="4615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Périmètre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4"/>
          <p:cNvSpPr/>
          <p:nvPr/>
        </p:nvSpPr>
        <p:spPr>
          <a:xfrm>
            <a:off x="6812280" y="3566160"/>
            <a:ext cx="46152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Modèles et données d'entraînement du système de recommandation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Département </a:t>
            </a: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35"/>
          <p:cNvSpPr/>
          <p:nvPr/>
        </p:nvSpPr>
        <p:spPr>
          <a:xfrm>
            <a:off x="6583680" y="4480560"/>
            <a:ext cx="5072400" cy="118620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6"/>
          <p:cNvSpPr/>
          <p:nvPr/>
        </p:nvSpPr>
        <p:spPr>
          <a:xfrm>
            <a:off x="6812280" y="4599360"/>
            <a:ext cx="461520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Indicateurs clés (DMAT)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37"/>
          <p:cNvSpPr/>
          <p:nvPr/>
        </p:nvSpPr>
        <p:spPr>
          <a:xfrm>
            <a:off x="6812280" y="4892040"/>
            <a:ext cx="4615200" cy="5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&amp; Qualité : niveau 1 → 2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Gouvernance IA (Analytics &amp; BI) : niveau 2 → 3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38"/>
          <p:cNvSpPr/>
          <p:nvPr/>
        </p:nvSpPr>
        <p:spPr>
          <a:xfrm>
            <a:off x="6583680" y="5806440"/>
            <a:ext cx="5072400" cy="619200"/>
          </a:xfrm>
          <a:prstGeom prst="roundRect">
            <a:avLst>
              <a:gd name="adj" fmla="val 11765"/>
            </a:avLst>
          </a:prstGeom>
          <a:solidFill>
            <a:srgbClr val="FBEDEA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9"/>
          <p:cNvSpPr/>
          <p:nvPr/>
        </p:nvSpPr>
        <p:spPr>
          <a:xfrm>
            <a:off x="6784920" y="5806440"/>
            <a:ext cx="487116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Risques clés :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- suspension du projet sans solution de repli (absence d'annuaire central, ...) 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trike="noStrike">
                <a:solidFill>
                  <a:srgbClr val="97402F"/>
                </a:solidFill>
                <a:effectLst/>
                <a:uFillTx/>
                <a:latin typeface="Calibri"/>
                <a:ea typeface="Calibri"/>
              </a:rPr>
              <a:t>- débordement de planning dans la phase de déploiement technique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40"/>
          <p:cNvSpPr/>
          <p:nvPr/>
        </p:nvSpPr>
        <p:spPr>
          <a:xfrm>
            <a:off x="548640" y="6473880"/>
            <a:ext cx="8684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[D3] (Data &amp; AI Governance Implementation Plan)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41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8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FEUILLE DE ROUTE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548640" y="658440"/>
            <a:ext cx="969012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1B2A4A"/>
                </a:solidFill>
                <a:effectLst/>
                <a:uFillTx/>
                <a:latin typeface="Cambria"/>
                <a:ea typeface="Cambria"/>
              </a:rPr>
              <a:t>Généralisation en 4 phases vers un niveau 3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" name="Image 0" descr="icons/icon_map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Shape 2"/>
          <p:cNvSpPr/>
          <p:nvPr/>
        </p:nvSpPr>
        <p:spPr>
          <a:xfrm>
            <a:off x="1658160" y="3781080"/>
            <a:ext cx="8872920" cy="24840"/>
          </a:xfrm>
          <a:prstGeom prst="rect">
            <a:avLst/>
          </a:prstGeom>
          <a:solidFill>
            <a:srgbClr val="D8DEE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3"/>
          <p:cNvSpPr/>
          <p:nvPr/>
        </p:nvSpPr>
        <p:spPr>
          <a:xfrm>
            <a:off x="540000" y="1691640"/>
            <a:ext cx="2338200" cy="1780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"/>
          <p:cNvSpPr/>
          <p:nvPr/>
        </p:nvSpPr>
        <p:spPr>
          <a:xfrm>
            <a:off x="648000" y="1828800"/>
            <a:ext cx="1779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1 - Pilote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648000" y="2176200"/>
            <a:ext cx="217368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(système de recommandation)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6"/>
          <p:cNvSpPr/>
          <p:nvPr/>
        </p:nvSpPr>
        <p:spPr>
          <a:xfrm>
            <a:off x="648000" y="3090600"/>
            <a:ext cx="1779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21 semaines (5 mois)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7"/>
          <p:cNvSpPr/>
          <p:nvPr/>
        </p:nvSpPr>
        <p:spPr>
          <a:xfrm>
            <a:off x="1511640" y="3648600"/>
            <a:ext cx="290160" cy="29016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676800" y="3996000"/>
            <a:ext cx="1960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9"/>
          <p:cNvSpPr/>
          <p:nvPr/>
        </p:nvSpPr>
        <p:spPr>
          <a:xfrm>
            <a:off x="3111480" y="1691640"/>
            <a:ext cx="1960200" cy="1780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0"/>
          <p:cNvSpPr/>
          <p:nvPr/>
        </p:nvSpPr>
        <p:spPr>
          <a:xfrm>
            <a:off x="3248640" y="1828800"/>
            <a:ext cx="1685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3248640" y="2176200"/>
            <a:ext cx="168588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(autres activités)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2"/>
          <p:cNvSpPr/>
          <p:nvPr/>
        </p:nvSpPr>
        <p:spPr>
          <a:xfrm>
            <a:off x="3248640" y="3090600"/>
            <a:ext cx="1685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3"/>
          <p:cNvSpPr/>
          <p:nvPr/>
        </p:nvSpPr>
        <p:spPr>
          <a:xfrm>
            <a:off x="3730680" y="3648600"/>
            <a:ext cx="290160" cy="29016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2895480" y="3996000"/>
            <a:ext cx="1960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M10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5"/>
          <p:cNvSpPr/>
          <p:nvPr/>
        </p:nvSpPr>
        <p:spPr>
          <a:xfrm>
            <a:off x="5294520" y="1691640"/>
            <a:ext cx="1960200" cy="1780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6"/>
          <p:cNvSpPr/>
          <p:nvPr/>
        </p:nvSpPr>
        <p:spPr>
          <a:xfrm>
            <a:off x="5431680" y="1828800"/>
            <a:ext cx="1685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3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7"/>
          <p:cNvSpPr/>
          <p:nvPr/>
        </p:nvSpPr>
        <p:spPr>
          <a:xfrm>
            <a:off x="5431680" y="2176200"/>
            <a:ext cx="168588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Marketing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(E1 / E3 / E4)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8"/>
          <p:cNvSpPr/>
          <p:nvPr/>
        </p:nvSpPr>
        <p:spPr>
          <a:xfrm>
            <a:off x="5431680" y="3090600"/>
            <a:ext cx="1685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9"/>
          <p:cNvSpPr/>
          <p:nvPr/>
        </p:nvSpPr>
        <p:spPr>
          <a:xfrm>
            <a:off x="5949720" y="3648600"/>
            <a:ext cx="290160" cy="29016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0"/>
          <p:cNvSpPr/>
          <p:nvPr/>
        </p:nvSpPr>
        <p:spPr>
          <a:xfrm>
            <a:off x="5114520" y="3996000"/>
            <a:ext cx="1960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M15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1"/>
          <p:cNvSpPr/>
          <p:nvPr/>
        </p:nvSpPr>
        <p:spPr>
          <a:xfrm>
            <a:off x="7477200" y="1691640"/>
            <a:ext cx="1960200" cy="1780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2"/>
          <p:cNvSpPr/>
          <p:nvPr/>
        </p:nvSpPr>
        <p:spPr>
          <a:xfrm>
            <a:off x="7614360" y="1828800"/>
            <a:ext cx="1685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Phase 4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3"/>
          <p:cNvSpPr/>
          <p:nvPr/>
        </p:nvSpPr>
        <p:spPr>
          <a:xfrm>
            <a:off x="7614360" y="2176200"/>
            <a:ext cx="168588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Content Curation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(E2 / métadonnées)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4"/>
          <p:cNvSpPr/>
          <p:nvPr/>
        </p:nvSpPr>
        <p:spPr>
          <a:xfrm>
            <a:off x="7614360" y="3090600"/>
            <a:ext cx="1685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3 mois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5"/>
          <p:cNvSpPr/>
          <p:nvPr/>
        </p:nvSpPr>
        <p:spPr>
          <a:xfrm>
            <a:off x="8168400" y="3648600"/>
            <a:ext cx="290160" cy="290160"/>
          </a:xfrm>
          <a:prstGeom prst="ellipse">
            <a:avLst/>
          </a:prstGeom>
          <a:solidFill>
            <a:srgbClr val="1B2A4A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6"/>
          <p:cNvSpPr/>
          <p:nvPr/>
        </p:nvSpPr>
        <p:spPr>
          <a:xfrm>
            <a:off x="7333200" y="3996000"/>
            <a:ext cx="1960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M20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7"/>
          <p:cNvSpPr/>
          <p:nvPr/>
        </p:nvSpPr>
        <p:spPr>
          <a:xfrm>
            <a:off x="9660240" y="1691640"/>
            <a:ext cx="2037960" cy="1780560"/>
          </a:xfrm>
          <a:prstGeom prst="roundRect">
            <a:avLst>
              <a:gd name="adj" fmla="val 4103"/>
            </a:avLst>
          </a:prstGeom>
          <a:solidFill>
            <a:srgbClr val="EAF7F1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28"/>
          <p:cNvSpPr/>
          <p:nvPr/>
        </p:nvSpPr>
        <p:spPr>
          <a:xfrm>
            <a:off x="9797400" y="1828800"/>
            <a:ext cx="1685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5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Consolidation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9"/>
          <p:cNvSpPr/>
          <p:nvPr/>
        </p:nvSpPr>
        <p:spPr>
          <a:xfrm>
            <a:off x="9797400" y="2176200"/>
            <a:ext cx="19008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Ensemble des départements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Niveau 3 généralisé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0"/>
          <p:cNvSpPr/>
          <p:nvPr/>
        </p:nvSpPr>
        <p:spPr>
          <a:xfrm>
            <a:off x="9797400" y="3090600"/>
            <a:ext cx="1685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1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-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31"/>
          <p:cNvSpPr/>
          <p:nvPr/>
        </p:nvSpPr>
        <p:spPr>
          <a:xfrm>
            <a:off x="10387440" y="3648600"/>
            <a:ext cx="290160" cy="290160"/>
          </a:xfrm>
          <a:prstGeom prst="ellipse">
            <a:avLst/>
          </a:prstGeom>
          <a:solidFill>
            <a:srgbClr val="2DBE8C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2"/>
          <p:cNvSpPr/>
          <p:nvPr/>
        </p:nvSpPr>
        <p:spPr>
          <a:xfrm>
            <a:off x="9552240" y="3996000"/>
            <a:ext cx="19602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1" u="none" strike="noStrike">
                <a:solidFill>
                  <a:srgbClr val="1C8C68"/>
                </a:solidFill>
                <a:effectLst/>
                <a:uFillTx/>
                <a:latin typeface="Calibri"/>
                <a:ea typeface="Calibri"/>
              </a:rPr>
              <a:t>M22-M24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33"/>
          <p:cNvSpPr/>
          <p:nvPr/>
        </p:nvSpPr>
        <p:spPr>
          <a:xfrm>
            <a:off x="548640" y="4526280"/>
            <a:ext cx="11091960" cy="866160"/>
          </a:xfrm>
          <a:prstGeom prst="roundRect">
            <a:avLst>
              <a:gd name="adj" fmla="val 8421"/>
            </a:avLst>
          </a:prstGeom>
          <a:solidFill>
            <a:srgbClr val="F7F8FA"/>
          </a:solidFill>
          <a:ln w="12600">
            <a:solidFill>
              <a:srgbClr val="D8DE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34"/>
          <p:cNvSpPr/>
          <p:nvPr/>
        </p:nvSpPr>
        <p:spPr>
          <a:xfrm>
            <a:off x="822960" y="4526280"/>
            <a:ext cx="1054332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400" b="0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Trajectoire de maturité : niveau 1 (actuel) → niveau 3 généralisé (M22 - M24)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i="1" u="none" strike="noStrike">
                <a:solidFill>
                  <a:srgbClr val="1B2A4A"/>
                </a:solidFill>
                <a:effectLst/>
                <a:uFillTx/>
                <a:latin typeface="Calibri"/>
                <a:ea typeface="Calibri"/>
              </a:rPr>
              <a:t>    M24 = borne haute de la fourchette de référence (15 - 24 mois) pour garantir la rigueur de la phase de sécurisation initiale + marges inter-phases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35"/>
          <p:cNvSpPr/>
          <p:nvPr/>
        </p:nvSpPr>
        <p:spPr>
          <a:xfrm>
            <a:off x="548640" y="5532120"/>
            <a:ext cx="11091960" cy="65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600">
            <a:solidFill>
              <a:srgbClr val="D8DEE6"/>
            </a:solidFill>
            <a:round/>
          </a:ln>
          <a:effectLst>
            <a:outerShdw blurRad="76320" dir="5400000" dist="25560" rotWithShape="0">
              <a:srgbClr val="1B2A4A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36"/>
          <p:cNvSpPr/>
          <p:nvPr/>
        </p:nvSpPr>
        <p:spPr>
          <a:xfrm>
            <a:off x="822960" y="5532120"/>
            <a:ext cx="10543320" cy="65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0" i="1" u="none" strike="noStrike">
                <a:solidFill>
                  <a:srgbClr val="5B6B84"/>
                </a:solidFill>
                <a:effectLst/>
                <a:uFillTx/>
                <a:latin typeface="Calibri"/>
                <a:ea typeface="Calibri"/>
              </a:rPr>
              <a:t>Chaque jalon de phase (Mx) est un point de réévaluation (feu vert / orange / rouge) ≠ engagement figé - conformément au principe d'amélioration continue (P9)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37"/>
          <p:cNvSpPr/>
          <p:nvPr/>
        </p:nvSpPr>
        <p:spPr>
          <a:xfrm>
            <a:off x="548640" y="6473880"/>
            <a:ext cx="86842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100" b="0" i="1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Source : [D3] (Data &amp; AI Governance Implementation Plan)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38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8493A8"/>
                </a:solidFill>
                <a:effectLst/>
                <a:uFillTx/>
                <a:latin typeface="Calibri"/>
                <a:ea typeface="Calibri"/>
              </a:rPr>
              <a:t>9 / 10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Text 0"/>
          <p:cNvSpPr/>
          <p:nvPr/>
        </p:nvSpPr>
        <p:spPr>
          <a:xfrm>
            <a:off x="548640" y="384120"/>
            <a:ext cx="73126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200" b="1" u="none" spc="201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VALEUR &amp; PROCHAINES ÉTAPES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"/>
          <p:cNvSpPr/>
          <p:nvPr/>
        </p:nvSpPr>
        <p:spPr>
          <a:xfrm>
            <a:off x="548640" y="658440"/>
            <a:ext cx="1042956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fr-FR" sz="2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Une gouvernance qui soutient la confiance &amp; la croissance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" name="Image 0" descr="icons/icon_flag.png"/>
          <p:cNvPicPr/>
          <p:nvPr/>
        </p:nvPicPr>
        <p:blipFill>
          <a:blip r:embed="rId1"/>
          <a:stretch/>
        </p:blipFill>
        <p:spPr>
          <a:xfrm>
            <a:off x="11140200" y="365760"/>
            <a:ext cx="655920" cy="655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Image 1" descr="icons/icon_check_white.png"/>
          <p:cNvPicPr/>
          <p:nvPr/>
        </p:nvPicPr>
        <p:blipFill>
          <a:blip r:embed="rId2"/>
          <a:stretch/>
        </p:blipFill>
        <p:spPr>
          <a:xfrm>
            <a:off x="1531800" y="1783080"/>
            <a:ext cx="637560" cy="63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Text 2"/>
          <p:cNvSpPr/>
          <p:nvPr/>
        </p:nvSpPr>
        <p:spPr>
          <a:xfrm>
            <a:off x="548640" y="2560320"/>
            <a:ext cx="26035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Économies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3"/>
          <p:cNvSpPr/>
          <p:nvPr/>
        </p:nvSpPr>
        <p:spPr>
          <a:xfrm>
            <a:off x="548640" y="2880360"/>
            <a:ext cx="286020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Réduction des inefficiences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liées à une donnée de mauvaise qualité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" name="Image 2" descr="icons/icon_lock.png"/>
          <p:cNvPicPr/>
          <p:nvPr/>
        </p:nvPicPr>
        <p:blipFill>
          <a:blip r:embed="rId3"/>
          <a:stretch/>
        </p:blipFill>
        <p:spPr>
          <a:xfrm>
            <a:off x="4393800" y="1783080"/>
            <a:ext cx="637560" cy="63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Text 4"/>
          <p:cNvSpPr/>
          <p:nvPr/>
        </p:nvSpPr>
        <p:spPr>
          <a:xfrm>
            <a:off x="3410640" y="2560320"/>
            <a:ext cx="26035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Conformité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5"/>
          <p:cNvSpPr/>
          <p:nvPr/>
        </p:nvSpPr>
        <p:spPr>
          <a:xfrm>
            <a:off x="3410640" y="2880360"/>
            <a:ext cx="260352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Éviter les sanctions GDPR/CCPA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(jusqu'à 4% du CA)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7" name="Image 3" descr="icons/icon_shield.png"/>
          <p:cNvPicPr/>
          <p:nvPr/>
        </p:nvPicPr>
        <p:blipFill>
          <a:blip r:embed="rId4"/>
          <a:stretch/>
        </p:blipFill>
        <p:spPr>
          <a:xfrm>
            <a:off x="7255800" y="1783080"/>
            <a:ext cx="637560" cy="63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 6"/>
          <p:cNvSpPr/>
          <p:nvPr/>
        </p:nvSpPr>
        <p:spPr>
          <a:xfrm>
            <a:off x="6272640" y="2560320"/>
            <a:ext cx="26035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Confiance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7"/>
          <p:cNvSpPr/>
          <p:nvPr/>
        </p:nvSpPr>
        <p:spPr>
          <a:xfrm>
            <a:off x="6272640" y="2880360"/>
            <a:ext cx="260352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Transparence et sécurité renforcées auprès des utilisateurs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" name="Image 4" descr="icons/icon_globe.png"/>
          <p:cNvPicPr/>
          <p:nvPr/>
        </p:nvPicPr>
        <p:blipFill>
          <a:blip r:embed="rId5"/>
          <a:stretch/>
        </p:blipFill>
        <p:spPr>
          <a:xfrm>
            <a:off x="10117800" y="1783080"/>
            <a:ext cx="637560" cy="63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Text 8"/>
          <p:cNvSpPr/>
          <p:nvPr/>
        </p:nvSpPr>
        <p:spPr>
          <a:xfrm>
            <a:off x="9135000" y="2560320"/>
            <a:ext cx="26035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Scalabilité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9"/>
          <p:cNvSpPr/>
          <p:nvPr/>
        </p:nvSpPr>
        <p:spPr>
          <a:xfrm>
            <a:off x="9135000" y="2880360"/>
            <a:ext cx="260352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Infrastructure de gouvernance prête 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3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pour la croissance mondiale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10"/>
          <p:cNvSpPr/>
          <p:nvPr/>
        </p:nvSpPr>
        <p:spPr>
          <a:xfrm>
            <a:off x="548640" y="4160520"/>
            <a:ext cx="11089080" cy="1872000"/>
          </a:xfrm>
          <a:prstGeom prst="roundRect">
            <a:avLst>
              <a:gd name="adj" fmla="val 3902"/>
            </a:avLst>
          </a:prstGeom>
          <a:solidFill>
            <a:srgbClr val="2A3C60"/>
          </a:solidFill>
          <a:ln w="12600">
            <a:solidFill>
              <a:srgbClr val="3A4C7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1"/>
          <p:cNvSpPr/>
          <p:nvPr/>
        </p:nvSpPr>
        <p:spPr>
          <a:xfrm>
            <a:off x="868680" y="4280040"/>
            <a:ext cx="54838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500" b="1" u="none" strike="noStrike">
                <a:solidFill>
                  <a:srgbClr val="2DBE8C"/>
                </a:solidFill>
                <a:effectLst/>
                <a:uFillTx/>
                <a:latin typeface="Calibri"/>
                <a:ea typeface="Calibri"/>
              </a:rPr>
              <a:t>Prochaines étapes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2"/>
          <p:cNvSpPr/>
          <p:nvPr/>
        </p:nvSpPr>
        <p:spPr>
          <a:xfrm>
            <a:off x="868680" y="4681800"/>
            <a:ext cx="1042164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Lancer le pilote sur le système de recommandation (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 Development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)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Nommer / confirmer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DPO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CDO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Data Stewards</a:t>
            </a: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et </a:t>
            </a:r>
            <a:r>
              <a:rPr lang="fr-FR" sz="14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Model Owners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Premières revues de maturité DMAT en milieu et en fin de pilote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FFFFFF"/>
              </a:buClr>
              <a:buFont typeface="Symbol" charset="2"/>
              <a:buChar char=""/>
            </a:pPr>
            <a:r>
              <a:rPr lang="fr-FR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Décision de passage à l'échelle (feu vert / orange / rouge) à chaque jalon de phase Mx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3"/>
          <p:cNvSpPr/>
          <p:nvPr/>
        </p:nvSpPr>
        <p:spPr>
          <a:xfrm>
            <a:off x="548640" y="6473880"/>
            <a:ext cx="73126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10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Nicolas Pichon --- AIA RNCP 38777 / BC01 / Presentation / v6 --- 2026/10/15</a:t>
            </a:r>
            <a:endParaRPr lang="fr-F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4"/>
          <p:cNvSpPr/>
          <p:nvPr/>
        </p:nvSpPr>
        <p:spPr>
          <a:xfrm>
            <a:off x="11003040" y="6473880"/>
            <a:ext cx="82044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fr-FR" sz="950" b="0" u="none" strike="noStrike">
                <a:solidFill>
                  <a:srgbClr val="9FB0C9"/>
                </a:solidFill>
                <a:effectLst/>
                <a:uFillTx/>
                <a:latin typeface="Calibri"/>
                <a:ea typeface="Calibri"/>
              </a:rPr>
              <a:t>10 / 10</a:t>
            </a:r>
            <a:endParaRPr lang="fr-FR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473</TotalTime>
  <Application>LibreOffice/26.2.1.2$Windows_X86_64 LibreOffice_project/620$Build-2</Application>
  <AppVersion>15.0000</AppVersion>
  <Company>AIA RNCP 38777 - BC01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2026-08-25T07:57:58Z</dcterms:created>
  <dc:creator>Nicolas Pichon</dc:creator>
  <dc:description/>
  <dc:language>fr-FR</dc:language>
  <cp:lastModifiedBy/>
  <dcterms:modified xsi:type="dcterms:W3CDTF">2026-10-15T14:42:57Z</dcterms:modified>
  <cp:revision>58</cp:revision>
  <dc:subject>Data &amp; AI Governance - Présentation finale (Step 4)</dc:subject>
  <dc:title>Spotify - Gouvernance des Données et de l'IA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10</vt:r8>
  </property>
  <property fmtid="{D5CDD505-2E9C-101B-9397-08002B2CF9AE}" pid="3" name="PresentationFormat">
    <vt:lpwstr>On-screen Show (16:9)</vt:lpwstr>
  </property>
  <property fmtid="{D5CDD505-2E9C-101B-9397-08002B2CF9AE}" pid="4" name="Slides">
    <vt:r8>10</vt:r8>
  </property>
</Properties>
</file>