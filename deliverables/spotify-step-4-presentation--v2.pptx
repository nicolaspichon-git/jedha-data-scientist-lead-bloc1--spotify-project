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200" b="0" u="none" strike="noStrike">
                <a:solidFill>
                  <a:srgbClr val="1B2A4A"/>
                </a:solidFill>
                <a:uFillTx/>
                <a:latin typeface="Calibri"/>
              </a:rPr>
              <a:t>Niveau de maturité par dimension (échelle 0–5)</a:t>
            </a:r>
          </a:p>
        </c:rich>
      </c:tx>
      <c:overlay val="0"/>
      <c:spPr>
        <a:noFill/>
        <a:ln w="0">
          <a:noFill/>
        </a:ln>
      </c:spPr>
    </c:title>
    <c:autoTitleDeleted val="0"/>
    <c:plotArea>
      <c:barChart>
        <c:barDir val="bar"/>
        <c:grouping val="clustered"/>
        <c:varyColors val="0"/>
        <c:ser>
          <c:idx val="0"/>
          <c:order val="0"/>
          <c:tx>
            <c:strRef>
              <c:f>label 0</c:f>
              <c:strCache>
                <c:ptCount val="1"/>
                <c:pt idx="0">
                  <c:v>Niveau de maturité</c:v>
                </c:pt>
              </c:strCache>
            </c:strRef>
          </c:tx>
          <c:spPr>
            <a:solidFill>
              <a:srgbClr val="2DBE8C"/>
            </a:solidFill>
            <a:ln w="0">
              <a:noFill/>
            </a:ln>
          </c:spPr>
          <c:invertIfNegative val="0"/>
          <c:dPt>
            <c:idx val="0"/>
            <c:invertIfNegative val="0"/>
            <c:spPr>
              <a:solidFill>
                <a:srgbClr val="2DBE8C"/>
              </a:solidFill>
              <a:ln w="0">
                <a:noFill/>
              </a:ln>
            </c:spPr>
          </c:dPt>
          <c:dPt>
            <c:idx val="1"/>
            <c:invertIfNegative val="0"/>
            <c:spPr>
              <a:solidFill>
                <a:srgbClr val="A9B6C9"/>
              </a:solidFill>
              <a:ln w="0">
                <a:noFill/>
              </a:ln>
            </c:spPr>
          </c:dPt>
          <c:dPt>
            <c:idx val="2"/>
            <c:invertIfNegative val="0"/>
            <c:spPr>
              <a:solidFill>
                <a:srgbClr val="A9B6C9"/>
              </a:solidFill>
              <a:ln w="0">
                <a:noFill/>
              </a:ln>
            </c:spPr>
          </c:dPt>
          <c:dPt>
            <c:idx val="3"/>
            <c:invertIfNegative val="0"/>
            <c:spPr>
              <a:solidFill>
                <a:srgbClr val="A9B6C9"/>
              </a:solidFill>
              <a:ln w="0">
                <a:noFill/>
              </a:ln>
            </c:spPr>
          </c:dPt>
          <c:dPt>
            <c:idx val="4"/>
            <c:invertIfNegative val="0"/>
            <c:spPr>
              <a:solidFill>
                <a:srgbClr val="2DBE8C"/>
              </a:solidFill>
              <a:ln w="0">
                <a:noFill/>
              </a:ln>
            </c:spPr>
          </c:dPt>
          <c:dPt>
            <c:idx val="5"/>
            <c:invertIfNegative val="0"/>
            <c:spPr>
              <a:solidFill>
                <a:srgbClr val="A9B6C9"/>
              </a:solidFill>
              <a:ln w="0">
                <a:noFill/>
              </a:ln>
            </c:spPr>
          </c:dPt>
          <c:dPt>
            <c:idx val="6"/>
            <c:invertIfNegative val="0"/>
            <c:spPr>
              <a:solidFill>
                <a:srgbClr val="2DBE8C"/>
              </a:solidFill>
              <a:ln w="0">
                <a:noFill/>
              </a:ln>
            </c:spPr>
          </c:dPt>
          <c:dPt>
            <c:idx val="7"/>
            <c:invertIfNegative val="0"/>
            <c:spPr>
              <a:solidFill>
                <a:srgbClr val="A9B6C9"/>
              </a:solidFill>
              <a:ln w="0">
                <a:noFill/>
              </a:ln>
            </c:spPr>
          </c:dPt>
          <c:dPt>
            <c:idx val="8"/>
            <c:invertIfNegative val="0"/>
            <c:spPr>
              <a:solidFill>
                <a:srgbClr val="A9B6C9"/>
              </a:solidFill>
              <a:ln w="0">
                <a:noFill/>
              </a:ln>
            </c:spPr>
          </c:dPt>
          <c:dPt>
            <c:idx val="9"/>
            <c:invertIfNegative val="0"/>
            <c:spPr>
              <a:solidFill>
                <a:srgbClr val="A9B6C9"/>
              </a:solidFill>
              <a:ln w="0">
                <a:noFill/>
              </a:ln>
            </c:spPr>
          </c:dPt>
          <c:dPt>
            <c:idx val="10"/>
            <c:invertIfNegative val="0"/>
            <c:spPr>
              <a:solidFill>
                <a:srgbClr val="A9B6C9"/>
              </a:solidFill>
              <a:ln w="0">
                <a:noFill/>
              </a:ln>
            </c:spPr>
          </c:dPt>
          <c:dPt>
            <c:idx val="11"/>
            <c:invertIfNegative val="0"/>
            <c:spPr>
              <a:solidFill>
                <a:srgbClr val="A9B6C9"/>
              </a:solidFill>
              <a:ln w="0">
                <a:noFill/>
              </a:ln>
            </c:spPr>
          </c:dPt>
          <c:dLbls>
            <c:dLbl>
              <c:idx val="0"/>
              <c:numFmt formatCode="#,##0" sourceLinked="0"/>
              <c:txPr>
                <a:bodyPr wrap="square"/>
                <a:lstStyle/>
                <a:p>
                  <a:pPr>
                    <a:defRPr sz="1000" b="0" u="none" strike="noStrike">
                      <a:solidFill>
                        <a:srgbClr val="1B2A4A"/>
                      </a:solidFill>
                      <a:uFillTx/>
                      <a:latin typeface="Calibri"/>
                    </a:defRPr>
                  </a:pPr>
                </a:p>
              </c:txPr>
              <c:dLblPos val="outEnd"/>
              <c:showLegendKey val="0"/>
              <c:showVal val="1"/>
              <c:showCatName val="0"/>
              <c:showSerName val="0"/>
              <c:showPercent val="0"/>
              <c:separator>; </c:separator>
            </c:dLbl>
            <c:dLbl>
              <c:idx val="1"/>
              <c:numFmt formatCode="#,##0" sourceLinked="0"/>
              <c:txPr>
                <a:bodyPr wrap="square"/>
                <a:lstStyle/>
                <a:p>
                  <a:pPr>
                    <a:defRPr sz="1000" b="0" u="none" strike="noStrike">
                      <a:solidFill>
                        <a:srgbClr val="1B2A4A"/>
                      </a:solidFill>
                      <a:uFillTx/>
                      <a:latin typeface="Calibri"/>
                    </a:defRPr>
                  </a:pPr>
                </a:p>
              </c:txPr>
              <c:dLblPos val="outEnd"/>
              <c:showLegendKey val="0"/>
              <c:showVal val="1"/>
              <c:showCatName val="0"/>
              <c:showSerName val="0"/>
              <c:showPercent val="0"/>
              <c:separator>; </c:separator>
            </c:dLbl>
            <c:dLbl>
              <c:idx val="2"/>
              <c:numFmt formatCode="#,##0" sourceLinked="0"/>
              <c:txPr>
                <a:bodyPr wrap="square"/>
                <a:lstStyle/>
                <a:p>
                  <a:pPr>
                    <a:defRPr sz="1000" b="0" u="none" strike="noStrike">
                      <a:solidFill>
                        <a:srgbClr val="1B2A4A"/>
                      </a:solidFill>
                      <a:uFillTx/>
                      <a:latin typeface="Calibri"/>
                    </a:defRPr>
                  </a:pPr>
                </a:p>
              </c:txPr>
              <c:dLblPos val="outEnd"/>
              <c:showLegendKey val="0"/>
              <c:showVal val="1"/>
              <c:showCatName val="0"/>
              <c:showSerName val="0"/>
              <c:showPercent val="0"/>
              <c:separator>; </c:separator>
            </c:dLbl>
            <c:dLbl>
              <c:idx val="3"/>
              <c:numFmt formatCode="#,##0" sourceLinked="0"/>
              <c:txPr>
                <a:bodyPr wrap="square"/>
                <a:lstStyle/>
                <a:p>
                  <a:pPr>
                    <a:defRPr sz="1000" b="0" u="none" strike="noStrike">
                      <a:solidFill>
                        <a:srgbClr val="1B2A4A"/>
                      </a:solidFill>
                      <a:uFillTx/>
                      <a:latin typeface="Calibri"/>
                    </a:defRPr>
                  </a:pPr>
                </a:p>
              </c:txPr>
              <c:dLblPos val="outEnd"/>
              <c:showLegendKey val="0"/>
              <c:showVal val="1"/>
              <c:showCatName val="0"/>
              <c:showSerName val="0"/>
              <c:showPercent val="0"/>
              <c:separator>; </c:separator>
            </c:dLbl>
            <c:dLbl>
              <c:idx val="4"/>
              <c:numFmt formatCode="#,##0" sourceLinked="0"/>
              <c:txPr>
                <a:bodyPr wrap="square"/>
                <a:lstStyle/>
                <a:p>
                  <a:pPr>
                    <a:defRPr sz="1000" b="0" u="none" strike="noStrike">
                      <a:solidFill>
                        <a:srgbClr val="1B2A4A"/>
                      </a:solidFill>
                      <a:uFillTx/>
                      <a:latin typeface="Calibri"/>
                    </a:defRPr>
                  </a:pPr>
                </a:p>
              </c:txPr>
              <c:dLblPos val="outEnd"/>
              <c:showLegendKey val="0"/>
              <c:showVal val="1"/>
              <c:showCatName val="0"/>
              <c:showSerName val="0"/>
              <c:showPercent val="0"/>
              <c:separator>; </c:separator>
            </c:dLbl>
            <c:dLbl>
              <c:idx val="5"/>
              <c:numFmt formatCode="#,##0" sourceLinked="0"/>
              <c:txPr>
                <a:bodyPr wrap="square"/>
                <a:lstStyle/>
                <a:p>
                  <a:pPr>
                    <a:defRPr sz="1000" b="0" u="none" strike="noStrike">
                      <a:solidFill>
                        <a:srgbClr val="1B2A4A"/>
                      </a:solidFill>
                      <a:uFillTx/>
                      <a:latin typeface="Calibri"/>
                    </a:defRPr>
                  </a:pPr>
                </a:p>
              </c:txPr>
              <c:dLblPos val="outEnd"/>
              <c:showLegendKey val="0"/>
              <c:showVal val="1"/>
              <c:showCatName val="0"/>
              <c:showSerName val="0"/>
              <c:showPercent val="0"/>
              <c:separator>; </c:separator>
            </c:dLbl>
            <c:dLbl>
              <c:idx val="6"/>
              <c:numFmt formatCode="#,##0" sourceLinked="0"/>
              <c:txPr>
                <a:bodyPr wrap="square"/>
                <a:lstStyle/>
                <a:p>
                  <a:pPr>
                    <a:defRPr sz="1000" b="0" u="none" strike="noStrike">
                      <a:solidFill>
                        <a:srgbClr val="1B2A4A"/>
                      </a:solidFill>
                      <a:uFillTx/>
                      <a:latin typeface="Calibri"/>
                    </a:defRPr>
                  </a:pPr>
                </a:p>
              </c:txPr>
              <c:dLblPos val="outEnd"/>
              <c:showLegendKey val="0"/>
              <c:showVal val="1"/>
              <c:showCatName val="0"/>
              <c:showSerName val="0"/>
              <c:showPercent val="0"/>
              <c:separator>; </c:separator>
            </c:dLbl>
            <c:dLbl>
              <c:idx val="7"/>
              <c:numFmt formatCode="#,##0" sourceLinked="0"/>
              <c:txPr>
                <a:bodyPr wrap="square"/>
                <a:lstStyle/>
                <a:p>
                  <a:pPr>
                    <a:defRPr sz="1000" b="0" u="none" strike="noStrike">
                      <a:solidFill>
                        <a:srgbClr val="1B2A4A"/>
                      </a:solidFill>
                      <a:uFillTx/>
                      <a:latin typeface="Calibri"/>
                    </a:defRPr>
                  </a:pPr>
                </a:p>
              </c:txPr>
              <c:dLblPos val="outEnd"/>
              <c:showLegendKey val="0"/>
              <c:showVal val="1"/>
              <c:showCatName val="0"/>
              <c:showSerName val="0"/>
              <c:showPercent val="0"/>
              <c:separator>; </c:separator>
            </c:dLbl>
            <c:dLbl>
              <c:idx val="8"/>
              <c:numFmt formatCode="#,##0" sourceLinked="0"/>
              <c:txPr>
                <a:bodyPr wrap="square"/>
                <a:lstStyle/>
                <a:p>
                  <a:pPr>
                    <a:defRPr sz="1000" b="0" u="none" strike="noStrike">
                      <a:solidFill>
                        <a:srgbClr val="1B2A4A"/>
                      </a:solidFill>
                      <a:uFillTx/>
                      <a:latin typeface="Calibri"/>
                    </a:defRPr>
                  </a:pPr>
                </a:p>
              </c:txPr>
              <c:dLblPos val="outEnd"/>
              <c:showLegendKey val="0"/>
              <c:showVal val="1"/>
              <c:showCatName val="0"/>
              <c:showSerName val="0"/>
              <c:showPercent val="0"/>
              <c:separator>; </c:separator>
            </c:dLbl>
            <c:dLbl>
              <c:idx val="9"/>
              <c:numFmt formatCode="#,##0" sourceLinked="0"/>
              <c:txPr>
                <a:bodyPr wrap="square"/>
                <a:lstStyle/>
                <a:p>
                  <a:pPr>
                    <a:defRPr sz="1000" b="0" u="none" strike="noStrike">
                      <a:solidFill>
                        <a:srgbClr val="1B2A4A"/>
                      </a:solidFill>
                      <a:uFillTx/>
                      <a:latin typeface="Calibri"/>
                    </a:defRPr>
                  </a:pPr>
                </a:p>
              </c:txPr>
              <c:dLblPos val="outEnd"/>
              <c:showLegendKey val="0"/>
              <c:showVal val="1"/>
              <c:showCatName val="0"/>
              <c:showSerName val="0"/>
              <c:showPercent val="0"/>
              <c:separator>; </c:separator>
            </c:dLbl>
            <c:dLbl>
              <c:idx val="10"/>
              <c:numFmt formatCode="#,##0" sourceLinked="0"/>
              <c:txPr>
                <a:bodyPr wrap="square"/>
                <a:lstStyle/>
                <a:p>
                  <a:pPr>
                    <a:defRPr sz="1000" b="0" u="none" strike="noStrike">
                      <a:solidFill>
                        <a:srgbClr val="1B2A4A"/>
                      </a:solidFill>
                      <a:uFillTx/>
                      <a:latin typeface="Calibri"/>
                    </a:defRPr>
                  </a:pPr>
                </a:p>
              </c:txPr>
              <c:dLblPos val="outEnd"/>
              <c:showLegendKey val="0"/>
              <c:showVal val="1"/>
              <c:showCatName val="0"/>
              <c:showSerName val="0"/>
              <c:showPercent val="0"/>
              <c:separator>; </c:separator>
            </c:dLbl>
            <c:dLbl>
              <c:idx val="11"/>
              <c:numFmt formatCode="#,##0" sourceLinked="0"/>
              <c:txPr>
                <a:bodyPr wrap="square"/>
                <a:lstStyle/>
                <a:p>
                  <a:pPr>
                    <a:defRPr sz="1000" b="0" u="none" strike="noStrike">
                      <a:solidFill>
                        <a:srgbClr val="1B2A4A"/>
                      </a:solidFill>
                      <a:uFillTx/>
                      <a:latin typeface="Calibri"/>
                    </a:defRPr>
                  </a:pPr>
                </a:p>
              </c:txPr>
              <c:dLblPos val="outEnd"/>
              <c:showLegendKey val="0"/>
              <c:showVal val="1"/>
              <c:showCatName val="0"/>
              <c:showSerName val="0"/>
              <c:showPercent val="0"/>
              <c:separator>; </c:separator>
            </c:dLbl>
            <c:numFmt formatCode="#,##0" sourceLinked="0"/>
            <c:txPr>
              <a:bodyPr wrap="square"/>
              <a:lstStyle/>
              <a:p>
                <a:pPr>
                  <a:defRPr sz="1000" b="0" u="none" strike="noStrike">
                    <a:solidFill>
                      <a:srgbClr val="1B2A4A"/>
                    </a:solidFill>
                    <a:uFillTx/>
                    <a:latin typeface="Calibri"/>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2"/>
                <c:pt idx="0">
                  <c:v>Analytics &amp; BI</c:v>
                </c:pt>
                <c:pt idx="1">
                  <c:v>Intégration</c:v>
                </c:pt>
                <c:pt idx="2">
                  <c:v>Métadonnées</c:v>
                </c:pt>
                <c:pt idx="3">
                  <c:v>Master &amp; Reference Data</c:v>
                </c:pt>
                <c:pt idx="4">
                  <c:v>Littératie data</c:v>
                </c:pt>
                <c:pt idx="5">
                  <c:v>Sécurité</c:v>
                </c:pt>
                <c:pt idx="6">
                  <c:v>Usage &amp; Accessibilité</c:v>
                </c:pt>
                <c:pt idx="7">
                  <c:v>Conformité</c:v>
                </c:pt>
                <c:pt idx="8">
                  <c:v>Opérations</c:v>
                </c:pt>
                <c:pt idx="9">
                  <c:v>Architecture</c:v>
                </c:pt>
                <c:pt idx="10">
                  <c:v>Qualité</c:v>
                </c:pt>
                <c:pt idx="11">
                  <c:v>Gouvernance</c:v>
                </c:pt>
              </c:strCache>
            </c:strRef>
          </c:cat>
          <c:val>
            <c:numRef>
              <c:f>0</c:f>
              <c:numCache>
                <c:formatCode>General</c:formatCode>
                <c:ptCount val="12"/>
                <c:pt idx="0">
                  <c:v>2</c:v>
                </c:pt>
                <c:pt idx="1">
                  <c:v>1</c:v>
                </c:pt>
                <c:pt idx="2">
                  <c:v>1</c:v>
                </c:pt>
                <c:pt idx="3">
                  <c:v>1</c:v>
                </c:pt>
                <c:pt idx="4">
                  <c:v>2</c:v>
                </c:pt>
                <c:pt idx="5">
                  <c:v>1</c:v>
                </c:pt>
                <c:pt idx="6">
                  <c:v>2</c:v>
                </c:pt>
                <c:pt idx="7">
                  <c:v>1</c:v>
                </c:pt>
                <c:pt idx="8">
                  <c:v>1</c:v>
                </c:pt>
                <c:pt idx="9">
                  <c:v>1</c:v>
                </c:pt>
                <c:pt idx="10">
                  <c:v>1</c:v>
                </c:pt>
                <c:pt idx="11">
                  <c:v>1</c:v>
                </c:pt>
              </c:numCache>
            </c:numRef>
          </c:val>
        </c:ser>
        <c:gapWidth val="35"/>
        <c:overlap val="0"/>
        <c:axId val="25655553"/>
        <c:axId val="49119868"/>
      </c:barChart>
      <c:catAx>
        <c:axId val="25655553"/>
        <c:scaling>
          <c:orientation val="minMax"/>
        </c:scaling>
        <c:delete val="0"/>
        <c:axPos val="b"/>
        <c:numFmt formatCode="General" sourceLinked="0"/>
        <c:majorTickMark val="out"/>
        <c:minorTickMark val="none"/>
        <c:tickLblPos val="nextTo"/>
        <c:spPr>
          <a:ln w="12600">
            <a:solidFill>
              <a:srgbClr val="D8DEE6"/>
            </a:solidFill>
            <a:round/>
          </a:ln>
        </c:spPr>
        <c:txPr>
          <a:bodyPr/>
          <a:lstStyle/>
          <a:p>
            <a:pPr>
              <a:defRPr sz="1050" b="0" u="none" strike="noStrike">
                <a:solidFill>
                  <a:srgbClr val="1B2A4A"/>
                </a:solidFill>
                <a:uFillTx/>
                <a:latin typeface="Calibri"/>
              </a:defRPr>
            </a:pPr>
          </a:p>
        </c:txPr>
        <c:crossAx val="49119868"/>
        <c:crosses val="autoZero"/>
        <c:auto val="1"/>
        <c:lblAlgn val="ctr"/>
        <c:lblOffset val="100"/>
        <c:noMultiLvlLbl val="0"/>
      </c:catAx>
      <c:valAx>
        <c:axId val="49119868"/>
        <c:scaling>
          <c:orientation val="minMax"/>
          <c:max val="5"/>
          <c:min val="0"/>
        </c:scaling>
        <c:delete val="0"/>
        <c:axPos val="l"/>
        <c:majorGridlines>
          <c:spPr>
            <a:ln w="12600">
              <a:solidFill>
                <a:srgbClr val="D8DEE6"/>
              </a:solidFill>
              <a:round/>
            </a:ln>
          </c:spPr>
        </c:majorGridlines>
        <c:numFmt formatCode="General" sourceLinked="0"/>
        <c:majorTickMark val="out"/>
        <c:minorTickMark val="none"/>
        <c:tickLblPos val="low"/>
        <c:spPr>
          <a:ln w="12600">
            <a:solidFill>
              <a:srgbClr val="D8DEE6"/>
            </a:solidFill>
            <a:round/>
          </a:ln>
        </c:spPr>
        <c:txPr>
          <a:bodyPr/>
          <a:lstStyle/>
          <a:p>
            <a:pPr>
              <a:defRPr sz="950" b="0" u="none" strike="noStrike">
                <a:solidFill>
                  <a:srgbClr val="5B6B84"/>
                </a:solidFill>
                <a:uFillTx/>
                <a:latin typeface="Arial"/>
              </a:defRPr>
            </a:pPr>
          </a:p>
        </c:txPr>
        <c:crossAx val="25655553"/>
        <c:crosses val="autoZero"/>
        <c:crossBetween val="between"/>
        <c:majorUnit val="1"/>
      </c:valAx>
      <c:spPr>
        <a:noFill/>
        <a:ln w="0">
          <a:noFill/>
        </a:ln>
      </c:spPr>
    </c:plotArea>
    <c:plotVisOnly val="1"/>
    <c:dispBlanksAs val="span"/>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gn="ctr"/>
            <a:r>
              <a:rPr lang="fr-FR" sz="4400" b="0" u="none" strike="noStrike">
                <a:solidFill>
                  <a:srgbClr val="000000"/>
                </a:solidFill>
                <a:effectLst/>
                <a:uFillTx/>
                <a:latin typeface="Arial"/>
              </a:rPr>
              <a:t>Cliquez pour déplacer la diapo</a:t>
            </a:r>
            <a:endParaRPr lang="fr-FR" sz="4400" b="0" u="none" strike="noStrike">
              <a:solidFill>
                <a:srgbClr val="000000"/>
              </a:solidFill>
              <a:effectLst/>
              <a:uFillTx/>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fr-FR" sz="2000" b="0" u="none" strike="noStrike">
                <a:solidFill>
                  <a:srgbClr val="000000"/>
                </a:solidFill>
                <a:effectLst/>
                <a:uFillTx/>
                <a:latin typeface="Arial"/>
              </a:rPr>
              <a:t>Cliquez pour modifier le format des notes</a:t>
            </a:r>
            <a:endParaRPr lang="fr-FR"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04CDEB13-1FF6-4B3B-84DA-A33ADA20E24F}" type="slidenum">
              <a:rPr lang="fr-FR" sz="1400" b="0" u="none" strike="noStrike">
                <a:solidFill>
                  <a:srgbClr val="000000"/>
                </a:solidFill>
                <a:effectLst/>
                <a:uFillTx/>
                <a:latin typeface="Times New Roman"/>
              </a:rPr>
              <a:t>1</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685800" y="1143000"/>
            <a:ext cx="5485320" cy="3085200"/>
          </a:xfrm>
          <a:prstGeom prst="rect">
            <a:avLst/>
          </a:prstGeom>
          <a:ln w="0">
            <a:noFill/>
          </a:ln>
        </p:spPr>
      </p:sp>
      <p:sp>
        <p:nvSpPr>
          <p:cNvPr id="26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Introduction : Spotify opere a l'echelle mondiale (450M+ utilisateurs, 180+ pays) avec une dependance forte aux donnees (recommandation, personnalisation, monetisation). Le projet presente aujourd'hui repond a une demande de cadrage transverse : gouvernance des donnees ET de l'IA, pas seulement conformite. Objectif de la session : validation du cadre, de l'organisation cible, et du plan de deploiement propose (pilote puis generalisation).</a:t>
            </a:r>
            <a:endParaRPr lang="fr-FR" sz="2000" b="0" u="none" strike="noStrike">
              <a:solidFill>
                <a:srgbClr val="000000"/>
              </a:solidFill>
              <a:effectLst/>
              <a:uFillTx/>
              <a:latin typeface="Arial"/>
            </a:endParaRPr>
          </a:p>
        </p:txBody>
      </p:sp>
      <p:sp>
        <p:nvSpPr>
          <p:cNvPr id="267" name="PlaceHolder 3"/>
          <p:cNvSpPr>
            <a:spLocks noGrp="1"/>
          </p:cNvSpPr>
          <p:nvPr>
            <p:ph type="sldNum" idx="4"/>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3F88B606-4BAF-428E-AC32-FA8FA25863E8}" type="slidenum">
              <a:rPr lang="fr-FR"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685800" y="1143000"/>
            <a:ext cx="5485320" cy="3085200"/>
          </a:xfrm>
          <a:prstGeom prst="rect">
            <a:avLst/>
          </a:prstGeom>
          <a:ln w="0">
            <a:noFill/>
          </a:ln>
        </p:spPr>
      </p:sp>
      <p:sp>
        <p:nvSpPr>
          <p:cNvPr id="26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12 dimensions evaluees selon la methodologie DMAT [R1], appliquee au business case Spotify [R2]. Niveau moyen ~1,25 sur 5. Points d'appui a 2 : usage/accessibilite, litteratie data, analytics &amp; BI (le moteur de recommandation est deja en production). Le reste (gouvernance, qualite, securite, conformite, architecture, operations, metadonnees, integration, master data) reste au niveau 1 : initiatives locales, non generalisees, non mesurees. Message cle pour le comite : l'entreprise sait deja produire de la valeur avec la donnee, le risque est dans la gouvernance de cette capacite, pas dans la capacite elle-meme.</a:t>
            </a:r>
            <a:endParaRPr lang="fr-FR" sz="2000" b="0" u="none" strike="noStrike">
              <a:solidFill>
                <a:srgbClr val="000000"/>
              </a:solidFill>
              <a:effectLst/>
              <a:uFillTx/>
              <a:latin typeface="Arial"/>
            </a:endParaRPr>
          </a:p>
        </p:txBody>
      </p:sp>
      <p:sp>
        <p:nvSpPr>
          <p:cNvPr id="270" name="PlaceHolder 3"/>
          <p:cNvSpPr>
            <a:spLocks noGrp="1"/>
          </p:cNvSpPr>
          <p:nvPr>
            <p:ph type="sldNum" idx="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A86AD99C-1E26-4457-8BAB-B922D5CCB1A7}" type="slidenum">
              <a:rPr lang="fr-FR"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685800" y="1143000"/>
            <a:ext cx="5485320" cy="3085200"/>
          </a:xfrm>
          <a:prstGeom prst="rect">
            <a:avLst/>
          </a:prstGeom>
          <a:ln w="0">
            <a:noFill/>
          </a:ln>
        </p:spPr>
      </p:sp>
      <p:sp>
        <p:nvSpPr>
          <p:cNvPr id="272"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Ordre de criticite justifie dans [D1]. E5 (gouvernance IA) est le seul enjeu qui n'est pas deja nomme comme tel dans le business case [R2] : c'est un gap identifie par le diagnostic, pas une demande initiale de Spotify. Le modele organisationnel choisi a la slide suivante repond specifiquement a E1 et E6 ; la politique de gouvernance repond a E2, E3, E4, E5.</a:t>
            </a:r>
            <a:endParaRPr lang="fr-FR" sz="2000" b="0" u="none" strike="noStrike">
              <a:solidFill>
                <a:srgbClr val="000000"/>
              </a:solidFill>
              <a:effectLst/>
              <a:uFillTx/>
              <a:latin typeface="Arial"/>
            </a:endParaRPr>
          </a:p>
        </p:txBody>
      </p:sp>
      <p:sp>
        <p:nvSpPr>
          <p:cNvPr id="273" name="PlaceHolder 3"/>
          <p:cNvSpPr>
            <a:spLocks noGrp="1"/>
          </p:cNvSpPr>
          <p:nvPr>
            <p:ph type="sldNum" idx="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72939D23-8417-482C-8F6F-A51A5C64C77D}" type="slidenum">
              <a:rPr lang="fr-FR"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685800" y="1143000"/>
            <a:ext cx="5485320" cy="3085200"/>
          </a:xfrm>
          <a:prstGeom prst="rect">
            <a:avLst/>
          </a:prstGeom>
          <a:ln w="0">
            <a:noFill/>
          </a:ln>
        </p:spPr>
      </p:sp>
      <p:sp>
        <p:nvSpPr>
          <p:cNvPr id="275"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Les 9 principes viennent du referentiel fourni [R4] et sont reprises telles quelles dans la politique [D21]. Point notable pour le comite : P8 (ethique &amp; gouvernance IA) est le principe le plus operationnalise dans le document -- il donne lieu a 4 exigences concretes (tracabilite, biais, responsabilite/approbation proportionnee, explicabilite), detaillees a la slide Gouvernance IA.</a:t>
            </a:r>
            <a:endParaRPr lang="fr-FR" sz="2000" b="0" u="none" strike="noStrike">
              <a:solidFill>
                <a:srgbClr val="000000"/>
              </a:solidFill>
              <a:effectLst/>
              <a:uFillTx/>
              <a:latin typeface="Arial"/>
            </a:endParaRPr>
          </a:p>
        </p:txBody>
      </p:sp>
      <p:sp>
        <p:nvSpPr>
          <p:cNvPr id="276" name="PlaceHolder 3"/>
          <p:cNvSpPr>
            <a:spLocks noGrp="1"/>
          </p:cNvSpPr>
          <p:nvPr>
            <p:ph type="sldNum" idx="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0F95FD3D-59D3-418A-BC73-959073706069}" type="slidenum">
              <a:rPr lang="fr-FR"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685800" y="1143000"/>
            <a:ext cx="5485320" cy="3085200"/>
          </a:xfrm>
          <a:prstGeom prst="rect">
            <a:avLst/>
          </a:prstGeom>
          <a:ln w="0">
            <a:noFill/>
          </a:ln>
        </p:spPr>
      </p:sp>
      <p:sp>
        <p:nvSpPr>
          <p:cNvPr id="278"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CDO, DPO et Legal Team rapportent au CEO (independance DPO exigee par le GDPR art. 38 par. 3). Le DGC est preside par le CDO. Le Model Risk Manager rapporte au CDO au quotidien mais peut escalader directement au DGC -- ce qui preserve son independance vis-a-vis des equipes dont il evalue les modeles. Les Data Custodians sont centralises dans Engineering mais servent tous les departements transversalement. Les Model Owners sont dans Product Development, separes du Model Risk Manager (separation execution / controle).</a:t>
            </a:r>
            <a:endParaRPr lang="fr-FR" sz="2000" b="0" u="none" strike="noStrike">
              <a:solidFill>
                <a:srgbClr val="000000"/>
              </a:solidFill>
              <a:effectLst/>
              <a:uFillTx/>
              <a:latin typeface="Arial"/>
            </a:endParaRPr>
          </a:p>
        </p:txBody>
      </p:sp>
      <p:sp>
        <p:nvSpPr>
          <p:cNvPr id="279" name="PlaceHolder 3"/>
          <p:cNvSpPr>
            <a:spLocks noGrp="1"/>
          </p:cNvSpPr>
          <p:nvPr>
            <p:ph type="sldNum" idx="8"/>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4047841D-46BF-445D-AEDB-B1C7BA8F2FC4}" type="slidenum">
              <a:rPr lang="fr-FR"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685800" y="1143000"/>
            <a:ext cx="5485320" cy="3085200"/>
          </a:xfrm>
          <a:prstGeom prst="rect">
            <a:avLst/>
          </a:prstGeom>
          <a:ln w="0">
            <a:noFill/>
          </a:ln>
        </p:spPr>
      </p:sp>
      <p:sp>
        <p:nvSpPr>
          <p:cNvPr id="281"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Les trois cadres sont traites séparement dans la politique [D21], chacun avec ses propres exigences opérationnelles issues de la checklist de conformite [R5]. La difficulte specifique de Spotify est la dimension multi-juridictionnelle (enjeu E3) : au-dela du socle GDPR/CCPA/PCI-DSS, chaque marche local (ex. PDPA a Singapour) doit etre cartographie separement, sous la responsabilite conjointe de Legal Team et du DPO.</a:t>
            </a:r>
            <a:endParaRPr lang="fr-FR" sz="2000" b="0" u="none" strike="noStrike">
              <a:solidFill>
                <a:srgbClr val="000000"/>
              </a:solidFill>
              <a:effectLst/>
              <a:uFillTx/>
              <a:latin typeface="Arial"/>
            </a:endParaRPr>
          </a:p>
        </p:txBody>
      </p:sp>
      <p:sp>
        <p:nvSpPr>
          <p:cNvPr id="282" name="PlaceHolder 3"/>
          <p:cNvSpPr>
            <a:spLocks noGrp="1"/>
          </p:cNvSpPr>
          <p:nvPr>
            <p:ph type="sldNum" idx="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DA9D7713-A2A4-4364-948D-EC29E49D4B57}" type="slidenum">
              <a:rPr lang="fr-FR"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685800" y="1143000"/>
            <a:ext cx="5485320" cy="3085200"/>
          </a:xfrm>
          <a:prstGeom prst="rect">
            <a:avLst/>
          </a:prstGeom>
          <a:ln w="0">
            <a:noFill/>
          </a:ln>
        </p:spPr>
      </p:sp>
      <p:sp>
        <p:nvSpPr>
          <p:cNvPr id="284"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La proportionnalite du circuit d'approbation est le point cle a defendre devant le comite : elle evite qu'un circuit concu pour les modeles a fort impact ne devienne un frein systematique au deploiement des modeles a impact modere ou faible. Le DGC est Accountable sur l'approbation des modeles a fort impact, alors que le CDO -- qui preside le DGC -- n'est que Consulted sur cette decision : c'est volontaire, pour eviter que le CDO soit juge et partie sur ses propres arbitrages IA. Le calibrage final des seuils sera affine avec les resultats du pilote [D3].</a:t>
            </a:r>
            <a:endParaRPr lang="fr-FR" sz="2000" b="0" u="none" strike="noStrike">
              <a:solidFill>
                <a:srgbClr val="000000"/>
              </a:solidFill>
              <a:effectLst/>
              <a:uFillTx/>
              <a:latin typeface="Arial"/>
            </a:endParaRPr>
          </a:p>
        </p:txBody>
      </p:sp>
      <p:sp>
        <p:nvSpPr>
          <p:cNvPr id="285" name="PlaceHolder 3"/>
          <p:cNvSpPr>
            <a:spLocks noGrp="1"/>
          </p:cNvSpPr>
          <p:nvPr>
            <p:ph type="sldNum" idx="10"/>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530F349F-AAF7-45DC-8668-238BF0486D1E}" type="slidenum">
              <a:rPr lang="fr-FR"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685800" y="1143000"/>
            <a:ext cx="5485320" cy="3085200"/>
          </a:xfrm>
          <a:prstGeom prst="rect">
            <a:avLst/>
          </a:prstGeom>
          <a:ln w="0">
            <a:noFill/>
          </a:ln>
        </p:spPr>
      </p:sp>
      <p:sp>
        <p:nvSpPr>
          <p:cNvPr id="28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Chaque outil repond a un role precis du modele CoE et a un enjeu identifie en [D1]. La selection resulte d'une comparaison entre les outils recommandes [R8] et des alternatives open source (retenues sur la majorite des lignes, sauf Collibra et TrustArc). Le pilote est volontairement resserre sur un seul sous-perimetre (systeme de recommandation) pour valider le rattachement fonctionnel des Data Stewards, le circuit d'approbation des modeles, et le cout reel d'ingenierie avant generalisation. La conformite GDPR complete (E3/E4) reste hors perimetre du pilote : un RoPA scope a un seul departement ne vaut pas conformite article 30.</a:t>
            </a:r>
            <a:endParaRPr lang="fr-FR" sz="2000" b="0" u="none" strike="noStrike">
              <a:solidFill>
                <a:srgbClr val="000000"/>
              </a:solidFill>
              <a:effectLst/>
              <a:uFillTx/>
              <a:latin typeface="Arial"/>
            </a:endParaRPr>
          </a:p>
        </p:txBody>
      </p:sp>
      <p:sp>
        <p:nvSpPr>
          <p:cNvPr id="288" name="PlaceHolder 3"/>
          <p:cNvSpPr>
            <a:spLocks noGrp="1"/>
          </p:cNvSpPr>
          <p:nvPr>
            <p:ph type="sldNum" idx="11"/>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349F6C97-5CDA-4DD9-A281-EA0FA974FA6E}" type="slidenum">
              <a:rPr lang="fr-FR"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685800" y="1143000"/>
            <a:ext cx="5485320" cy="3085200"/>
          </a:xfrm>
          <a:prstGeom prst="rect">
            <a:avLst/>
          </a:prstGeom>
          <a:ln w="0">
            <a:noFill/>
          </a:ln>
        </p:spPr>
      </p:sp>
      <p:sp>
        <p:nvSpPr>
          <p:cNvPr id="29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Le sequencement suit le niveau de risque et le cout marginal : Marketing en priorite pour E3/E4 (risque reglementaire le plus eleve), puis Content Curation pour E2/metadonnees. La phase de securisation (annuaire central, roles OpenBao, integrations SSO) ne se reproduit pas integralement aux phases suivantes : seule une migration allegee est reconduite par departement. Message pour le comite : la duree totale (22-24 mois) est deliberement prudente, pas un retard -- elle finance la rigueur de la phase 1.</a:t>
            </a:r>
            <a:endParaRPr lang="fr-FR" sz="2000" b="0" u="none" strike="noStrike">
              <a:solidFill>
                <a:srgbClr val="000000"/>
              </a:solidFill>
              <a:effectLst/>
              <a:uFillTx/>
              <a:latin typeface="Arial"/>
            </a:endParaRPr>
          </a:p>
        </p:txBody>
      </p:sp>
      <p:sp>
        <p:nvSpPr>
          <p:cNvPr id="291" name="PlaceHolder 3"/>
          <p:cNvSpPr>
            <a:spLocks noGrp="1"/>
          </p:cNvSpPr>
          <p:nvPr>
            <p:ph type="sldNum" idx="12"/>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33FF9D90-0560-42BE-8EFB-75DC159E7A89}" type="slidenum">
              <a:rPr lang="fr-FR"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685800" y="1143000"/>
            <a:ext cx="5485320" cy="3085200"/>
          </a:xfrm>
          <a:prstGeom prst="rect">
            <a:avLst/>
          </a:prstGeom>
          <a:ln w="0">
            <a:noFill/>
          </a:ln>
        </p:spPr>
      </p:sp>
      <p:sp>
        <p:nvSpPr>
          <p:cNvPr id="29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p>
            <a:pPr indent="0" algn="l">
              <a:lnSpc>
                <a:spcPct val="100000"/>
              </a:lnSpc>
              <a:buNone/>
              <a:tabLst>
                <a:tab pos="0" algn="l"/>
              </a:tabLst>
            </a:pPr>
            <a:r>
              <a:rPr lang="fr-FR" sz="2000" b="0" u="none" strike="noStrike">
                <a:solidFill>
                  <a:srgbClr val="000000"/>
                </a:solidFill>
                <a:effectLst/>
                <a:uFillTx/>
                <a:latin typeface="Arial"/>
              </a:rPr>
              <a:t>Synthese de la valeur business [R11, Q3] : economies, conformite, confiance, scalabilite. Les prochaines etapes sont volontairement concretes et actionnables des la sortie de cette reunion : lancement du pilote, nomination des roles, premiere revue de maturite a M5, et gouvernance des decisions de passage a l'echelle phase par phase plutot qu'un engagement global fige sur 24 mois.</a:t>
            </a:r>
            <a:endParaRPr lang="fr-FR" sz="2000" b="0" u="none" strike="noStrike">
              <a:solidFill>
                <a:srgbClr val="000000"/>
              </a:solidFill>
              <a:effectLst/>
              <a:uFillTx/>
              <a:latin typeface="Arial"/>
            </a:endParaRPr>
          </a:p>
        </p:txBody>
      </p:sp>
      <p:sp>
        <p:nvSpPr>
          <p:cNvPr id="294" name="PlaceHolder 3"/>
          <p:cNvSpPr>
            <a:spLocks noGrp="1"/>
          </p:cNvSpPr>
          <p:nvPr>
            <p:ph type="sldNum" idx="13"/>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FR" sz="1200" b="0" u="none" strike="noStrike">
                <a:solidFill>
                  <a:schemeClr val="dk1"/>
                </a:solidFill>
                <a:effectLst/>
                <a:uFillTx/>
                <a:latin typeface="+mn-lt"/>
                <a:ea typeface="+mn-ea"/>
              </a:defRPr>
            </a:lvl1pPr>
          </a:lstStyle>
          <a:p>
            <a:pPr indent="0" algn="r" defTabSz="914400">
              <a:lnSpc>
                <a:spcPct val="100000"/>
              </a:lnSpc>
              <a:buNone/>
              <a:tabLst>
                <a:tab pos="0" algn="l"/>
              </a:tabLst>
            </a:pPr>
            <a:fld id="{BF6DD42F-0F8F-4534-BAEA-F41FAE6A5604}" type="slidenum">
              <a:rPr lang="fr-FR"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a:buNone/>
              <a:defRPr lang="fr-FR" sz="4400" b="0" u="none" strike="noStrike">
                <a:solidFill>
                  <a:srgbClr val="000000"/>
                </a:solidFill>
                <a:effectLst/>
                <a:uFillTx/>
                <a:latin typeface="Arial"/>
              </a:defRPr>
            </a:lvl1pPr>
          </a:lstStyle>
          <a:p>
            <a:pPr indent="0" algn="ctr">
              <a:buNone/>
            </a:pPr>
            <a:r>
              <a:rPr lang="fr-FR" sz="4400" b="0" u="none" strike="noStrike">
                <a:solidFill>
                  <a:srgbClr val="000000"/>
                </a:solidFill>
                <a:effectLst/>
                <a:uFillTx/>
                <a:latin typeface="Arial"/>
              </a:rPr>
              <a:t>Cliquez pour éditer le format du texte-titre</a:t>
            </a:r>
            <a:endParaRPr lang="fr-FR" sz="4400" b="0" u="none" strike="noStrike">
              <a:solidFill>
                <a:srgbClr val="000000"/>
              </a:solidFill>
              <a:effectLst/>
              <a:uFillTx/>
              <a:latin typeface="Arial"/>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fr-FR"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fr-FR"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fr-FR"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fr-FR"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fr-FR"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fr-FR"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fr-FR"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fr-FR" sz="3200" b="0" u="none" strike="noStrike">
                <a:solidFill>
                  <a:srgbClr val="000000"/>
                </a:solidFill>
                <a:effectLst/>
                <a:uFillTx/>
                <a:latin typeface="Arial"/>
              </a:rPr>
              <a:t>Cliquez pour éditer le format du plan de texte</a:t>
            </a:r>
            <a:endParaRPr lang="fr-FR"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fr-FR" sz="2800" b="0" u="none" strike="noStrike">
                <a:solidFill>
                  <a:srgbClr val="000000"/>
                </a:solidFill>
                <a:effectLst/>
                <a:uFillTx/>
                <a:latin typeface="Arial"/>
              </a:rPr>
              <a:t>Second niveau de plan</a:t>
            </a:r>
            <a:endParaRPr lang="fr-FR"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fr-FR" sz="2400" b="0" u="none" strike="noStrike">
                <a:solidFill>
                  <a:srgbClr val="000000"/>
                </a:solidFill>
                <a:effectLst/>
                <a:uFillTx/>
                <a:latin typeface="Arial"/>
              </a:rPr>
              <a:t>Troisième niveau de plan</a:t>
            </a:r>
            <a:endParaRPr lang="fr-FR"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fr-FR" sz="2000" b="0" u="none" strike="noStrike">
                <a:solidFill>
                  <a:srgbClr val="000000"/>
                </a:solidFill>
                <a:effectLst/>
                <a:uFillTx/>
                <a:latin typeface="Arial"/>
              </a:rPr>
              <a:t>Quatrième niveau de plan</a:t>
            </a:r>
            <a:endParaRPr lang="fr-FR"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fr-FR" sz="2000" b="0" u="none" strike="noStrike">
                <a:solidFill>
                  <a:srgbClr val="000000"/>
                </a:solidFill>
                <a:effectLst/>
                <a:uFillTx/>
                <a:latin typeface="Arial"/>
              </a:rPr>
              <a:t>Cinquième niveau de plan</a:t>
            </a:r>
            <a:endParaRPr lang="fr-FR"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fr-FR" sz="2000" b="0" u="none" strike="noStrike">
                <a:solidFill>
                  <a:srgbClr val="000000"/>
                </a:solidFill>
                <a:effectLst/>
                <a:uFillTx/>
                <a:latin typeface="Arial"/>
              </a:rPr>
              <a:t>Sixième niveau de plan</a:t>
            </a:r>
            <a:endParaRPr lang="fr-FR"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fr-FR" sz="2000" b="0" u="none" strike="noStrike">
                <a:solidFill>
                  <a:srgbClr val="000000"/>
                </a:solidFill>
                <a:effectLst/>
                <a:uFillTx/>
                <a:latin typeface="Arial"/>
              </a:rPr>
              <a:t>Septième niveau de plan</a:t>
            </a:r>
            <a:endParaRPr lang="fr-FR"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chart" Target="../charts/chart1.xml"/><Relationship Id="rId3" Type="http://schemas.openxmlformats.org/officeDocument/2006/relationships/slideLayout" Target="../slideLayouts/slideLayout1.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2A4A"/>
        </a:solidFill>
      </p:bgPr>
    </p:bg>
    <p:spTree>
      <p:nvGrpSpPr>
        <p:cNvPr id="1" name=""/>
        <p:cNvGrpSpPr/>
        <p:nvPr/>
      </p:nvGrpSpPr>
      <p:grpSpPr>
        <a:xfrm>
          <a:off x="0" y="0"/>
          <a:ext cx="0" cy="0"/>
          <a:chOff x="0" y="0"/>
          <a:chExt cx="0" cy="0"/>
        </a:xfrm>
      </p:grpSpPr>
      <p:sp>
        <p:nvSpPr>
          <p:cNvPr id="10" name="Text 20"/>
          <p:cNvSpPr/>
          <p:nvPr/>
        </p:nvSpPr>
        <p:spPr>
          <a:xfrm>
            <a:off x="640080" y="685800"/>
            <a:ext cx="82285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pc="201" strike="noStrike">
                <a:solidFill>
                  <a:srgbClr val="2DBE8C"/>
                </a:solidFill>
                <a:effectLst/>
                <a:uFillTx/>
                <a:latin typeface="Calibri"/>
                <a:ea typeface="Calibri"/>
              </a:rPr>
              <a:t>SPOTIFY - DATA &amp; AI GOVERNANCE PROJECT</a:t>
            </a:r>
            <a:endParaRPr lang="fr-FR" sz="1300" b="0" u="none" strike="noStrike">
              <a:solidFill>
                <a:srgbClr val="FFFFFF"/>
              </a:solidFill>
              <a:effectLst/>
              <a:uFillTx/>
              <a:latin typeface="Arial"/>
            </a:endParaRPr>
          </a:p>
        </p:txBody>
      </p:sp>
      <p:sp>
        <p:nvSpPr>
          <p:cNvPr id="11" name="Text 21"/>
          <p:cNvSpPr/>
          <p:nvPr/>
        </p:nvSpPr>
        <p:spPr>
          <a:xfrm>
            <a:off x="640080" y="1417320"/>
            <a:ext cx="8502840" cy="1553400"/>
          </a:xfrm>
          <a:prstGeom prst="rect">
            <a:avLst/>
          </a:prstGeom>
          <a:noFill/>
          <a:ln w="0">
            <a:noFill/>
          </a:ln>
        </p:spPr>
        <p:style>
          <a:lnRef idx="0"/>
          <a:fillRef idx="0"/>
          <a:effectRef idx="0"/>
          <a:fontRef idx="minor"/>
        </p:style>
        <p:txBody>
          <a:bodyPr lIns="0" tIns="0" rIns="0" bIns="0" anchor="ctr">
            <a:noAutofit/>
          </a:bodyPr>
          <a:p>
            <a:pPr defTabSz="914400">
              <a:lnSpc>
                <a:spcPct val="105000"/>
              </a:lnSpc>
              <a:tabLst>
                <a:tab pos="0" algn="l"/>
              </a:tabLst>
            </a:pPr>
            <a:r>
              <a:rPr lang="fr-FR" sz="4000" b="1" u="none" strike="noStrike">
                <a:solidFill>
                  <a:srgbClr val="FFFFFF"/>
                </a:solidFill>
                <a:effectLst/>
                <a:uFillTx/>
                <a:latin typeface="Cambria"/>
                <a:ea typeface="Cambria"/>
              </a:rPr>
              <a:t>Gouvernance des Données et de l'IA</a:t>
            </a:r>
            <a:endParaRPr lang="fr-FR" sz="4000" b="0" u="none" strike="noStrike">
              <a:solidFill>
                <a:srgbClr val="FFFFFF"/>
              </a:solidFill>
              <a:effectLst/>
              <a:uFillTx/>
              <a:latin typeface="Arial"/>
            </a:endParaRPr>
          </a:p>
        </p:txBody>
      </p:sp>
      <p:sp>
        <p:nvSpPr>
          <p:cNvPr id="12" name="Text 22"/>
          <p:cNvSpPr/>
          <p:nvPr/>
        </p:nvSpPr>
        <p:spPr>
          <a:xfrm>
            <a:off x="640080" y="2880360"/>
            <a:ext cx="7862760" cy="639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700" b="0" i="1" u="none" strike="noStrike">
                <a:solidFill>
                  <a:srgbClr val="CADCFC"/>
                </a:solidFill>
                <a:effectLst/>
                <a:uFillTx/>
                <a:latin typeface="Calibri"/>
                <a:ea typeface="Calibri"/>
              </a:rPr>
              <a:t>Evaluation, organisation et plan de mise en œuvre</a:t>
            </a:r>
            <a:endParaRPr lang="fr-FR" sz="1700" b="0" u="none" strike="noStrike">
              <a:solidFill>
                <a:srgbClr val="FFFFFF"/>
              </a:solidFill>
              <a:effectLst/>
              <a:uFillTx/>
              <a:latin typeface="Arial"/>
            </a:endParaRPr>
          </a:p>
        </p:txBody>
      </p:sp>
      <p:sp>
        <p:nvSpPr>
          <p:cNvPr id="13" name="Text 23"/>
          <p:cNvSpPr/>
          <p:nvPr/>
        </p:nvSpPr>
        <p:spPr>
          <a:xfrm>
            <a:off x="640080" y="4160520"/>
            <a:ext cx="2376360" cy="68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400" b="1" u="none" strike="noStrike">
                <a:solidFill>
                  <a:srgbClr val="2DBE8C"/>
                </a:solidFill>
                <a:effectLst/>
                <a:uFillTx/>
                <a:latin typeface="Cambria"/>
                <a:ea typeface="Cambria"/>
              </a:rPr>
              <a:t>450M+</a:t>
            </a:r>
            <a:endParaRPr lang="fr-FR" sz="3400" b="0" u="none" strike="noStrike">
              <a:solidFill>
                <a:srgbClr val="FFFFFF"/>
              </a:solidFill>
              <a:effectLst/>
              <a:uFillTx/>
              <a:latin typeface="Arial"/>
            </a:endParaRPr>
          </a:p>
        </p:txBody>
      </p:sp>
      <p:sp>
        <p:nvSpPr>
          <p:cNvPr id="14" name="Text 24"/>
          <p:cNvSpPr/>
          <p:nvPr/>
        </p:nvSpPr>
        <p:spPr>
          <a:xfrm>
            <a:off x="640080" y="4818960"/>
            <a:ext cx="237636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0" u="none" strike="noStrike">
                <a:solidFill>
                  <a:srgbClr val="CADCFC"/>
                </a:solidFill>
                <a:effectLst/>
                <a:uFillTx/>
                <a:latin typeface="Calibri"/>
                <a:ea typeface="Calibri"/>
              </a:rPr>
              <a:t>utilisateurs actifs</a:t>
            </a:r>
            <a:endParaRPr lang="fr-FR" sz="1250" b="0" u="none" strike="noStrike">
              <a:solidFill>
                <a:srgbClr val="FFFFFF"/>
              </a:solidFill>
              <a:effectLst/>
              <a:uFillTx/>
              <a:latin typeface="Arial"/>
            </a:endParaRPr>
          </a:p>
        </p:txBody>
      </p:sp>
      <p:sp>
        <p:nvSpPr>
          <p:cNvPr id="15" name="Text 25"/>
          <p:cNvSpPr/>
          <p:nvPr/>
        </p:nvSpPr>
        <p:spPr>
          <a:xfrm>
            <a:off x="3337560" y="4160520"/>
            <a:ext cx="2376360" cy="68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400" b="1" u="none" strike="noStrike">
                <a:solidFill>
                  <a:srgbClr val="2DBE8C"/>
                </a:solidFill>
                <a:effectLst/>
                <a:uFillTx/>
                <a:latin typeface="Cambria"/>
                <a:ea typeface="Cambria"/>
              </a:rPr>
              <a:t>200M</a:t>
            </a:r>
            <a:endParaRPr lang="fr-FR" sz="3400" b="0" u="none" strike="noStrike">
              <a:solidFill>
                <a:srgbClr val="FFFFFF"/>
              </a:solidFill>
              <a:effectLst/>
              <a:uFillTx/>
              <a:latin typeface="Arial"/>
            </a:endParaRPr>
          </a:p>
        </p:txBody>
      </p:sp>
      <p:sp>
        <p:nvSpPr>
          <p:cNvPr id="16" name="Text 26"/>
          <p:cNvSpPr/>
          <p:nvPr/>
        </p:nvSpPr>
        <p:spPr>
          <a:xfrm>
            <a:off x="3337560" y="4818960"/>
            <a:ext cx="237636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0" u="none" strike="noStrike">
                <a:solidFill>
                  <a:srgbClr val="CADCFC"/>
                </a:solidFill>
                <a:effectLst/>
                <a:uFillTx/>
                <a:latin typeface="Calibri"/>
                <a:ea typeface="Calibri"/>
              </a:rPr>
              <a:t>abonnés premium</a:t>
            </a:r>
            <a:endParaRPr lang="fr-FR" sz="1250" b="0" u="none" strike="noStrike">
              <a:solidFill>
                <a:srgbClr val="FFFFFF"/>
              </a:solidFill>
              <a:effectLst/>
              <a:uFillTx/>
              <a:latin typeface="Arial"/>
            </a:endParaRPr>
          </a:p>
        </p:txBody>
      </p:sp>
      <p:sp>
        <p:nvSpPr>
          <p:cNvPr id="17" name="Text 27"/>
          <p:cNvSpPr/>
          <p:nvPr/>
        </p:nvSpPr>
        <p:spPr>
          <a:xfrm>
            <a:off x="6035040" y="4160520"/>
            <a:ext cx="2376360" cy="684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400" b="1" u="none" strike="noStrike">
                <a:solidFill>
                  <a:srgbClr val="2DBE8C"/>
                </a:solidFill>
                <a:effectLst/>
                <a:uFillTx/>
                <a:latin typeface="Cambria"/>
                <a:ea typeface="Cambria"/>
              </a:rPr>
              <a:t>180+</a:t>
            </a:r>
            <a:endParaRPr lang="fr-FR" sz="3400" b="0" u="none" strike="noStrike">
              <a:solidFill>
                <a:srgbClr val="FFFFFF"/>
              </a:solidFill>
              <a:effectLst/>
              <a:uFillTx/>
              <a:latin typeface="Arial"/>
            </a:endParaRPr>
          </a:p>
        </p:txBody>
      </p:sp>
      <p:sp>
        <p:nvSpPr>
          <p:cNvPr id="18" name="Text 28"/>
          <p:cNvSpPr/>
          <p:nvPr/>
        </p:nvSpPr>
        <p:spPr>
          <a:xfrm>
            <a:off x="6035040" y="4818960"/>
            <a:ext cx="237636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0" u="none" strike="noStrike">
                <a:solidFill>
                  <a:srgbClr val="CADCFC"/>
                </a:solidFill>
                <a:effectLst/>
                <a:uFillTx/>
                <a:latin typeface="Calibri"/>
                <a:ea typeface="Calibri"/>
              </a:rPr>
              <a:t>pays d'opération</a:t>
            </a:r>
            <a:endParaRPr lang="fr-FR" sz="1250" b="0" u="none" strike="noStrike">
              <a:solidFill>
                <a:srgbClr val="FFFFFF"/>
              </a:solidFill>
              <a:effectLst/>
              <a:uFillTx/>
              <a:latin typeface="Arial"/>
            </a:endParaRPr>
          </a:p>
        </p:txBody>
      </p:sp>
      <p:sp>
        <p:nvSpPr>
          <p:cNvPr id="19" name="Text 29"/>
          <p:cNvSpPr/>
          <p:nvPr/>
        </p:nvSpPr>
        <p:spPr>
          <a:xfrm>
            <a:off x="640080" y="6355080"/>
            <a:ext cx="73141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50" b="0" u="none" strike="noStrike">
                <a:solidFill>
                  <a:srgbClr val="9FB0C9"/>
                </a:solidFill>
                <a:effectLst/>
                <a:uFillTx/>
                <a:latin typeface="Calibri"/>
                <a:ea typeface="Calibri"/>
              </a:rPr>
              <a:t>Nicolas Pichon - AIA RNCP 38777 / BC01 - Présentation du 2026/10/13 - v2</a:t>
            </a:r>
            <a:endParaRPr lang="fr-FR" sz="1050" b="0" u="none" strike="noStrike">
              <a:solidFill>
                <a:srgbClr val="FFFFFF"/>
              </a:solidFill>
              <a:effectLst/>
              <a:uFillTx/>
              <a:latin typeface="Arial"/>
            </a:endParaRPr>
          </a:p>
        </p:txBody>
      </p:sp>
      <p:sp>
        <p:nvSpPr>
          <p:cNvPr id="20" name="Text 30"/>
          <p:cNvSpPr/>
          <p:nvPr/>
        </p:nvSpPr>
        <p:spPr>
          <a:xfrm>
            <a:off x="11003040" y="6355080"/>
            <a:ext cx="8218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050" b="0" u="none" strike="noStrike">
                <a:solidFill>
                  <a:srgbClr val="9FB0C9"/>
                </a:solidFill>
                <a:effectLst/>
                <a:uFillTx/>
                <a:latin typeface="Calibri"/>
                <a:ea typeface="Calibri"/>
              </a:rPr>
              <a:t>1 / 10</a:t>
            </a:r>
            <a:endParaRPr lang="fr-FR"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4F7"/>
        </a:solidFill>
      </p:bgPr>
    </p:bg>
    <p:spTree>
      <p:nvGrpSpPr>
        <p:cNvPr id="1" name=""/>
        <p:cNvGrpSpPr/>
        <p:nvPr/>
      </p:nvGrpSpPr>
      <p:grpSpPr>
        <a:xfrm>
          <a:off x="0" y="0"/>
          <a:ext cx="0" cy="0"/>
          <a:chOff x="0" y="0"/>
          <a:chExt cx="0" cy="0"/>
        </a:xfrm>
      </p:grpSpPr>
      <p:sp>
        <p:nvSpPr>
          <p:cNvPr id="21" name="Text 0"/>
          <p:cNvSpPr/>
          <p:nvPr/>
        </p:nvSpPr>
        <p:spPr>
          <a:xfrm>
            <a:off x="548640" y="384120"/>
            <a:ext cx="731412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201" strike="noStrike">
                <a:solidFill>
                  <a:srgbClr val="1C8C68"/>
                </a:solidFill>
                <a:effectLst/>
                <a:uFillTx/>
                <a:latin typeface="Calibri"/>
                <a:ea typeface="Calibri"/>
              </a:rPr>
              <a:t>DIAGNOSTIC</a:t>
            </a:r>
            <a:endParaRPr lang="fr-FR" sz="1200" b="0" u="none" strike="noStrike">
              <a:solidFill>
                <a:srgbClr val="000000"/>
              </a:solidFill>
              <a:effectLst/>
              <a:uFillTx/>
              <a:latin typeface="Arial"/>
            </a:endParaRPr>
          </a:p>
        </p:txBody>
      </p:sp>
      <p:sp>
        <p:nvSpPr>
          <p:cNvPr id="22" name="Text 1"/>
          <p:cNvSpPr/>
          <p:nvPr/>
        </p:nvSpPr>
        <p:spPr>
          <a:xfrm>
            <a:off x="548640" y="658440"/>
            <a:ext cx="9508680" cy="8676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fr-FR" sz="2800" b="1" u="none" strike="noStrike">
                <a:solidFill>
                  <a:srgbClr val="1B2A4A"/>
                </a:solidFill>
                <a:effectLst/>
                <a:uFillTx/>
                <a:latin typeface="Cambria"/>
                <a:ea typeface="Cambria"/>
              </a:rPr>
              <a:t>Une maturité data en phase initiale, un potentiel analytique déjà avancé</a:t>
            </a:r>
            <a:endParaRPr lang="fr-FR" sz="2800" b="0" u="none" strike="noStrike">
              <a:solidFill>
                <a:srgbClr val="000000"/>
              </a:solidFill>
              <a:effectLst/>
              <a:uFillTx/>
              <a:latin typeface="Arial"/>
            </a:endParaRPr>
          </a:p>
        </p:txBody>
      </p:sp>
      <p:pic>
        <p:nvPicPr>
          <p:cNvPr id="23" name="Image 0" descr="icons/icon_barchart.png"/>
          <p:cNvPicPr/>
          <p:nvPr/>
        </p:nvPicPr>
        <p:blipFill>
          <a:blip r:embed="rId1"/>
          <a:stretch/>
        </p:blipFill>
        <p:spPr>
          <a:xfrm>
            <a:off x="11140200" y="365760"/>
            <a:ext cx="657360" cy="657360"/>
          </a:xfrm>
          <a:prstGeom prst="rect">
            <a:avLst/>
          </a:prstGeom>
          <a:noFill/>
          <a:ln w="0">
            <a:noFill/>
          </a:ln>
        </p:spPr>
      </p:pic>
      <p:graphicFrame>
        <p:nvGraphicFramePr>
          <p:cNvPr id="24" name="Chart 0"/>
          <p:cNvGraphicFramePr/>
          <p:nvPr/>
        </p:nvGraphicFramePr>
        <p:xfrm>
          <a:off x="502920" y="1691640"/>
          <a:ext cx="6948360" cy="4479480"/>
        </p:xfrm>
        <a:graphic>
          <a:graphicData uri="http://schemas.openxmlformats.org/drawingml/2006/chart">
            <c:chart xmlns:c="http://schemas.openxmlformats.org/drawingml/2006/chart" xmlns:r="http://schemas.openxmlformats.org/officeDocument/2006/relationships" r:id="rId2"/>
          </a:graphicData>
        </a:graphic>
      </p:graphicFrame>
      <p:sp>
        <p:nvSpPr>
          <p:cNvPr id="25" name="Shape 2"/>
          <p:cNvSpPr/>
          <p:nvPr/>
        </p:nvSpPr>
        <p:spPr>
          <a:xfrm>
            <a:off x="7726680" y="1691640"/>
            <a:ext cx="3930840" cy="1416240"/>
          </a:xfrm>
          <a:prstGeom prst="roundRect">
            <a:avLst>
              <a:gd name="adj" fmla="val 5161"/>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6" name="Text 3"/>
          <p:cNvSpPr/>
          <p:nvPr/>
        </p:nvSpPr>
        <p:spPr>
          <a:xfrm>
            <a:off x="7955280" y="1810440"/>
            <a:ext cx="3473640" cy="639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3000" b="1" u="none" strike="noStrike">
                <a:solidFill>
                  <a:srgbClr val="1B2A4A"/>
                </a:solidFill>
                <a:effectLst/>
                <a:uFillTx/>
                <a:latin typeface="Cambria"/>
                <a:ea typeface="Cambria"/>
              </a:rPr>
              <a:t>1,25 / 5</a:t>
            </a:r>
            <a:endParaRPr lang="fr-FR" sz="3000" b="0" u="none" strike="noStrike">
              <a:solidFill>
                <a:srgbClr val="000000"/>
              </a:solidFill>
              <a:effectLst/>
              <a:uFillTx/>
              <a:latin typeface="Arial"/>
            </a:endParaRPr>
          </a:p>
        </p:txBody>
      </p:sp>
      <p:sp>
        <p:nvSpPr>
          <p:cNvPr id="27" name="Text 4"/>
          <p:cNvSpPr/>
          <p:nvPr/>
        </p:nvSpPr>
        <p:spPr>
          <a:xfrm>
            <a:off x="7955280" y="2450520"/>
            <a:ext cx="3519360" cy="547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50" b="0" u="none" strike="noStrike">
                <a:solidFill>
                  <a:srgbClr val="5B6B84"/>
                </a:solidFill>
                <a:effectLst/>
                <a:uFillTx/>
                <a:latin typeface="Calibri"/>
                <a:ea typeface="Calibri"/>
              </a:rPr>
              <a:t>Niveau moyen de maturité actuel</a:t>
            </a:r>
            <a:br>
              <a:rPr sz="1150"/>
            </a:br>
            <a:r>
              <a:rPr lang="fr-FR" sz="1150" b="0" u="none" strike="noStrike">
                <a:solidFill>
                  <a:srgbClr val="5B6B84"/>
                </a:solidFill>
                <a:effectLst/>
                <a:uFillTx/>
                <a:latin typeface="Calibri"/>
                <a:ea typeface="Calibri"/>
              </a:rPr>
              <a:t>	</a:t>
            </a:r>
            <a:r>
              <a:rPr lang="fr-FR" sz="1150" b="0" u="none" strike="noStrike">
                <a:solidFill>
                  <a:srgbClr val="5B6B84"/>
                </a:solidFill>
                <a:effectLst/>
                <a:uFillTx/>
                <a:latin typeface="Calibri"/>
                <a:ea typeface="Calibri"/>
              </a:rPr>
              <a:t>&gt; gouvernance locale, réactive, dispersée</a:t>
            </a:r>
            <a:endParaRPr lang="fr-FR" sz="1150" b="0" u="none" strike="noStrike">
              <a:solidFill>
                <a:srgbClr val="000000"/>
              </a:solidFill>
              <a:effectLst/>
              <a:uFillTx/>
              <a:latin typeface="Arial"/>
            </a:endParaRPr>
          </a:p>
        </p:txBody>
      </p:sp>
      <p:sp>
        <p:nvSpPr>
          <p:cNvPr id="28" name="Shape 5"/>
          <p:cNvSpPr/>
          <p:nvPr/>
        </p:nvSpPr>
        <p:spPr>
          <a:xfrm>
            <a:off x="7726680" y="3246120"/>
            <a:ext cx="3930840" cy="1233360"/>
          </a:xfrm>
          <a:prstGeom prst="roundRect">
            <a:avLst>
              <a:gd name="adj" fmla="val 5926"/>
            </a:avLst>
          </a:prstGeom>
          <a:solidFill>
            <a:srgbClr val="EAF7F1"/>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9" name="Text 6"/>
          <p:cNvSpPr/>
          <p:nvPr/>
        </p:nvSpPr>
        <p:spPr>
          <a:xfrm>
            <a:off x="7955280" y="3364920"/>
            <a:ext cx="3519360" cy="36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1C8C68"/>
                </a:solidFill>
                <a:effectLst/>
                <a:uFillTx/>
                <a:latin typeface="Calibri"/>
                <a:ea typeface="Calibri"/>
              </a:rPr>
              <a:t>Cible à moyen terme : niveau 3</a:t>
            </a:r>
            <a:endParaRPr lang="fr-FR" sz="1400" b="0" u="none" strike="noStrike">
              <a:solidFill>
                <a:srgbClr val="000000"/>
              </a:solidFill>
              <a:effectLst/>
              <a:uFillTx/>
              <a:latin typeface="Arial"/>
            </a:endParaRPr>
          </a:p>
        </p:txBody>
      </p:sp>
      <p:sp>
        <p:nvSpPr>
          <p:cNvPr id="30" name="Text 7"/>
          <p:cNvSpPr/>
          <p:nvPr/>
        </p:nvSpPr>
        <p:spPr>
          <a:xfrm>
            <a:off x="7955280" y="3730680"/>
            <a:ext cx="3519360" cy="593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trike="noStrike">
                <a:solidFill>
                  <a:srgbClr val="5B6B84"/>
                </a:solidFill>
                <a:effectLst/>
                <a:uFillTx/>
                <a:latin typeface="Calibri"/>
                <a:ea typeface="Calibri"/>
              </a:rPr>
              <a:t>Gouvernance formellement définie et appliquée de façon cohérente à l’échelle de l’entreprise</a:t>
            </a:r>
            <a:endParaRPr lang="fr-FR" sz="1100" b="0" u="none" strike="noStrike">
              <a:solidFill>
                <a:srgbClr val="000000"/>
              </a:solidFill>
              <a:effectLst/>
              <a:uFillTx/>
              <a:latin typeface="Arial"/>
            </a:endParaRPr>
          </a:p>
        </p:txBody>
      </p:sp>
      <p:sp>
        <p:nvSpPr>
          <p:cNvPr id="31" name="Shape 8"/>
          <p:cNvSpPr/>
          <p:nvPr/>
        </p:nvSpPr>
        <p:spPr>
          <a:xfrm>
            <a:off x="7726680" y="4617720"/>
            <a:ext cx="3930840" cy="1553400"/>
          </a:xfrm>
          <a:prstGeom prst="roundRect">
            <a:avLst>
              <a:gd name="adj" fmla="val 4706"/>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2" name="Text 9"/>
          <p:cNvSpPr/>
          <p:nvPr/>
        </p:nvSpPr>
        <p:spPr>
          <a:xfrm>
            <a:off x="7955280" y="4754880"/>
            <a:ext cx="3519360" cy="1279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50" b="0" i="1" u="none" strike="noStrike">
                <a:solidFill>
                  <a:srgbClr val="1B2A4A"/>
                </a:solidFill>
                <a:effectLst/>
                <a:uFillTx/>
                <a:latin typeface="Calibri"/>
                <a:ea typeface="Calibri"/>
              </a:rPr>
              <a:t>Le cadre de gouvernance est défini (rôles, outils identifiés) mais pas encore déployé (manque organisation, adoption, audits, monitoring,   politique appliquée).</a:t>
            </a:r>
            <a:endParaRPr lang="fr-FR" sz="1150" b="0" u="none" strike="noStrike">
              <a:solidFill>
                <a:srgbClr val="000000"/>
              </a:solidFill>
              <a:effectLst/>
              <a:uFillTx/>
              <a:latin typeface="Arial"/>
            </a:endParaRPr>
          </a:p>
        </p:txBody>
      </p:sp>
      <p:sp>
        <p:nvSpPr>
          <p:cNvPr id="33" name="Text 10"/>
          <p:cNvSpPr/>
          <p:nvPr/>
        </p:nvSpPr>
        <p:spPr>
          <a:xfrm>
            <a:off x="548640" y="6473880"/>
            <a:ext cx="86857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8493A8"/>
                </a:solidFill>
                <a:effectLst/>
                <a:uFillTx/>
                <a:latin typeface="Calibri"/>
                <a:ea typeface="Calibri"/>
              </a:rPr>
              <a:t>Source : [D1] Data &amp; AI Maturity Assessment Report · Méthodologie [R1] Australian Government DMAT</a:t>
            </a:r>
            <a:endParaRPr lang="fr-FR" sz="950" b="0" u="none" strike="noStrike">
              <a:solidFill>
                <a:srgbClr val="000000"/>
              </a:solidFill>
              <a:effectLst/>
              <a:uFillTx/>
              <a:latin typeface="Arial"/>
            </a:endParaRPr>
          </a:p>
        </p:txBody>
      </p:sp>
      <p:sp>
        <p:nvSpPr>
          <p:cNvPr id="34" name="Text 11"/>
          <p:cNvSpPr/>
          <p:nvPr/>
        </p:nvSpPr>
        <p:spPr>
          <a:xfrm>
            <a:off x="11003040" y="6473880"/>
            <a:ext cx="8218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50" b="0" u="none" strike="noStrike">
                <a:solidFill>
                  <a:srgbClr val="8493A8"/>
                </a:solidFill>
                <a:effectLst/>
                <a:uFillTx/>
                <a:latin typeface="Calibri"/>
                <a:ea typeface="Calibri"/>
              </a:rPr>
              <a:t>2 / 10</a:t>
            </a:r>
            <a:endParaRPr lang="fr-FR"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4F7"/>
        </a:solidFill>
      </p:bgPr>
    </p:bg>
    <p:spTree>
      <p:nvGrpSpPr>
        <p:cNvPr id="1" name=""/>
        <p:cNvGrpSpPr/>
        <p:nvPr/>
      </p:nvGrpSpPr>
      <p:grpSpPr>
        <a:xfrm>
          <a:off x="0" y="0"/>
          <a:ext cx="0" cy="0"/>
          <a:chOff x="0" y="0"/>
          <a:chExt cx="0" cy="0"/>
        </a:xfrm>
      </p:grpSpPr>
      <p:sp>
        <p:nvSpPr>
          <p:cNvPr id="35" name="Text 0"/>
          <p:cNvSpPr/>
          <p:nvPr/>
        </p:nvSpPr>
        <p:spPr>
          <a:xfrm>
            <a:off x="548640" y="384120"/>
            <a:ext cx="731412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201" strike="noStrike">
                <a:solidFill>
                  <a:srgbClr val="1C8C68"/>
                </a:solidFill>
                <a:effectLst/>
                <a:uFillTx/>
                <a:latin typeface="Calibri"/>
                <a:ea typeface="Calibri"/>
              </a:rPr>
              <a:t>ENJEUX</a:t>
            </a:r>
            <a:endParaRPr lang="fr-FR" sz="1200" b="0" u="none" strike="noStrike">
              <a:solidFill>
                <a:srgbClr val="000000"/>
              </a:solidFill>
              <a:effectLst/>
              <a:uFillTx/>
              <a:latin typeface="Arial"/>
            </a:endParaRPr>
          </a:p>
        </p:txBody>
      </p:sp>
      <p:sp>
        <p:nvSpPr>
          <p:cNvPr id="36" name="Text 1"/>
          <p:cNvSpPr/>
          <p:nvPr/>
        </p:nvSpPr>
        <p:spPr>
          <a:xfrm>
            <a:off x="548640" y="658440"/>
            <a:ext cx="9508680" cy="8676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fr-FR" sz="2800" b="1" u="none" strike="noStrike">
                <a:solidFill>
                  <a:srgbClr val="1B2A4A"/>
                </a:solidFill>
                <a:effectLst/>
                <a:uFillTx/>
                <a:latin typeface="Cambria"/>
                <a:ea typeface="Cambria"/>
              </a:rPr>
              <a:t>Six enjeux majeurs - par ordre de criticité</a:t>
            </a:r>
            <a:endParaRPr lang="fr-FR" sz="2800" b="0" u="none" strike="noStrike">
              <a:solidFill>
                <a:srgbClr val="000000"/>
              </a:solidFill>
              <a:effectLst/>
              <a:uFillTx/>
              <a:latin typeface="Arial"/>
            </a:endParaRPr>
          </a:p>
        </p:txBody>
      </p:sp>
      <p:pic>
        <p:nvPicPr>
          <p:cNvPr id="37" name="Image 0" descr="icons/icon_alert.png"/>
          <p:cNvPicPr/>
          <p:nvPr/>
        </p:nvPicPr>
        <p:blipFill>
          <a:blip r:embed="rId1"/>
          <a:stretch/>
        </p:blipFill>
        <p:spPr>
          <a:xfrm>
            <a:off x="11140200" y="365760"/>
            <a:ext cx="657360" cy="657360"/>
          </a:xfrm>
          <a:prstGeom prst="rect">
            <a:avLst/>
          </a:prstGeom>
          <a:noFill/>
          <a:ln w="0">
            <a:noFill/>
          </a:ln>
        </p:spPr>
      </p:pic>
      <p:sp>
        <p:nvSpPr>
          <p:cNvPr id="38" name="Shape 2"/>
          <p:cNvSpPr/>
          <p:nvPr/>
        </p:nvSpPr>
        <p:spPr>
          <a:xfrm>
            <a:off x="548640" y="1691640"/>
            <a:ext cx="5348160" cy="1370520"/>
          </a:xfrm>
          <a:prstGeom prst="roundRect">
            <a:avLst>
              <a:gd name="adj" fmla="val 5333"/>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9" name="Shape 3"/>
          <p:cNvSpPr/>
          <p:nvPr/>
        </p:nvSpPr>
        <p:spPr>
          <a:xfrm>
            <a:off x="749880" y="1892880"/>
            <a:ext cx="565920" cy="565920"/>
          </a:xfrm>
          <a:prstGeom prst="ellipse">
            <a:avLst/>
          </a:prstGeom>
          <a:solidFill>
            <a:srgbClr val="B857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0" name="Text 4"/>
          <p:cNvSpPr/>
          <p:nvPr/>
        </p:nvSpPr>
        <p:spPr>
          <a:xfrm>
            <a:off x="749880" y="1892880"/>
            <a:ext cx="565920" cy="565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FFFFFF"/>
                </a:solidFill>
                <a:effectLst/>
                <a:uFillTx/>
                <a:latin typeface="Calibri"/>
                <a:ea typeface="Calibri"/>
              </a:rPr>
              <a:t>E1</a:t>
            </a:r>
            <a:endParaRPr lang="fr-FR" sz="1400" b="0" u="none" strike="noStrike">
              <a:solidFill>
                <a:srgbClr val="000000"/>
              </a:solidFill>
              <a:effectLst/>
              <a:uFillTx/>
              <a:latin typeface="Arial"/>
            </a:endParaRPr>
          </a:p>
        </p:txBody>
      </p:sp>
      <p:sp>
        <p:nvSpPr>
          <p:cNvPr id="41" name="Text 5"/>
          <p:cNvSpPr/>
          <p:nvPr/>
        </p:nvSpPr>
        <p:spPr>
          <a:xfrm>
            <a:off x="1463040" y="1837800"/>
            <a:ext cx="4250880" cy="383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50" b="1" u="none" strike="noStrike">
                <a:solidFill>
                  <a:srgbClr val="1B2A4A"/>
                </a:solidFill>
                <a:effectLst/>
                <a:uFillTx/>
                <a:latin typeface="Calibri"/>
                <a:ea typeface="Calibri"/>
              </a:rPr>
              <a:t>Décompartimenter les données</a:t>
            </a:r>
            <a:endParaRPr lang="fr-FR" sz="1450" b="0" u="none" strike="noStrike">
              <a:solidFill>
                <a:srgbClr val="000000"/>
              </a:solidFill>
              <a:effectLst/>
              <a:uFillTx/>
              <a:latin typeface="Arial"/>
            </a:endParaRPr>
          </a:p>
        </p:txBody>
      </p:sp>
      <p:sp>
        <p:nvSpPr>
          <p:cNvPr id="42" name="Text 6"/>
          <p:cNvSpPr/>
          <p:nvPr/>
        </p:nvSpPr>
        <p:spPr>
          <a:xfrm>
            <a:off x="1463040" y="2221920"/>
            <a:ext cx="4250880" cy="776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5B6B84"/>
                </a:solidFill>
                <a:effectLst/>
                <a:uFillTx/>
                <a:latin typeface="Calibri"/>
                <a:ea typeface="Calibri"/>
              </a:rPr>
              <a:t>Silos départementaux → vues incohérentes ou incomplètes, angles morts décisionnels.</a:t>
            </a:r>
            <a:endParaRPr lang="fr-FR" sz="1100" b="0" u="none" strike="noStrike">
              <a:solidFill>
                <a:srgbClr val="000000"/>
              </a:solidFill>
              <a:effectLst/>
              <a:uFillTx/>
              <a:latin typeface="Arial"/>
            </a:endParaRPr>
          </a:p>
        </p:txBody>
      </p:sp>
      <p:sp>
        <p:nvSpPr>
          <p:cNvPr id="43" name="Shape 7"/>
          <p:cNvSpPr/>
          <p:nvPr/>
        </p:nvSpPr>
        <p:spPr>
          <a:xfrm>
            <a:off x="6217920" y="1691640"/>
            <a:ext cx="5348160" cy="1370520"/>
          </a:xfrm>
          <a:prstGeom prst="roundRect">
            <a:avLst>
              <a:gd name="adj" fmla="val 5333"/>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44" name="Shape 8"/>
          <p:cNvSpPr/>
          <p:nvPr/>
        </p:nvSpPr>
        <p:spPr>
          <a:xfrm>
            <a:off x="6419160" y="1892880"/>
            <a:ext cx="565920" cy="565920"/>
          </a:xfrm>
          <a:prstGeom prst="ellipse">
            <a:avLst/>
          </a:prstGeom>
          <a:solidFill>
            <a:srgbClr val="B857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5" name="Text 9"/>
          <p:cNvSpPr/>
          <p:nvPr/>
        </p:nvSpPr>
        <p:spPr>
          <a:xfrm>
            <a:off x="6419160" y="1892880"/>
            <a:ext cx="565920" cy="565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FFFFFF"/>
                </a:solidFill>
                <a:effectLst/>
                <a:uFillTx/>
                <a:latin typeface="Calibri"/>
                <a:ea typeface="Calibri"/>
              </a:rPr>
              <a:t>E2</a:t>
            </a:r>
            <a:endParaRPr lang="fr-FR" sz="1400" b="0" u="none" strike="noStrike">
              <a:solidFill>
                <a:srgbClr val="000000"/>
              </a:solidFill>
              <a:effectLst/>
              <a:uFillTx/>
              <a:latin typeface="Arial"/>
            </a:endParaRPr>
          </a:p>
        </p:txBody>
      </p:sp>
      <p:sp>
        <p:nvSpPr>
          <p:cNvPr id="46" name="Text 10"/>
          <p:cNvSpPr/>
          <p:nvPr/>
        </p:nvSpPr>
        <p:spPr>
          <a:xfrm>
            <a:off x="7132320" y="1837800"/>
            <a:ext cx="4250880" cy="383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50" b="1" u="none" strike="noStrike">
                <a:solidFill>
                  <a:srgbClr val="1B2A4A"/>
                </a:solidFill>
                <a:effectLst/>
                <a:uFillTx/>
                <a:latin typeface="Calibri"/>
                <a:ea typeface="Calibri"/>
              </a:rPr>
              <a:t>Maîtriser la qualité des données</a:t>
            </a:r>
            <a:endParaRPr lang="fr-FR" sz="1450" b="0" u="none" strike="noStrike">
              <a:solidFill>
                <a:srgbClr val="000000"/>
              </a:solidFill>
              <a:effectLst/>
              <a:uFillTx/>
              <a:latin typeface="Arial"/>
            </a:endParaRPr>
          </a:p>
        </p:txBody>
      </p:sp>
      <p:sp>
        <p:nvSpPr>
          <p:cNvPr id="47" name="Text 11"/>
          <p:cNvSpPr/>
          <p:nvPr/>
        </p:nvSpPr>
        <p:spPr>
          <a:xfrm>
            <a:off x="7132320" y="2221920"/>
            <a:ext cx="4250880" cy="776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5B6B84"/>
                </a:solidFill>
                <a:effectLst/>
                <a:uFillTx/>
                <a:latin typeface="Calibri"/>
                <a:ea typeface="Calibri"/>
              </a:rPr>
              <a:t>Données et métadonnées inexactes : recommandations dégradées, règles de qualité à définir.</a:t>
            </a:r>
            <a:endParaRPr lang="fr-FR" sz="1100" b="0" u="none" strike="noStrike">
              <a:solidFill>
                <a:srgbClr val="000000"/>
              </a:solidFill>
              <a:effectLst/>
              <a:uFillTx/>
              <a:latin typeface="Arial"/>
            </a:endParaRPr>
          </a:p>
        </p:txBody>
      </p:sp>
      <p:sp>
        <p:nvSpPr>
          <p:cNvPr id="48" name="Shape 12"/>
          <p:cNvSpPr/>
          <p:nvPr/>
        </p:nvSpPr>
        <p:spPr>
          <a:xfrm>
            <a:off x="548640" y="3319200"/>
            <a:ext cx="5348160" cy="1370520"/>
          </a:xfrm>
          <a:prstGeom prst="roundRect">
            <a:avLst>
              <a:gd name="adj" fmla="val 5333"/>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49" name="Shape 13"/>
          <p:cNvSpPr/>
          <p:nvPr/>
        </p:nvSpPr>
        <p:spPr>
          <a:xfrm>
            <a:off x="749880" y="3520440"/>
            <a:ext cx="565920" cy="565920"/>
          </a:xfrm>
          <a:prstGeom prst="ellipse">
            <a:avLst/>
          </a:prstGeom>
          <a:solidFill>
            <a:srgbClr val="B857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0" name="Text 14"/>
          <p:cNvSpPr/>
          <p:nvPr/>
        </p:nvSpPr>
        <p:spPr>
          <a:xfrm>
            <a:off x="749880" y="3520440"/>
            <a:ext cx="565920" cy="565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FFFFFF"/>
                </a:solidFill>
                <a:effectLst/>
                <a:uFillTx/>
                <a:latin typeface="Calibri"/>
                <a:ea typeface="Calibri"/>
              </a:rPr>
              <a:t>E3</a:t>
            </a:r>
            <a:endParaRPr lang="fr-FR" sz="1400" b="0" u="none" strike="noStrike">
              <a:solidFill>
                <a:srgbClr val="000000"/>
              </a:solidFill>
              <a:effectLst/>
              <a:uFillTx/>
              <a:latin typeface="Arial"/>
            </a:endParaRPr>
          </a:p>
        </p:txBody>
      </p:sp>
      <p:sp>
        <p:nvSpPr>
          <p:cNvPr id="51" name="Text 15"/>
          <p:cNvSpPr/>
          <p:nvPr/>
        </p:nvSpPr>
        <p:spPr>
          <a:xfrm>
            <a:off x="1463040" y="3465720"/>
            <a:ext cx="4250880" cy="383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50" b="1" u="none" strike="noStrike">
                <a:solidFill>
                  <a:srgbClr val="1B2A4A"/>
                </a:solidFill>
                <a:effectLst/>
                <a:uFillTx/>
                <a:latin typeface="Calibri"/>
                <a:ea typeface="Calibri"/>
              </a:rPr>
              <a:t>Conformité multi-juridictionnelle</a:t>
            </a:r>
            <a:endParaRPr lang="fr-FR" sz="1450" b="0" u="none" strike="noStrike">
              <a:solidFill>
                <a:srgbClr val="000000"/>
              </a:solidFill>
              <a:effectLst/>
              <a:uFillTx/>
              <a:latin typeface="Arial"/>
            </a:endParaRPr>
          </a:p>
        </p:txBody>
      </p:sp>
      <p:sp>
        <p:nvSpPr>
          <p:cNvPr id="52" name="Text 16"/>
          <p:cNvSpPr/>
          <p:nvPr/>
        </p:nvSpPr>
        <p:spPr>
          <a:xfrm>
            <a:off x="1463040" y="3849480"/>
            <a:ext cx="4250880" cy="776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5B6B84"/>
                </a:solidFill>
                <a:effectLst/>
                <a:uFillTx/>
                <a:latin typeface="Calibri"/>
                <a:ea typeface="Calibri"/>
              </a:rPr>
              <a:t>GDPR, CCPA, PDPA + réglementations IA à concilier sans perdre en cohérence globale.</a:t>
            </a:r>
            <a:endParaRPr lang="fr-FR" sz="1100" b="0" u="none" strike="noStrike">
              <a:solidFill>
                <a:srgbClr val="000000"/>
              </a:solidFill>
              <a:effectLst/>
              <a:uFillTx/>
              <a:latin typeface="Arial"/>
            </a:endParaRPr>
          </a:p>
        </p:txBody>
      </p:sp>
      <p:sp>
        <p:nvSpPr>
          <p:cNvPr id="53" name="Shape 17"/>
          <p:cNvSpPr/>
          <p:nvPr/>
        </p:nvSpPr>
        <p:spPr>
          <a:xfrm>
            <a:off x="6217920" y="3319200"/>
            <a:ext cx="5348160" cy="1370520"/>
          </a:xfrm>
          <a:prstGeom prst="roundRect">
            <a:avLst>
              <a:gd name="adj" fmla="val 5333"/>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54" name="Shape 18"/>
          <p:cNvSpPr/>
          <p:nvPr/>
        </p:nvSpPr>
        <p:spPr>
          <a:xfrm>
            <a:off x="6419160" y="3520440"/>
            <a:ext cx="565920" cy="565920"/>
          </a:xfrm>
          <a:prstGeom prst="ellipse">
            <a:avLst/>
          </a:prstGeom>
          <a:solidFill>
            <a:srgbClr val="B857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5" name="Text 19"/>
          <p:cNvSpPr/>
          <p:nvPr/>
        </p:nvSpPr>
        <p:spPr>
          <a:xfrm>
            <a:off x="6419160" y="3520440"/>
            <a:ext cx="565920" cy="565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FFFFFF"/>
                </a:solidFill>
                <a:effectLst/>
                <a:uFillTx/>
                <a:latin typeface="Calibri"/>
                <a:ea typeface="Calibri"/>
              </a:rPr>
              <a:t>E4</a:t>
            </a:r>
            <a:endParaRPr lang="fr-FR" sz="1400" b="0" u="none" strike="noStrike">
              <a:solidFill>
                <a:srgbClr val="000000"/>
              </a:solidFill>
              <a:effectLst/>
              <a:uFillTx/>
              <a:latin typeface="Arial"/>
            </a:endParaRPr>
          </a:p>
        </p:txBody>
      </p:sp>
      <p:sp>
        <p:nvSpPr>
          <p:cNvPr id="56" name="Text 20"/>
          <p:cNvSpPr/>
          <p:nvPr/>
        </p:nvSpPr>
        <p:spPr>
          <a:xfrm>
            <a:off x="7132320" y="3465720"/>
            <a:ext cx="4250880" cy="383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50" b="1" u="none" strike="noStrike">
                <a:solidFill>
                  <a:srgbClr val="1B2A4A"/>
                </a:solidFill>
                <a:effectLst/>
                <a:uFillTx/>
                <a:latin typeface="Calibri"/>
                <a:ea typeface="Calibri"/>
              </a:rPr>
              <a:t>Vie privée &amp; usage éthique</a:t>
            </a:r>
            <a:endParaRPr lang="fr-FR" sz="1450" b="0" u="none" strike="noStrike">
              <a:solidFill>
                <a:srgbClr val="000000"/>
              </a:solidFill>
              <a:effectLst/>
              <a:uFillTx/>
              <a:latin typeface="Arial"/>
            </a:endParaRPr>
          </a:p>
        </p:txBody>
      </p:sp>
      <p:sp>
        <p:nvSpPr>
          <p:cNvPr id="57" name="Text 21"/>
          <p:cNvSpPr/>
          <p:nvPr/>
        </p:nvSpPr>
        <p:spPr>
          <a:xfrm>
            <a:off x="7132320" y="3849480"/>
            <a:ext cx="4250880" cy="776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5B6B84"/>
                </a:solidFill>
                <a:effectLst/>
                <a:uFillTx/>
                <a:latin typeface="Calibri"/>
                <a:ea typeface="Calibri"/>
              </a:rPr>
              <a:t>Transparence, contrôle utilisateur, anonymisation — au-delà de la seule conformité légale.</a:t>
            </a:r>
            <a:endParaRPr lang="fr-FR" sz="1100" b="0" u="none" strike="noStrike">
              <a:solidFill>
                <a:srgbClr val="000000"/>
              </a:solidFill>
              <a:effectLst/>
              <a:uFillTx/>
              <a:latin typeface="Arial"/>
            </a:endParaRPr>
          </a:p>
        </p:txBody>
      </p:sp>
      <p:sp>
        <p:nvSpPr>
          <p:cNvPr id="58" name="Shape 22"/>
          <p:cNvSpPr/>
          <p:nvPr/>
        </p:nvSpPr>
        <p:spPr>
          <a:xfrm>
            <a:off x="548640" y="4946760"/>
            <a:ext cx="5348160" cy="1370520"/>
          </a:xfrm>
          <a:prstGeom prst="roundRect">
            <a:avLst>
              <a:gd name="adj" fmla="val 5333"/>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59" name="Shape 23"/>
          <p:cNvSpPr/>
          <p:nvPr/>
        </p:nvSpPr>
        <p:spPr>
          <a:xfrm>
            <a:off x="749880" y="5148000"/>
            <a:ext cx="565920" cy="565920"/>
          </a:xfrm>
          <a:prstGeom prst="ellipse">
            <a:avLst/>
          </a:prstGeom>
          <a:solidFill>
            <a:srgbClr val="B857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60" name="Text 24"/>
          <p:cNvSpPr/>
          <p:nvPr/>
        </p:nvSpPr>
        <p:spPr>
          <a:xfrm>
            <a:off x="749880" y="5148000"/>
            <a:ext cx="565920" cy="565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FFFFFF"/>
                </a:solidFill>
                <a:effectLst/>
                <a:uFillTx/>
                <a:latin typeface="Calibri"/>
                <a:ea typeface="Calibri"/>
              </a:rPr>
              <a:t>E5</a:t>
            </a:r>
            <a:endParaRPr lang="fr-FR" sz="1400" b="0" u="none" strike="noStrike">
              <a:solidFill>
                <a:srgbClr val="000000"/>
              </a:solidFill>
              <a:effectLst/>
              <a:uFillTx/>
              <a:latin typeface="Arial"/>
            </a:endParaRPr>
          </a:p>
        </p:txBody>
      </p:sp>
      <p:sp>
        <p:nvSpPr>
          <p:cNvPr id="61" name="Text 25"/>
          <p:cNvSpPr/>
          <p:nvPr/>
        </p:nvSpPr>
        <p:spPr>
          <a:xfrm>
            <a:off x="1463040" y="5093280"/>
            <a:ext cx="4250880" cy="383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50" b="1" u="none" strike="noStrike">
                <a:solidFill>
                  <a:srgbClr val="1B2A4A"/>
                </a:solidFill>
                <a:effectLst/>
                <a:uFillTx/>
                <a:latin typeface="Calibri"/>
                <a:ea typeface="Calibri"/>
              </a:rPr>
              <a:t>Gouverner les données ML/IA</a:t>
            </a:r>
            <a:endParaRPr lang="fr-FR" sz="1450" b="0" u="none" strike="noStrike">
              <a:solidFill>
                <a:srgbClr val="000000"/>
              </a:solidFill>
              <a:effectLst/>
              <a:uFillTx/>
              <a:latin typeface="Arial"/>
            </a:endParaRPr>
          </a:p>
        </p:txBody>
      </p:sp>
      <p:sp>
        <p:nvSpPr>
          <p:cNvPr id="62" name="Text 26"/>
          <p:cNvSpPr/>
          <p:nvPr/>
        </p:nvSpPr>
        <p:spPr>
          <a:xfrm>
            <a:off x="1463040" y="5477400"/>
            <a:ext cx="4250880" cy="776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5B6B84"/>
                </a:solidFill>
                <a:effectLst/>
                <a:uFillTx/>
                <a:latin typeface="Calibri"/>
                <a:ea typeface="Calibri"/>
              </a:rPr>
              <a:t>Traçabilité, biais, responsabilité des modèles du moteur de recommandation en production.</a:t>
            </a:r>
            <a:endParaRPr lang="fr-FR" sz="1100" b="0" u="none" strike="noStrike">
              <a:solidFill>
                <a:srgbClr val="000000"/>
              </a:solidFill>
              <a:effectLst/>
              <a:uFillTx/>
              <a:latin typeface="Arial"/>
            </a:endParaRPr>
          </a:p>
        </p:txBody>
      </p:sp>
      <p:sp>
        <p:nvSpPr>
          <p:cNvPr id="63" name="Shape 27"/>
          <p:cNvSpPr/>
          <p:nvPr/>
        </p:nvSpPr>
        <p:spPr>
          <a:xfrm>
            <a:off x="6217920" y="4946760"/>
            <a:ext cx="5348160" cy="1370520"/>
          </a:xfrm>
          <a:prstGeom prst="roundRect">
            <a:avLst>
              <a:gd name="adj" fmla="val 5333"/>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64" name="Shape 28"/>
          <p:cNvSpPr/>
          <p:nvPr/>
        </p:nvSpPr>
        <p:spPr>
          <a:xfrm>
            <a:off x="6419160" y="5148000"/>
            <a:ext cx="565920" cy="565920"/>
          </a:xfrm>
          <a:prstGeom prst="ellipse">
            <a:avLst/>
          </a:prstGeom>
          <a:solidFill>
            <a:srgbClr val="B857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65" name="Text 29"/>
          <p:cNvSpPr/>
          <p:nvPr/>
        </p:nvSpPr>
        <p:spPr>
          <a:xfrm>
            <a:off x="6419160" y="5148000"/>
            <a:ext cx="565920" cy="565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FFFFFF"/>
                </a:solidFill>
                <a:effectLst/>
                <a:uFillTx/>
                <a:latin typeface="Calibri"/>
                <a:ea typeface="Calibri"/>
              </a:rPr>
              <a:t>E6</a:t>
            </a:r>
            <a:endParaRPr lang="fr-FR" sz="1400" b="0" u="none" strike="noStrike">
              <a:solidFill>
                <a:srgbClr val="000000"/>
              </a:solidFill>
              <a:effectLst/>
              <a:uFillTx/>
              <a:latin typeface="Arial"/>
            </a:endParaRPr>
          </a:p>
        </p:txBody>
      </p:sp>
      <p:sp>
        <p:nvSpPr>
          <p:cNvPr id="66" name="Text 30"/>
          <p:cNvSpPr/>
          <p:nvPr/>
        </p:nvSpPr>
        <p:spPr>
          <a:xfrm>
            <a:off x="7132320" y="5093280"/>
            <a:ext cx="4250880" cy="383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50" b="1" u="none" strike="noStrike">
                <a:solidFill>
                  <a:srgbClr val="1B2A4A"/>
                </a:solidFill>
                <a:effectLst/>
                <a:uFillTx/>
                <a:latin typeface="Calibri"/>
                <a:ea typeface="Calibri"/>
              </a:rPr>
              <a:t>Monter en compétences data</a:t>
            </a:r>
            <a:endParaRPr lang="fr-FR" sz="1450" b="0" u="none" strike="noStrike">
              <a:solidFill>
                <a:srgbClr val="000000"/>
              </a:solidFill>
              <a:effectLst/>
              <a:uFillTx/>
              <a:latin typeface="Arial"/>
            </a:endParaRPr>
          </a:p>
        </p:txBody>
      </p:sp>
      <p:sp>
        <p:nvSpPr>
          <p:cNvPr id="67" name="Text 31"/>
          <p:cNvSpPr/>
          <p:nvPr/>
        </p:nvSpPr>
        <p:spPr>
          <a:xfrm>
            <a:off x="7132320" y="5477400"/>
            <a:ext cx="4250880" cy="776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5B6B84"/>
                </a:solidFill>
                <a:effectLst/>
                <a:uFillTx/>
                <a:latin typeface="Calibri"/>
                <a:ea typeface="Calibri"/>
              </a:rPr>
              <a:t>Culture de gouvernance partagée encore à construire ; risque de résistance au changement.</a:t>
            </a:r>
            <a:endParaRPr lang="fr-FR" sz="1100" b="0" u="none" strike="noStrike">
              <a:solidFill>
                <a:srgbClr val="000000"/>
              </a:solidFill>
              <a:effectLst/>
              <a:uFillTx/>
              <a:latin typeface="Arial"/>
            </a:endParaRPr>
          </a:p>
        </p:txBody>
      </p:sp>
      <p:sp>
        <p:nvSpPr>
          <p:cNvPr id="68" name="Text 32"/>
          <p:cNvSpPr/>
          <p:nvPr/>
        </p:nvSpPr>
        <p:spPr>
          <a:xfrm>
            <a:off x="548640" y="6473880"/>
            <a:ext cx="86857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8493A8"/>
                </a:solidFill>
                <a:effectLst/>
                <a:uFillTx/>
                <a:latin typeface="Calibri"/>
                <a:ea typeface="Calibri"/>
              </a:rPr>
              <a:t>Source : [D1] §1.2 — enjeux dérivés de [R2], à l'exception de E5</a:t>
            </a:r>
            <a:endParaRPr lang="fr-FR" sz="950" b="0" u="none" strike="noStrike">
              <a:solidFill>
                <a:srgbClr val="000000"/>
              </a:solidFill>
              <a:effectLst/>
              <a:uFillTx/>
              <a:latin typeface="Arial"/>
            </a:endParaRPr>
          </a:p>
        </p:txBody>
      </p:sp>
      <p:sp>
        <p:nvSpPr>
          <p:cNvPr id="69" name="Text 33"/>
          <p:cNvSpPr/>
          <p:nvPr/>
        </p:nvSpPr>
        <p:spPr>
          <a:xfrm>
            <a:off x="11003040" y="6473880"/>
            <a:ext cx="8218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50" b="0" u="none" strike="noStrike">
                <a:solidFill>
                  <a:srgbClr val="8493A8"/>
                </a:solidFill>
                <a:effectLst/>
                <a:uFillTx/>
                <a:latin typeface="Calibri"/>
                <a:ea typeface="Calibri"/>
              </a:rPr>
              <a:t>3 / 10</a:t>
            </a:r>
            <a:endParaRPr lang="fr-FR"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4F7"/>
        </a:solidFill>
      </p:bgPr>
    </p:bg>
    <p:spTree>
      <p:nvGrpSpPr>
        <p:cNvPr id="1" name=""/>
        <p:cNvGrpSpPr/>
        <p:nvPr/>
      </p:nvGrpSpPr>
      <p:grpSpPr>
        <a:xfrm>
          <a:off x="0" y="0"/>
          <a:ext cx="0" cy="0"/>
          <a:chOff x="0" y="0"/>
          <a:chExt cx="0" cy="0"/>
        </a:xfrm>
      </p:grpSpPr>
      <p:sp>
        <p:nvSpPr>
          <p:cNvPr id="70" name="Text 0"/>
          <p:cNvSpPr/>
          <p:nvPr/>
        </p:nvSpPr>
        <p:spPr>
          <a:xfrm>
            <a:off x="548640" y="384120"/>
            <a:ext cx="731412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201" strike="noStrike">
                <a:solidFill>
                  <a:srgbClr val="1C8C68"/>
                </a:solidFill>
                <a:effectLst/>
                <a:uFillTx/>
                <a:latin typeface="Calibri"/>
                <a:ea typeface="Calibri"/>
              </a:rPr>
              <a:t>POLITIQUE DE GOUVERNANCE</a:t>
            </a:r>
            <a:endParaRPr lang="fr-FR" sz="1200" b="0" u="none" strike="noStrike">
              <a:solidFill>
                <a:srgbClr val="000000"/>
              </a:solidFill>
              <a:effectLst/>
              <a:uFillTx/>
              <a:latin typeface="Arial"/>
            </a:endParaRPr>
          </a:p>
        </p:txBody>
      </p:sp>
      <p:sp>
        <p:nvSpPr>
          <p:cNvPr id="71" name="Text 1"/>
          <p:cNvSpPr/>
          <p:nvPr/>
        </p:nvSpPr>
        <p:spPr>
          <a:xfrm>
            <a:off x="548640" y="658440"/>
            <a:ext cx="9691560" cy="8676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fr-FR" sz="2800" b="1" u="none" strike="noStrike">
                <a:solidFill>
                  <a:srgbClr val="1B2A4A"/>
                </a:solidFill>
                <a:effectLst/>
                <a:uFillTx/>
                <a:latin typeface="Cambria"/>
                <a:ea typeface="Cambria"/>
              </a:rPr>
              <a:t>Neuf principes structurent le cadre de gouvernance</a:t>
            </a:r>
            <a:endParaRPr lang="fr-FR" sz="2800" b="0" u="none" strike="noStrike">
              <a:solidFill>
                <a:srgbClr val="000000"/>
              </a:solidFill>
              <a:effectLst/>
              <a:uFillTx/>
              <a:latin typeface="Arial"/>
            </a:endParaRPr>
          </a:p>
        </p:txBody>
      </p:sp>
      <p:pic>
        <p:nvPicPr>
          <p:cNvPr id="72" name="Image 0" descr="icons/icon_shield.png"/>
          <p:cNvPicPr/>
          <p:nvPr/>
        </p:nvPicPr>
        <p:blipFill>
          <a:blip r:embed="rId1"/>
          <a:stretch/>
        </p:blipFill>
        <p:spPr>
          <a:xfrm>
            <a:off x="11140200" y="365760"/>
            <a:ext cx="657360" cy="657360"/>
          </a:xfrm>
          <a:prstGeom prst="rect">
            <a:avLst/>
          </a:prstGeom>
          <a:noFill/>
          <a:ln w="0">
            <a:noFill/>
          </a:ln>
        </p:spPr>
      </p:pic>
      <p:sp>
        <p:nvSpPr>
          <p:cNvPr id="73" name="Shape 2"/>
          <p:cNvSpPr/>
          <p:nvPr/>
        </p:nvSpPr>
        <p:spPr>
          <a:xfrm>
            <a:off x="548640" y="1645920"/>
            <a:ext cx="5348160" cy="2147760"/>
          </a:xfrm>
          <a:prstGeom prst="roundRect">
            <a:avLst>
              <a:gd name="adj" fmla="val 3404"/>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74" name="Text 3"/>
          <p:cNvSpPr/>
          <p:nvPr/>
        </p:nvSpPr>
        <p:spPr>
          <a:xfrm>
            <a:off x="822960" y="1810440"/>
            <a:ext cx="4799520" cy="327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1C8C68"/>
                </a:solidFill>
                <a:effectLst/>
                <a:uFillTx/>
                <a:latin typeface="Calibri"/>
                <a:ea typeface="Calibri"/>
              </a:rPr>
              <a:t>Responsabilité &amp; qualité</a:t>
            </a:r>
            <a:endParaRPr lang="fr-FR" sz="1400" b="0" u="none" strike="noStrike">
              <a:solidFill>
                <a:srgbClr val="000000"/>
              </a:solidFill>
              <a:effectLst/>
              <a:uFillTx/>
              <a:latin typeface="Arial"/>
            </a:endParaRPr>
          </a:p>
        </p:txBody>
      </p:sp>
      <p:sp>
        <p:nvSpPr>
          <p:cNvPr id="75" name="Shape 4"/>
          <p:cNvSpPr/>
          <p:nvPr/>
        </p:nvSpPr>
        <p:spPr>
          <a:xfrm>
            <a:off x="822960" y="2212920"/>
            <a:ext cx="383040" cy="383040"/>
          </a:xfrm>
          <a:prstGeom prst="ellipse">
            <a:avLst/>
          </a:prstGeom>
          <a:solidFill>
            <a:srgbClr val="1B2A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6" name="Text 5"/>
          <p:cNvSpPr/>
          <p:nvPr/>
        </p:nvSpPr>
        <p:spPr>
          <a:xfrm>
            <a:off x="822960" y="2212920"/>
            <a:ext cx="383040" cy="383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50" b="1" u="none" strike="noStrike">
                <a:solidFill>
                  <a:srgbClr val="FFFFFF"/>
                </a:solidFill>
                <a:effectLst/>
                <a:uFillTx/>
                <a:latin typeface="Calibri"/>
                <a:ea typeface="Calibri"/>
              </a:rPr>
              <a:t>P1</a:t>
            </a:r>
            <a:endParaRPr lang="fr-FR" sz="1050" b="0" u="none" strike="noStrike">
              <a:solidFill>
                <a:srgbClr val="000000"/>
              </a:solidFill>
              <a:effectLst/>
              <a:uFillTx/>
              <a:latin typeface="Arial"/>
            </a:endParaRPr>
          </a:p>
        </p:txBody>
      </p:sp>
      <p:sp>
        <p:nvSpPr>
          <p:cNvPr id="77" name="Text 6"/>
          <p:cNvSpPr/>
          <p:nvPr/>
        </p:nvSpPr>
        <p:spPr>
          <a:xfrm>
            <a:off x="1325880" y="2185560"/>
            <a:ext cx="4296600" cy="565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80" b="0" u="none" strike="noStrike">
                <a:solidFill>
                  <a:srgbClr val="1B2A4A"/>
                </a:solidFill>
                <a:effectLst/>
                <a:uFillTx/>
                <a:latin typeface="Calibri"/>
                <a:ea typeface="Calibri"/>
              </a:rPr>
              <a:t>Responsabilité — un responsable identifié par actif de données et par modèle</a:t>
            </a:r>
            <a:endParaRPr lang="fr-FR" sz="1080" b="0" u="none" strike="noStrike">
              <a:solidFill>
                <a:srgbClr val="000000"/>
              </a:solidFill>
              <a:effectLst/>
              <a:uFillTx/>
              <a:latin typeface="Arial"/>
            </a:endParaRPr>
          </a:p>
        </p:txBody>
      </p:sp>
      <p:sp>
        <p:nvSpPr>
          <p:cNvPr id="78" name="Shape 7"/>
          <p:cNvSpPr/>
          <p:nvPr/>
        </p:nvSpPr>
        <p:spPr>
          <a:xfrm>
            <a:off x="822960" y="2779920"/>
            <a:ext cx="383040" cy="383040"/>
          </a:xfrm>
          <a:prstGeom prst="ellipse">
            <a:avLst/>
          </a:prstGeom>
          <a:solidFill>
            <a:srgbClr val="1B2A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9" name="Text 8"/>
          <p:cNvSpPr/>
          <p:nvPr/>
        </p:nvSpPr>
        <p:spPr>
          <a:xfrm>
            <a:off x="822960" y="2779920"/>
            <a:ext cx="383040" cy="383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50" b="1" u="none" strike="noStrike">
                <a:solidFill>
                  <a:srgbClr val="FFFFFF"/>
                </a:solidFill>
                <a:effectLst/>
                <a:uFillTx/>
                <a:latin typeface="Calibri"/>
                <a:ea typeface="Calibri"/>
              </a:rPr>
              <a:t>P4</a:t>
            </a:r>
            <a:endParaRPr lang="fr-FR" sz="1050" b="0" u="none" strike="noStrike">
              <a:solidFill>
                <a:srgbClr val="000000"/>
              </a:solidFill>
              <a:effectLst/>
              <a:uFillTx/>
              <a:latin typeface="Arial"/>
            </a:endParaRPr>
          </a:p>
        </p:txBody>
      </p:sp>
      <p:sp>
        <p:nvSpPr>
          <p:cNvPr id="80" name="Text 9"/>
          <p:cNvSpPr/>
          <p:nvPr/>
        </p:nvSpPr>
        <p:spPr>
          <a:xfrm>
            <a:off x="1325880" y="2752200"/>
            <a:ext cx="4296600" cy="565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80" b="0" u="none" strike="noStrike">
                <a:solidFill>
                  <a:srgbClr val="1B2A4A"/>
                </a:solidFill>
                <a:effectLst/>
                <a:uFillTx/>
                <a:latin typeface="Calibri"/>
                <a:ea typeface="Calibri"/>
              </a:rPr>
              <a:t>Qualité — règles mesurables (exactitude, complétude, fraîcheur), auditées régulièrement</a:t>
            </a:r>
            <a:endParaRPr lang="fr-FR" sz="1080" b="0" u="none" strike="noStrike">
              <a:solidFill>
                <a:srgbClr val="000000"/>
              </a:solidFill>
              <a:effectLst/>
              <a:uFillTx/>
              <a:latin typeface="Arial"/>
            </a:endParaRPr>
          </a:p>
        </p:txBody>
      </p:sp>
      <p:sp>
        <p:nvSpPr>
          <p:cNvPr id="81" name="Shape 10"/>
          <p:cNvSpPr/>
          <p:nvPr/>
        </p:nvSpPr>
        <p:spPr>
          <a:xfrm>
            <a:off x="6217920" y="1645920"/>
            <a:ext cx="5348160" cy="2147760"/>
          </a:xfrm>
          <a:prstGeom prst="roundRect">
            <a:avLst>
              <a:gd name="adj" fmla="val 3404"/>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82" name="Text 11"/>
          <p:cNvSpPr/>
          <p:nvPr/>
        </p:nvSpPr>
        <p:spPr>
          <a:xfrm>
            <a:off x="6492240" y="1810440"/>
            <a:ext cx="4799520" cy="327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1C8C68"/>
                </a:solidFill>
                <a:effectLst/>
                <a:uFillTx/>
                <a:latin typeface="Calibri"/>
                <a:ea typeface="Calibri"/>
              </a:rPr>
              <a:t>Confiance utilisateur</a:t>
            </a:r>
            <a:endParaRPr lang="fr-FR" sz="1400" b="0" u="none" strike="noStrike">
              <a:solidFill>
                <a:srgbClr val="000000"/>
              </a:solidFill>
              <a:effectLst/>
              <a:uFillTx/>
              <a:latin typeface="Arial"/>
            </a:endParaRPr>
          </a:p>
        </p:txBody>
      </p:sp>
      <p:sp>
        <p:nvSpPr>
          <p:cNvPr id="83" name="Shape 12"/>
          <p:cNvSpPr/>
          <p:nvPr/>
        </p:nvSpPr>
        <p:spPr>
          <a:xfrm>
            <a:off x="6492240" y="2212920"/>
            <a:ext cx="383040" cy="383040"/>
          </a:xfrm>
          <a:prstGeom prst="ellipse">
            <a:avLst/>
          </a:prstGeom>
          <a:solidFill>
            <a:srgbClr val="1B2A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84" name="Text 13"/>
          <p:cNvSpPr/>
          <p:nvPr/>
        </p:nvSpPr>
        <p:spPr>
          <a:xfrm>
            <a:off x="6492240" y="2212920"/>
            <a:ext cx="383040" cy="383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50" b="1" u="none" strike="noStrike">
                <a:solidFill>
                  <a:srgbClr val="FFFFFF"/>
                </a:solidFill>
                <a:effectLst/>
                <a:uFillTx/>
                <a:latin typeface="Calibri"/>
                <a:ea typeface="Calibri"/>
              </a:rPr>
              <a:t>P2</a:t>
            </a:r>
            <a:endParaRPr lang="fr-FR" sz="1050" b="0" u="none" strike="noStrike">
              <a:solidFill>
                <a:srgbClr val="000000"/>
              </a:solidFill>
              <a:effectLst/>
              <a:uFillTx/>
              <a:latin typeface="Arial"/>
            </a:endParaRPr>
          </a:p>
        </p:txBody>
      </p:sp>
      <p:sp>
        <p:nvSpPr>
          <p:cNvPr id="85" name="Text 14"/>
          <p:cNvSpPr/>
          <p:nvPr/>
        </p:nvSpPr>
        <p:spPr>
          <a:xfrm>
            <a:off x="6995160" y="2185560"/>
            <a:ext cx="4296600" cy="565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80" b="0" u="none" strike="noStrike">
                <a:solidFill>
                  <a:srgbClr val="1B2A4A"/>
                </a:solidFill>
                <a:effectLst/>
                <a:uFillTx/>
                <a:latin typeface="Calibri"/>
                <a:ea typeface="Calibri"/>
              </a:rPr>
              <a:t>Transparence — information claire et gestion du consentement</a:t>
            </a:r>
            <a:endParaRPr lang="fr-FR" sz="1080" b="0" u="none" strike="noStrike">
              <a:solidFill>
                <a:srgbClr val="000000"/>
              </a:solidFill>
              <a:effectLst/>
              <a:uFillTx/>
              <a:latin typeface="Arial"/>
            </a:endParaRPr>
          </a:p>
        </p:txBody>
      </p:sp>
      <p:sp>
        <p:nvSpPr>
          <p:cNvPr id="86" name="Shape 15"/>
          <p:cNvSpPr/>
          <p:nvPr/>
        </p:nvSpPr>
        <p:spPr>
          <a:xfrm>
            <a:off x="6492240" y="2779920"/>
            <a:ext cx="383040" cy="383040"/>
          </a:xfrm>
          <a:prstGeom prst="ellipse">
            <a:avLst/>
          </a:prstGeom>
          <a:solidFill>
            <a:srgbClr val="1B2A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87" name="Text 16"/>
          <p:cNvSpPr/>
          <p:nvPr/>
        </p:nvSpPr>
        <p:spPr>
          <a:xfrm>
            <a:off x="6492240" y="2779920"/>
            <a:ext cx="383040" cy="383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50" b="1" u="none" strike="noStrike">
                <a:solidFill>
                  <a:srgbClr val="FFFFFF"/>
                </a:solidFill>
                <a:effectLst/>
                <a:uFillTx/>
                <a:latin typeface="Calibri"/>
                <a:ea typeface="Calibri"/>
              </a:rPr>
              <a:t>P6</a:t>
            </a:r>
            <a:endParaRPr lang="fr-FR" sz="1050" b="0" u="none" strike="noStrike">
              <a:solidFill>
                <a:srgbClr val="000000"/>
              </a:solidFill>
              <a:effectLst/>
              <a:uFillTx/>
              <a:latin typeface="Arial"/>
            </a:endParaRPr>
          </a:p>
        </p:txBody>
      </p:sp>
      <p:sp>
        <p:nvSpPr>
          <p:cNvPr id="88" name="Text 17"/>
          <p:cNvSpPr/>
          <p:nvPr/>
        </p:nvSpPr>
        <p:spPr>
          <a:xfrm>
            <a:off x="6995160" y="2752200"/>
            <a:ext cx="4296600" cy="565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80" b="0" u="none" strike="noStrike">
                <a:solidFill>
                  <a:srgbClr val="1B2A4A"/>
                </a:solidFill>
                <a:effectLst/>
                <a:uFillTx/>
                <a:latin typeface="Calibri"/>
                <a:ea typeface="Calibri"/>
              </a:rPr>
              <a:t>Minimisation — collecte limitée aux finalités métier</a:t>
            </a:r>
            <a:endParaRPr lang="fr-FR" sz="1080" b="0" u="none" strike="noStrike">
              <a:solidFill>
                <a:srgbClr val="000000"/>
              </a:solidFill>
              <a:effectLst/>
              <a:uFillTx/>
              <a:latin typeface="Arial"/>
            </a:endParaRPr>
          </a:p>
        </p:txBody>
      </p:sp>
      <p:sp>
        <p:nvSpPr>
          <p:cNvPr id="89" name="Shape 18"/>
          <p:cNvSpPr/>
          <p:nvPr/>
        </p:nvSpPr>
        <p:spPr>
          <a:xfrm>
            <a:off x="6492240" y="3346560"/>
            <a:ext cx="383040" cy="383040"/>
          </a:xfrm>
          <a:prstGeom prst="ellipse">
            <a:avLst/>
          </a:prstGeom>
          <a:solidFill>
            <a:srgbClr val="1B2A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0" name="Text 19"/>
          <p:cNvSpPr/>
          <p:nvPr/>
        </p:nvSpPr>
        <p:spPr>
          <a:xfrm>
            <a:off x="6492240" y="3346560"/>
            <a:ext cx="383040" cy="383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50" b="1" u="none" strike="noStrike">
                <a:solidFill>
                  <a:srgbClr val="FFFFFF"/>
                </a:solidFill>
                <a:effectLst/>
                <a:uFillTx/>
                <a:latin typeface="Calibri"/>
                <a:ea typeface="Calibri"/>
              </a:rPr>
              <a:t>P7</a:t>
            </a:r>
            <a:endParaRPr lang="fr-FR" sz="1050" b="0" u="none" strike="noStrike">
              <a:solidFill>
                <a:srgbClr val="000000"/>
              </a:solidFill>
              <a:effectLst/>
              <a:uFillTx/>
              <a:latin typeface="Arial"/>
            </a:endParaRPr>
          </a:p>
        </p:txBody>
      </p:sp>
      <p:sp>
        <p:nvSpPr>
          <p:cNvPr id="91" name="Text 20"/>
          <p:cNvSpPr/>
          <p:nvPr/>
        </p:nvSpPr>
        <p:spPr>
          <a:xfrm>
            <a:off x="6995160" y="3319200"/>
            <a:ext cx="4296600" cy="565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80" b="0" u="none" strike="noStrike">
                <a:solidFill>
                  <a:srgbClr val="1B2A4A"/>
                </a:solidFill>
                <a:effectLst/>
                <a:uFillTx/>
                <a:latin typeface="Calibri"/>
                <a:ea typeface="Calibri"/>
              </a:rPr>
              <a:t>Droits des utilisateurs — accès, modification, suppression, opposition</a:t>
            </a:r>
            <a:endParaRPr lang="fr-FR" sz="1080" b="0" u="none" strike="noStrike">
              <a:solidFill>
                <a:srgbClr val="000000"/>
              </a:solidFill>
              <a:effectLst/>
              <a:uFillTx/>
              <a:latin typeface="Arial"/>
            </a:endParaRPr>
          </a:p>
        </p:txBody>
      </p:sp>
      <p:sp>
        <p:nvSpPr>
          <p:cNvPr id="92" name="Shape 21"/>
          <p:cNvSpPr/>
          <p:nvPr/>
        </p:nvSpPr>
        <p:spPr>
          <a:xfrm>
            <a:off x="548640" y="4023360"/>
            <a:ext cx="5348160" cy="2147760"/>
          </a:xfrm>
          <a:prstGeom prst="roundRect">
            <a:avLst>
              <a:gd name="adj" fmla="val 3404"/>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93" name="Text 22"/>
          <p:cNvSpPr/>
          <p:nvPr/>
        </p:nvSpPr>
        <p:spPr>
          <a:xfrm>
            <a:off x="822960" y="4187880"/>
            <a:ext cx="4799520" cy="327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1C8C68"/>
                </a:solidFill>
                <a:effectLst/>
                <a:uFillTx/>
                <a:latin typeface="Calibri"/>
                <a:ea typeface="Calibri"/>
              </a:rPr>
              <a:t>Sécurité &amp; conformité</a:t>
            </a:r>
            <a:endParaRPr lang="fr-FR" sz="1400" b="0" u="none" strike="noStrike">
              <a:solidFill>
                <a:srgbClr val="000000"/>
              </a:solidFill>
              <a:effectLst/>
              <a:uFillTx/>
              <a:latin typeface="Arial"/>
            </a:endParaRPr>
          </a:p>
        </p:txBody>
      </p:sp>
      <p:sp>
        <p:nvSpPr>
          <p:cNvPr id="94" name="Shape 23"/>
          <p:cNvSpPr/>
          <p:nvPr/>
        </p:nvSpPr>
        <p:spPr>
          <a:xfrm>
            <a:off x="822960" y="4590360"/>
            <a:ext cx="383040" cy="383040"/>
          </a:xfrm>
          <a:prstGeom prst="ellipse">
            <a:avLst/>
          </a:prstGeom>
          <a:solidFill>
            <a:srgbClr val="1B2A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5" name="Text 24"/>
          <p:cNvSpPr/>
          <p:nvPr/>
        </p:nvSpPr>
        <p:spPr>
          <a:xfrm>
            <a:off x="822960" y="4590360"/>
            <a:ext cx="383040" cy="383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50" b="1" u="none" strike="noStrike">
                <a:solidFill>
                  <a:srgbClr val="FFFFFF"/>
                </a:solidFill>
                <a:effectLst/>
                <a:uFillTx/>
                <a:latin typeface="Calibri"/>
                <a:ea typeface="Calibri"/>
              </a:rPr>
              <a:t>P3</a:t>
            </a:r>
            <a:endParaRPr lang="fr-FR" sz="1050" b="0" u="none" strike="noStrike">
              <a:solidFill>
                <a:srgbClr val="000000"/>
              </a:solidFill>
              <a:effectLst/>
              <a:uFillTx/>
              <a:latin typeface="Arial"/>
            </a:endParaRPr>
          </a:p>
        </p:txBody>
      </p:sp>
      <p:sp>
        <p:nvSpPr>
          <p:cNvPr id="96" name="Text 25"/>
          <p:cNvSpPr/>
          <p:nvPr/>
        </p:nvSpPr>
        <p:spPr>
          <a:xfrm>
            <a:off x="1325880" y="4563000"/>
            <a:ext cx="4296600" cy="565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80" b="0" u="none" strike="noStrike">
                <a:solidFill>
                  <a:srgbClr val="1B2A4A"/>
                </a:solidFill>
                <a:effectLst/>
                <a:uFillTx/>
                <a:latin typeface="Calibri"/>
                <a:ea typeface="Calibri"/>
              </a:rPr>
              <a:t>Sécurité — chiffrement, contrôle d'accès par rôle, protocoles PCI-DSS</a:t>
            </a:r>
            <a:endParaRPr lang="fr-FR" sz="1080" b="0" u="none" strike="noStrike">
              <a:solidFill>
                <a:srgbClr val="000000"/>
              </a:solidFill>
              <a:effectLst/>
              <a:uFillTx/>
              <a:latin typeface="Arial"/>
            </a:endParaRPr>
          </a:p>
        </p:txBody>
      </p:sp>
      <p:sp>
        <p:nvSpPr>
          <p:cNvPr id="97" name="Shape 26"/>
          <p:cNvSpPr/>
          <p:nvPr/>
        </p:nvSpPr>
        <p:spPr>
          <a:xfrm>
            <a:off x="822960" y="5157360"/>
            <a:ext cx="383040" cy="383040"/>
          </a:xfrm>
          <a:prstGeom prst="ellipse">
            <a:avLst/>
          </a:prstGeom>
          <a:solidFill>
            <a:srgbClr val="1B2A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8" name="Text 27"/>
          <p:cNvSpPr/>
          <p:nvPr/>
        </p:nvSpPr>
        <p:spPr>
          <a:xfrm>
            <a:off x="822960" y="5157360"/>
            <a:ext cx="383040" cy="383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50" b="1" u="none" strike="noStrike">
                <a:solidFill>
                  <a:srgbClr val="FFFFFF"/>
                </a:solidFill>
                <a:effectLst/>
                <a:uFillTx/>
                <a:latin typeface="Calibri"/>
                <a:ea typeface="Calibri"/>
              </a:rPr>
              <a:t>P5</a:t>
            </a:r>
            <a:endParaRPr lang="fr-FR" sz="1050" b="0" u="none" strike="noStrike">
              <a:solidFill>
                <a:srgbClr val="000000"/>
              </a:solidFill>
              <a:effectLst/>
              <a:uFillTx/>
              <a:latin typeface="Arial"/>
            </a:endParaRPr>
          </a:p>
        </p:txBody>
      </p:sp>
      <p:sp>
        <p:nvSpPr>
          <p:cNvPr id="99" name="Text 28"/>
          <p:cNvSpPr/>
          <p:nvPr/>
        </p:nvSpPr>
        <p:spPr>
          <a:xfrm>
            <a:off x="1325880" y="5129640"/>
            <a:ext cx="4296600" cy="565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80" b="0" u="none" strike="noStrike">
                <a:solidFill>
                  <a:srgbClr val="1B2A4A"/>
                </a:solidFill>
                <a:effectLst/>
                <a:uFillTx/>
                <a:latin typeface="Calibri"/>
                <a:ea typeface="Calibri"/>
              </a:rPr>
              <a:t>Conformité — GDPR, CCPA, PCI-DSS et réglementations locales, veille continue</a:t>
            </a:r>
            <a:endParaRPr lang="fr-FR" sz="1080" b="0" u="none" strike="noStrike">
              <a:solidFill>
                <a:srgbClr val="000000"/>
              </a:solidFill>
              <a:effectLst/>
              <a:uFillTx/>
              <a:latin typeface="Arial"/>
            </a:endParaRPr>
          </a:p>
        </p:txBody>
      </p:sp>
      <p:sp>
        <p:nvSpPr>
          <p:cNvPr id="100" name="Shape 29"/>
          <p:cNvSpPr/>
          <p:nvPr/>
        </p:nvSpPr>
        <p:spPr>
          <a:xfrm>
            <a:off x="6217920" y="4023360"/>
            <a:ext cx="5348160" cy="2147760"/>
          </a:xfrm>
          <a:prstGeom prst="roundRect">
            <a:avLst>
              <a:gd name="adj" fmla="val 3404"/>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01" name="Text 30"/>
          <p:cNvSpPr/>
          <p:nvPr/>
        </p:nvSpPr>
        <p:spPr>
          <a:xfrm>
            <a:off x="6492240" y="4187880"/>
            <a:ext cx="4799520" cy="327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1C8C68"/>
                </a:solidFill>
                <a:effectLst/>
                <a:uFillTx/>
                <a:latin typeface="Calibri"/>
                <a:ea typeface="Calibri"/>
              </a:rPr>
              <a:t>IA responsable &amp; amélioration continue</a:t>
            </a:r>
            <a:endParaRPr lang="fr-FR" sz="1400" b="0" u="none" strike="noStrike">
              <a:solidFill>
                <a:srgbClr val="000000"/>
              </a:solidFill>
              <a:effectLst/>
              <a:uFillTx/>
              <a:latin typeface="Arial"/>
            </a:endParaRPr>
          </a:p>
        </p:txBody>
      </p:sp>
      <p:sp>
        <p:nvSpPr>
          <p:cNvPr id="102" name="Shape 31"/>
          <p:cNvSpPr/>
          <p:nvPr/>
        </p:nvSpPr>
        <p:spPr>
          <a:xfrm>
            <a:off x="6492240" y="4590360"/>
            <a:ext cx="383040" cy="383040"/>
          </a:xfrm>
          <a:prstGeom prst="ellipse">
            <a:avLst/>
          </a:prstGeom>
          <a:solidFill>
            <a:srgbClr val="1B2A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03" name="Text 32"/>
          <p:cNvSpPr/>
          <p:nvPr/>
        </p:nvSpPr>
        <p:spPr>
          <a:xfrm>
            <a:off x="6492240" y="4590360"/>
            <a:ext cx="383040" cy="383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50" b="1" u="none" strike="noStrike">
                <a:solidFill>
                  <a:srgbClr val="FFFFFF"/>
                </a:solidFill>
                <a:effectLst/>
                <a:uFillTx/>
                <a:latin typeface="Calibri"/>
                <a:ea typeface="Calibri"/>
              </a:rPr>
              <a:t>P8</a:t>
            </a:r>
            <a:endParaRPr lang="fr-FR" sz="1050" b="0" u="none" strike="noStrike">
              <a:solidFill>
                <a:srgbClr val="000000"/>
              </a:solidFill>
              <a:effectLst/>
              <a:uFillTx/>
              <a:latin typeface="Arial"/>
            </a:endParaRPr>
          </a:p>
        </p:txBody>
      </p:sp>
      <p:sp>
        <p:nvSpPr>
          <p:cNvPr id="104" name="Text 33"/>
          <p:cNvSpPr/>
          <p:nvPr/>
        </p:nvSpPr>
        <p:spPr>
          <a:xfrm>
            <a:off x="6995160" y="4563000"/>
            <a:ext cx="4296600" cy="565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80" b="0" u="none" strike="noStrike">
                <a:solidFill>
                  <a:srgbClr val="1B2A4A"/>
                </a:solidFill>
                <a:effectLst/>
                <a:uFillTx/>
                <a:latin typeface="Calibri"/>
                <a:ea typeface="Calibri"/>
              </a:rPr>
              <a:t>Éthique &amp; gouvernance IA — traçabilité, biais, explicabilité</a:t>
            </a:r>
            <a:endParaRPr lang="fr-FR" sz="1080" b="0" u="none" strike="noStrike">
              <a:solidFill>
                <a:srgbClr val="000000"/>
              </a:solidFill>
              <a:effectLst/>
              <a:uFillTx/>
              <a:latin typeface="Arial"/>
            </a:endParaRPr>
          </a:p>
        </p:txBody>
      </p:sp>
      <p:sp>
        <p:nvSpPr>
          <p:cNvPr id="105" name="Shape 34"/>
          <p:cNvSpPr/>
          <p:nvPr/>
        </p:nvSpPr>
        <p:spPr>
          <a:xfrm>
            <a:off x="6492240" y="5157360"/>
            <a:ext cx="383040" cy="383040"/>
          </a:xfrm>
          <a:prstGeom prst="ellipse">
            <a:avLst/>
          </a:prstGeom>
          <a:solidFill>
            <a:srgbClr val="1B2A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06" name="Text 35"/>
          <p:cNvSpPr/>
          <p:nvPr/>
        </p:nvSpPr>
        <p:spPr>
          <a:xfrm>
            <a:off x="6492240" y="5157360"/>
            <a:ext cx="383040" cy="383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50" b="1" u="none" strike="noStrike">
                <a:solidFill>
                  <a:srgbClr val="FFFFFF"/>
                </a:solidFill>
                <a:effectLst/>
                <a:uFillTx/>
                <a:latin typeface="Calibri"/>
                <a:ea typeface="Calibri"/>
              </a:rPr>
              <a:t>P9</a:t>
            </a:r>
            <a:endParaRPr lang="fr-FR" sz="1050" b="0" u="none" strike="noStrike">
              <a:solidFill>
                <a:srgbClr val="000000"/>
              </a:solidFill>
              <a:effectLst/>
              <a:uFillTx/>
              <a:latin typeface="Arial"/>
            </a:endParaRPr>
          </a:p>
        </p:txBody>
      </p:sp>
      <p:sp>
        <p:nvSpPr>
          <p:cNvPr id="107" name="Text 36"/>
          <p:cNvSpPr/>
          <p:nvPr/>
        </p:nvSpPr>
        <p:spPr>
          <a:xfrm>
            <a:off x="6995160" y="5129640"/>
            <a:ext cx="4296600" cy="565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80" b="0" u="none" strike="noStrike">
                <a:solidFill>
                  <a:srgbClr val="1B2A4A"/>
                </a:solidFill>
                <a:effectLst/>
                <a:uFillTx/>
                <a:latin typeface="Calibri"/>
                <a:ea typeface="Calibri"/>
              </a:rPr>
              <a:t>Amélioration continue — revues périodiques alignées sur la méthodologie DMAT</a:t>
            </a:r>
            <a:endParaRPr lang="fr-FR" sz="1080" b="0" u="none" strike="noStrike">
              <a:solidFill>
                <a:srgbClr val="000000"/>
              </a:solidFill>
              <a:effectLst/>
              <a:uFillTx/>
              <a:latin typeface="Arial"/>
            </a:endParaRPr>
          </a:p>
        </p:txBody>
      </p:sp>
      <p:sp>
        <p:nvSpPr>
          <p:cNvPr id="108" name="Text 37"/>
          <p:cNvSpPr/>
          <p:nvPr/>
        </p:nvSpPr>
        <p:spPr>
          <a:xfrm>
            <a:off x="548640" y="6473880"/>
            <a:ext cx="86857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8493A8"/>
                </a:solidFill>
                <a:effectLst/>
                <a:uFillTx/>
                <a:latin typeface="Calibri"/>
                <a:ea typeface="Calibri"/>
              </a:rPr>
              <a:t>Source : [D21] §2.1.3 — principes issus de [R4]</a:t>
            </a:r>
            <a:endParaRPr lang="fr-FR" sz="950" b="0" u="none" strike="noStrike">
              <a:solidFill>
                <a:srgbClr val="000000"/>
              </a:solidFill>
              <a:effectLst/>
              <a:uFillTx/>
              <a:latin typeface="Arial"/>
            </a:endParaRPr>
          </a:p>
        </p:txBody>
      </p:sp>
      <p:sp>
        <p:nvSpPr>
          <p:cNvPr id="109" name="Text 38"/>
          <p:cNvSpPr/>
          <p:nvPr/>
        </p:nvSpPr>
        <p:spPr>
          <a:xfrm>
            <a:off x="11003040" y="6473880"/>
            <a:ext cx="8218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50" b="0" u="none" strike="noStrike">
                <a:solidFill>
                  <a:srgbClr val="8493A8"/>
                </a:solidFill>
                <a:effectLst/>
                <a:uFillTx/>
                <a:latin typeface="Calibri"/>
                <a:ea typeface="Calibri"/>
              </a:rPr>
              <a:t>4 / 10</a:t>
            </a:r>
            <a:endParaRPr lang="fr-FR"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4F7"/>
        </a:solidFill>
      </p:bgPr>
    </p:bg>
    <p:spTree>
      <p:nvGrpSpPr>
        <p:cNvPr id="1" name=""/>
        <p:cNvGrpSpPr/>
        <p:nvPr/>
      </p:nvGrpSpPr>
      <p:grpSpPr>
        <a:xfrm>
          <a:off x="0" y="0"/>
          <a:ext cx="0" cy="0"/>
          <a:chOff x="0" y="0"/>
          <a:chExt cx="0" cy="0"/>
        </a:xfrm>
      </p:grpSpPr>
      <p:sp>
        <p:nvSpPr>
          <p:cNvPr id="110" name="Text 0"/>
          <p:cNvSpPr/>
          <p:nvPr/>
        </p:nvSpPr>
        <p:spPr>
          <a:xfrm>
            <a:off x="548640" y="384120"/>
            <a:ext cx="731412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201" strike="noStrike">
                <a:solidFill>
                  <a:srgbClr val="1C8C68"/>
                </a:solidFill>
                <a:effectLst/>
                <a:uFillTx/>
                <a:latin typeface="Calibri"/>
                <a:ea typeface="Calibri"/>
              </a:rPr>
              <a:t>ORGANISATION</a:t>
            </a:r>
            <a:endParaRPr lang="fr-FR" sz="1200" b="0" u="none" strike="noStrike">
              <a:solidFill>
                <a:srgbClr val="000000"/>
              </a:solidFill>
              <a:effectLst/>
              <a:uFillTx/>
              <a:latin typeface="Arial"/>
            </a:endParaRPr>
          </a:p>
        </p:txBody>
      </p:sp>
      <p:sp>
        <p:nvSpPr>
          <p:cNvPr id="111" name="Text 1"/>
          <p:cNvSpPr/>
          <p:nvPr/>
        </p:nvSpPr>
        <p:spPr>
          <a:xfrm>
            <a:off x="548640" y="658440"/>
            <a:ext cx="9508680" cy="8676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fr-FR" sz="2800" b="1" u="none" strike="noStrike">
                <a:solidFill>
                  <a:srgbClr val="1B2A4A"/>
                </a:solidFill>
                <a:effectLst/>
                <a:uFillTx/>
                <a:latin typeface="Cambria"/>
                <a:ea typeface="Cambria"/>
              </a:rPr>
              <a:t>Un modèle Center of Excellence, adapté à Spotify</a:t>
            </a:r>
            <a:endParaRPr lang="fr-FR" sz="2800" b="0" u="none" strike="noStrike">
              <a:solidFill>
                <a:srgbClr val="000000"/>
              </a:solidFill>
              <a:effectLst/>
              <a:uFillTx/>
              <a:latin typeface="Arial"/>
            </a:endParaRPr>
          </a:p>
        </p:txBody>
      </p:sp>
      <p:pic>
        <p:nvPicPr>
          <p:cNvPr id="112" name="Image 0" descr="icons/icon_users.png"/>
          <p:cNvPicPr/>
          <p:nvPr/>
        </p:nvPicPr>
        <p:blipFill>
          <a:blip r:embed="rId1"/>
          <a:stretch/>
        </p:blipFill>
        <p:spPr>
          <a:xfrm>
            <a:off x="11140200" y="365760"/>
            <a:ext cx="657360" cy="657360"/>
          </a:xfrm>
          <a:prstGeom prst="rect">
            <a:avLst/>
          </a:prstGeom>
          <a:noFill/>
          <a:ln w="0">
            <a:noFill/>
          </a:ln>
        </p:spPr>
      </p:pic>
      <p:sp>
        <p:nvSpPr>
          <p:cNvPr id="113" name="Shape 2"/>
          <p:cNvSpPr/>
          <p:nvPr/>
        </p:nvSpPr>
        <p:spPr>
          <a:xfrm>
            <a:off x="548640" y="1691640"/>
            <a:ext cx="4113720" cy="4570920"/>
          </a:xfrm>
          <a:prstGeom prst="roundRect">
            <a:avLst>
              <a:gd name="adj" fmla="val 1778"/>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14" name="Text 3"/>
          <p:cNvSpPr/>
          <p:nvPr/>
        </p:nvSpPr>
        <p:spPr>
          <a:xfrm>
            <a:off x="822960" y="1920240"/>
            <a:ext cx="356508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1C8C68"/>
                </a:solidFill>
                <a:effectLst/>
                <a:uFillTx/>
                <a:latin typeface="Calibri"/>
                <a:ea typeface="Calibri"/>
              </a:rPr>
              <a:t>Le modèle</a:t>
            </a:r>
            <a:endParaRPr lang="fr-FR" sz="1300" b="0" u="none" strike="noStrike">
              <a:solidFill>
                <a:srgbClr val="000000"/>
              </a:solidFill>
              <a:effectLst/>
              <a:uFillTx/>
              <a:latin typeface="Arial"/>
            </a:endParaRPr>
          </a:p>
        </p:txBody>
      </p:sp>
      <p:sp>
        <p:nvSpPr>
          <p:cNvPr id="115" name="Text 4"/>
          <p:cNvSpPr/>
          <p:nvPr/>
        </p:nvSpPr>
        <p:spPr>
          <a:xfrm>
            <a:off x="822960" y="2249280"/>
            <a:ext cx="3565080" cy="1050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50" b="0" u="none" strike="noStrike">
                <a:solidFill>
                  <a:srgbClr val="1B2A4A"/>
                </a:solidFill>
                <a:effectLst/>
                <a:uFillTx/>
                <a:latin typeface="Calibri"/>
                <a:ea typeface="Calibri"/>
              </a:rPr>
              <a:t>Gouvernance centralisée (CDO, DGC) combinée à une autonomie départementale (Data Owners par métier).</a:t>
            </a:r>
            <a:endParaRPr lang="fr-FR" sz="1150" b="0" u="none" strike="noStrike">
              <a:solidFill>
                <a:srgbClr val="000000"/>
              </a:solidFill>
              <a:effectLst/>
              <a:uFillTx/>
              <a:latin typeface="Arial"/>
            </a:endParaRPr>
          </a:p>
        </p:txBody>
      </p:sp>
      <p:sp>
        <p:nvSpPr>
          <p:cNvPr id="116" name="Text 5"/>
          <p:cNvSpPr/>
          <p:nvPr/>
        </p:nvSpPr>
        <p:spPr>
          <a:xfrm>
            <a:off x="822960" y="3401640"/>
            <a:ext cx="356508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1C8C68"/>
                </a:solidFill>
                <a:effectLst/>
                <a:uFillTx/>
                <a:latin typeface="Calibri"/>
                <a:ea typeface="Calibri"/>
              </a:rPr>
              <a:t>Deux écarts assumés</a:t>
            </a:r>
            <a:endParaRPr lang="fr-FR" sz="1300" b="0" u="none" strike="noStrike">
              <a:solidFill>
                <a:srgbClr val="000000"/>
              </a:solidFill>
              <a:effectLst/>
              <a:uFillTx/>
              <a:latin typeface="Arial"/>
            </a:endParaRPr>
          </a:p>
        </p:txBody>
      </p:sp>
      <p:sp>
        <p:nvSpPr>
          <p:cNvPr id="117" name="Text 6"/>
          <p:cNvSpPr/>
          <p:nvPr/>
        </p:nvSpPr>
        <p:spPr>
          <a:xfrm>
            <a:off x="822960" y="3730680"/>
            <a:ext cx="3565080" cy="1050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50" b="0" u="none" strike="noStrike">
                <a:solidFill>
                  <a:srgbClr val="1B2A4A"/>
                </a:solidFill>
                <a:effectLst/>
                <a:uFillTx/>
                <a:latin typeface="Calibri"/>
                <a:ea typeface="Calibri"/>
              </a:rPr>
              <a:t>Infrastructure technique maintenue dans Engineering ; autorité de conformité (DPO/Legal) séparée de l'autorité de gouvernance (CDO/DGC).</a:t>
            </a:r>
            <a:endParaRPr lang="fr-FR" sz="1150" b="0" u="none" strike="noStrike">
              <a:solidFill>
                <a:srgbClr val="000000"/>
              </a:solidFill>
              <a:effectLst/>
              <a:uFillTx/>
              <a:latin typeface="Arial"/>
            </a:endParaRPr>
          </a:p>
        </p:txBody>
      </p:sp>
      <p:sp>
        <p:nvSpPr>
          <p:cNvPr id="118" name="Text 7"/>
          <p:cNvSpPr/>
          <p:nvPr/>
        </p:nvSpPr>
        <p:spPr>
          <a:xfrm>
            <a:off x="822960" y="4883040"/>
            <a:ext cx="356508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00" b="1" u="none" strike="noStrike">
                <a:solidFill>
                  <a:srgbClr val="1C8C68"/>
                </a:solidFill>
                <a:effectLst/>
                <a:uFillTx/>
                <a:latin typeface="Calibri"/>
                <a:ea typeface="Calibri"/>
              </a:rPr>
              <a:t>Le mécanisme clé</a:t>
            </a:r>
            <a:endParaRPr lang="fr-FR" sz="1300" b="0" u="none" strike="noStrike">
              <a:solidFill>
                <a:srgbClr val="000000"/>
              </a:solidFill>
              <a:effectLst/>
              <a:uFillTx/>
              <a:latin typeface="Arial"/>
            </a:endParaRPr>
          </a:p>
        </p:txBody>
      </p:sp>
      <p:sp>
        <p:nvSpPr>
          <p:cNvPr id="119" name="Text 8"/>
          <p:cNvSpPr/>
          <p:nvPr/>
        </p:nvSpPr>
        <p:spPr>
          <a:xfrm>
            <a:off x="822960" y="5212080"/>
            <a:ext cx="3565080" cy="1050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50" b="0" u="none" strike="noStrike">
                <a:solidFill>
                  <a:srgbClr val="1B2A4A"/>
                </a:solidFill>
                <a:effectLst/>
                <a:uFillTx/>
                <a:latin typeface="Calibri"/>
                <a:ea typeface="Calibri"/>
              </a:rPr>
              <a:t>Double rattachement des Data Stewards — fonctionnel au CDO, organisationnel au département — principal levier contre le cloisonnement (E1).</a:t>
            </a:r>
            <a:endParaRPr lang="fr-FR" sz="1150" b="0" u="none" strike="noStrike">
              <a:solidFill>
                <a:srgbClr val="000000"/>
              </a:solidFill>
              <a:effectLst/>
              <a:uFillTx/>
              <a:latin typeface="Arial"/>
            </a:endParaRPr>
          </a:p>
        </p:txBody>
      </p:sp>
      <p:pic>
        <p:nvPicPr>
          <p:cNvPr id="120" name="Image 1" descr="assets/orgchart.png"/>
          <p:cNvPicPr/>
          <p:nvPr/>
        </p:nvPicPr>
        <p:blipFill>
          <a:blip r:embed="rId2"/>
          <a:stretch/>
        </p:blipFill>
        <p:spPr>
          <a:xfrm>
            <a:off x="4892040" y="1691640"/>
            <a:ext cx="6765480" cy="4119120"/>
          </a:xfrm>
          <a:prstGeom prst="rect">
            <a:avLst/>
          </a:prstGeom>
          <a:noFill/>
          <a:ln w="0">
            <a:noFill/>
          </a:ln>
        </p:spPr>
      </p:pic>
      <p:sp>
        <p:nvSpPr>
          <p:cNvPr id="121" name="Text 9"/>
          <p:cNvSpPr/>
          <p:nvPr/>
        </p:nvSpPr>
        <p:spPr>
          <a:xfrm>
            <a:off x="4892040" y="5884920"/>
            <a:ext cx="6765480" cy="31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000" b="0" i="1" u="none" strike="noStrike">
                <a:solidFill>
                  <a:srgbClr val="8493A8"/>
                </a:solidFill>
                <a:effectLst/>
                <a:uFillTx/>
                <a:latin typeface="Calibri"/>
                <a:ea typeface="Calibri"/>
              </a:rPr>
              <a:t>Trait plein = rattachement hiérarchique · Trait pointillé = rattachement fonctionnel / transverse</a:t>
            </a:r>
            <a:endParaRPr lang="fr-FR" sz="1000" b="0" u="none" strike="noStrike">
              <a:solidFill>
                <a:srgbClr val="000000"/>
              </a:solidFill>
              <a:effectLst/>
              <a:uFillTx/>
              <a:latin typeface="Arial"/>
            </a:endParaRPr>
          </a:p>
        </p:txBody>
      </p:sp>
      <p:sp>
        <p:nvSpPr>
          <p:cNvPr id="122" name="Text 10"/>
          <p:cNvSpPr/>
          <p:nvPr/>
        </p:nvSpPr>
        <p:spPr>
          <a:xfrm>
            <a:off x="548640" y="6473880"/>
            <a:ext cx="86857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8493A8"/>
                </a:solidFill>
                <a:effectLst/>
                <a:uFillTx/>
                <a:latin typeface="Calibri"/>
                <a:ea typeface="Calibri"/>
              </a:rPr>
              <a:t>Source : [D22] Roles and Responsibilities Organizational Chart</a:t>
            </a:r>
            <a:endParaRPr lang="fr-FR" sz="950" b="0" u="none" strike="noStrike">
              <a:solidFill>
                <a:srgbClr val="000000"/>
              </a:solidFill>
              <a:effectLst/>
              <a:uFillTx/>
              <a:latin typeface="Arial"/>
            </a:endParaRPr>
          </a:p>
        </p:txBody>
      </p:sp>
      <p:sp>
        <p:nvSpPr>
          <p:cNvPr id="123" name="Text 11"/>
          <p:cNvSpPr/>
          <p:nvPr/>
        </p:nvSpPr>
        <p:spPr>
          <a:xfrm>
            <a:off x="11003040" y="6473880"/>
            <a:ext cx="8218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50" b="0" u="none" strike="noStrike">
                <a:solidFill>
                  <a:srgbClr val="8493A8"/>
                </a:solidFill>
                <a:effectLst/>
                <a:uFillTx/>
                <a:latin typeface="Calibri"/>
                <a:ea typeface="Calibri"/>
              </a:rPr>
              <a:t>5 / 10</a:t>
            </a:r>
            <a:endParaRPr lang="fr-FR"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4F7"/>
        </a:solidFill>
      </p:bgPr>
    </p:bg>
    <p:spTree>
      <p:nvGrpSpPr>
        <p:cNvPr id="1" name=""/>
        <p:cNvGrpSpPr/>
        <p:nvPr/>
      </p:nvGrpSpPr>
      <p:grpSpPr>
        <a:xfrm>
          <a:off x="0" y="0"/>
          <a:ext cx="0" cy="0"/>
          <a:chOff x="0" y="0"/>
          <a:chExt cx="0" cy="0"/>
        </a:xfrm>
      </p:grpSpPr>
      <p:sp>
        <p:nvSpPr>
          <p:cNvPr id="124" name="Text 0"/>
          <p:cNvSpPr/>
          <p:nvPr/>
        </p:nvSpPr>
        <p:spPr>
          <a:xfrm>
            <a:off x="548640" y="384120"/>
            <a:ext cx="731412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201" strike="noStrike">
                <a:solidFill>
                  <a:srgbClr val="1C8C68"/>
                </a:solidFill>
                <a:effectLst/>
                <a:uFillTx/>
                <a:latin typeface="Calibri"/>
                <a:ea typeface="Calibri"/>
              </a:rPr>
              <a:t>CONFORMITÉ</a:t>
            </a:r>
            <a:endParaRPr lang="fr-FR" sz="1200" b="0" u="none" strike="noStrike">
              <a:solidFill>
                <a:srgbClr val="000000"/>
              </a:solidFill>
              <a:effectLst/>
              <a:uFillTx/>
              <a:latin typeface="Arial"/>
            </a:endParaRPr>
          </a:p>
        </p:txBody>
      </p:sp>
      <p:sp>
        <p:nvSpPr>
          <p:cNvPr id="125" name="Text 1"/>
          <p:cNvSpPr/>
          <p:nvPr/>
        </p:nvSpPr>
        <p:spPr>
          <a:xfrm>
            <a:off x="548640" y="658440"/>
            <a:ext cx="9508680" cy="8676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fr-FR" sz="2800" b="1" u="none" strike="noStrike">
                <a:solidFill>
                  <a:srgbClr val="1B2A4A"/>
                </a:solidFill>
                <a:effectLst/>
                <a:uFillTx/>
                <a:latin typeface="Cambria"/>
                <a:ea typeface="Cambria"/>
              </a:rPr>
              <a:t>Un socle réglementaire structuré cadre par cadre</a:t>
            </a:r>
            <a:endParaRPr lang="fr-FR" sz="2800" b="0" u="none" strike="noStrike">
              <a:solidFill>
                <a:srgbClr val="000000"/>
              </a:solidFill>
              <a:effectLst/>
              <a:uFillTx/>
              <a:latin typeface="Arial"/>
            </a:endParaRPr>
          </a:p>
        </p:txBody>
      </p:sp>
      <p:pic>
        <p:nvPicPr>
          <p:cNvPr id="126" name="Image 0" descr="icons/icon_lock.png"/>
          <p:cNvPicPr/>
          <p:nvPr/>
        </p:nvPicPr>
        <p:blipFill>
          <a:blip r:embed="rId1"/>
          <a:stretch/>
        </p:blipFill>
        <p:spPr>
          <a:xfrm>
            <a:off x="11140200" y="365760"/>
            <a:ext cx="657360" cy="657360"/>
          </a:xfrm>
          <a:prstGeom prst="rect">
            <a:avLst/>
          </a:prstGeom>
          <a:noFill/>
          <a:ln w="0">
            <a:noFill/>
          </a:ln>
        </p:spPr>
      </p:pic>
      <p:sp>
        <p:nvSpPr>
          <p:cNvPr id="127" name="Shape 2"/>
          <p:cNvSpPr/>
          <p:nvPr/>
        </p:nvSpPr>
        <p:spPr>
          <a:xfrm>
            <a:off x="548640" y="1691640"/>
            <a:ext cx="3610800" cy="3702240"/>
          </a:xfrm>
          <a:prstGeom prst="roundRect">
            <a:avLst>
              <a:gd name="adj" fmla="val 2025"/>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28" name="Shape 3"/>
          <p:cNvSpPr/>
          <p:nvPr/>
        </p:nvSpPr>
        <p:spPr>
          <a:xfrm>
            <a:off x="822960" y="1920240"/>
            <a:ext cx="3062160" cy="456120"/>
          </a:xfrm>
          <a:prstGeom prst="roundRect">
            <a:avLst>
              <a:gd name="adj" fmla="val 12000"/>
            </a:avLst>
          </a:prstGeom>
          <a:solidFill>
            <a:srgbClr val="1B2A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29" name="Text 4"/>
          <p:cNvSpPr/>
          <p:nvPr/>
        </p:nvSpPr>
        <p:spPr>
          <a:xfrm>
            <a:off x="822960" y="1920240"/>
            <a:ext cx="3062160" cy="456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FFFFFF"/>
                </a:solidFill>
                <a:effectLst/>
                <a:uFillTx/>
                <a:latin typeface="Calibri"/>
                <a:ea typeface="Calibri"/>
              </a:rPr>
              <a:t>GDPR</a:t>
            </a:r>
            <a:endParaRPr lang="fr-FR" sz="1600" b="0" u="none" strike="noStrike">
              <a:solidFill>
                <a:srgbClr val="000000"/>
              </a:solidFill>
              <a:effectLst/>
              <a:uFillTx/>
              <a:latin typeface="Arial"/>
            </a:endParaRPr>
          </a:p>
        </p:txBody>
      </p:sp>
      <p:sp>
        <p:nvSpPr>
          <p:cNvPr id="130" name="Text 5"/>
          <p:cNvSpPr/>
          <p:nvPr/>
        </p:nvSpPr>
        <p:spPr>
          <a:xfrm>
            <a:off x="822960" y="2560320"/>
            <a:ext cx="3062160" cy="260496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1001"/>
              </a:spcAft>
              <a:buClr>
                <a:srgbClr val="1B2A4A"/>
              </a:buClr>
              <a:buFont typeface="Symbol" charset="2"/>
              <a:buChar char=""/>
            </a:pPr>
            <a:r>
              <a:rPr lang="fr-FR" sz="1150" b="0" u="none" strike="noStrike">
                <a:solidFill>
                  <a:srgbClr val="1B2A4A"/>
                </a:solidFill>
                <a:effectLst/>
                <a:uFillTx/>
                <a:latin typeface="Calibri"/>
                <a:ea typeface="Calibri"/>
              </a:rPr>
              <a:t>Traitement licite, loyal et transparent</a:t>
            </a:r>
            <a:endParaRPr lang="fr-FR" sz="1150" b="0" u="none" strike="noStrike">
              <a:solidFill>
                <a:srgbClr val="000000"/>
              </a:solidFill>
              <a:effectLst/>
              <a:uFillTx/>
              <a:latin typeface="Arial"/>
            </a:endParaRPr>
          </a:p>
          <a:p>
            <a:pPr marL="177840" indent="-177840" defTabSz="914400">
              <a:lnSpc>
                <a:spcPct val="100000"/>
              </a:lnSpc>
              <a:spcAft>
                <a:spcPts val="1001"/>
              </a:spcAft>
              <a:buClr>
                <a:srgbClr val="1B2A4A"/>
              </a:buClr>
              <a:buFont typeface="Symbol" charset="2"/>
              <a:buChar char=""/>
            </a:pPr>
            <a:r>
              <a:rPr lang="fr-FR" sz="1150" b="0" u="none" strike="noStrike">
                <a:solidFill>
                  <a:srgbClr val="1B2A4A"/>
                </a:solidFill>
                <a:effectLst/>
                <a:uFillTx/>
                <a:latin typeface="Calibri"/>
                <a:ea typeface="Calibri"/>
              </a:rPr>
              <a:t>Droits d'accès, rectification, suppression</a:t>
            </a:r>
            <a:endParaRPr lang="fr-FR" sz="1150" b="0" u="none" strike="noStrike">
              <a:solidFill>
                <a:srgbClr val="000000"/>
              </a:solidFill>
              <a:effectLst/>
              <a:uFillTx/>
              <a:latin typeface="Arial"/>
            </a:endParaRPr>
          </a:p>
          <a:p>
            <a:pPr marL="177840" indent="-177840" defTabSz="914400">
              <a:lnSpc>
                <a:spcPct val="100000"/>
              </a:lnSpc>
              <a:spcAft>
                <a:spcPts val="1001"/>
              </a:spcAft>
              <a:buClr>
                <a:srgbClr val="1B2A4A"/>
              </a:buClr>
              <a:buFont typeface="Symbol" charset="2"/>
              <a:buChar char=""/>
            </a:pPr>
            <a:r>
              <a:rPr lang="fr-FR" sz="1150" b="0" u="none" strike="noStrike">
                <a:solidFill>
                  <a:srgbClr val="1B2A4A"/>
                </a:solidFill>
                <a:effectLst/>
                <a:uFillTx/>
                <a:latin typeface="Calibri"/>
                <a:ea typeface="Calibri"/>
              </a:rPr>
              <a:t>Consentement explicite préalable</a:t>
            </a:r>
            <a:endParaRPr lang="fr-FR" sz="1150" b="0" u="none" strike="noStrike">
              <a:solidFill>
                <a:srgbClr val="000000"/>
              </a:solidFill>
              <a:effectLst/>
              <a:uFillTx/>
              <a:latin typeface="Arial"/>
            </a:endParaRPr>
          </a:p>
          <a:p>
            <a:pPr marL="177840" indent="-177840" defTabSz="914400">
              <a:lnSpc>
                <a:spcPct val="100000"/>
              </a:lnSpc>
              <a:spcAft>
                <a:spcPts val="1001"/>
              </a:spcAft>
              <a:buClr>
                <a:srgbClr val="1B2A4A"/>
              </a:buClr>
              <a:buFont typeface="Symbol" charset="2"/>
              <a:buChar char=""/>
            </a:pPr>
            <a:r>
              <a:rPr lang="fr-FR" sz="1150" b="0" u="none" strike="noStrike">
                <a:solidFill>
                  <a:srgbClr val="1B2A4A"/>
                </a:solidFill>
                <a:effectLst/>
                <a:uFillTx/>
                <a:latin typeface="Calibri"/>
                <a:ea typeface="Calibri"/>
              </a:rPr>
              <a:t>Notification de violation sous 72h</a:t>
            </a:r>
            <a:endParaRPr lang="fr-FR" sz="1150" b="0" u="none" strike="noStrike">
              <a:solidFill>
                <a:srgbClr val="000000"/>
              </a:solidFill>
              <a:effectLst/>
              <a:uFillTx/>
              <a:latin typeface="Arial"/>
            </a:endParaRPr>
          </a:p>
          <a:p>
            <a:pPr marL="177840" indent="-177840" defTabSz="914400">
              <a:lnSpc>
                <a:spcPct val="100000"/>
              </a:lnSpc>
              <a:spcAft>
                <a:spcPts val="1001"/>
              </a:spcAft>
              <a:buClr>
                <a:srgbClr val="1B2A4A"/>
              </a:buClr>
              <a:buFont typeface="Symbol" charset="2"/>
              <a:buChar char=""/>
            </a:pPr>
            <a:r>
              <a:rPr lang="fr-FR" sz="1150" b="0" u="none" strike="noStrike">
                <a:solidFill>
                  <a:srgbClr val="1B2A4A"/>
                </a:solidFill>
                <a:effectLst/>
                <a:uFillTx/>
                <a:latin typeface="Calibri"/>
                <a:ea typeface="Calibri"/>
              </a:rPr>
              <a:t>Data Protection Officer nommé</a:t>
            </a:r>
            <a:endParaRPr lang="fr-FR" sz="1150" b="0" u="none" strike="noStrike">
              <a:solidFill>
                <a:srgbClr val="000000"/>
              </a:solidFill>
              <a:effectLst/>
              <a:uFillTx/>
              <a:latin typeface="Arial"/>
            </a:endParaRPr>
          </a:p>
        </p:txBody>
      </p:sp>
      <p:sp>
        <p:nvSpPr>
          <p:cNvPr id="131" name="Shape 6"/>
          <p:cNvSpPr/>
          <p:nvPr/>
        </p:nvSpPr>
        <p:spPr>
          <a:xfrm>
            <a:off x="4380120" y="1691640"/>
            <a:ext cx="3610800" cy="3702240"/>
          </a:xfrm>
          <a:prstGeom prst="roundRect">
            <a:avLst>
              <a:gd name="adj" fmla="val 2025"/>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32" name="Shape 7"/>
          <p:cNvSpPr/>
          <p:nvPr/>
        </p:nvSpPr>
        <p:spPr>
          <a:xfrm>
            <a:off x="4654440" y="1920240"/>
            <a:ext cx="3062160" cy="456120"/>
          </a:xfrm>
          <a:prstGeom prst="roundRect">
            <a:avLst>
              <a:gd name="adj" fmla="val 12000"/>
            </a:avLst>
          </a:prstGeom>
          <a:solidFill>
            <a:srgbClr val="1B2A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33" name="Text 8"/>
          <p:cNvSpPr/>
          <p:nvPr/>
        </p:nvSpPr>
        <p:spPr>
          <a:xfrm>
            <a:off x="4654440" y="1920240"/>
            <a:ext cx="3062160" cy="456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FFFFFF"/>
                </a:solidFill>
                <a:effectLst/>
                <a:uFillTx/>
                <a:latin typeface="Calibri"/>
                <a:ea typeface="Calibri"/>
              </a:rPr>
              <a:t>CCPA</a:t>
            </a:r>
            <a:endParaRPr lang="fr-FR" sz="1600" b="0" u="none" strike="noStrike">
              <a:solidFill>
                <a:srgbClr val="000000"/>
              </a:solidFill>
              <a:effectLst/>
              <a:uFillTx/>
              <a:latin typeface="Arial"/>
            </a:endParaRPr>
          </a:p>
        </p:txBody>
      </p:sp>
      <p:sp>
        <p:nvSpPr>
          <p:cNvPr id="134" name="Text 9"/>
          <p:cNvSpPr/>
          <p:nvPr/>
        </p:nvSpPr>
        <p:spPr>
          <a:xfrm>
            <a:off x="4654440" y="2560320"/>
            <a:ext cx="3062160" cy="260496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1001"/>
              </a:spcAft>
              <a:buClr>
                <a:srgbClr val="1B2A4A"/>
              </a:buClr>
              <a:buFont typeface="Symbol" charset="2"/>
              <a:buChar char=""/>
            </a:pPr>
            <a:r>
              <a:rPr lang="fr-FR" sz="1150" b="0" u="none" strike="noStrike">
                <a:solidFill>
                  <a:srgbClr val="1B2A4A"/>
                </a:solidFill>
                <a:effectLst/>
                <a:uFillTx/>
                <a:latin typeface="Calibri"/>
                <a:ea typeface="Calibri"/>
              </a:rPr>
              <a:t>Opt-out sur la vente de données</a:t>
            </a:r>
            <a:endParaRPr lang="fr-FR" sz="1150" b="0" u="none" strike="noStrike">
              <a:solidFill>
                <a:srgbClr val="000000"/>
              </a:solidFill>
              <a:effectLst/>
              <a:uFillTx/>
              <a:latin typeface="Arial"/>
            </a:endParaRPr>
          </a:p>
          <a:p>
            <a:pPr marL="177840" indent="-177840" defTabSz="914400">
              <a:lnSpc>
                <a:spcPct val="100000"/>
              </a:lnSpc>
              <a:spcAft>
                <a:spcPts val="1001"/>
              </a:spcAft>
              <a:buClr>
                <a:srgbClr val="1B2A4A"/>
              </a:buClr>
              <a:buFont typeface="Symbol" charset="2"/>
              <a:buChar char=""/>
            </a:pPr>
            <a:r>
              <a:rPr lang="fr-FR" sz="1150" b="0" u="none" strike="noStrike">
                <a:solidFill>
                  <a:srgbClr val="1B2A4A"/>
                </a:solidFill>
                <a:effectLst/>
                <a:uFillTx/>
                <a:latin typeface="Calibri"/>
                <a:ea typeface="Calibri"/>
              </a:rPr>
              <a:t>Droit d'accès, modification, suppression</a:t>
            </a:r>
            <a:endParaRPr lang="fr-FR" sz="1150" b="0" u="none" strike="noStrike">
              <a:solidFill>
                <a:srgbClr val="000000"/>
              </a:solidFill>
              <a:effectLst/>
              <a:uFillTx/>
              <a:latin typeface="Arial"/>
            </a:endParaRPr>
          </a:p>
          <a:p>
            <a:pPr marL="177840" indent="-177840" defTabSz="914400">
              <a:lnSpc>
                <a:spcPct val="100000"/>
              </a:lnSpc>
              <a:spcAft>
                <a:spcPts val="1001"/>
              </a:spcAft>
              <a:buClr>
                <a:srgbClr val="1B2A4A"/>
              </a:buClr>
              <a:buFont typeface="Symbol" charset="2"/>
              <a:buChar char=""/>
            </a:pPr>
            <a:r>
              <a:rPr lang="fr-FR" sz="1150" b="0" u="none" strike="noStrike">
                <a:solidFill>
                  <a:srgbClr val="1B2A4A"/>
                </a:solidFill>
                <a:effectLst/>
                <a:uFillTx/>
                <a:latin typeface="Calibri"/>
                <a:ea typeface="Calibri"/>
              </a:rPr>
              <a:t>Non-discrimination envers les utilisateurs exerçant leurs droits</a:t>
            </a:r>
            <a:endParaRPr lang="fr-FR" sz="1150" b="0" u="none" strike="noStrike">
              <a:solidFill>
                <a:srgbClr val="000000"/>
              </a:solidFill>
              <a:effectLst/>
              <a:uFillTx/>
              <a:latin typeface="Arial"/>
            </a:endParaRPr>
          </a:p>
        </p:txBody>
      </p:sp>
      <p:sp>
        <p:nvSpPr>
          <p:cNvPr id="135" name="Shape 10"/>
          <p:cNvSpPr/>
          <p:nvPr/>
        </p:nvSpPr>
        <p:spPr>
          <a:xfrm>
            <a:off x="8211240" y="1691640"/>
            <a:ext cx="3610800" cy="3702240"/>
          </a:xfrm>
          <a:prstGeom prst="roundRect">
            <a:avLst>
              <a:gd name="adj" fmla="val 2025"/>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36" name="Shape 11"/>
          <p:cNvSpPr/>
          <p:nvPr/>
        </p:nvSpPr>
        <p:spPr>
          <a:xfrm>
            <a:off x="8485560" y="1920240"/>
            <a:ext cx="3062160" cy="456120"/>
          </a:xfrm>
          <a:prstGeom prst="roundRect">
            <a:avLst>
              <a:gd name="adj" fmla="val 12000"/>
            </a:avLst>
          </a:prstGeom>
          <a:solidFill>
            <a:srgbClr val="1B2A4A"/>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37" name="Text 12"/>
          <p:cNvSpPr/>
          <p:nvPr/>
        </p:nvSpPr>
        <p:spPr>
          <a:xfrm>
            <a:off x="8485560" y="1920240"/>
            <a:ext cx="3062160" cy="456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FFFFFF"/>
                </a:solidFill>
                <a:effectLst/>
                <a:uFillTx/>
                <a:latin typeface="Calibri"/>
                <a:ea typeface="Calibri"/>
              </a:rPr>
              <a:t>PCI-DSS</a:t>
            </a:r>
            <a:endParaRPr lang="fr-FR" sz="1600" b="0" u="none" strike="noStrike">
              <a:solidFill>
                <a:srgbClr val="000000"/>
              </a:solidFill>
              <a:effectLst/>
              <a:uFillTx/>
              <a:latin typeface="Arial"/>
            </a:endParaRPr>
          </a:p>
        </p:txBody>
      </p:sp>
      <p:sp>
        <p:nvSpPr>
          <p:cNvPr id="138" name="Text 13"/>
          <p:cNvSpPr/>
          <p:nvPr/>
        </p:nvSpPr>
        <p:spPr>
          <a:xfrm>
            <a:off x="8485560" y="2560320"/>
            <a:ext cx="3062160" cy="260496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1001"/>
              </a:spcAft>
              <a:buClr>
                <a:srgbClr val="1B2A4A"/>
              </a:buClr>
              <a:buFont typeface="Symbol" charset="2"/>
              <a:buChar char=""/>
            </a:pPr>
            <a:r>
              <a:rPr lang="fr-FR" sz="1150" b="0" u="none" strike="noStrike">
                <a:solidFill>
                  <a:srgbClr val="1B2A4A"/>
                </a:solidFill>
                <a:effectLst/>
                <a:uFillTx/>
                <a:latin typeface="Calibri"/>
                <a:ea typeface="Calibri"/>
              </a:rPr>
              <a:t>Sécurisation de l'infrastructure réseau</a:t>
            </a:r>
            <a:endParaRPr lang="fr-FR" sz="1150" b="0" u="none" strike="noStrike">
              <a:solidFill>
                <a:srgbClr val="000000"/>
              </a:solidFill>
              <a:effectLst/>
              <a:uFillTx/>
              <a:latin typeface="Arial"/>
            </a:endParaRPr>
          </a:p>
          <a:p>
            <a:pPr marL="177840" indent="-177840" defTabSz="914400">
              <a:lnSpc>
                <a:spcPct val="100000"/>
              </a:lnSpc>
              <a:spcAft>
                <a:spcPts val="1001"/>
              </a:spcAft>
              <a:buClr>
                <a:srgbClr val="1B2A4A"/>
              </a:buClr>
              <a:buFont typeface="Symbol" charset="2"/>
              <a:buChar char=""/>
            </a:pPr>
            <a:r>
              <a:rPr lang="fr-FR" sz="1150" b="0" u="none" strike="noStrike">
                <a:solidFill>
                  <a:srgbClr val="1B2A4A"/>
                </a:solidFill>
                <a:effectLst/>
                <a:uFillTx/>
                <a:latin typeface="Calibri"/>
                <a:ea typeface="Calibri"/>
              </a:rPr>
              <a:t>Chiffrement des données de carte bancaire</a:t>
            </a:r>
            <a:endParaRPr lang="fr-FR" sz="1150" b="0" u="none" strike="noStrike">
              <a:solidFill>
                <a:srgbClr val="000000"/>
              </a:solidFill>
              <a:effectLst/>
              <a:uFillTx/>
              <a:latin typeface="Arial"/>
            </a:endParaRPr>
          </a:p>
          <a:p>
            <a:pPr marL="177840" indent="-177840" defTabSz="914400">
              <a:lnSpc>
                <a:spcPct val="100000"/>
              </a:lnSpc>
              <a:spcAft>
                <a:spcPts val="1001"/>
              </a:spcAft>
              <a:buClr>
                <a:srgbClr val="1B2A4A"/>
              </a:buClr>
              <a:buFont typeface="Symbol" charset="2"/>
              <a:buChar char=""/>
            </a:pPr>
            <a:r>
              <a:rPr lang="fr-FR" sz="1150" b="0" u="none" strike="noStrike">
                <a:solidFill>
                  <a:srgbClr val="1B2A4A"/>
                </a:solidFill>
                <a:effectLst/>
                <a:uFillTx/>
                <a:latin typeface="Calibri"/>
                <a:ea typeface="Calibri"/>
              </a:rPr>
              <a:t>Gestion des vulnérabilités</a:t>
            </a:r>
            <a:endParaRPr lang="fr-FR" sz="1150" b="0" u="none" strike="noStrike">
              <a:solidFill>
                <a:srgbClr val="000000"/>
              </a:solidFill>
              <a:effectLst/>
              <a:uFillTx/>
              <a:latin typeface="Arial"/>
            </a:endParaRPr>
          </a:p>
          <a:p>
            <a:pPr marL="177840" indent="-177840" defTabSz="914400">
              <a:lnSpc>
                <a:spcPct val="100000"/>
              </a:lnSpc>
              <a:spcAft>
                <a:spcPts val="1001"/>
              </a:spcAft>
              <a:buClr>
                <a:srgbClr val="1B2A4A"/>
              </a:buClr>
              <a:buFont typeface="Symbol" charset="2"/>
              <a:buChar char=""/>
            </a:pPr>
            <a:r>
              <a:rPr lang="fr-FR" sz="1150" b="0" u="none" strike="noStrike">
                <a:solidFill>
                  <a:srgbClr val="1B2A4A"/>
                </a:solidFill>
                <a:effectLst/>
                <a:uFillTx/>
                <a:latin typeface="Calibri"/>
                <a:ea typeface="Calibri"/>
              </a:rPr>
              <a:t>Contrôle d'accès strict aux données de paiement</a:t>
            </a:r>
            <a:endParaRPr lang="fr-FR" sz="1150" b="0" u="none" strike="noStrike">
              <a:solidFill>
                <a:srgbClr val="000000"/>
              </a:solidFill>
              <a:effectLst/>
              <a:uFillTx/>
              <a:latin typeface="Arial"/>
            </a:endParaRPr>
          </a:p>
          <a:p>
            <a:pPr marL="177840" indent="-177840" defTabSz="914400">
              <a:lnSpc>
                <a:spcPct val="100000"/>
              </a:lnSpc>
              <a:spcAft>
                <a:spcPts val="1001"/>
              </a:spcAft>
              <a:buClr>
                <a:srgbClr val="1B2A4A"/>
              </a:buClr>
              <a:buFont typeface="Symbol" charset="2"/>
              <a:buChar char=""/>
            </a:pPr>
            <a:r>
              <a:rPr lang="fr-FR" sz="1150" b="0" u="none" strike="noStrike">
                <a:solidFill>
                  <a:srgbClr val="1B2A4A"/>
                </a:solidFill>
                <a:effectLst/>
                <a:uFillTx/>
                <a:latin typeface="Calibri"/>
                <a:ea typeface="Calibri"/>
              </a:rPr>
              <a:t>Tests réguliers des dispositifs de sécurité</a:t>
            </a:r>
            <a:endParaRPr lang="fr-FR" sz="1150" b="0" u="none" strike="noStrike">
              <a:solidFill>
                <a:srgbClr val="000000"/>
              </a:solidFill>
              <a:effectLst/>
              <a:uFillTx/>
              <a:latin typeface="Arial"/>
            </a:endParaRPr>
          </a:p>
        </p:txBody>
      </p:sp>
      <p:sp>
        <p:nvSpPr>
          <p:cNvPr id="139" name="Shape 14"/>
          <p:cNvSpPr/>
          <p:nvPr/>
        </p:nvSpPr>
        <p:spPr>
          <a:xfrm>
            <a:off x="548640" y="5532120"/>
            <a:ext cx="11090520" cy="657360"/>
          </a:xfrm>
          <a:prstGeom prst="roundRect">
            <a:avLst>
              <a:gd name="adj" fmla="val 11111"/>
            </a:avLst>
          </a:prstGeom>
          <a:solidFill>
            <a:srgbClr val="EAF7F1"/>
          </a:solidFill>
          <a:ln w="12700">
            <a:solidFill>
              <a:srgbClr val="D8DEE6"/>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40" name="Text 15"/>
          <p:cNvSpPr/>
          <p:nvPr/>
        </p:nvSpPr>
        <p:spPr>
          <a:xfrm>
            <a:off x="822960" y="5532120"/>
            <a:ext cx="10514520" cy="657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1C8C68"/>
                </a:solidFill>
                <a:effectLst/>
                <a:uFillTx/>
                <a:latin typeface="Calibri"/>
                <a:ea typeface="Calibri"/>
              </a:rPr>
              <a:t>Complété par une cartographie réglementaire marché par marché (PDPA à Singapour, etc.), pilotée par Legal Team en lien avec le DPO.</a:t>
            </a:r>
            <a:endParaRPr lang="fr-FR" sz="1200" b="0" u="none" strike="noStrike">
              <a:solidFill>
                <a:srgbClr val="000000"/>
              </a:solidFill>
              <a:effectLst/>
              <a:uFillTx/>
              <a:latin typeface="Arial"/>
            </a:endParaRPr>
          </a:p>
        </p:txBody>
      </p:sp>
      <p:sp>
        <p:nvSpPr>
          <p:cNvPr id="141" name="Text 16"/>
          <p:cNvSpPr/>
          <p:nvPr/>
        </p:nvSpPr>
        <p:spPr>
          <a:xfrm>
            <a:off x="548640" y="6473880"/>
            <a:ext cx="86857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8493A8"/>
                </a:solidFill>
                <a:effectLst/>
                <a:uFillTx/>
                <a:latin typeface="Calibri"/>
                <a:ea typeface="Calibri"/>
              </a:rPr>
              <a:t>Source : [D21] §2.1.4 · Référentiel [R5]</a:t>
            </a:r>
            <a:endParaRPr lang="fr-FR" sz="950" b="0" u="none" strike="noStrike">
              <a:solidFill>
                <a:srgbClr val="000000"/>
              </a:solidFill>
              <a:effectLst/>
              <a:uFillTx/>
              <a:latin typeface="Arial"/>
            </a:endParaRPr>
          </a:p>
        </p:txBody>
      </p:sp>
      <p:sp>
        <p:nvSpPr>
          <p:cNvPr id="142" name="Text 17"/>
          <p:cNvSpPr/>
          <p:nvPr/>
        </p:nvSpPr>
        <p:spPr>
          <a:xfrm>
            <a:off x="11003040" y="6473880"/>
            <a:ext cx="8218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50" b="0" u="none" strike="noStrike">
                <a:solidFill>
                  <a:srgbClr val="8493A8"/>
                </a:solidFill>
                <a:effectLst/>
                <a:uFillTx/>
                <a:latin typeface="Calibri"/>
                <a:ea typeface="Calibri"/>
              </a:rPr>
              <a:t>6 / 10</a:t>
            </a:r>
            <a:endParaRPr lang="fr-FR"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4F7"/>
        </a:solidFill>
      </p:bgPr>
    </p:bg>
    <p:spTree>
      <p:nvGrpSpPr>
        <p:cNvPr id="1" name=""/>
        <p:cNvGrpSpPr/>
        <p:nvPr/>
      </p:nvGrpSpPr>
      <p:grpSpPr>
        <a:xfrm>
          <a:off x="0" y="0"/>
          <a:ext cx="0" cy="0"/>
          <a:chOff x="0" y="0"/>
          <a:chExt cx="0" cy="0"/>
        </a:xfrm>
      </p:grpSpPr>
      <p:sp>
        <p:nvSpPr>
          <p:cNvPr id="143" name="Text 0"/>
          <p:cNvSpPr/>
          <p:nvPr/>
        </p:nvSpPr>
        <p:spPr>
          <a:xfrm>
            <a:off x="548640" y="384120"/>
            <a:ext cx="731412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201" strike="noStrike">
                <a:solidFill>
                  <a:srgbClr val="1C8C68"/>
                </a:solidFill>
                <a:effectLst/>
                <a:uFillTx/>
                <a:latin typeface="Calibri"/>
                <a:ea typeface="Calibri"/>
              </a:rPr>
              <a:t>GOUVERNANCE DE L'IA</a:t>
            </a:r>
            <a:endParaRPr lang="fr-FR" sz="1200" b="0" u="none" strike="noStrike">
              <a:solidFill>
                <a:srgbClr val="000000"/>
              </a:solidFill>
              <a:effectLst/>
              <a:uFillTx/>
              <a:latin typeface="Arial"/>
            </a:endParaRPr>
          </a:p>
        </p:txBody>
      </p:sp>
      <p:sp>
        <p:nvSpPr>
          <p:cNvPr id="144" name="Text 1"/>
          <p:cNvSpPr/>
          <p:nvPr/>
        </p:nvSpPr>
        <p:spPr>
          <a:xfrm>
            <a:off x="548640" y="658440"/>
            <a:ext cx="9691560" cy="8676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fr-FR" sz="2800" b="1" u="none" strike="noStrike">
                <a:solidFill>
                  <a:srgbClr val="1B2A4A"/>
                </a:solidFill>
                <a:effectLst/>
                <a:uFillTx/>
                <a:latin typeface="Cambria"/>
                <a:ea typeface="Cambria"/>
              </a:rPr>
              <a:t>Une responsabilité adaptée au niveau d'impact du modèle</a:t>
            </a:r>
            <a:endParaRPr lang="fr-FR" sz="2800" b="0" u="none" strike="noStrike">
              <a:solidFill>
                <a:srgbClr val="000000"/>
              </a:solidFill>
              <a:effectLst/>
              <a:uFillTx/>
              <a:latin typeface="Arial"/>
            </a:endParaRPr>
          </a:p>
        </p:txBody>
      </p:sp>
      <p:pic>
        <p:nvPicPr>
          <p:cNvPr id="145" name="Image 0" descr="icons/icon_cpu.png"/>
          <p:cNvPicPr/>
          <p:nvPr/>
        </p:nvPicPr>
        <p:blipFill>
          <a:blip r:embed="rId1"/>
          <a:stretch/>
        </p:blipFill>
        <p:spPr>
          <a:xfrm>
            <a:off x="11140200" y="365760"/>
            <a:ext cx="657360" cy="657360"/>
          </a:xfrm>
          <a:prstGeom prst="rect">
            <a:avLst/>
          </a:prstGeom>
          <a:noFill/>
          <a:ln w="0">
            <a:noFill/>
          </a:ln>
        </p:spPr>
      </p:pic>
      <p:sp>
        <p:nvSpPr>
          <p:cNvPr id="146" name="Shape 2"/>
          <p:cNvSpPr/>
          <p:nvPr/>
        </p:nvSpPr>
        <p:spPr>
          <a:xfrm>
            <a:off x="548640" y="1783080"/>
            <a:ext cx="2650680" cy="1050480"/>
          </a:xfrm>
          <a:prstGeom prst="roundRect">
            <a:avLst>
              <a:gd name="adj" fmla="val 6957"/>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47" name="Text 3"/>
          <p:cNvSpPr/>
          <p:nvPr/>
        </p:nvSpPr>
        <p:spPr>
          <a:xfrm>
            <a:off x="731520" y="1892880"/>
            <a:ext cx="22849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C8C68"/>
                </a:solidFill>
                <a:effectLst/>
                <a:uFillTx/>
                <a:latin typeface="Calibri"/>
                <a:ea typeface="Calibri"/>
              </a:rPr>
              <a:t>Traçabilité</a:t>
            </a:r>
            <a:endParaRPr lang="fr-FR" sz="1250" b="0" u="none" strike="noStrike">
              <a:solidFill>
                <a:srgbClr val="000000"/>
              </a:solidFill>
              <a:effectLst/>
              <a:uFillTx/>
              <a:latin typeface="Arial"/>
            </a:endParaRPr>
          </a:p>
        </p:txBody>
      </p:sp>
      <p:sp>
        <p:nvSpPr>
          <p:cNvPr id="148" name="Text 4"/>
          <p:cNvSpPr/>
          <p:nvPr/>
        </p:nvSpPr>
        <p:spPr>
          <a:xfrm>
            <a:off x="731520" y="2185560"/>
            <a:ext cx="2284920" cy="593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80" b="0" u="none" strike="noStrike">
                <a:solidFill>
                  <a:srgbClr val="1B2A4A"/>
                </a:solidFill>
                <a:effectLst/>
                <a:uFillTx/>
                <a:latin typeface="Calibri"/>
                <a:ea typeface="Calibri"/>
              </a:rPr>
              <a:t>Chaque jeu d'entraînement documenté : source, période, transformations, lineage.</a:t>
            </a:r>
            <a:endParaRPr lang="fr-FR" sz="980" b="0" u="none" strike="noStrike">
              <a:solidFill>
                <a:srgbClr val="000000"/>
              </a:solidFill>
              <a:effectLst/>
              <a:uFillTx/>
              <a:latin typeface="Arial"/>
            </a:endParaRPr>
          </a:p>
        </p:txBody>
      </p:sp>
      <p:sp>
        <p:nvSpPr>
          <p:cNvPr id="149" name="Shape 5"/>
          <p:cNvSpPr/>
          <p:nvPr/>
        </p:nvSpPr>
        <p:spPr>
          <a:xfrm>
            <a:off x="3401640" y="1783080"/>
            <a:ext cx="2650680" cy="1050480"/>
          </a:xfrm>
          <a:prstGeom prst="roundRect">
            <a:avLst>
              <a:gd name="adj" fmla="val 6957"/>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0" name="Text 6"/>
          <p:cNvSpPr/>
          <p:nvPr/>
        </p:nvSpPr>
        <p:spPr>
          <a:xfrm>
            <a:off x="3584520" y="1892880"/>
            <a:ext cx="22849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C8C68"/>
                </a:solidFill>
                <a:effectLst/>
                <a:uFillTx/>
                <a:latin typeface="Calibri"/>
                <a:ea typeface="Calibri"/>
              </a:rPr>
              <a:t>Biais</a:t>
            </a:r>
            <a:endParaRPr lang="fr-FR" sz="1250" b="0" u="none" strike="noStrike">
              <a:solidFill>
                <a:srgbClr val="000000"/>
              </a:solidFill>
              <a:effectLst/>
              <a:uFillTx/>
              <a:latin typeface="Arial"/>
            </a:endParaRPr>
          </a:p>
        </p:txBody>
      </p:sp>
      <p:sp>
        <p:nvSpPr>
          <p:cNvPr id="151" name="Text 7"/>
          <p:cNvSpPr/>
          <p:nvPr/>
        </p:nvSpPr>
        <p:spPr>
          <a:xfrm>
            <a:off x="3584520" y="2185560"/>
            <a:ext cx="2284920" cy="593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80" b="0" u="none" strike="noStrike">
                <a:solidFill>
                  <a:srgbClr val="1B2A4A"/>
                </a:solidFill>
                <a:effectLst/>
                <a:uFillTx/>
                <a:latin typeface="Calibri"/>
                <a:ea typeface="Calibri"/>
              </a:rPr>
              <a:t>Évaluation périodique des biais algorithmiques pour les modèles à fort impact.</a:t>
            </a:r>
            <a:endParaRPr lang="fr-FR" sz="980" b="0" u="none" strike="noStrike">
              <a:solidFill>
                <a:srgbClr val="000000"/>
              </a:solidFill>
              <a:effectLst/>
              <a:uFillTx/>
              <a:latin typeface="Arial"/>
            </a:endParaRPr>
          </a:p>
        </p:txBody>
      </p:sp>
      <p:sp>
        <p:nvSpPr>
          <p:cNvPr id="152" name="Shape 8"/>
          <p:cNvSpPr/>
          <p:nvPr/>
        </p:nvSpPr>
        <p:spPr>
          <a:xfrm>
            <a:off x="6254640" y="1783080"/>
            <a:ext cx="2650680" cy="1050480"/>
          </a:xfrm>
          <a:prstGeom prst="roundRect">
            <a:avLst>
              <a:gd name="adj" fmla="val 6957"/>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3" name="Text 9"/>
          <p:cNvSpPr/>
          <p:nvPr/>
        </p:nvSpPr>
        <p:spPr>
          <a:xfrm>
            <a:off x="6437520" y="1892880"/>
            <a:ext cx="22849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C8C68"/>
                </a:solidFill>
                <a:effectLst/>
                <a:uFillTx/>
                <a:latin typeface="Calibri"/>
                <a:ea typeface="Calibri"/>
              </a:rPr>
              <a:t>Approbation</a:t>
            </a:r>
            <a:endParaRPr lang="fr-FR" sz="1250" b="0" u="none" strike="noStrike">
              <a:solidFill>
                <a:srgbClr val="000000"/>
              </a:solidFill>
              <a:effectLst/>
              <a:uFillTx/>
              <a:latin typeface="Arial"/>
            </a:endParaRPr>
          </a:p>
        </p:txBody>
      </p:sp>
      <p:sp>
        <p:nvSpPr>
          <p:cNvPr id="154" name="Text 10"/>
          <p:cNvSpPr/>
          <p:nvPr/>
        </p:nvSpPr>
        <p:spPr>
          <a:xfrm>
            <a:off x="6437520" y="2185560"/>
            <a:ext cx="2284920" cy="593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80" b="0" u="none" strike="noStrike">
                <a:solidFill>
                  <a:srgbClr val="1B2A4A"/>
                </a:solidFill>
                <a:effectLst/>
                <a:uFillTx/>
                <a:latin typeface="Calibri"/>
                <a:ea typeface="Calibri"/>
              </a:rPr>
              <a:t>Responsabilité confiée à un Model Owner ; circuit proportionné au niveau d'impact.</a:t>
            </a:r>
            <a:endParaRPr lang="fr-FR" sz="980" b="0" u="none" strike="noStrike">
              <a:solidFill>
                <a:srgbClr val="000000"/>
              </a:solidFill>
              <a:effectLst/>
              <a:uFillTx/>
              <a:latin typeface="Arial"/>
            </a:endParaRPr>
          </a:p>
        </p:txBody>
      </p:sp>
      <p:sp>
        <p:nvSpPr>
          <p:cNvPr id="155" name="Shape 11"/>
          <p:cNvSpPr/>
          <p:nvPr/>
        </p:nvSpPr>
        <p:spPr>
          <a:xfrm>
            <a:off x="9107280" y="1783080"/>
            <a:ext cx="2650680" cy="1050480"/>
          </a:xfrm>
          <a:prstGeom prst="roundRect">
            <a:avLst>
              <a:gd name="adj" fmla="val 6957"/>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6" name="Text 12"/>
          <p:cNvSpPr/>
          <p:nvPr/>
        </p:nvSpPr>
        <p:spPr>
          <a:xfrm>
            <a:off x="9290160" y="1892880"/>
            <a:ext cx="22849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C8C68"/>
                </a:solidFill>
                <a:effectLst/>
                <a:uFillTx/>
                <a:latin typeface="Calibri"/>
                <a:ea typeface="Calibri"/>
              </a:rPr>
              <a:t>Explicabilité</a:t>
            </a:r>
            <a:endParaRPr lang="fr-FR" sz="1250" b="0" u="none" strike="noStrike">
              <a:solidFill>
                <a:srgbClr val="000000"/>
              </a:solidFill>
              <a:effectLst/>
              <a:uFillTx/>
              <a:latin typeface="Arial"/>
            </a:endParaRPr>
          </a:p>
        </p:txBody>
      </p:sp>
      <p:sp>
        <p:nvSpPr>
          <p:cNvPr id="157" name="Text 13"/>
          <p:cNvSpPr/>
          <p:nvPr/>
        </p:nvSpPr>
        <p:spPr>
          <a:xfrm>
            <a:off x="9290160" y="2185560"/>
            <a:ext cx="2284920" cy="593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980" b="0" u="none" strike="noStrike">
                <a:solidFill>
                  <a:srgbClr val="1B2A4A"/>
                </a:solidFill>
                <a:effectLst/>
                <a:uFillTx/>
                <a:latin typeface="Calibri"/>
                <a:ea typeface="Calibri"/>
              </a:rPr>
              <a:t>Décisions automatisées à impact significatif explicables de manière intelligible.</a:t>
            </a:r>
            <a:endParaRPr lang="fr-FR" sz="980" b="0" u="none" strike="noStrike">
              <a:solidFill>
                <a:srgbClr val="000000"/>
              </a:solidFill>
              <a:effectLst/>
              <a:uFillTx/>
              <a:latin typeface="Arial"/>
            </a:endParaRPr>
          </a:p>
        </p:txBody>
      </p:sp>
      <p:graphicFrame>
        <p:nvGraphicFramePr>
          <p:cNvPr id="158" name="Table 0"/>
          <p:cNvGraphicFramePr/>
          <p:nvPr/>
        </p:nvGraphicFramePr>
        <p:xfrm>
          <a:off x="548640" y="3154680"/>
          <a:ext cx="11091240" cy="2788920"/>
        </p:xfrm>
        <a:graphic>
          <a:graphicData uri="http://schemas.openxmlformats.org/drawingml/2006/table">
            <a:tbl>
              <a:tblPr/>
              <a:tblGrid>
                <a:gridCol w="1371600"/>
                <a:gridCol w="6245280"/>
                <a:gridCol w="3474720"/>
              </a:tblGrid>
              <a:tr h="457200">
                <a:tc>
                  <a:txBody>
                    <a:bodyPr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Niveau d'impact</a:t>
                      </a:r>
                      <a:endParaRPr lang="fr-FR" sz="1250" b="0" u="none" strike="noStrike">
                        <a:solidFill>
                          <a:srgbClr val="FFFFFF"/>
                        </a:solidFill>
                        <a:effectLst/>
                        <a:uFillTx/>
                        <a:latin typeface="Arial"/>
                      </a:endParaRPr>
                    </a:p>
                  </a:txBody>
                  <a:tcPr anchor="ctr" marL="91440" marR="91440" marT="45720" marB="45720">
                    <a:lnL w="9360">
                      <a:solidFill>
                        <a:srgbClr val="D8DEE6"/>
                      </a:solidFill>
                      <a:prstDash val="solid"/>
                    </a:lnL>
                    <a:lnR w="9360">
                      <a:solidFill>
                        <a:srgbClr val="D8DEE6"/>
                      </a:solidFill>
                      <a:prstDash val="solid"/>
                    </a:lnR>
                    <a:lnT w="9360">
                      <a:solidFill>
                        <a:srgbClr val="D8DEE6"/>
                      </a:solidFill>
                      <a:prstDash val="solid"/>
                    </a:lnT>
                    <a:lnB w="9360">
                      <a:solidFill>
                        <a:srgbClr val="D8DEE6"/>
                      </a:solidFill>
                      <a:prstDash val="solid"/>
                    </a:lnB>
                    <a:solidFill>
                      <a:srgbClr val="1B2A4A"/>
                    </a:solidFill>
                  </a:tcPr>
                </a:tc>
                <a:tc>
                  <a:txBody>
                    <a:bodyPr anchor="ctr">
                      <a:noAutofit/>
                    </a:bodyPr>
                    <a:p>
                      <a:pPr defTabSz="914400">
                        <a:lnSpc>
                          <a:spcPct val="100000"/>
                        </a:lnSpc>
                        <a:tabLst>
                          <a:tab pos="0" algn="l"/>
                        </a:tabLst>
                      </a:pPr>
                      <a:r>
                        <a:rPr lang="en-US" sz="1250" b="1" u="none" strike="noStrike">
                          <a:solidFill>
                            <a:srgbClr val="FFFFFF"/>
                          </a:solidFill>
                          <a:effectLst/>
                          <a:uFillTx/>
                          <a:latin typeface="Calibri"/>
                          <a:ea typeface="Calibri"/>
                        </a:rPr>
                        <a:t>Critères (extraits)</a:t>
                      </a:r>
                      <a:endParaRPr lang="fr-FR" sz="1250" b="0" u="none" strike="noStrike">
                        <a:solidFill>
                          <a:srgbClr val="FFFFFF"/>
                        </a:solidFill>
                        <a:effectLst/>
                        <a:uFillTx/>
                        <a:latin typeface="Arial"/>
                      </a:endParaRPr>
                    </a:p>
                  </a:txBody>
                  <a:tcPr anchor="ctr" marL="91440" marR="91440" marT="45720" marB="45720">
                    <a:lnL w="9360">
                      <a:solidFill>
                        <a:srgbClr val="D8DEE6"/>
                      </a:solidFill>
                      <a:prstDash val="solid"/>
                    </a:lnL>
                    <a:lnR w="9360">
                      <a:solidFill>
                        <a:srgbClr val="D8DEE6"/>
                      </a:solidFill>
                      <a:prstDash val="solid"/>
                    </a:lnR>
                    <a:lnT w="9360">
                      <a:solidFill>
                        <a:srgbClr val="D8DEE6"/>
                      </a:solidFill>
                      <a:prstDash val="solid"/>
                    </a:lnT>
                    <a:lnB w="9360">
                      <a:solidFill>
                        <a:srgbClr val="D8DEE6"/>
                      </a:solidFill>
                      <a:prstDash val="solid"/>
                    </a:lnB>
                    <a:solidFill>
                      <a:srgbClr val="1B2A4A"/>
                    </a:solidFill>
                  </a:tcPr>
                </a:tc>
                <a:tc>
                  <a:txBody>
                    <a:bodyPr anchor="ctr">
                      <a:noAutofit/>
                    </a:bodyPr>
                    <a:p>
                      <a:pPr defTabSz="914400">
                        <a:lnSpc>
                          <a:spcPct val="100000"/>
                        </a:lnSpc>
                        <a:tabLst>
                          <a:tab pos="0" algn="l"/>
                        </a:tabLst>
                      </a:pPr>
                      <a:r>
                        <a:rPr lang="en-US" sz="1250" b="1" u="none" strike="noStrike">
                          <a:solidFill>
                            <a:srgbClr val="FFFFFF"/>
                          </a:solidFill>
                          <a:effectLst/>
                          <a:uFillTx/>
                          <a:latin typeface="Calibri"/>
                          <a:ea typeface="Calibri"/>
                        </a:rPr>
                        <a:t>Circuit de validation</a:t>
                      </a:r>
                      <a:endParaRPr lang="fr-FR" sz="1250" b="0" u="none" strike="noStrike">
                        <a:solidFill>
                          <a:srgbClr val="FFFFFF"/>
                        </a:solidFill>
                        <a:effectLst/>
                        <a:uFillTx/>
                        <a:latin typeface="Arial"/>
                      </a:endParaRPr>
                    </a:p>
                  </a:txBody>
                  <a:tcPr anchor="ctr" marL="91440" marR="91440" marT="45720" marB="45720">
                    <a:lnL w="9360">
                      <a:solidFill>
                        <a:srgbClr val="D8DEE6"/>
                      </a:solidFill>
                      <a:prstDash val="solid"/>
                    </a:lnL>
                    <a:lnR w="9360">
                      <a:solidFill>
                        <a:srgbClr val="D8DEE6"/>
                      </a:solidFill>
                      <a:prstDash val="solid"/>
                    </a:lnR>
                    <a:lnT w="9360">
                      <a:solidFill>
                        <a:srgbClr val="D8DEE6"/>
                      </a:solidFill>
                      <a:prstDash val="solid"/>
                    </a:lnT>
                    <a:lnB w="9360">
                      <a:solidFill>
                        <a:srgbClr val="D8DEE6"/>
                      </a:solidFill>
                      <a:prstDash val="solid"/>
                    </a:lnB>
                    <a:solidFill>
                      <a:srgbClr val="1B2A4A"/>
                    </a:solidFill>
                  </a:tcPr>
                </a:tc>
              </a:tr>
              <a:tr h="777240">
                <a:tc>
                  <a:txBody>
                    <a:bodyPr anchor="ctr">
                      <a:noAutofit/>
                    </a:bodyPr>
                    <a:p>
                      <a:pPr algn="ctr" defTabSz="914400">
                        <a:lnSpc>
                          <a:spcPct val="100000"/>
                        </a:lnSpc>
                        <a:tabLst>
                          <a:tab pos="0" algn="l"/>
                        </a:tabLst>
                      </a:pPr>
                      <a:r>
                        <a:rPr lang="en-US" sz="1200" b="1" u="none" strike="noStrike">
                          <a:solidFill>
                            <a:srgbClr val="B8574A"/>
                          </a:solidFill>
                          <a:effectLst/>
                          <a:uFillTx/>
                          <a:latin typeface="Calibri"/>
                          <a:ea typeface="Calibri"/>
                        </a:rPr>
                        <a:t>Fort</a:t>
                      </a:r>
                      <a:endParaRPr lang="fr-FR" sz="1200" b="0" u="none" strike="noStrike">
                        <a:solidFill>
                          <a:srgbClr val="000000"/>
                        </a:solidFill>
                        <a:effectLst/>
                        <a:uFillTx/>
                        <a:latin typeface="Arial"/>
                      </a:endParaRPr>
                    </a:p>
                  </a:txBody>
                  <a:tcPr anchor="ctr" marL="91440" marR="91440" marT="45720" marB="45720">
                    <a:lnL w="9360">
                      <a:solidFill>
                        <a:srgbClr val="D8DEE6"/>
                      </a:solidFill>
                      <a:prstDash val="solid"/>
                    </a:lnL>
                    <a:lnR w="9360">
                      <a:solidFill>
                        <a:srgbClr val="D8DEE6"/>
                      </a:solidFill>
                      <a:prstDash val="solid"/>
                    </a:lnR>
                    <a:lnT w="9360">
                      <a:solidFill>
                        <a:srgbClr val="D8DEE6"/>
                      </a:solidFill>
                      <a:prstDash val="solid"/>
                    </a:lnT>
                    <a:lnB w="9360">
                      <a:solidFill>
                        <a:srgbClr val="D8DEE6"/>
                      </a:solidFill>
                      <a:prstDash val="solid"/>
                    </a:lnB>
                    <a:solidFill>
                      <a:srgbClr val="FBEDEA"/>
                    </a:solidFill>
                  </a:tcPr>
                </a:tc>
                <a:tc>
                  <a:txBody>
                    <a:bodyPr anchor="ctr">
                      <a:noAutofit/>
                    </a:bodyPr>
                    <a:p>
                      <a:pPr defTabSz="914400">
                        <a:lnSpc>
                          <a:spcPct val="100000"/>
                        </a:lnSpc>
                        <a:tabLst>
                          <a:tab pos="0" algn="l"/>
                        </a:tabLst>
                      </a:pPr>
                      <a:r>
                        <a:rPr lang="en-US" sz="1100" b="0" u="none" strike="noStrike">
                          <a:solidFill>
                            <a:srgbClr val="1B2A4A"/>
                          </a:solidFill>
                          <a:effectLst/>
                          <a:uFillTx/>
                          <a:latin typeface="Calibri"/>
                          <a:ea typeface="Calibri"/>
                        </a:rPr>
                        <a:t>Majorité des utilisateurs actifs · décision peu réversible · art. 22 GDPR · fonctionnalité principale</a:t>
                      </a:r>
                      <a:endParaRPr lang="fr-FR" sz="1100" b="0" u="none" strike="noStrike">
                        <a:solidFill>
                          <a:srgbClr val="000000"/>
                        </a:solidFill>
                        <a:effectLst/>
                        <a:uFillTx/>
                        <a:latin typeface="Arial"/>
                      </a:endParaRPr>
                    </a:p>
                  </a:txBody>
                  <a:tcPr anchor="ctr" marL="91440" marR="91440" marT="45720" marB="45720">
                    <a:lnL w="9360">
                      <a:solidFill>
                        <a:srgbClr val="D8DEE6"/>
                      </a:solidFill>
                      <a:prstDash val="solid"/>
                    </a:lnL>
                    <a:lnR w="9360">
                      <a:solidFill>
                        <a:srgbClr val="D8DEE6"/>
                      </a:solidFill>
                      <a:prstDash val="solid"/>
                    </a:lnR>
                    <a:lnT w="9360">
                      <a:solidFill>
                        <a:srgbClr val="D8DEE6"/>
                      </a:solidFill>
                      <a:prstDash val="solid"/>
                    </a:lnT>
                    <a:lnB w="9360">
                      <a:solidFill>
                        <a:srgbClr val="D8DEE6"/>
                      </a:solidFill>
                      <a:prstDash val="solid"/>
                    </a:lnB>
                    <a:solidFill>
                      <a:srgbClr val="FBEDEA"/>
                    </a:solidFill>
                  </a:tcPr>
                </a:tc>
                <a:tc>
                  <a:txBody>
                    <a:bodyPr anchor="ctr">
                      <a:noAutofit/>
                    </a:bodyPr>
                    <a:p>
                      <a:pPr defTabSz="914400">
                        <a:lnSpc>
                          <a:spcPct val="100000"/>
                        </a:lnSpc>
                        <a:tabLst>
                          <a:tab pos="0" algn="l"/>
                        </a:tabLst>
                      </a:pPr>
                      <a:r>
                        <a:rPr lang="en-US" sz="1100" b="1" u="none" strike="noStrike">
                          <a:solidFill>
                            <a:srgbClr val="1B2A4A"/>
                          </a:solidFill>
                          <a:effectLst/>
                          <a:uFillTx/>
                          <a:latin typeface="Calibri"/>
                          <a:ea typeface="Calibri"/>
                        </a:rPr>
                        <a:t>MO (C) → MRM (R) → DGC (A)</a:t>
                      </a:r>
                      <a:endParaRPr lang="fr-FR" sz="1100" b="0" u="none" strike="noStrike">
                        <a:solidFill>
                          <a:srgbClr val="000000"/>
                        </a:solidFill>
                        <a:effectLst/>
                        <a:uFillTx/>
                        <a:latin typeface="Arial"/>
                      </a:endParaRPr>
                    </a:p>
                  </a:txBody>
                  <a:tcPr anchor="ctr" marL="91440" marR="91440" marT="45720" marB="45720">
                    <a:lnL w="9360">
                      <a:solidFill>
                        <a:srgbClr val="D8DEE6"/>
                      </a:solidFill>
                      <a:prstDash val="solid"/>
                    </a:lnL>
                    <a:lnR w="9360">
                      <a:solidFill>
                        <a:srgbClr val="D8DEE6"/>
                      </a:solidFill>
                      <a:prstDash val="solid"/>
                    </a:lnR>
                    <a:lnT w="9360">
                      <a:solidFill>
                        <a:srgbClr val="D8DEE6"/>
                      </a:solidFill>
                      <a:prstDash val="solid"/>
                    </a:lnT>
                    <a:lnB w="9360">
                      <a:solidFill>
                        <a:srgbClr val="D8DEE6"/>
                      </a:solidFill>
                      <a:prstDash val="solid"/>
                    </a:lnB>
                    <a:solidFill>
                      <a:srgbClr val="FBEDEA"/>
                    </a:solidFill>
                  </a:tcPr>
                </a:tc>
              </a:tr>
              <a:tr h="777240">
                <a:tc>
                  <a:txBody>
                    <a:bodyPr anchor="ctr">
                      <a:noAutofit/>
                    </a:bodyPr>
                    <a:p>
                      <a:pPr algn="ctr" defTabSz="914400">
                        <a:lnSpc>
                          <a:spcPct val="100000"/>
                        </a:lnSpc>
                        <a:tabLst>
                          <a:tab pos="0" algn="l"/>
                        </a:tabLst>
                      </a:pPr>
                      <a:r>
                        <a:rPr lang="en-US" sz="1200" b="1" u="none" strike="noStrike">
                          <a:solidFill>
                            <a:srgbClr val="C99A3C"/>
                          </a:solidFill>
                          <a:effectLst/>
                          <a:uFillTx/>
                          <a:latin typeface="Calibri"/>
                          <a:ea typeface="Calibri"/>
                        </a:rPr>
                        <a:t>Modéré</a:t>
                      </a:r>
                      <a:endParaRPr lang="fr-FR" sz="1200" b="0" u="none" strike="noStrike">
                        <a:solidFill>
                          <a:srgbClr val="000000"/>
                        </a:solidFill>
                        <a:effectLst/>
                        <a:uFillTx/>
                        <a:latin typeface="Arial"/>
                      </a:endParaRPr>
                    </a:p>
                  </a:txBody>
                  <a:tcPr anchor="ctr" marL="91440" marR="91440" marT="45720" marB="45720">
                    <a:lnL w="9360">
                      <a:solidFill>
                        <a:srgbClr val="D8DEE6"/>
                      </a:solidFill>
                      <a:prstDash val="solid"/>
                    </a:lnL>
                    <a:lnR w="9360">
                      <a:solidFill>
                        <a:srgbClr val="D8DEE6"/>
                      </a:solidFill>
                      <a:prstDash val="solid"/>
                    </a:lnR>
                    <a:lnT w="9360">
                      <a:solidFill>
                        <a:srgbClr val="D8DEE6"/>
                      </a:solidFill>
                      <a:prstDash val="solid"/>
                    </a:lnT>
                    <a:lnB w="9360">
                      <a:solidFill>
                        <a:srgbClr val="D8DEE6"/>
                      </a:solidFill>
                      <a:prstDash val="solid"/>
                    </a:lnB>
                    <a:solidFill>
                      <a:srgbClr val="FBF3E2"/>
                    </a:solidFill>
                  </a:tcPr>
                </a:tc>
                <a:tc>
                  <a:txBody>
                    <a:bodyPr anchor="ctr">
                      <a:noAutofit/>
                    </a:bodyPr>
                    <a:p>
                      <a:pPr defTabSz="914400">
                        <a:lnSpc>
                          <a:spcPct val="100000"/>
                        </a:lnSpc>
                        <a:tabLst>
                          <a:tab pos="0" algn="l"/>
                        </a:tabLst>
                      </a:pPr>
                      <a:r>
                        <a:rPr lang="en-US" sz="1100" b="0" u="none" strike="noStrike">
                          <a:solidFill>
                            <a:srgbClr val="1B2A4A"/>
                          </a:solidFill>
                          <a:effectLst/>
                          <a:uFillTx/>
                          <a:latin typeface="Calibri"/>
                          <a:ea typeface="Calibri"/>
                        </a:rPr>
                        <a:t>Utilisateurs ciblés (cohorte, marché, A/B test) · décision réversible sous délai court</a:t>
                      </a:r>
                      <a:endParaRPr lang="fr-FR" sz="1100" b="0" u="none" strike="noStrike">
                        <a:solidFill>
                          <a:srgbClr val="000000"/>
                        </a:solidFill>
                        <a:effectLst/>
                        <a:uFillTx/>
                        <a:latin typeface="Arial"/>
                      </a:endParaRPr>
                    </a:p>
                  </a:txBody>
                  <a:tcPr anchor="ctr" marL="91440" marR="91440" marT="45720" marB="45720">
                    <a:lnL w="9360">
                      <a:solidFill>
                        <a:srgbClr val="D8DEE6"/>
                      </a:solidFill>
                      <a:prstDash val="solid"/>
                    </a:lnL>
                    <a:lnR w="9360">
                      <a:solidFill>
                        <a:srgbClr val="D8DEE6"/>
                      </a:solidFill>
                      <a:prstDash val="solid"/>
                    </a:lnR>
                    <a:lnT w="9360">
                      <a:solidFill>
                        <a:srgbClr val="D8DEE6"/>
                      </a:solidFill>
                      <a:prstDash val="solid"/>
                    </a:lnT>
                    <a:lnB w="9360">
                      <a:solidFill>
                        <a:srgbClr val="D8DEE6"/>
                      </a:solidFill>
                      <a:prstDash val="solid"/>
                    </a:lnB>
                    <a:solidFill>
                      <a:srgbClr val="FBF3E2"/>
                    </a:solidFill>
                  </a:tcPr>
                </a:tc>
                <a:tc>
                  <a:txBody>
                    <a:bodyPr anchor="ctr">
                      <a:noAutofit/>
                    </a:bodyPr>
                    <a:p>
                      <a:pPr defTabSz="914400">
                        <a:lnSpc>
                          <a:spcPct val="100000"/>
                        </a:lnSpc>
                        <a:tabLst>
                          <a:tab pos="0" algn="l"/>
                        </a:tabLst>
                      </a:pPr>
                      <a:r>
                        <a:rPr lang="en-US" sz="1100" b="1" u="none" strike="noStrike">
                          <a:solidFill>
                            <a:srgbClr val="1B2A4A"/>
                          </a:solidFill>
                          <a:effectLst/>
                          <a:uFillTx/>
                          <a:latin typeface="Calibri"/>
                          <a:ea typeface="Calibri"/>
                        </a:rPr>
                        <a:t>MO (R) → MRM (A)</a:t>
                      </a:r>
                      <a:endParaRPr lang="fr-FR" sz="1100" b="0" u="none" strike="noStrike">
                        <a:solidFill>
                          <a:srgbClr val="000000"/>
                        </a:solidFill>
                        <a:effectLst/>
                        <a:uFillTx/>
                        <a:latin typeface="Arial"/>
                      </a:endParaRPr>
                    </a:p>
                  </a:txBody>
                  <a:tcPr anchor="ctr" marL="91440" marR="91440" marT="45720" marB="45720">
                    <a:lnL w="9360">
                      <a:solidFill>
                        <a:srgbClr val="D8DEE6"/>
                      </a:solidFill>
                      <a:prstDash val="solid"/>
                    </a:lnL>
                    <a:lnR w="9360">
                      <a:solidFill>
                        <a:srgbClr val="D8DEE6"/>
                      </a:solidFill>
                      <a:prstDash val="solid"/>
                    </a:lnR>
                    <a:lnT w="9360">
                      <a:solidFill>
                        <a:srgbClr val="D8DEE6"/>
                      </a:solidFill>
                      <a:prstDash val="solid"/>
                    </a:lnT>
                    <a:lnB w="9360">
                      <a:solidFill>
                        <a:srgbClr val="D8DEE6"/>
                      </a:solidFill>
                      <a:prstDash val="solid"/>
                    </a:lnB>
                    <a:solidFill>
                      <a:srgbClr val="FBF3E2"/>
                    </a:solidFill>
                  </a:tcPr>
                </a:tc>
              </a:tr>
              <a:tr h="777240">
                <a:tc>
                  <a:txBody>
                    <a:bodyPr anchor="ctr">
                      <a:noAutofit/>
                    </a:bodyPr>
                    <a:p>
                      <a:pPr algn="ctr" defTabSz="914400">
                        <a:lnSpc>
                          <a:spcPct val="100000"/>
                        </a:lnSpc>
                        <a:tabLst>
                          <a:tab pos="0" algn="l"/>
                        </a:tabLst>
                      </a:pPr>
                      <a:r>
                        <a:rPr lang="en-US" sz="1200" b="1" u="none" strike="noStrike">
                          <a:solidFill>
                            <a:srgbClr val="1C8C68"/>
                          </a:solidFill>
                          <a:effectLst/>
                          <a:uFillTx/>
                          <a:latin typeface="Calibri"/>
                          <a:ea typeface="Calibri"/>
                        </a:rPr>
                        <a:t>Faible</a:t>
                      </a:r>
                      <a:endParaRPr lang="fr-FR" sz="1200" b="0" u="none" strike="noStrike">
                        <a:solidFill>
                          <a:srgbClr val="000000"/>
                        </a:solidFill>
                        <a:effectLst/>
                        <a:uFillTx/>
                        <a:latin typeface="Arial"/>
                      </a:endParaRPr>
                    </a:p>
                  </a:txBody>
                  <a:tcPr anchor="ctr" marL="91440" marR="91440" marT="45720" marB="45720">
                    <a:lnL w="9360">
                      <a:solidFill>
                        <a:srgbClr val="D8DEE6"/>
                      </a:solidFill>
                      <a:prstDash val="solid"/>
                    </a:lnL>
                    <a:lnR w="9360">
                      <a:solidFill>
                        <a:srgbClr val="D8DEE6"/>
                      </a:solidFill>
                      <a:prstDash val="solid"/>
                    </a:lnR>
                    <a:lnT w="9360">
                      <a:solidFill>
                        <a:srgbClr val="D8DEE6"/>
                      </a:solidFill>
                      <a:prstDash val="solid"/>
                    </a:lnT>
                    <a:lnB w="9360">
                      <a:solidFill>
                        <a:srgbClr val="D8DEE6"/>
                      </a:solidFill>
                      <a:prstDash val="solid"/>
                    </a:lnB>
                    <a:solidFill>
                      <a:srgbClr val="EAF7F1"/>
                    </a:solidFill>
                  </a:tcPr>
                </a:tc>
                <a:tc>
                  <a:txBody>
                    <a:bodyPr anchor="ctr">
                      <a:noAutofit/>
                    </a:bodyPr>
                    <a:p>
                      <a:pPr defTabSz="914400">
                        <a:lnSpc>
                          <a:spcPct val="100000"/>
                        </a:lnSpc>
                        <a:tabLst>
                          <a:tab pos="0" algn="l"/>
                        </a:tabLst>
                      </a:pPr>
                      <a:r>
                        <a:rPr lang="en-US" sz="1100" b="0" u="none" strike="noStrike">
                          <a:solidFill>
                            <a:srgbClr val="1B2A4A"/>
                          </a:solidFill>
                          <a:effectLst/>
                          <a:uFillTx/>
                          <a:latin typeface="Calibri"/>
                          <a:ea typeface="Calibri"/>
                        </a:rPr>
                        <a:t>Fonction auxiliaire, sans exposition directe à l'utilisateur final</a:t>
                      </a:r>
                      <a:endParaRPr lang="fr-FR" sz="1100" b="0" u="none" strike="noStrike">
                        <a:solidFill>
                          <a:srgbClr val="000000"/>
                        </a:solidFill>
                        <a:effectLst/>
                        <a:uFillTx/>
                        <a:latin typeface="Arial"/>
                      </a:endParaRPr>
                    </a:p>
                  </a:txBody>
                  <a:tcPr anchor="ctr" marL="91440" marR="91440" marT="45720" marB="45720">
                    <a:lnL w="9360">
                      <a:solidFill>
                        <a:srgbClr val="D8DEE6"/>
                      </a:solidFill>
                      <a:prstDash val="solid"/>
                    </a:lnL>
                    <a:lnR w="9360">
                      <a:solidFill>
                        <a:srgbClr val="D8DEE6"/>
                      </a:solidFill>
                      <a:prstDash val="solid"/>
                    </a:lnR>
                    <a:lnT w="9360">
                      <a:solidFill>
                        <a:srgbClr val="D8DEE6"/>
                      </a:solidFill>
                      <a:prstDash val="solid"/>
                    </a:lnT>
                    <a:lnB w="9360">
                      <a:solidFill>
                        <a:srgbClr val="D8DEE6"/>
                      </a:solidFill>
                      <a:prstDash val="solid"/>
                    </a:lnB>
                    <a:solidFill>
                      <a:srgbClr val="EAF7F1"/>
                    </a:solidFill>
                  </a:tcPr>
                </a:tc>
                <a:tc>
                  <a:txBody>
                    <a:bodyPr anchor="ctr">
                      <a:noAutofit/>
                    </a:bodyPr>
                    <a:p>
                      <a:pPr defTabSz="914400">
                        <a:lnSpc>
                          <a:spcPct val="100000"/>
                        </a:lnSpc>
                        <a:tabLst>
                          <a:tab pos="0" algn="l"/>
                        </a:tabLst>
                      </a:pPr>
                      <a:r>
                        <a:rPr lang="en-US" sz="1100" b="1" u="none" strike="noStrike">
                          <a:solidFill>
                            <a:srgbClr val="1B2A4A"/>
                          </a:solidFill>
                          <a:effectLst/>
                          <a:uFillTx/>
                          <a:latin typeface="Calibri"/>
                          <a:ea typeface="Calibri"/>
                        </a:rPr>
                        <a:t>MO (RA) · contrôle a posteriori par MRM (échantillonnage)</a:t>
                      </a:r>
                      <a:endParaRPr lang="fr-FR" sz="1100" b="0" u="none" strike="noStrike">
                        <a:solidFill>
                          <a:srgbClr val="000000"/>
                        </a:solidFill>
                        <a:effectLst/>
                        <a:uFillTx/>
                        <a:latin typeface="Arial"/>
                      </a:endParaRPr>
                    </a:p>
                  </a:txBody>
                  <a:tcPr anchor="ctr" marL="91440" marR="91440" marT="45720" marB="45720">
                    <a:lnL w="9360">
                      <a:solidFill>
                        <a:srgbClr val="D8DEE6"/>
                      </a:solidFill>
                      <a:prstDash val="solid"/>
                    </a:lnL>
                    <a:lnR w="9360">
                      <a:solidFill>
                        <a:srgbClr val="D8DEE6"/>
                      </a:solidFill>
                      <a:prstDash val="solid"/>
                    </a:lnR>
                    <a:lnT w="9360">
                      <a:solidFill>
                        <a:srgbClr val="D8DEE6"/>
                      </a:solidFill>
                      <a:prstDash val="solid"/>
                    </a:lnT>
                    <a:lnB w="9360">
                      <a:solidFill>
                        <a:srgbClr val="D8DEE6"/>
                      </a:solidFill>
                      <a:prstDash val="solid"/>
                    </a:lnB>
                    <a:solidFill>
                      <a:srgbClr val="EAF7F1"/>
                    </a:solidFill>
                  </a:tcPr>
                </a:tc>
              </a:tr>
            </a:tbl>
          </a:graphicData>
        </a:graphic>
      </p:graphicFrame>
      <p:sp>
        <p:nvSpPr>
          <p:cNvPr id="159" name="Text 14"/>
          <p:cNvSpPr/>
          <p:nvPr/>
        </p:nvSpPr>
        <p:spPr>
          <a:xfrm>
            <a:off x="548640" y="6035040"/>
            <a:ext cx="110905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8493A8"/>
                </a:solidFill>
                <a:effectLst/>
                <a:uFillTx/>
                <a:latin typeface="Calibri"/>
                <a:ea typeface="Calibri"/>
              </a:rPr>
              <a:t>MO = Model Owner · MRM = Model Risk Manager · DGC = Data Governance Committee · R = Responsible, A = Accountable, C = Consulted</a:t>
            </a:r>
            <a:endParaRPr lang="fr-FR" sz="950" b="0" u="none" strike="noStrike">
              <a:solidFill>
                <a:srgbClr val="000000"/>
              </a:solidFill>
              <a:effectLst/>
              <a:uFillTx/>
              <a:latin typeface="Arial"/>
            </a:endParaRPr>
          </a:p>
        </p:txBody>
      </p:sp>
      <p:sp>
        <p:nvSpPr>
          <p:cNvPr id="160" name="Text 15"/>
          <p:cNvSpPr/>
          <p:nvPr/>
        </p:nvSpPr>
        <p:spPr>
          <a:xfrm>
            <a:off x="548640" y="6473880"/>
            <a:ext cx="86857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8493A8"/>
                </a:solidFill>
                <a:effectLst/>
                <a:uFillTx/>
                <a:latin typeface="Calibri"/>
                <a:ea typeface="Calibri"/>
              </a:rPr>
              <a:t>Source : [D21] §2.1.5</a:t>
            </a:r>
            <a:endParaRPr lang="fr-FR" sz="950" b="0" u="none" strike="noStrike">
              <a:solidFill>
                <a:srgbClr val="000000"/>
              </a:solidFill>
              <a:effectLst/>
              <a:uFillTx/>
              <a:latin typeface="Arial"/>
            </a:endParaRPr>
          </a:p>
        </p:txBody>
      </p:sp>
      <p:sp>
        <p:nvSpPr>
          <p:cNvPr id="161" name="Text 16"/>
          <p:cNvSpPr/>
          <p:nvPr/>
        </p:nvSpPr>
        <p:spPr>
          <a:xfrm>
            <a:off x="11003040" y="6473880"/>
            <a:ext cx="8218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50" b="0" u="none" strike="noStrike">
                <a:solidFill>
                  <a:srgbClr val="8493A8"/>
                </a:solidFill>
                <a:effectLst/>
                <a:uFillTx/>
                <a:latin typeface="Calibri"/>
                <a:ea typeface="Calibri"/>
              </a:rPr>
              <a:t>7 / 10</a:t>
            </a:r>
            <a:endParaRPr lang="fr-FR"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4F7"/>
        </a:solidFill>
      </p:bgPr>
    </p:bg>
    <p:spTree>
      <p:nvGrpSpPr>
        <p:cNvPr id="1" name=""/>
        <p:cNvGrpSpPr/>
        <p:nvPr/>
      </p:nvGrpSpPr>
      <p:grpSpPr>
        <a:xfrm>
          <a:off x="0" y="0"/>
          <a:ext cx="0" cy="0"/>
          <a:chOff x="0" y="0"/>
          <a:chExt cx="0" cy="0"/>
        </a:xfrm>
      </p:grpSpPr>
      <p:sp>
        <p:nvSpPr>
          <p:cNvPr id="162" name="Text 0"/>
          <p:cNvSpPr/>
          <p:nvPr/>
        </p:nvSpPr>
        <p:spPr>
          <a:xfrm>
            <a:off x="548640" y="384120"/>
            <a:ext cx="731412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201" strike="noStrike">
                <a:solidFill>
                  <a:srgbClr val="1C8C68"/>
                </a:solidFill>
                <a:effectLst/>
                <a:uFillTx/>
                <a:latin typeface="Calibri"/>
                <a:ea typeface="Calibri"/>
              </a:rPr>
              <a:t>MISE EN ŒUVRE</a:t>
            </a:r>
            <a:endParaRPr lang="fr-FR" sz="1200" b="0" u="none" strike="noStrike">
              <a:solidFill>
                <a:srgbClr val="000000"/>
              </a:solidFill>
              <a:effectLst/>
              <a:uFillTx/>
              <a:latin typeface="Arial"/>
            </a:endParaRPr>
          </a:p>
        </p:txBody>
      </p:sp>
      <p:sp>
        <p:nvSpPr>
          <p:cNvPr id="163" name="Text 1"/>
          <p:cNvSpPr/>
          <p:nvPr/>
        </p:nvSpPr>
        <p:spPr>
          <a:xfrm>
            <a:off x="548640" y="658440"/>
            <a:ext cx="9691560" cy="8676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fr-FR" sz="2800" b="1" u="none" strike="noStrike">
                <a:solidFill>
                  <a:srgbClr val="1B2A4A"/>
                </a:solidFill>
                <a:effectLst/>
                <a:uFillTx/>
                <a:latin typeface="Cambria"/>
                <a:ea typeface="Cambria"/>
              </a:rPr>
              <a:t>Un outillage ciblé, testé sur un pilote de 21 semaines</a:t>
            </a:r>
            <a:endParaRPr lang="fr-FR" sz="2800" b="0" u="none" strike="noStrike">
              <a:solidFill>
                <a:srgbClr val="000000"/>
              </a:solidFill>
              <a:effectLst/>
              <a:uFillTx/>
              <a:latin typeface="Arial"/>
            </a:endParaRPr>
          </a:p>
        </p:txBody>
      </p:sp>
      <p:pic>
        <p:nvPicPr>
          <p:cNvPr id="164" name="Image 0" descr="icons/icon_tool.png"/>
          <p:cNvPicPr/>
          <p:nvPr/>
        </p:nvPicPr>
        <p:blipFill>
          <a:blip r:embed="rId1"/>
          <a:stretch/>
        </p:blipFill>
        <p:spPr>
          <a:xfrm>
            <a:off x="11140200" y="365760"/>
            <a:ext cx="657360" cy="657360"/>
          </a:xfrm>
          <a:prstGeom prst="rect">
            <a:avLst/>
          </a:prstGeom>
          <a:noFill/>
          <a:ln w="0">
            <a:noFill/>
          </a:ln>
        </p:spPr>
      </p:pic>
      <p:sp>
        <p:nvSpPr>
          <p:cNvPr id="165" name="Text 2"/>
          <p:cNvSpPr/>
          <p:nvPr/>
        </p:nvSpPr>
        <p:spPr>
          <a:xfrm>
            <a:off x="548640" y="1600200"/>
            <a:ext cx="575964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1B2A4A"/>
                </a:solidFill>
                <a:effectLst/>
                <a:uFillTx/>
                <a:latin typeface="Calibri"/>
                <a:ea typeface="Calibri"/>
              </a:rPr>
              <a:t>Outillage par catégorie</a:t>
            </a:r>
            <a:endParaRPr lang="fr-FR" sz="1400" b="0" u="none" strike="noStrike">
              <a:solidFill>
                <a:srgbClr val="000000"/>
              </a:solidFill>
              <a:effectLst/>
              <a:uFillTx/>
              <a:latin typeface="Arial"/>
            </a:endParaRPr>
          </a:p>
        </p:txBody>
      </p:sp>
      <p:sp>
        <p:nvSpPr>
          <p:cNvPr id="166" name="Shape 3"/>
          <p:cNvSpPr/>
          <p:nvPr/>
        </p:nvSpPr>
        <p:spPr>
          <a:xfrm>
            <a:off x="548640" y="2011680"/>
            <a:ext cx="5759640" cy="693720"/>
          </a:xfrm>
          <a:prstGeom prst="roundRect">
            <a:avLst>
              <a:gd name="adj" fmla="val 10526"/>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67" name="Shape 4"/>
          <p:cNvSpPr/>
          <p:nvPr/>
        </p:nvSpPr>
        <p:spPr>
          <a:xfrm>
            <a:off x="713160" y="2139840"/>
            <a:ext cx="437760" cy="437760"/>
          </a:xfrm>
          <a:prstGeom prst="ellipse">
            <a:avLst/>
          </a:prstGeom>
          <a:solidFill>
            <a:srgbClr val="2DBE8C"/>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68" name="Text 5"/>
          <p:cNvSpPr/>
          <p:nvPr/>
        </p:nvSpPr>
        <p:spPr>
          <a:xfrm>
            <a:off x="713160" y="2139840"/>
            <a:ext cx="437760" cy="437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50" b="1" u="none" strike="noStrike">
                <a:solidFill>
                  <a:srgbClr val="1B2A4A"/>
                </a:solidFill>
                <a:effectLst/>
                <a:uFillTx/>
                <a:latin typeface="Calibri"/>
                <a:ea typeface="Calibri"/>
              </a:rPr>
              <a:t>E1</a:t>
            </a:r>
            <a:endParaRPr lang="fr-FR" sz="950" b="0" u="none" strike="noStrike">
              <a:solidFill>
                <a:srgbClr val="000000"/>
              </a:solidFill>
              <a:effectLst/>
              <a:uFillTx/>
              <a:latin typeface="Arial"/>
            </a:endParaRPr>
          </a:p>
        </p:txBody>
      </p:sp>
      <p:sp>
        <p:nvSpPr>
          <p:cNvPr id="169" name="Text 6"/>
          <p:cNvSpPr/>
          <p:nvPr/>
        </p:nvSpPr>
        <p:spPr>
          <a:xfrm>
            <a:off x="1325880" y="2084760"/>
            <a:ext cx="475380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B2A4A"/>
                </a:solidFill>
                <a:effectLst/>
                <a:uFillTx/>
                <a:latin typeface="Calibri"/>
                <a:ea typeface="Calibri"/>
              </a:rPr>
              <a:t>Catalogage</a:t>
            </a:r>
            <a:endParaRPr lang="fr-FR" sz="1250" b="0" u="none" strike="noStrike">
              <a:solidFill>
                <a:srgbClr val="000000"/>
              </a:solidFill>
              <a:effectLst/>
              <a:uFillTx/>
              <a:latin typeface="Arial"/>
            </a:endParaRPr>
          </a:p>
        </p:txBody>
      </p:sp>
      <p:sp>
        <p:nvSpPr>
          <p:cNvPr id="170" name="Text 7"/>
          <p:cNvSpPr/>
          <p:nvPr/>
        </p:nvSpPr>
        <p:spPr>
          <a:xfrm>
            <a:off x="1325880" y="2359080"/>
            <a:ext cx="475380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trike="noStrike">
                <a:solidFill>
                  <a:srgbClr val="5B6B84"/>
                </a:solidFill>
                <a:effectLst/>
                <a:uFillTx/>
                <a:latin typeface="Calibri"/>
                <a:ea typeface="Calibri"/>
              </a:rPr>
              <a:t>OpenMetadata + Collibra</a:t>
            </a:r>
            <a:endParaRPr lang="fr-FR" sz="1100" b="0" u="none" strike="noStrike">
              <a:solidFill>
                <a:srgbClr val="000000"/>
              </a:solidFill>
              <a:effectLst/>
              <a:uFillTx/>
              <a:latin typeface="Arial"/>
            </a:endParaRPr>
          </a:p>
        </p:txBody>
      </p:sp>
      <p:sp>
        <p:nvSpPr>
          <p:cNvPr id="171" name="Shape 8"/>
          <p:cNvSpPr/>
          <p:nvPr/>
        </p:nvSpPr>
        <p:spPr>
          <a:xfrm>
            <a:off x="548640" y="2797920"/>
            <a:ext cx="5759640" cy="693720"/>
          </a:xfrm>
          <a:prstGeom prst="roundRect">
            <a:avLst>
              <a:gd name="adj" fmla="val 10526"/>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2" name="Shape 9"/>
          <p:cNvSpPr/>
          <p:nvPr/>
        </p:nvSpPr>
        <p:spPr>
          <a:xfrm>
            <a:off x="713160" y="2926080"/>
            <a:ext cx="437760" cy="437760"/>
          </a:xfrm>
          <a:prstGeom prst="ellipse">
            <a:avLst/>
          </a:prstGeom>
          <a:solidFill>
            <a:srgbClr val="2DBE8C"/>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3" name="Text 10"/>
          <p:cNvSpPr/>
          <p:nvPr/>
        </p:nvSpPr>
        <p:spPr>
          <a:xfrm>
            <a:off x="713160" y="2926080"/>
            <a:ext cx="437760" cy="437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50" b="1" u="none" strike="noStrike">
                <a:solidFill>
                  <a:srgbClr val="1B2A4A"/>
                </a:solidFill>
                <a:effectLst/>
                <a:uFillTx/>
                <a:latin typeface="Calibri"/>
                <a:ea typeface="Calibri"/>
              </a:rPr>
              <a:t>E2, E5</a:t>
            </a:r>
            <a:endParaRPr lang="fr-FR" sz="950" b="0" u="none" strike="noStrike">
              <a:solidFill>
                <a:srgbClr val="000000"/>
              </a:solidFill>
              <a:effectLst/>
              <a:uFillTx/>
              <a:latin typeface="Arial"/>
            </a:endParaRPr>
          </a:p>
        </p:txBody>
      </p:sp>
      <p:sp>
        <p:nvSpPr>
          <p:cNvPr id="174" name="Text 11"/>
          <p:cNvSpPr/>
          <p:nvPr/>
        </p:nvSpPr>
        <p:spPr>
          <a:xfrm>
            <a:off x="1325880" y="2871360"/>
            <a:ext cx="475380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B2A4A"/>
                </a:solidFill>
                <a:effectLst/>
                <a:uFillTx/>
                <a:latin typeface="Calibri"/>
                <a:ea typeface="Calibri"/>
              </a:rPr>
              <a:t>Qualité</a:t>
            </a:r>
            <a:endParaRPr lang="fr-FR" sz="1250" b="0" u="none" strike="noStrike">
              <a:solidFill>
                <a:srgbClr val="000000"/>
              </a:solidFill>
              <a:effectLst/>
              <a:uFillTx/>
              <a:latin typeface="Arial"/>
            </a:endParaRPr>
          </a:p>
        </p:txBody>
      </p:sp>
      <p:sp>
        <p:nvSpPr>
          <p:cNvPr id="175" name="Text 12"/>
          <p:cNvSpPr/>
          <p:nvPr/>
        </p:nvSpPr>
        <p:spPr>
          <a:xfrm>
            <a:off x="1325880" y="3145680"/>
            <a:ext cx="475380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trike="noStrike">
                <a:solidFill>
                  <a:srgbClr val="5B6B84"/>
                </a:solidFill>
                <a:effectLst/>
                <a:uFillTx/>
                <a:latin typeface="Calibri"/>
                <a:ea typeface="Calibri"/>
              </a:rPr>
              <a:t>Soda Core</a:t>
            </a:r>
            <a:endParaRPr lang="fr-FR" sz="1100" b="0" u="none" strike="noStrike">
              <a:solidFill>
                <a:srgbClr val="000000"/>
              </a:solidFill>
              <a:effectLst/>
              <a:uFillTx/>
              <a:latin typeface="Arial"/>
            </a:endParaRPr>
          </a:p>
        </p:txBody>
      </p:sp>
      <p:sp>
        <p:nvSpPr>
          <p:cNvPr id="176" name="Shape 13"/>
          <p:cNvSpPr/>
          <p:nvPr/>
        </p:nvSpPr>
        <p:spPr>
          <a:xfrm>
            <a:off x="548640" y="3584520"/>
            <a:ext cx="5759640" cy="693720"/>
          </a:xfrm>
          <a:prstGeom prst="roundRect">
            <a:avLst>
              <a:gd name="adj" fmla="val 10526"/>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7" name="Shape 14"/>
          <p:cNvSpPr/>
          <p:nvPr/>
        </p:nvSpPr>
        <p:spPr>
          <a:xfrm>
            <a:off x="713160" y="3712320"/>
            <a:ext cx="437760" cy="437760"/>
          </a:xfrm>
          <a:prstGeom prst="ellipse">
            <a:avLst/>
          </a:prstGeom>
          <a:solidFill>
            <a:srgbClr val="2DBE8C"/>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78" name="Text 15"/>
          <p:cNvSpPr/>
          <p:nvPr/>
        </p:nvSpPr>
        <p:spPr>
          <a:xfrm>
            <a:off x="713160" y="3712320"/>
            <a:ext cx="437760" cy="437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50" b="1" u="none" strike="noStrike">
                <a:solidFill>
                  <a:srgbClr val="1B2A4A"/>
                </a:solidFill>
                <a:effectLst/>
                <a:uFillTx/>
                <a:latin typeface="Calibri"/>
                <a:ea typeface="Calibri"/>
              </a:rPr>
              <a:t>E3, E4</a:t>
            </a:r>
            <a:endParaRPr lang="fr-FR" sz="950" b="0" u="none" strike="noStrike">
              <a:solidFill>
                <a:srgbClr val="000000"/>
              </a:solidFill>
              <a:effectLst/>
              <a:uFillTx/>
              <a:latin typeface="Arial"/>
            </a:endParaRPr>
          </a:p>
        </p:txBody>
      </p:sp>
      <p:sp>
        <p:nvSpPr>
          <p:cNvPr id="179" name="Text 16"/>
          <p:cNvSpPr/>
          <p:nvPr/>
        </p:nvSpPr>
        <p:spPr>
          <a:xfrm>
            <a:off x="1325880" y="3657600"/>
            <a:ext cx="475380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B2A4A"/>
                </a:solidFill>
                <a:effectLst/>
                <a:uFillTx/>
                <a:latin typeface="Calibri"/>
                <a:ea typeface="Calibri"/>
              </a:rPr>
              <a:t>Conformité</a:t>
            </a:r>
            <a:endParaRPr lang="fr-FR" sz="1250" b="0" u="none" strike="noStrike">
              <a:solidFill>
                <a:srgbClr val="000000"/>
              </a:solidFill>
              <a:effectLst/>
              <a:uFillTx/>
              <a:latin typeface="Arial"/>
            </a:endParaRPr>
          </a:p>
        </p:txBody>
      </p:sp>
      <p:sp>
        <p:nvSpPr>
          <p:cNvPr id="180" name="Text 17"/>
          <p:cNvSpPr/>
          <p:nvPr/>
        </p:nvSpPr>
        <p:spPr>
          <a:xfrm>
            <a:off x="1325880" y="3931920"/>
            <a:ext cx="475380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trike="noStrike">
                <a:solidFill>
                  <a:srgbClr val="5B6B84"/>
                </a:solidFill>
                <a:effectLst/>
                <a:uFillTx/>
                <a:latin typeface="Calibri"/>
                <a:ea typeface="Calibri"/>
              </a:rPr>
              <a:t>TrustArc</a:t>
            </a:r>
            <a:endParaRPr lang="fr-FR" sz="1100" b="0" u="none" strike="noStrike">
              <a:solidFill>
                <a:srgbClr val="000000"/>
              </a:solidFill>
              <a:effectLst/>
              <a:uFillTx/>
              <a:latin typeface="Arial"/>
            </a:endParaRPr>
          </a:p>
        </p:txBody>
      </p:sp>
      <p:sp>
        <p:nvSpPr>
          <p:cNvPr id="181" name="Shape 18"/>
          <p:cNvSpPr/>
          <p:nvPr/>
        </p:nvSpPr>
        <p:spPr>
          <a:xfrm>
            <a:off x="548640" y="4370760"/>
            <a:ext cx="5759640" cy="693720"/>
          </a:xfrm>
          <a:prstGeom prst="roundRect">
            <a:avLst>
              <a:gd name="adj" fmla="val 10526"/>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82" name="Shape 19"/>
          <p:cNvSpPr/>
          <p:nvPr/>
        </p:nvSpPr>
        <p:spPr>
          <a:xfrm>
            <a:off x="713160" y="4498920"/>
            <a:ext cx="437760" cy="437760"/>
          </a:xfrm>
          <a:prstGeom prst="ellipse">
            <a:avLst/>
          </a:prstGeom>
          <a:solidFill>
            <a:srgbClr val="2DBE8C"/>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83" name="Text 20"/>
          <p:cNvSpPr/>
          <p:nvPr/>
        </p:nvSpPr>
        <p:spPr>
          <a:xfrm>
            <a:off x="713160" y="4498920"/>
            <a:ext cx="437760" cy="437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50" b="1" u="none" strike="noStrike">
                <a:solidFill>
                  <a:srgbClr val="1B2A4A"/>
                </a:solidFill>
                <a:effectLst/>
                <a:uFillTx/>
                <a:latin typeface="Calibri"/>
                <a:ea typeface="Calibri"/>
              </a:rPr>
              <a:t>P3</a:t>
            </a:r>
            <a:endParaRPr lang="fr-FR" sz="950" b="0" u="none" strike="noStrike">
              <a:solidFill>
                <a:srgbClr val="000000"/>
              </a:solidFill>
              <a:effectLst/>
              <a:uFillTx/>
              <a:latin typeface="Arial"/>
            </a:endParaRPr>
          </a:p>
        </p:txBody>
      </p:sp>
      <p:sp>
        <p:nvSpPr>
          <p:cNvPr id="184" name="Text 21"/>
          <p:cNvSpPr/>
          <p:nvPr/>
        </p:nvSpPr>
        <p:spPr>
          <a:xfrm>
            <a:off x="1325880" y="4443840"/>
            <a:ext cx="475380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B2A4A"/>
                </a:solidFill>
                <a:effectLst/>
                <a:uFillTx/>
                <a:latin typeface="Calibri"/>
                <a:ea typeface="Calibri"/>
              </a:rPr>
              <a:t>Sécurité</a:t>
            </a:r>
            <a:endParaRPr lang="fr-FR" sz="1250" b="0" u="none" strike="noStrike">
              <a:solidFill>
                <a:srgbClr val="000000"/>
              </a:solidFill>
              <a:effectLst/>
              <a:uFillTx/>
              <a:latin typeface="Arial"/>
            </a:endParaRPr>
          </a:p>
        </p:txBody>
      </p:sp>
      <p:sp>
        <p:nvSpPr>
          <p:cNvPr id="185" name="Text 22"/>
          <p:cNvSpPr/>
          <p:nvPr/>
        </p:nvSpPr>
        <p:spPr>
          <a:xfrm>
            <a:off x="1325880" y="4718160"/>
            <a:ext cx="475380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fr-FR" sz="1100" b="0" u="none" strike="noStrike">
                <a:solidFill>
                  <a:srgbClr val="5B6B84"/>
                </a:solidFill>
                <a:effectLst/>
                <a:uFillTx/>
                <a:latin typeface="Calibri"/>
                <a:ea typeface="Calibri"/>
              </a:rPr>
              <a:t>Wazuh + OpenBao (inc. modules Transit Secrets Engine &amp; AWS Secrets Engine)</a:t>
            </a:r>
            <a:endParaRPr lang="fr-FR" sz="1100" b="0" u="none" strike="noStrike">
              <a:solidFill>
                <a:srgbClr val="000000"/>
              </a:solidFill>
              <a:effectLst/>
              <a:uFillTx/>
              <a:latin typeface="Arial"/>
            </a:endParaRPr>
          </a:p>
        </p:txBody>
      </p:sp>
      <p:sp>
        <p:nvSpPr>
          <p:cNvPr id="186" name="Shape 23"/>
          <p:cNvSpPr/>
          <p:nvPr/>
        </p:nvSpPr>
        <p:spPr>
          <a:xfrm>
            <a:off x="548640" y="5157360"/>
            <a:ext cx="5759640" cy="693720"/>
          </a:xfrm>
          <a:prstGeom prst="roundRect">
            <a:avLst>
              <a:gd name="adj" fmla="val 10526"/>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87" name="Shape 24"/>
          <p:cNvSpPr/>
          <p:nvPr/>
        </p:nvSpPr>
        <p:spPr>
          <a:xfrm>
            <a:off x="713160" y="5285160"/>
            <a:ext cx="437760" cy="437760"/>
          </a:xfrm>
          <a:prstGeom prst="ellipse">
            <a:avLst/>
          </a:prstGeom>
          <a:solidFill>
            <a:srgbClr val="2DBE8C"/>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88" name="Text 25"/>
          <p:cNvSpPr/>
          <p:nvPr/>
        </p:nvSpPr>
        <p:spPr>
          <a:xfrm>
            <a:off x="713160" y="5285160"/>
            <a:ext cx="437760" cy="437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950" b="1" u="none" strike="noStrike">
                <a:solidFill>
                  <a:srgbClr val="1B2A4A"/>
                </a:solidFill>
                <a:effectLst/>
                <a:uFillTx/>
                <a:latin typeface="Calibri"/>
                <a:ea typeface="Calibri"/>
              </a:rPr>
              <a:t>E5</a:t>
            </a:r>
            <a:endParaRPr lang="fr-FR" sz="950" b="0" u="none" strike="noStrike">
              <a:solidFill>
                <a:srgbClr val="000000"/>
              </a:solidFill>
              <a:effectLst/>
              <a:uFillTx/>
              <a:latin typeface="Arial"/>
            </a:endParaRPr>
          </a:p>
        </p:txBody>
      </p:sp>
      <p:sp>
        <p:nvSpPr>
          <p:cNvPr id="189" name="Text 26"/>
          <p:cNvSpPr/>
          <p:nvPr/>
        </p:nvSpPr>
        <p:spPr>
          <a:xfrm>
            <a:off x="1325880" y="5230440"/>
            <a:ext cx="475380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B2A4A"/>
                </a:solidFill>
                <a:effectLst/>
                <a:uFillTx/>
                <a:latin typeface="Calibri"/>
                <a:ea typeface="Calibri"/>
              </a:rPr>
              <a:t>Gouvernance IA</a:t>
            </a:r>
            <a:endParaRPr lang="fr-FR" sz="1250" b="0" u="none" strike="noStrike">
              <a:solidFill>
                <a:srgbClr val="000000"/>
              </a:solidFill>
              <a:effectLst/>
              <a:uFillTx/>
              <a:latin typeface="Arial"/>
            </a:endParaRPr>
          </a:p>
        </p:txBody>
      </p:sp>
      <p:sp>
        <p:nvSpPr>
          <p:cNvPr id="190" name="Text 27"/>
          <p:cNvSpPr/>
          <p:nvPr/>
        </p:nvSpPr>
        <p:spPr>
          <a:xfrm>
            <a:off x="1325880" y="5504760"/>
            <a:ext cx="475380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00" b="0" u="none" strike="noStrike">
                <a:solidFill>
                  <a:srgbClr val="5B6B84"/>
                </a:solidFill>
                <a:effectLst/>
                <a:uFillTx/>
                <a:latin typeface="Calibri"/>
                <a:ea typeface="Calibri"/>
              </a:rPr>
              <a:t>MLflow + DVC + AIF360 + AIX360</a:t>
            </a:r>
            <a:endParaRPr lang="fr-FR" sz="1100" b="0" u="none" strike="noStrike">
              <a:solidFill>
                <a:srgbClr val="000000"/>
              </a:solidFill>
              <a:effectLst/>
              <a:uFillTx/>
              <a:latin typeface="Arial"/>
            </a:endParaRPr>
          </a:p>
        </p:txBody>
      </p:sp>
      <p:sp>
        <p:nvSpPr>
          <p:cNvPr id="191" name="Text 28"/>
          <p:cNvSpPr/>
          <p:nvPr/>
        </p:nvSpPr>
        <p:spPr>
          <a:xfrm>
            <a:off x="6583680" y="1600200"/>
            <a:ext cx="507384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1B2A4A"/>
                </a:solidFill>
                <a:effectLst/>
                <a:uFillTx/>
                <a:latin typeface="Calibri"/>
                <a:ea typeface="Calibri"/>
              </a:rPr>
              <a:t>Pilote — système de recommandation</a:t>
            </a:r>
            <a:endParaRPr lang="fr-FR" sz="1400" b="0" u="none" strike="noStrike">
              <a:solidFill>
                <a:srgbClr val="000000"/>
              </a:solidFill>
              <a:effectLst/>
              <a:uFillTx/>
              <a:latin typeface="Arial"/>
            </a:endParaRPr>
          </a:p>
        </p:txBody>
      </p:sp>
      <p:sp>
        <p:nvSpPr>
          <p:cNvPr id="192" name="Shape 29"/>
          <p:cNvSpPr/>
          <p:nvPr/>
        </p:nvSpPr>
        <p:spPr>
          <a:xfrm>
            <a:off x="6583680" y="2011680"/>
            <a:ext cx="5073840" cy="1004760"/>
          </a:xfrm>
          <a:prstGeom prst="roundRect">
            <a:avLst>
              <a:gd name="adj" fmla="val 7273"/>
            </a:avLst>
          </a:prstGeom>
          <a:solidFill>
            <a:srgbClr val="EAF7F1"/>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93" name="Text 30"/>
          <p:cNvSpPr/>
          <p:nvPr/>
        </p:nvSpPr>
        <p:spPr>
          <a:xfrm>
            <a:off x="6812280" y="2121480"/>
            <a:ext cx="4616640" cy="410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000" b="1" u="none" strike="noStrike">
                <a:solidFill>
                  <a:srgbClr val="1C8C68"/>
                </a:solidFill>
                <a:effectLst/>
                <a:uFillTx/>
                <a:latin typeface="Cambria"/>
                <a:ea typeface="Cambria"/>
              </a:rPr>
              <a:t>21 semaines</a:t>
            </a:r>
            <a:endParaRPr lang="fr-FR" sz="2000" b="0" u="none" strike="noStrike">
              <a:solidFill>
                <a:srgbClr val="000000"/>
              </a:solidFill>
              <a:effectLst/>
              <a:uFillTx/>
              <a:latin typeface="Arial"/>
            </a:endParaRPr>
          </a:p>
        </p:txBody>
      </p:sp>
      <p:sp>
        <p:nvSpPr>
          <p:cNvPr id="194" name="Text 31"/>
          <p:cNvSpPr/>
          <p:nvPr/>
        </p:nvSpPr>
        <p:spPr>
          <a:xfrm>
            <a:off x="6812280" y="2541960"/>
            <a:ext cx="4616640" cy="437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50" b="0" u="none" strike="noStrike">
                <a:solidFill>
                  <a:srgbClr val="5B6B84"/>
                </a:solidFill>
                <a:effectLst/>
                <a:uFillTx/>
                <a:latin typeface="Calibri"/>
                <a:ea typeface="Calibri"/>
              </a:rPr>
              <a:t>dont 7 semaines de sécurisation bloquante (annuaire central, migration des accès)</a:t>
            </a:r>
            <a:endParaRPr lang="fr-FR" sz="1050" b="0" u="none" strike="noStrike">
              <a:solidFill>
                <a:srgbClr val="000000"/>
              </a:solidFill>
              <a:effectLst/>
              <a:uFillTx/>
              <a:latin typeface="Arial"/>
            </a:endParaRPr>
          </a:p>
        </p:txBody>
      </p:sp>
      <p:sp>
        <p:nvSpPr>
          <p:cNvPr id="195" name="Shape 32"/>
          <p:cNvSpPr/>
          <p:nvPr/>
        </p:nvSpPr>
        <p:spPr>
          <a:xfrm>
            <a:off x="6583680" y="3154680"/>
            <a:ext cx="5073840" cy="1187640"/>
          </a:xfrm>
          <a:prstGeom prst="roundRect">
            <a:avLst>
              <a:gd name="adj" fmla="val 6154"/>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96" name="Text 33"/>
          <p:cNvSpPr/>
          <p:nvPr/>
        </p:nvSpPr>
        <p:spPr>
          <a:xfrm>
            <a:off x="6812280" y="3273480"/>
            <a:ext cx="461664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1B2A4A"/>
                </a:solidFill>
                <a:effectLst/>
                <a:uFillTx/>
                <a:latin typeface="Calibri"/>
                <a:ea typeface="Calibri"/>
              </a:rPr>
              <a:t>Périmètre</a:t>
            </a:r>
            <a:endParaRPr lang="fr-FR" sz="1200" b="0" u="none" strike="noStrike">
              <a:solidFill>
                <a:srgbClr val="000000"/>
              </a:solidFill>
              <a:effectLst/>
              <a:uFillTx/>
              <a:latin typeface="Arial"/>
            </a:endParaRPr>
          </a:p>
        </p:txBody>
      </p:sp>
      <p:sp>
        <p:nvSpPr>
          <p:cNvPr id="197" name="Text 34"/>
          <p:cNvSpPr/>
          <p:nvPr/>
        </p:nvSpPr>
        <p:spPr>
          <a:xfrm>
            <a:off x="6812280" y="3566160"/>
            <a:ext cx="4616640" cy="730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5B6B84"/>
                </a:solidFill>
                <a:effectLst/>
                <a:uFillTx/>
                <a:latin typeface="Calibri"/>
                <a:ea typeface="Calibri"/>
              </a:rPr>
              <a:t>Modèles et données d'entraînement du système de recommandation</a:t>
            </a:r>
            <a:br>
              <a:rPr sz="1100"/>
            </a:br>
            <a:r>
              <a:rPr lang="fr-FR" sz="1100" b="0" u="none" strike="noStrike">
                <a:solidFill>
                  <a:srgbClr val="5B6B84"/>
                </a:solidFill>
                <a:effectLst/>
                <a:uFillTx/>
                <a:latin typeface="Calibri"/>
                <a:ea typeface="Calibri"/>
              </a:rPr>
              <a:t>au sein du département </a:t>
            </a:r>
            <a:r>
              <a:rPr lang="fr-FR" sz="1100" b="0" i="1" u="none" strike="noStrike">
                <a:solidFill>
                  <a:srgbClr val="5B6B84"/>
                </a:solidFill>
                <a:effectLst/>
                <a:uFillTx/>
                <a:latin typeface="Calibri"/>
                <a:ea typeface="Calibri"/>
              </a:rPr>
              <a:t>Product Development</a:t>
            </a:r>
            <a:endParaRPr lang="fr-FR" sz="1100" b="0" u="none" strike="noStrike">
              <a:solidFill>
                <a:srgbClr val="000000"/>
              </a:solidFill>
              <a:effectLst/>
              <a:uFillTx/>
              <a:latin typeface="Arial"/>
            </a:endParaRPr>
          </a:p>
        </p:txBody>
      </p:sp>
      <p:sp>
        <p:nvSpPr>
          <p:cNvPr id="198" name="Shape 35"/>
          <p:cNvSpPr/>
          <p:nvPr/>
        </p:nvSpPr>
        <p:spPr>
          <a:xfrm>
            <a:off x="6583680" y="4480560"/>
            <a:ext cx="5073840" cy="1187640"/>
          </a:xfrm>
          <a:prstGeom prst="roundRect">
            <a:avLst>
              <a:gd name="adj" fmla="val 6154"/>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99" name="Text 36"/>
          <p:cNvSpPr/>
          <p:nvPr/>
        </p:nvSpPr>
        <p:spPr>
          <a:xfrm>
            <a:off x="6812280" y="4599360"/>
            <a:ext cx="461664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1B2A4A"/>
                </a:solidFill>
                <a:effectLst/>
                <a:uFillTx/>
                <a:latin typeface="Calibri"/>
                <a:ea typeface="Calibri"/>
              </a:rPr>
              <a:t>Indicateurs clés (DMAT)</a:t>
            </a:r>
            <a:endParaRPr lang="fr-FR" sz="1200" b="0" u="none" strike="noStrike">
              <a:solidFill>
                <a:srgbClr val="000000"/>
              </a:solidFill>
              <a:effectLst/>
              <a:uFillTx/>
              <a:latin typeface="Arial"/>
            </a:endParaRPr>
          </a:p>
        </p:txBody>
      </p:sp>
      <p:sp>
        <p:nvSpPr>
          <p:cNvPr id="200" name="Text 37"/>
          <p:cNvSpPr/>
          <p:nvPr/>
        </p:nvSpPr>
        <p:spPr>
          <a:xfrm>
            <a:off x="6812280" y="4892040"/>
            <a:ext cx="4616640" cy="730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100" b="0" u="none" strike="noStrike">
                <a:solidFill>
                  <a:srgbClr val="5B6B84"/>
                </a:solidFill>
                <a:effectLst/>
                <a:uFillTx/>
                <a:latin typeface="Calibri"/>
                <a:ea typeface="Calibri"/>
              </a:rPr>
              <a:t>Gouvernance &amp; Qualité : niveau 1 → 2</a:t>
            </a:r>
            <a:br>
              <a:rPr sz="1100"/>
            </a:br>
            <a:r>
              <a:rPr lang="fr-FR" sz="1100" b="0" u="none" strike="noStrike">
                <a:solidFill>
                  <a:srgbClr val="5B6B84"/>
                </a:solidFill>
                <a:effectLst/>
                <a:uFillTx/>
                <a:latin typeface="Calibri"/>
                <a:ea typeface="Calibri"/>
              </a:rPr>
              <a:t>Gouvernance ML/IA : niveau 2 → 3</a:t>
            </a:r>
            <a:endParaRPr lang="fr-FR" sz="1100" b="0" u="none" strike="noStrike">
              <a:solidFill>
                <a:srgbClr val="000000"/>
              </a:solidFill>
              <a:effectLst/>
              <a:uFillTx/>
              <a:latin typeface="Arial"/>
            </a:endParaRPr>
          </a:p>
        </p:txBody>
      </p:sp>
      <p:sp>
        <p:nvSpPr>
          <p:cNvPr id="201" name="Shape 38"/>
          <p:cNvSpPr/>
          <p:nvPr/>
        </p:nvSpPr>
        <p:spPr>
          <a:xfrm>
            <a:off x="6583680" y="5806440"/>
            <a:ext cx="5073840" cy="620640"/>
          </a:xfrm>
          <a:prstGeom prst="roundRect">
            <a:avLst>
              <a:gd name="adj" fmla="val 11765"/>
            </a:avLst>
          </a:prstGeom>
          <a:solidFill>
            <a:srgbClr val="FBEDEA"/>
          </a:solidFill>
          <a:ln w="12700">
            <a:solidFill>
              <a:srgbClr val="D8DEE6"/>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02" name="Text 39"/>
          <p:cNvSpPr/>
          <p:nvPr/>
        </p:nvSpPr>
        <p:spPr>
          <a:xfrm>
            <a:off x="6784920" y="5806440"/>
            <a:ext cx="4671360" cy="620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20" b="1" u="none" strike="noStrike">
                <a:solidFill>
                  <a:srgbClr val="97402F"/>
                </a:solidFill>
                <a:effectLst/>
                <a:uFillTx/>
                <a:latin typeface="Calibri"/>
                <a:ea typeface="Calibri"/>
              </a:rPr>
              <a:t>Risques clés : </a:t>
            </a:r>
            <a:br>
              <a:rPr sz="1020"/>
            </a:br>
            <a:r>
              <a:rPr lang="fr-FR" sz="1020" b="1" u="none" strike="noStrike">
                <a:solidFill>
                  <a:srgbClr val="97402F"/>
                </a:solidFill>
                <a:effectLst/>
                <a:uFillTx/>
                <a:latin typeface="Calibri"/>
                <a:ea typeface="Calibri"/>
              </a:rPr>
              <a:t>	</a:t>
            </a:r>
            <a:r>
              <a:rPr lang="fr-FR" sz="1020" b="1" u="none" strike="noStrike">
                <a:solidFill>
                  <a:srgbClr val="97402F"/>
                </a:solidFill>
                <a:effectLst/>
                <a:uFillTx/>
                <a:latin typeface="Calibri"/>
                <a:ea typeface="Calibri"/>
              </a:rPr>
              <a:t>&gt; suspension sans repli (absence d'annuaire central)</a:t>
            </a:r>
            <a:br>
              <a:rPr sz="1020"/>
            </a:br>
            <a:r>
              <a:rPr lang="fr-FR" sz="1020" b="1" u="none" strike="noStrike">
                <a:solidFill>
                  <a:srgbClr val="97402F"/>
                </a:solidFill>
                <a:effectLst/>
                <a:uFillTx/>
                <a:latin typeface="Calibri"/>
                <a:ea typeface="Calibri"/>
              </a:rPr>
              <a:t>	</a:t>
            </a:r>
            <a:r>
              <a:rPr lang="fr-FR" sz="1020" b="1" u="none" strike="noStrike">
                <a:solidFill>
                  <a:srgbClr val="97402F"/>
                </a:solidFill>
                <a:effectLst/>
                <a:uFillTx/>
                <a:latin typeface="Calibri"/>
                <a:ea typeface="Calibri"/>
              </a:rPr>
              <a:t>&gt; débordement de planning</a:t>
            </a:r>
            <a:endParaRPr lang="fr-FR" sz="1020" b="0" u="none" strike="noStrike">
              <a:solidFill>
                <a:srgbClr val="000000"/>
              </a:solidFill>
              <a:effectLst/>
              <a:uFillTx/>
              <a:latin typeface="Arial"/>
            </a:endParaRPr>
          </a:p>
        </p:txBody>
      </p:sp>
      <p:sp>
        <p:nvSpPr>
          <p:cNvPr id="203" name="Text 40"/>
          <p:cNvSpPr/>
          <p:nvPr/>
        </p:nvSpPr>
        <p:spPr>
          <a:xfrm>
            <a:off x="548640" y="6473880"/>
            <a:ext cx="86857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8493A8"/>
                </a:solidFill>
                <a:effectLst/>
                <a:uFillTx/>
                <a:latin typeface="Calibri"/>
                <a:ea typeface="Calibri"/>
              </a:rPr>
              <a:t>Source : [D3] §3.4 (outils) · §3.5 (plan pilote)</a:t>
            </a:r>
            <a:endParaRPr lang="fr-FR" sz="950" b="0" u="none" strike="noStrike">
              <a:solidFill>
                <a:srgbClr val="000000"/>
              </a:solidFill>
              <a:effectLst/>
              <a:uFillTx/>
              <a:latin typeface="Arial"/>
            </a:endParaRPr>
          </a:p>
        </p:txBody>
      </p:sp>
      <p:sp>
        <p:nvSpPr>
          <p:cNvPr id="204" name="Text 41"/>
          <p:cNvSpPr/>
          <p:nvPr/>
        </p:nvSpPr>
        <p:spPr>
          <a:xfrm>
            <a:off x="11003040" y="6473880"/>
            <a:ext cx="8218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50" b="0" u="none" strike="noStrike">
                <a:solidFill>
                  <a:srgbClr val="8493A8"/>
                </a:solidFill>
                <a:effectLst/>
                <a:uFillTx/>
                <a:latin typeface="Calibri"/>
                <a:ea typeface="Calibri"/>
              </a:rPr>
              <a:t>8 / 10</a:t>
            </a:r>
            <a:endParaRPr lang="fr-FR"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2F4F7"/>
        </a:solidFill>
      </p:bgPr>
    </p:bg>
    <p:spTree>
      <p:nvGrpSpPr>
        <p:cNvPr id="1" name=""/>
        <p:cNvGrpSpPr/>
        <p:nvPr/>
      </p:nvGrpSpPr>
      <p:grpSpPr>
        <a:xfrm>
          <a:off x="0" y="0"/>
          <a:ext cx="0" cy="0"/>
          <a:chOff x="0" y="0"/>
          <a:chExt cx="0" cy="0"/>
        </a:xfrm>
      </p:grpSpPr>
      <p:sp>
        <p:nvSpPr>
          <p:cNvPr id="205" name="Text 0"/>
          <p:cNvSpPr/>
          <p:nvPr/>
        </p:nvSpPr>
        <p:spPr>
          <a:xfrm>
            <a:off x="548640" y="384120"/>
            <a:ext cx="731412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201" strike="noStrike">
                <a:solidFill>
                  <a:srgbClr val="1C8C68"/>
                </a:solidFill>
                <a:effectLst/>
                <a:uFillTx/>
                <a:latin typeface="Calibri"/>
                <a:ea typeface="Calibri"/>
              </a:rPr>
              <a:t>FEUILLE DE ROUTE</a:t>
            </a:r>
            <a:endParaRPr lang="fr-FR" sz="1200" b="0" u="none" strike="noStrike">
              <a:solidFill>
                <a:srgbClr val="000000"/>
              </a:solidFill>
              <a:effectLst/>
              <a:uFillTx/>
              <a:latin typeface="Arial"/>
            </a:endParaRPr>
          </a:p>
        </p:txBody>
      </p:sp>
      <p:sp>
        <p:nvSpPr>
          <p:cNvPr id="206" name="Text 1"/>
          <p:cNvSpPr/>
          <p:nvPr/>
        </p:nvSpPr>
        <p:spPr>
          <a:xfrm>
            <a:off x="548640" y="658440"/>
            <a:ext cx="9691560" cy="8676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fr-FR" sz="2800" b="1" u="none" strike="noStrike">
                <a:solidFill>
                  <a:srgbClr val="1B2A4A"/>
                </a:solidFill>
                <a:effectLst/>
                <a:uFillTx/>
                <a:latin typeface="Cambria"/>
                <a:ea typeface="Cambria"/>
              </a:rPr>
              <a:t>Une généralisation en 4 phases pour monter au niveau 3</a:t>
            </a:r>
            <a:endParaRPr lang="fr-FR" sz="2800" b="0" u="none" strike="noStrike">
              <a:solidFill>
                <a:srgbClr val="000000"/>
              </a:solidFill>
              <a:effectLst/>
              <a:uFillTx/>
              <a:latin typeface="Arial"/>
            </a:endParaRPr>
          </a:p>
        </p:txBody>
      </p:sp>
      <p:pic>
        <p:nvPicPr>
          <p:cNvPr id="207" name="Image 0" descr="icons/icon_map.png"/>
          <p:cNvPicPr/>
          <p:nvPr/>
        </p:nvPicPr>
        <p:blipFill>
          <a:blip r:embed="rId1"/>
          <a:stretch/>
        </p:blipFill>
        <p:spPr>
          <a:xfrm>
            <a:off x="11140200" y="365760"/>
            <a:ext cx="657360" cy="657360"/>
          </a:xfrm>
          <a:prstGeom prst="rect">
            <a:avLst/>
          </a:prstGeom>
          <a:noFill/>
          <a:ln w="0">
            <a:noFill/>
          </a:ln>
        </p:spPr>
      </p:pic>
      <p:sp>
        <p:nvSpPr>
          <p:cNvPr id="208" name="Shape 2"/>
          <p:cNvSpPr/>
          <p:nvPr/>
        </p:nvSpPr>
        <p:spPr>
          <a:xfrm>
            <a:off x="1658160" y="3781080"/>
            <a:ext cx="8874360" cy="26280"/>
          </a:xfrm>
          <a:prstGeom prst="rect">
            <a:avLst/>
          </a:prstGeom>
          <a:solidFill>
            <a:srgbClr val="D8DEE6"/>
          </a:solidFill>
          <a:ln w="0">
            <a:noFill/>
          </a:ln>
        </p:spPr>
        <p:style>
          <a:lnRef idx="0"/>
          <a:fillRef idx="0"/>
          <a:effectRef idx="0"/>
          <a:fontRef idx="minor"/>
        </p:style>
        <p:txBody>
          <a:bodyPr lIns="90000" tIns="-17640" rIns="90000" bIns="-17640" anchor="t">
            <a:noAutofit/>
          </a:bodyPr>
          <a:p>
            <a:endParaRPr lang="fr-FR" sz="1800" b="0" u="none" strike="noStrike">
              <a:solidFill>
                <a:srgbClr val="000000"/>
              </a:solidFill>
              <a:effectLst/>
              <a:uFillTx/>
              <a:latin typeface="Arial"/>
            </a:endParaRPr>
          </a:p>
        </p:txBody>
      </p:sp>
      <p:sp>
        <p:nvSpPr>
          <p:cNvPr id="209" name="Shape 3"/>
          <p:cNvSpPr/>
          <p:nvPr/>
        </p:nvSpPr>
        <p:spPr>
          <a:xfrm>
            <a:off x="676800" y="1691640"/>
            <a:ext cx="1961640" cy="1782000"/>
          </a:xfrm>
          <a:prstGeom prst="roundRect">
            <a:avLst>
              <a:gd name="adj" fmla="val 4103"/>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10" name="Text 4"/>
          <p:cNvSpPr/>
          <p:nvPr/>
        </p:nvSpPr>
        <p:spPr>
          <a:xfrm>
            <a:off x="813960" y="1828800"/>
            <a:ext cx="16873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B2A4A"/>
                </a:solidFill>
                <a:effectLst/>
                <a:uFillTx/>
                <a:latin typeface="Calibri"/>
                <a:ea typeface="Calibri"/>
              </a:rPr>
              <a:t>Phase 1 · Pilote</a:t>
            </a:r>
            <a:endParaRPr lang="fr-FR" sz="1250" b="0" u="none" strike="noStrike">
              <a:solidFill>
                <a:srgbClr val="000000"/>
              </a:solidFill>
              <a:effectLst/>
              <a:uFillTx/>
              <a:latin typeface="Arial"/>
            </a:endParaRPr>
          </a:p>
        </p:txBody>
      </p:sp>
      <p:sp>
        <p:nvSpPr>
          <p:cNvPr id="211" name="Text 5"/>
          <p:cNvSpPr/>
          <p:nvPr/>
        </p:nvSpPr>
        <p:spPr>
          <a:xfrm>
            <a:off x="813960" y="2176200"/>
            <a:ext cx="1705320" cy="867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5B6B84"/>
                </a:solidFill>
                <a:effectLst/>
                <a:uFillTx/>
                <a:latin typeface="Calibri"/>
                <a:ea typeface="Calibri"/>
              </a:rPr>
              <a:t>Product Development</a:t>
            </a:r>
            <a:endParaRPr lang="fr-FR" sz="1000" b="0" u="none" strike="noStrike">
              <a:solidFill>
                <a:srgbClr val="000000"/>
              </a:solidFill>
              <a:effectLst/>
              <a:uFillTx/>
              <a:latin typeface="Arial"/>
            </a:endParaRPr>
          </a:p>
          <a:p>
            <a:pPr defTabSz="914400">
              <a:lnSpc>
                <a:spcPct val="100000"/>
              </a:lnSpc>
              <a:tabLst>
                <a:tab pos="0" algn="l"/>
              </a:tabLst>
            </a:pPr>
            <a:r>
              <a:rPr lang="fr-FR" sz="1000" b="0" u="none" strike="noStrike">
                <a:solidFill>
                  <a:srgbClr val="5B6B84"/>
                </a:solidFill>
                <a:effectLst/>
                <a:uFillTx/>
                <a:latin typeface="Calibri"/>
                <a:ea typeface="Calibri"/>
              </a:rPr>
              <a:t>(entraînement recommandation)</a:t>
            </a:r>
            <a:endParaRPr lang="fr-FR" sz="1000" b="0" u="none" strike="noStrike">
              <a:solidFill>
                <a:srgbClr val="000000"/>
              </a:solidFill>
              <a:effectLst/>
              <a:uFillTx/>
              <a:latin typeface="Arial"/>
            </a:endParaRPr>
          </a:p>
        </p:txBody>
      </p:sp>
      <p:sp>
        <p:nvSpPr>
          <p:cNvPr id="212" name="Text 6"/>
          <p:cNvSpPr/>
          <p:nvPr/>
        </p:nvSpPr>
        <p:spPr>
          <a:xfrm>
            <a:off x="813960" y="3090600"/>
            <a:ext cx="16873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50" b="1" i="1" u="none" strike="noStrike">
                <a:solidFill>
                  <a:srgbClr val="1B2A4A"/>
                </a:solidFill>
                <a:effectLst/>
                <a:uFillTx/>
                <a:latin typeface="Calibri"/>
                <a:ea typeface="Calibri"/>
              </a:rPr>
              <a:t>21 semaines</a:t>
            </a:r>
            <a:endParaRPr lang="fr-FR" sz="1050" b="0" u="none" strike="noStrike">
              <a:solidFill>
                <a:srgbClr val="000000"/>
              </a:solidFill>
              <a:effectLst/>
              <a:uFillTx/>
              <a:latin typeface="Arial"/>
            </a:endParaRPr>
          </a:p>
        </p:txBody>
      </p:sp>
      <p:sp>
        <p:nvSpPr>
          <p:cNvPr id="213" name="Shape 7"/>
          <p:cNvSpPr/>
          <p:nvPr/>
        </p:nvSpPr>
        <p:spPr>
          <a:xfrm>
            <a:off x="1511640" y="3648600"/>
            <a:ext cx="291600" cy="291600"/>
          </a:xfrm>
          <a:prstGeom prst="ellipse">
            <a:avLst/>
          </a:prstGeom>
          <a:solidFill>
            <a:srgbClr val="1B2A4A"/>
          </a:solidFill>
          <a:ln w="25400">
            <a:solidFill>
              <a:srgbClr val="FFFFFF"/>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14" name="Text 8"/>
          <p:cNvSpPr/>
          <p:nvPr/>
        </p:nvSpPr>
        <p:spPr>
          <a:xfrm>
            <a:off x="676800" y="3996000"/>
            <a:ext cx="1961640" cy="31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300" b="1" u="none" strike="noStrike">
                <a:solidFill>
                  <a:srgbClr val="1C8C68"/>
                </a:solidFill>
                <a:effectLst/>
                <a:uFillTx/>
                <a:latin typeface="Calibri"/>
                <a:ea typeface="Calibri"/>
              </a:rPr>
              <a:t>M5</a:t>
            </a:r>
            <a:endParaRPr lang="fr-FR" sz="1300" b="0" u="none" strike="noStrike">
              <a:solidFill>
                <a:srgbClr val="000000"/>
              </a:solidFill>
              <a:effectLst/>
              <a:uFillTx/>
              <a:latin typeface="Arial"/>
            </a:endParaRPr>
          </a:p>
        </p:txBody>
      </p:sp>
      <p:sp>
        <p:nvSpPr>
          <p:cNvPr id="215" name="Shape 9"/>
          <p:cNvSpPr/>
          <p:nvPr/>
        </p:nvSpPr>
        <p:spPr>
          <a:xfrm>
            <a:off x="2895480" y="1691640"/>
            <a:ext cx="1961640" cy="1782000"/>
          </a:xfrm>
          <a:prstGeom prst="roundRect">
            <a:avLst>
              <a:gd name="adj" fmla="val 4103"/>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16" name="Text 10"/>
          <p:cNvSpPr/>
          <p:nvPr/>
        </p:nvSpPr>
        <p:spPr>
          <a:xfrm>
            <a:off x="3032640" y="1828800"/>
            <a:ext cx="16873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B2A4A"/>
                </a:solidFill>
                <a:effectLst/>
                <a:uFillTx/>
                <a:latin typeface="Calibri"/>
                <a:ea typeface="Calibri"/>
              </a:rPr>
              <a:t>Phase 2</a:t>
            </a:r>
            <a:endParaRPr lang="fr-FR" sz="1250" b="0" u="none" strike="noStrike">
              <a:solidFill>
                <a:srgbClr val="000000"/>
              </a:solidFill>
              <a:effectLst/>
              <a:uFillTx/>
              <a:latin typeface="Arial"/>
            </a:endParaRPr>
          </a:p>
        </p:txBody>
      </p:sp>
      <p:sp>
        <p:nvSpPr>
          <p:cNvPr id="217" name="Text 11"/>
          <p:cNvSpPr/>
          <p:nvPr/>
        </p:nvSpPr>
        <p:spPr>
          <a:xfrm>
            <a:off x="3032640" y="2176200"/>
            <a:ext cx="1687320" cy="867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5B6B84"/>
                </a:solidFill>
                <a:effectLst/>
                <a:uFillTx/>
                <a:latin typeface="Calibri"/>
                <a:ea typeface="Calibri"/>
              </a:rPr>
              <a:t>Product Development</a:t>
            </a:r>
            <a:endParaRPr lang="fr-FR" sz="1000" b="0" u="none" strike="noStrike">
              <a:solidFill>
                <a:srgbClr val="000000"/>
              </a:solidFill>
              <a:effectLst/>
              <a:uFillTx/>
              <a:latin typeface="Arial"/>
            </a:endParaRPr>
          </a:p>
          <a:p>
            <a:pPr defTabSz="914400">
              <a:lnSpc>
                <a:spcPct val="100000"/>
              </a:lnSpc>
              <a:tabLst>
                <a:tab pos="0" algn="l"/>
              </a:tabLst>
            </a:pPr>
            <a:r>
              <a:rPr lang="fr-FR" sz="1000" b="0" u="none" strike="noStrike">
                <a:solidFill>
                  <a:srgbClr val="5B6B84"/>
                </a:solidFill>
                <a:effectLst/>
                <a:uFillTx/>
                <a:latin typeface="Calibri"/>
                <a:ea typeface="Calibri"/>
              </a:rPr>
              <a:t>(reste des activités)</a:t>
            </a:r>
            <a:endParaRPr lang="fr-FR" sz="1000" b="0" u="none" strike="noStrike">
              <a:solidFill>
                <a:srgbClr val="000000"/>
              </a:solidFill>
              <a:effectLst/>
              <a:uFillTx/>
              <a:latin typeface="Arial"/>
            </a:endParaRPr>
          </a:p>
        </p:txBody>
      </p:sp>
      <p:sp>
        <p:nvSpPr>
          <p:cNvPr id="218" name="Text 12"/>
          <p:cNvSpPr/>
          <p:nvPr/>
        </p:nvSpPr>
        <p:spPr>
          <a:xfrm>
            <a:off x="3032640" y="3090600"/>
            <a:ext cx="16873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50" b="1" i="1" u="none" strike="noStrike">
                <a:solidFill>
                  <a:srgbClr val="1B2A4A"/>
                </a:solidFill>
                <a:effectLst/>
                <a:uFillTx/>
                <a:latin typeface="Calibri"/>
                <a:ea typeface="Calibri"/>
              </a:rPr>
              <a:t>3 mois</a:t>
            </a:r>
            <a:endParaRPr lang="fr-FR" sz="1050" b="0" u="none" strike="noStrike">
              <a:solidFill>
                <a:srgbClr val="000000"/>
              </a:solidFill>
              <a:effectLst/>
              <a:uFillTx/>
              <a:latin typeface="Arial"/>
            </a:endParaRPr>
          </a:p>
        </p:txBody>
      </p:sp>
      <p:sp>
        <p:nvSpPr>
          <p:cNvPr id="219" name="Shape 13"/>
          <p:cNvSpPr/>
          <p:nvPr/>
        </p:nvSpPr>
        <p:spPr>
          <a:xfrm>
            <a:off x="3730680" y="3648600"/>
            <a:ext cx="291600" cy="291600"/>
          </a:xfrm>
          <a:prstGeom prst="ellipse">
            <a:avLst/>
          </a:prstGeom>
          <a:solidFill>
            <a:srgbClr val="1B2A4A"/>
          </a:solidFill>
          <a:ln w="25400">
            <a:solidFill>
              <a:srgbClr val="FFFFFF"/>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20" name="Text 14"/>
          <p:cNvSpPr/>
          <p:nvPr/>
        </p:nvSpPr>
        <p:spPr>
          <a:xfrm>
            <a:off x="2895480" y="3996000"/>
            <a:ext cx="1961640" cy="31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300" b="1" u="none" strike="noStrike">
                <a:solidFill>
                  <a:srgbClr val="1C8C68"/>
                </a:solidFill>
                <a:effectLst/>
                <a:uFillTx/>
                <a:latin typeface="Calibri"/>
                <a:ea typeface="Calibri"/>
              </a:rPr>
              <a:t>M10</a:t>
            </a:r>
            <a:endParaRPr lang="fr-FR" sz="1300" b="0" u="none" strike="noStrike">
              <a:solidFill>
                <a:srgbClr val="000000"/>
              </a:solidFill>
              <a:effectLst/>
              <a:uFillTx/>
              <a:latin typeface="Arial"/>
            </a:endParaRPr>
          </a:p>
        </p:txBody>
      </p:sp>
      <p:sp>
        <p:nvSpPr>
          <p:cNvPr id="221" name="Shape 15"/>
          <p:cNvSpPr/>
          <p:nvPr/>
        </p:nvSpPr>
        <p:spPr>
          <a:xfrm>
            <a:off x="5114520" y="1691640"/>
            <a:ext cx="1961640" cy="1782000"/>
          </a:xfrm>
          <a:prstGeom prst="roundRect">
            <a:avLst>
              <a:gd name="adj" fmla="val 4103"/>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22" name="Text 16"/>
          <p:cNvSpPr/>
          <p:nvPr/>
        </p:nvSpPr>
        <p:spPr>
          <a:xfrm>
            <a:off x="5251680" y="1828800"/>
            <a:ext cx="16873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B2A4A"/>
                </a:solidFill>
                <a:effectLst/>
                <a:uFillTx/>
                <a:latin typeface="Calibri"/>
                <a:ea typeface="Calibri"/>
              </a:rPr>
              <a:t>Phase 3</a:t>
            </a:r>
            <a:endParaRPr lang="fr-FR" sz="1250" b="0" u="none" strike="noStrike">
              <a:solidFill>
                <a:srgbClr val="000000"/>
              </a:solidFill>
              <a:effectLst/>
              <a:uFillTx/>
              <a:latin typeface="Arial"/>
            </a:endParaRPr>
          </a:p>
        </p:txBody>
      </p:sp>
      <p:sp>
        <p:nvSpPr>
          <p:cNvPr id="223" name="Text 17"/>
          <p:cNvSpPr/>
          <p:nvPr/>
        </p:nvSpPr>
        <p:spPr>
          <a:xfrm>
            <a:off x="5251680" y="2176200"/>
            <a:ext cx="1687320" cy="867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5B6B84"/>
                </a:solidFill>
                <a:effectLst/>
                <a:uFillTx/>
                <a:latin typeface="Calibri"/>
                <a:ea typeface="Calibri"/>
              </a:rPr>
              <a:t>Marketing</a:t>
            </a:r>
            <a:endParaRPr lang="fr-FR" sz="1000" b="0" u="none" strike="noStrike">
              <a:solidFill>
                <a:srgbClr val="000000"/>
              </a:solidFill>
              <a:effectLst/>
              <a:uFillTx/>
              <a:latin typeface="Arial"/>
            </a:endParaRPr>
          </a:p>
          <a:p>
            <a:pPr defTabSz="914400">
              <a:lnSpc>
                <a:spcPct val="100000"/>
              </a:lnSpc>
              <a:tabLst>
                <a:tab pos="0" algn="l"/>
              </a:tabLst>
            </a:pPr>
            <a:r>
              <a:rPr lang="fr-FR" sz="1000" b="0" u="none" strike="noStrike">
                <a:solidFill>
                  <a:srgbClr val="5B6B84"/>
                </a:solidFill>
                <a:effectLst/>
                <a:uFillTx/>
                <a:latin typeface="Calibri"/>
                <a:ea typeface="Calibri"/>
              </a:rPr>
              <a:t>(E1 / E3 / E4)</a:t>
            </a:r>
            <a:endParaRPr lang="fr-FR" sz="1000" b="0" u="none" strike="noStrike">
              <a:solidFill>
                <a:srgbClr val="000000"/>
              </a:solidFill>
              <a:effectLst/>
              <a:uFillTx/>
              <a:latin typeface="Arial"/>
            </a:endParaRPr>
          </a:p>
        </p:txBody>
      </p:sp>
      <p:sp>
        <p:nvSpPr>
          <p:cNvPr id="224" name="Text 18"/>
          <p:cNvSpPr/>
          <p:nvPr/>
        </p:nvSpPr>
        <p:spPr>
          <a:xfrm>
            <a:off x="5251680" y="3090600"/>
            <a:ext cx="16873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50" b="1" i="1" u="none" strike="noStrike">
                <a:solidFill>
                  <a:srgbClr val="1B2A4A"/>
                </a:solidFill>
                <a:effectLst/>
                <a:uFillTx/>
                <a:latin typeface="Calibri"/>
                <a:ea typeface="Calibri"/>
              </a:rPr>
              <a:t>3 mois</a:t>
            </a:r>
            <a:endParaRPr lang="fr-FR" sz="1050" b="0" u="none" strike="noStrike">
              <a:solidFill>
                <a:srgbClr val="000000"/>
              </a:solidFill>
              <a:effectLst/>
              <a:uFillTx/>
              <a:latin typeface="Arial"/>
            </a:endParaRPr>
          </a:p>
        </p:txBody>
      </p:sp>
      <p:sp>
        <p:nvSpPr>
          <p:cNvPr id="225" name="Shape 19"/>
          <p:cNvSpPr/>
          <p:nvPr/>
        </p:nvSpPr>
        <p:spPr>
          <a:xfrm>
            <a:off x="5949720" y="3648600"/>
            <a:ext cx="291600" cy="291600"/>
          </a:xfrm>
          <a:prstGeom prst="ellipse">
            <a:avLst/>
          </a:prstGeom>
          <a:solidFill>
            <a:srgbClr val="1B2A4A"/>
          </a:solidFill>
          <a:ln w="25400">
            <a:solidFill>
              <a:srgbClr val="FFFFFF"/>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26" name="Text 20"/>
          <p:cNvSpPr/>
          <p:nvPr/>
        </p:nvSpPr>
        <p:spPr>
          <a:xfrm>
            <a:off x="5114520" y="3996000"/>
            <a:ext cx="1961640" cy="31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300" b="1" u="none" strike="noStrike">
                <a:solidFill>
                  <a:srgbClr val="1C8C68"/>
                </a:solidFill>
                <a:effectLst/>
                <a:uFillTx/>
                <a:latin typeface="Calibri"/>
                <a:ea typeface="Calibri"/>
              </a:rPr>
              <a:t>M15</a:t>
            </a:r>
            <a:endParaRPr lang="fr-FR" sz="1300" b="0" u="none" strike="noStrike">
              <a:solidFill>
                <a:srgbClr val="000000"/>
              </a:solidFill>
              <a:effectLst/>
              <a:uFillTx/>
              <a:latin typeface="Arial"/>
            </a:endParaRPr>
          </a:p>
        </p:txBody>
      </p:sp>
      <p:sp>
        <p:nvSpPr>
          <p:cNvPr id="227" name="Shape 21"/>
          <p:cNvSpPr/>
          <p:nvPr/>
        </p:nvSpPr>
        <p:spPr>
          <a:xfrm>
            <a:off x="7333200" y="1691640"/>
            <a:ext cx="1961640" cy="1782000"/>
          </a:xfrm>
          <a:prstGeom prst="roundRect">
            <a:avLst>
              <a:gd name="adj" fmla="val 4103"/>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28" name="Text 22"/>
          <p:cNvSpPr/>
          <p:nvPr/>
        </p:nvSpPr>
        <p:spPr>
          <a:xfrm>
            <a:off x="7470360" y="1828800"/>
            <a:ext cx="16873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B2A4A"/>
                </a:solidFill>
                <a:effectLst/>
                <a:uFillTx/>
                <a:latin typeface="Calibri"/>
                <a:ea typeface="Calibri"/>
              </a:rPr>
              <a:t>Phase 4</a:t>
            </a:r>
            <a:endParaRPr lang="fr-FR" sz="1250" b="0" u="none" strike="noStrike">
              <a:solidFill>
                <a:srgbClr val="000000"/>
              </a:solidFill>
              <a:effectLst/>
              <a:uFillTx/>
              <a:latin typeface="Arial"/>
            </a:endParaRPr>
          </a:p>
        </p:txBody>
      </p:sp>
      <p:sp>
        <p:nvSpPr>
          <p:cNvPr id="229" name="Text 23"/>
          <p:cNvSpPr/>
          <p:nvPr/>
        </p:nvSpPr>
        <p:spPr>
          <a:xfrm>
            <a:off x="7470360" y="2176200"/>
            <a:ext cx="1687320" cy="867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5B6B84"/>
                </a:solidFill>
                <a:effectLst/>
                <a:uFillTx/>
                <a:latin typeface="Calibri"/>
                <a:ea typeface="Calibri"/>
              </a:rPr>
              <a:t>Content Curation</a:t>
            </a:r>
            <a:endParaRPr lang="fr-FR" sz="1000" b="0" u="none" strike="noStrike">
              <a:solidFill>
                <a:srgbClr val="000000"/>
              </a:solidFill>
              <a:effectLst/>
              <a:uFillTx/>
              <a:latin typeface="Arial"/>
            </a:endParaRPr>
          </a:p>
          <a:p>
            <a:pPr defTabSz="914400">
              <a:lnSpc>
                <a:spcPct val="100000"/>
              </a:lnSpc>
              <a:tabLst>
                <a:tab pos="0" algn="l"/>
              </a:tabLst>
            </a:pPr>
            <a:r>
              <a:rPr lang="fr-FR" sz="1000" b="0" u="none" strike="noStrike">
                <a:solidFill>
                  <a:srgbClr val="5B6B84"/>
                </a:solidFill>
                <a:effectLst/>
                <a:uFillTx/>
                <a:latin typeface="Calibri"/>
                <a:ea typeface="Calibri"/>
              </a:rPr>
              <a:t>(E2 / métadonnées)</a:t>
            </a:r>
            <a:endParaRPr lang="fr-FR" sz="1000" b="0" u="none" strike="noStrike">
              <a:solidFill>
                <a:srgbClr val="000000"/>
              </a:solidFill>
              <a:effectLst/>
              <a:uFillTx/>
              <a:latin typeface="Arial"/>
            </a:endParaRPr>
          </a:p>
        </p:txBody>
      </p:sp>
      <p:sp>
        <p:nvSpPr>
          <p:cNvPr id="230" name="Text 24"/>
          <p:cNvSpPr/>
          <p:nvPr/>
        </p:nvSpPr>
        <p:spPr>
          <a:xfrm>
            <a:off x="7470360" y="3090600"/>
            <a:ext cx="16873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50" b="1" i="1" u="none" strike="noStrike">
                <a:solidFill>
                  <a:srgbClr val="1B2A4A"/>
                </a:solidFill>
                <a:effectLst/>
                <a:uFillTx/>
                <a:latin typeface="Calibri"/>
                <a:ea typeface="Calibri"/>
              </a:rPr>
              <a:t>3 mois</a:t>
            </a:r>
            <a:endParaRPr lang="fr-FR" sz="1050" b="0" u="none" strike="noStrike">
              <a:solidFill>
                <a:srgbClr val="000000"/>
              </a:solidFill>
              <a:effectLst/>
              <a:uFillTx/>
              <a:latin typeface="Arial"/>
            </a:endParaRPr>
          </a:p>
        </p:txBody>
      </p:sp>
      <p:sp>
        <p:nvSpPr>
          <p:cNvPr id="231" name="Shape 25"/>
          <p:cNvSpPr/>
          <p:nvPr/>
        </p:nvSpPr>
        <p:spPr>
          <a:xfrm>
            <a:off x="8168400" y="3648600"/>
            <a:ext cx="291600" cy="291600"/>
          </a:xfrm>
          <a:prstGeom prst="ellipse">
            <a:avLst/>
          </a:prstGeom>
          <a:solidFill>
            <a:srgbClr val="1B2A4A"/>
          </a:solidFill>
          <a:ln w="25400">
            <a:solidFill>
              <a:srgbClr val="FFFFFF"/>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32" name="Text 26"/>
          <p:cNvSpPr/>
          <p:nvPr/>
        </p:nvSpPr>
        <p:spPr>
          <a:xfrm>
            <a:off x="7333200" y="3996000"/>
            <a:ext cx="1961640" cy="31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300" b="1" u="none" strike="noStrike">
                <a:solidFill>
                  <a:srgbClr val="1C8C68"/>
                </a:solidFill>
                <a:effectLst/>
                <a:uFillTx/>
                <a:latin typeface="Calibri"/>
                <a:ea typeface="Calibri"/>
              </a:rPr>
              <a:t>M20</a:t>
            </a:r>
            <a:endParaRPr lang="fr-FR" sz="1300" b="0" u="none" strike="noStrike">
              <a:solidFill>
                <a:srgbClr val="000000"/>
              </a:solidFill>
              <a:effectLst/>
              <a:uFillTx/>
              <a:latin typeface="Arial"/>
            </a:endParaRPr>
          </a:p>
        </p:txBody>
      </p:sp>
      <p:sp>
        <p:nvSpPr>
          <p:cNvPr id="233" name="Shape 27"/>
          <p:cNvSpPr/>
          <p:nvPr/>
        </p:nvSpPr>
        <p:spPr>
          <a:xfrm>
            <a:off x="9552240" y="1691640"/>
            <a:ext cx="1961640" cy="1782000"/>
          </a:xfrm>
          <a:prstGeom prst="roundRect">
            <a:avLst>
              <a:gd name="adj" fmla="val 4103"/>
            </a:avLst>
          </a:prstGeom>
          <a:solidFill>
            <a:srgbClr val="EAF7F1"/>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34" name="Text 28"/>
          <p:cNvSpPr/>
          <p:nvPr/>
        </p:nvSpPr>
        <p:spPr>
          <a:xfrm>
            <a:off x="9689400" y="1828800"/>
            <a:ext cx="16873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50" b="1" u="none" strike="noStrike">
                <a:solidFill>
                  <a:srgbClr val="1C8C68"/>
                </a:solidFill>
                <a:effectLst/>
                <a:uFillTx/>
                <a:latin typeface="Calibri"/>
                <a:ea typeface="Calibri"/>
              </a:rPr>
              <a:t>Consolidation</a:t>
            </a:r>
            <a:endParaRPr lang="fr-FR" sz="1250" b="0" u="none" strike="noStrike">
              <a:solidFill>
                <a:srgbClr val="000000"/>
              </a:solidFill>
              <a:effectLst/>
              <a:uFillTx/>
              <a:latin typeface="Arial"/>
            </a:endParaRPr>
          </a:p>
        </p:txBody>
      </p:sp>
      <p:sp>
        <p:nvSpPr>
          <p:cNvPr id="235" name="Text 29"/>
          <p:cNvSpPr/>
          <p:nvPr/>
        </p:nvSpPr>
        <p:spPr>
          <a:xfrm>
            <a:off x="9689400" y="2176200"/>
            <a:ext cx="1687320" cy="867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fr-FR" sz="1000" b="0" u="none" strike="noStrike">
                <a:solidFill>
                  <a:srgbClr val="5B6B84"/>
                </a:solidFill>
                <a:effectLst/>
                <a:uFillTx/>
                <a:latin typeface="Calibri"/>
                <a:ea typeface="Calibri"/>
              </a:rPr>
              <a:t>Ensemble des départements</a:t>
            </a:r>
            <a:endParaRPr lang="fr-FR" sz="1000" b="0" u="none" strike="noStrike">
              <a:solidFill>
                <a:srgbClr val="000000"/>
              </a:solidFill>
              <a:effectLst/>
              <a:uFillTx/>
              <a:latin typeface="Arial"/>
            </a:endParaRPr>
          </a:p>
          <a:p>
            <a:pPr defTabSz="914400">
              <a:lnSpc>
                <a:spcPct val="100000"/>
              </a:lnSpc>
              <a:tabLst>
                <a:tab pos="0" algn="l"/>
              </a:tabLst>
            </a:pPr>
            <a:r>
              <a:rPr lang="fr-FR" sz="1000" b="0" u="none" strike="noStrike">
                <a:solidFill>
                  <a:srgbClr val="5B6B84"/>
                </a:solidFill>
                <a:effectLst/>
                <a:uFillTx/>
                <a:latin typeface="Calibri"/>
                <a:ea typeface="Calibri"/>
              </a:rPr>
              <a:t>Niveau 3 généralisé</a:t>
            </a:r>
            <a:endParaRPr lang="fr-FR" sz="1000" b="0" u="none" strike="noStrike">
              <a:solidFill>
                <a:srgbClr val="000000"/>
              </a:solidFill>
              <a:effectLst/>
              <a:uFillTx/>
              <a:latin typeface="Arial"/>
            </a:endParaRPr>
          </a:p>
        </p:txBody>
      </p:sp>
      <p:sp>
        <p:nvSpPr>
          <p:cNvPr id="236" name="Text 30"/>
          <p:cNvSpPr/>
          <p:nvPr/>
        </p:nvSpPr>
        <p:spPr>
          <a:xfrm>
            <a:off x="9689400" y="3090600"/>
            <a:ext cx="16873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50" b="1" i="1" u="none" strike="noStrike">
                <a:solidFill>
                  <a:srgbClr val="1B2A4A"/>
                </a:solidFill>
                <a:effectLst/>
                <a:uFillTx/>
                <a:latin typeface="Calibri"/>
                <a:ea typeface="Calibri"/>
              </a:rPr>
              <a:t>—</a:t>
            </a:r>
            <a:endParaRPr lang="fr-FR" sz="1050" b="0" u="none" strike="noStrike">
              <a:solidFill>
                <a:srgbClr val="000000"/>
              </a:solidFill>
              <a:effectLst/>
              <a:uFillTx/>
              <a:latin typeface="Arial"/>
            </a:endParaRPr>
          </a:p>
        </p:txBody>
      </p:sp>
      <p:sp>
        <p:nvSpPr>
          <p:cNvPr id="237" name="Shape 31"/>
          <p:cNvSpPr/>
          <p:nvPr/>
        </p:nvSpPr>
        <p:spPr>
          <a:xfrm>
            <a:off x="10387440" y="3648600"/>
            <a:ext cx="291600" cy="291600"/>
          </a:xfrm>
          <a:prstGeom prst="ellipse">
            <a:avLst/>
          </a:prstGeom>
          <a:solidFill>
            <a:srgbClr val="2DBE8C"/>
          </a:solidFill>
          <a:ln w="25400">
            <a:solidFill>
              <a:srgbClr val="FFFFFF"/>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38" name="Text 32"/>
          <p:cNvSpPr/>
          <p:nvPr/>
        </p:nvSpPr>
        <p:spPr>
          <a:xfrm>
            <a:off x="9552240" y="3996000"/>
            <a:ext cx="1961640" cy="31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300" b="1" u="none" strike="noStrike">
                <a:solidFill>
                  <a:srgbClr val="1C8C68"/>
                </a:solidFill>
                <a:effectLst/>
                <a:uFillTx/>
                <a:latin typeface="Calibri"/>
                <a:ea typeface="Calibri"/>
              </a:rPr>
              <a:t>M22-M24</a:t>
            </a:r>
            <a:endParaRPr lang="fr-FR" sz="1300" b="0" u="none" strike="noStrike">
              <a:solidFill>
                <a:srgbClr val="000000"/>
              </a:solidFill>
              <a:effectLst/>
              <a:uFillTx/>
              <a:latin typeface="Arial"/>
            </a:endParaRPr>
          </a:p>
        </p:txBody>
      </p:sp>
      <p:sp>
        <p:nvSpPr>
          <p:cNvPr id="239" name="Shape 33"/>
          <p:cNvSpPr/>
          <p:nvPr/>
        </p:nvSpPr>
        <p:spPr>
          <a:xfrm>
            <a:off x="548640" y="4526280"/>
            <a:ext cx="11093400" cy="867600"/>
          </a:xfrm>
          <a:prstGeom prst="roundRect">
            <a:avLst>
              <a:gd name="adj" fmla="val 8421"/>
            </a:avLst>
          </a:prstGeom>
          <a:solidFill>
            <a:srgbClr val="F7F8FA"/>
          </a:solidFill>
          <a:ln w="12700">
            <a:solidFill>
              <a:srgbClr val="D8DEE6"/>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40" name="Text 34"/>
          <p:cNvSpPr/>
          <p:nvPr/>
        </p:nvSpPr>
        <p:spPr>
          <a:xfrm>
            <a:off x="822960" y="4526280"/>
            <a:ext cx="10544760" cy="867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150" b="0" u="none" strike="noStrike">
                <a:solidFill>
                  <a:srgbClr val="1B2A4A"/>
                </a:solidFill>
                <a:effectLst/>
                <a:uFillTx/>
                <a:latin typeface="Calibri"/>
                <a:ea typeface="Calibri"/>
              </a:rPr>
              <a:t>Trajectoire de maturité : niveau 1 (actuel) → niveau 3 généralisé (M22-M24). </a:t>
            </a:r>
            <a:br>
              <a:rPr sz="1150"/>
            </a:br>
            <a:r>
              <a:rPr lang="fr-FR" sz="1150" b="0" u="none" strike="noStrike">
                <a:solidFill>
                  <a:srgbClr val="000000"/>
                </a:solidFill>
                <a:effectLst/>
                <a:uFillTx/>
                <a:latin typeface="Calibri"/>
                <a:ea typeface="Calibri"/>
              </a:rPr>
              <a:t>	</a:t>
            </a:r>
            <a:r>
              <a:rPr lang="fr-FR" sz="1150" b="0" u="none" strike="noStrike">
                <a:solidFill>
                  <a:srgbClr val="000000"/>
                </a:solidFill>
                <a:effectLst/>
                <a:uFillTx/>
                <a:latin typeface="Calibri"/>
                <a:ea typeface="Calibri"/>
              </a:rPr>
              <a:t> &gt; </a:t>
            </a:r>
            <a:r>
              <a:rPr lang="fr-FR" sz="1150" b="0" u="none" strike="noStrike">
                <a:solidFill>
                  <a:srgbClr val="1B2A4A"/>
                </a:solidFill>
                <a:effectLst/>
                <a:uFillTx/>
                <a:latin typeface="Calibri"/>
                <a:ea typeface="Calibri"/>
              </a:rPr>
              <a:t>Pousse la fourchette de référence (15-24 mois) vers sa borne haute pour garantir la rigueur de la phase de sécurisation initiale.</a:t>
            </a:r>
            <a:endParaRPr lang="fr-FR" sz="1150" b="0" u="none" strike="noStrike">
              <a:solidFill>
                <a:srgbClr val="000000"/>
              </a:solidFill>
              <a:effectLst/>
              <a:uFillTx/>
              <a:latin typeface="Arial"/>
            </a:endParaRPr>
          </a:p>
        </p:txBody>
      </p:sp>
      <p:sp>
        <p:nvSpPr>
          <p:cNvPr id="241" name="Shape 35"/>
          <p:cNvSpPr/>
          <p:nvPr/>
        </p:nvSpPr>
        <p:spPr>
          <a:xfrm>
            <a:off x="548640" y="5532120"/>
            <a:ext cx="11093400" cy="657360"/>
          </a:xfrm>
          <a:prstGeom prst="roundRect">
            <a:avLst>
              <a:gd name="adj" fmla="val 11111"/>
            </a:avLst>
          </a:prstGeom>
          <a:solidFill>
            <a:srgbClr val="FFFFFF"/>
          </a:solidFill>
          <a:ln w="12700">
            <a:solidFill>
              <a:srgbClr val="D8DEE6"/>
            </a:solidFill>
            <a:round/>
          </a:ln>
          <a:effectLst>
            <a:outerShdw algn="bl" blurRad="76320" dir="5400000" dist="25560" kx="0" ky="0" rotWithShape="0" sx="100000" sy="100000">
              <a:srgbClr val="1B2A4A">
                <a:alpha val="12000"/>
              </a:srgbClr>
            </a:outerShdw>
          </a:effectLst>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42" name="Text 36"/>
          <p:cNvSpPr/>
          <p:nvPr/>
        </p:nvSpPr>
        <p:spPr>
          <a:xfrm>
            <a:off x="822960" y="5532120"/>
            <a:ext cx="10544760" cy="657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50" b="0" i="1" u="none" strike="noStrike">
                <a:solidFill>
                  <a:srgbClr val="5B6B84"/>
                </a:solidFill>
                <a:effectLst/>
                <a:uFillTx/>
                <a:latin typeface="Calibri"/>
                <a:ea typeface="Calibri"/>
              </a:rPr>
              <a:t>Chaque phase se termine par un point de réévaluation (feu vert / orange / rouge) - conformément au principe d'amélioration continue (P9).</a:t>
            </a:r>
            <a:endParaRPr lang="fr-FR" sz="1050" b="0" u="none" strike="noStrike">
              <a:solidFill>
                <a:srgbClr val="000000"/>
              </a:solidFill>
              <a:effectLst/>
              <a:uFillTx/>
              <a:latin typeface="Arial"/>
            </a:endParaRPr>
          </a:p>
        </p:txBody>
      </p:sp>
      <p:sp>
        <p:nvSpPr>
          <p:cNvPr id="243" name="Text 37"/>
          <p:cNvSpPr/>
          <p:nvPr/>
        </p:nvSpPr>
        <p:spPr>
          <a:xfrm>
            <a:off x="548640" y="6473880"/>
            <a:ext cx="86857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950" b="0" i="1" u="none" strike="noStrike">
                <a:solidFill>
                  <a:srgbClr val="8493A8"/>
                </a:solidFill>
                <a:effectLst/>
                <a:uFillTx/>
                <a:latin typeface="Calibri"/>
                <a:ea typeface="Calibri"/>
              </a:rPr>
              <a:t>Source : [D3] §3.6</a:t>
            </a:r>
            <a:endParaRPr lang="fr-FR" sz="950" b="0" u="none" strike="noStrike">
              <a:solidFill>
                <a:srgbClr val="000000"/>
              </a:solidFill>
              <a:effectLst/>
              <a:uFillTx/>
              <a:latin typeface="Arial"/>
            </a:endParaRPr>
          </a:p>
        </p:txBody>
      </p:sp>
      <p:sp>
        <p:nvSpPr>
          <p:cNvPr id="244" name="Text 38"/>
          <p:cNvSpPr/>
          <p:nvPr/>
        </p:nvSpPr>
        <p:spPr>
          <a:xfrm>
            <a:off x="11003040" y="6473880"/>
            <a:ext cx="8218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50" b="0" u="none" strike="noStrike">
                <a:solidFill>
                  <a:srgbClr val="8493A8"/>
                </a:solidFill>
                <a:effectLst/>
                <a:uFillTx/>
                <a:latin typeface="Calibri"/>
                <a:ea typeface="Calibri"/>
              </a:rPr>
              <a:t>9 / 10</a:t>
            </a:r>
            <a:endParaRPr lang="fr-FR"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2A4A"/>
        </a:solidFill>
      </p:bgPr>
    </p:bg>
    <p:spTree>
      <p:nvGrpSpPr>
        <p:cNvPr id="1" name=""/>
        <p:cNvGrpSpPr/>
        <p:nvPr/>
      </p:nvGrpSpPr>
      <p:grpSpPr>
        <a:xfrm>
          <a:off x="0" y="0"/>
          <a:ext cx="0" cy="0"/>
          <a:chOff x="0" y="0"/>
          <a:chExt cx="0" cy="0"/>
        </a:xfrm>
      </p:grpSpPr>
      <p:sp>
        <p:nvSpPr>
          <p:cNvPr id="245" name="Text 0"/>
          <p:cNvSpPr/>
          <p:nvPr/>
        </p:nvSpPr>
        <p:spPr>
          <a:xfrm>
            <a:off x="548640" y="384120"/>
            <a:ext cx="7314120" cy="291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pc="201" strike="noStrike">
                <a:solidFill>
                  <a:srgbClr val="2DBE8C"/>
                </a:solidFill>
                <a:effectLst/>
                <a:uFillTx/>
                <a:latin typeface="Calibri"/>
                <a:ea typeface="Calibri"/>
              </a:rPr>
              <a:t>VALEURS &amp; AU-DELÀ</a:t>
            </a:r>
            <a:endParaRPr lang="fr-FR" sz="1200" b="0" u="none" strike="noStrike">
              <a:solidFill>
                <a:srgbClr val="FFFFFF"/>
              </a:solidFill>
              <a:effectLst/>
              <a:uFillTx/>
              <a:latin typeface="Arial"/>
            </a:endParaRPr>
          </a:p>
        </p:txBody>
      </p:sp>
      <p:sp>
        <p:nvSpPr>
          <p:cNvPr id="246" name="Text 1"/>
          <p:cNvSpPr/>
          <p:nvPr/>
        </p:nvSpPr>
        <p:spPr>
          <a:xfrm>
            <a:off x="548640" y="658440"/>
            <a:ext cx="9691560" cy="867600"/>
          </a:xfrm>
          <a:prstGeom prst="rect">
            <a:avLst/>
          </a:prstGeom>
          <a:noFill/>
          <a:ln w="0">
            <a:noFill/>
          </a:ln>
        </p:spPr>
        <p:style>
          <a:lnRef idx="0"/>
          <a:fillRef idx="0"/>
          <a:effectRef idx="0"/>
          <a:fontRef idx="minor"/>
        </p:style>
        <p:txBody>
          <a:bodyPr lIns="0" tIns="0" rIns="0" bIns="0" anchor="t">
            <a:noAutofit/>
          </a:bodyPr>
          <a:p>
            <a:pPr defTabSz="914400">
              <a:lnSpc>
                <a:spcPct val="102000"/>
              </a:lnSpc>
              <a:tabLst>
                <a:tab pos="0" algn="l"/>
              </a:tabLst>
            </a:pPr>
            <a:r>
              <a:rPr lang="fr-FR" sz="2800" b="1" u="none" strike="noStrike">
                <a:solidFill>
                  <a:srgbClr val="FFFFFF"/>
                </a:solidFill>
                <a:effectLst/>
                <a:uFillTx/>
                <a:latin typeface="Cambria"/>
                <a:ea typeface="Cambria"/>
              </a:rPr>
              <a:t>Une gouvernance de confiance et de croissance</a:t>
            </a:r>
            <a:endParaRPr lang="fr-FR" sz="2800" b="0" u="none" strike="noStrike">
              <a:solidFill>
                <a:srgbClr val="FFFFFF"/>
              </a:solidFill>
              <a:effectLst/>
              <a:uFillTx/>
              <a:latin typeface="Arial"/>
            </a:endParaRPr>
          </a:p>
        </p:txBody>
      </p:sp>
      <p:pic>
        <p:nvPicPr>
          <p:cNvPr id="247" name="Image 0" descr="icons/icon_flag.png"/>
          <p:cNvPicPr/>
          <p:nvPr/>
        </p:nvPicPr>
        <p:blipFill>
          <a:blip r:embed="rId1"/>
          <a:stretch/>
        </p:blipFill>
        <p:spPr>
          <a:xfrm>
            <a:off x="11140200" y="365760"/>
            <a:ext cx="657360" cy="657360"/>
          </a:xfrm>
          <a:prstGeom prst="rect">
            <a:avLst/>
          </a:prstGeom>
          <a:noFill/>
          <a:ln w="0">
            <a:noFill/>
          </a:ln>
        </p:spPr>
      </p:pic>
      <p:pic>
        <p:nvPicPr>
          <p:cNvPr id="248" name="Image 1" descr="icons/icon_check_white.png"/>
          <p:cNvPicPr/>
          <p:nvPr/>
        </p:nvPicPr>
        <p:blipFill>
          <a:blip r:embed="rId2"/>
          <a:stretch/>
        </p:blipFill>
        <p:spPr>
          <a:xfrm>
            <a:off x="1531800" y="1783080"/>
            <a:ext cx="639000" cy="639000"/>
          </a:xfrm>
          <a:prstGeom prst="rect">
            <a:avLst/>
          </a:prstGeom>
          <a:noFill/>
          <a:ln w="0">
            <a:noFill/>
          </a:ln>
        </p:spPr>
      </p:pic>
      <p:sp>
        <p:nvSpPr>
          <p:cNvPr id="249" name="Text 2"/>
          <p:cNvSpPr/>
          <p:nvPr/>
        </p:nvSpPr>
        <p:spPr>
          <a:xfrm>
            <a:off x="548640" y="2560320"/>
            <a:ext cx="2604960" cy="31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500" b="1" u="none" strike="noStrike">
                <a:solidFill>
                  <a:srgbClr val="FFFFFF"/>
                </a:solidFill>
                <a:effectLst/>
                <a:uFillTx/>
                <a:latin typeface="Calibri"/>
                <a:ea typeface="Calibri"/>
              </a:rPr>
              <a:t>Économies</a:t>
            </a:r>
            <a:endParaRPr lang="fr-FR" sz="1500" b="0" u="none" strike="noStrike">
              <a:solidFill>
                <a:srgbClr val="FFFFFF"/>
              </a:solidFill>
              <a:effectLst/>
              <a:uFillTx/>
              <a:latin typeface="Arial"/>
            </a:endParaRPr>
          </a:p>
        </p:txBody>
      </p:sp>
      <p:sp>
        <p:nvSpPr>
          <p:cNvPr id="250" name="Text 3"/>
          <p:cNvSpPr/>
          <p:nvPr/>
        </p:nvSpPr>
        <p:spPr>
          <a:xfrm>
            <a:off x="548640" y="2880360"/>
            <a:ext cx="2604960" cy="913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1050" b="0" u="none" strike="noStrike">
                <a:solidFill>
                  <a:srgbClr val="CADCFC"/>
                </a:solidFill>
                <a:effectLst/>
                <a:uFillTx/>
                <a:latin typeface="Calibri"/>
                <a:ea typeface="Calibri"/>
              </a:rPr>
              <a:t>Réduction des inefficiences liées des données de qualité insuffisante</a:t>
            </a:r>
            <a:endParaRPr lang="fr-FR" sz="1050" b="0" u="none" strike="noStrike">
              <a:solidFill>
                <a:srgbClr val="FFFFFF"/>
              </a:solidFill>
              <a:effectLst/>
              <a:uFillTx/>
              <a:latin typeface="Arial"/>
            </a:endParaRPr>
          </a:p>
        </p:txBody>
      </p:sp>
      <p:pic>
        <p:nvPicPr>
          <p:cNvPr id="251" name="Image 2" descr="icons/icon_lock.png"/>
          <p:cNvPicPr/>
          <p:nvPr/>
        </p:nvPicPr>
        <p:blipFill>
          <a:blip r:embed="rId3"/>
          <a:stretch/>
        </p:blipFill>
        <p:spPr>
          <a:xfrm>
            <a:off x="4393800" y="1783080"/>
            <a:ext cx="639000" cy="639000"/>
          </a:xfrm>
          <a:prstGeom prst="rect">
            <a:avLst/>
          </a:prstGeom>
          <a:noFill/>
          <a:ln w="0">
            <a:noFill/>
          </a:ln>
        </p:spPr>
      </p:pic>
      <p:sp>
        <p:nvSpPr>
          <p:cNvPr id="252" name="Text 4"/>
          <p:cNvSpPr/>
          <p:nvPr/>
        </p:nvSpPr>
        <p:spPr>
          <a:xfrm>
            <a:off x="3410640" y="2560320"/>
            <a:ext cx="2604960" cy="31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500" b="1" u="none" strike="noStrike">
                <a:solidFill>
                  <a:srgbClr val="FFFFFF"/>
                </a:solidFill>
                <a:effectLst/>
                <a:uFillTx/>
                <a:latin typeface="Calibri"/>
                <a:ea typeface="Calibri"/>
              </a:rPr>
              <a:t>Conformité</a:t>
            </a:r>
            <a:endParaRPr lang="fr-FR" sz="1500" b="0" u="none" strike="noStrike">
              <a:solidFill>
                <a:srgbClr val="FFFFFF"/>
              </a:solidFill>
              <a:effectLst/>
              <a:uFillTx/>
              <a:latin typeface="Arial"/>
            </a:endParaRPr>
          </a:p>
        </p:txBody>
      </p:sp>
      <p:sp>
        <p:nvSpPr>
          <p:cNvPr id="253" name="Text 5"/>
          <p:cNvSpPr/>
          <p:nvPr/>
        </p:nvSpPr>
        <p:spPr>
          <a:xfrm>
            <a:off x="3410640" y="2880360"/>
            <a:ext cx="2604960" cy="913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1050" b="0" u="none" strike="noStrike">
                <a:solidFill>
                  <a:srgbClr val="CADCFC"/>
                </a:solidFill>
                <a:effectLst/>
                <a:uFillTx/>
                <a:latin typeface="Calibri"/>
                <a:ea typeface="Calibri"/>
              </a:rPr>
              <a:t>Éviter les sanctions GDPR/CCPA)</a:t>
            </a:r>
            <a:endParaRPr lang="fr-FR" sz="1050" b="0" u="none" strike="noStrike">
              <a:solidFill>
                <a:srgbClr val="FFFFFF"/>
              </a:solidFill>
              <a:effectLst/>
              <a:uFillTx/>
              <a:latin typeface="Arial"/>
            </a:endParaRPr>
          </a:p>
        </p:txBody>
      </p:sp>
      <p:pic>
        <p:nvPicPr>
          <p:cNvPr id="254" name="Image 3" descr="icons/icon_shield.png"/>
          <p:cNvPicPr/>
          <p:nvPr/>
        </p:nvPicPr>
        <p:blipFill>
          <a:blip r:embed="rId4"/>
          <a:stretch/>
        </p:blipFill>
        <p:spPr>
          <a:xfrm>
            <a:off x="7255800" y="1783080"/>
            <a:ext cx="639000" cy="639000"/>
          </a:xfrm>
          <a:prstGeom prst="rect">
            <a:avLst/>
          </a:prstGeom>
          <a:noFill/>
          <a:ln w="0">
            <a:noFill/>
          </a:ln>
        </p:spPr>
      </p:pic>
      <p:sp>
        <p:nvSpPr>
          <p:cNvPr id="255" name="Text 6"/>
          <p:cNvSpPr/>
          <p:nvPr/>
        </p:nvSpPr>
        <p:spPr>
          <a:xfrm>
            <a:off x="6272640" y="2560320"/>
            <a:ext cx="2604960" cy="31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500" b="1" u="none" strike="noStrike">
                <a:solidFill>
                  <a:srgbClr val="FFFFFF"/>
                </a:solidFill>
                <a:effectLst/>
                <a:uFillTx/>
                <a:latin typeface="Calibri"/>
                <a:ea typeface="Calibri"/>
              </a:rPr>
              <a:t>Confiance</a:t>
            </a:r>
            <a:endParaRPr lang="fr-FR" sz="1500" b="0" u="none" strike="noStrike">
              <a:solidFill>
                <a:srgbClr val="FFFFFF"/>
              </a:solidFill>
              <a:effectLst/>
              <a:uFillTx/>
              <a:latin typeface="Arial"/>
            </a:endParaRPr>
          </a:p>
        </p:txBody>
      </p:sp>
      <p:sp>
        <p:nvSpPr>
          <p:cNvPr id="256" name="Text 7"/>
          <p:cNvSpPr/>
          <p:nvPr/>
        </p:nvSpPr>
        <p:spPr>
          <a:xfrm>
            <a:off x="6272640" y="2880360"/>
            <a:ext cx="2604960" cy="913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1050" b="0" u="none" strike="noStrike">
                <a:solidFill>
                  <a:srgbClr val="CADCFC"/>
                </a:solidFill>
                <a:effectLst/>
                <a:uFillTx/>
                <a:latin typeface="Calibri"/>
                <a:ea typeface="Calibri"/>
              </a:rPr>
              <a:t>Transparence et sécurité renforcées auprès des utilisateurs</a:t>
            </a:r>
            <a:endParaRPr lang="fr-FR" sz="1050" b="0" u="none" strike="noStrike">
              <a:solidFill>
                <a:srgbClr val="FFFFFF"/>
              </a:solidFill>
              <a:effectLst/>
              <a:uFillTx/>
              <a:latin typeface="Arial"/>
            </a:endParaRPr>
          </a:p>
        </p:txBody>
      </p:sp>
      <p:pic>
        <p:nvPicPr>
          <p:cNvPr id="257" name="Image 4" descr="icons/icon_globe.png"/>
          <p:cNvPicPr/>
          <p:nvPr/>
        </p:nvPicPr>
        <p:blipFill>
          <a:blip r:embed="rId5"/>
          <a:stretch/>
        </p:blipFill>
        <p:spPr>
          <a:xfrm>
            <a:off x="10117800" y="1783080"/>
            <a:ext cx="639000" cy="639000"/>
          </a:xfrm>
          <a:prstGeom prst="rect">
            <a:avLst/>
          </a:prstGeom>
          <a:noFill/>
          <a:ln w="0">
            <a:noFill/>
          </a:ln>
        </p:spPr>
      </p:pic>
      <p:sp>
        <p:nvSpPr>
          <p:cNvPr id="258" name="Text 8"/>
          <p:cNvSpPr/>
          <p:nvPr/>
        </p:nvSpPr>
        <p:spPr>
          <a:xfrm>
            <a:off x="9135000" y="2560320"/>
            <a:ext cx="2604960" cy="318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500" b="1" u="none" strike="noStrike">
                <a:solidFill>
                  <a:srgbClr val="FFFFFF"/>
                </a:solidFill>
                <a:effectLst/>
                <a:uFillTx/>
                <a:latin typeface="Calibri"/>
                <a:ea typeface="Calibri"/>
              </a:rPr>
              <a:t>Scalabilité</a:t>
            </a:r>
            <a:endParaRPr lang="fr-FR" sz="1500" b="0" u="none" strike="noStrike">
              <a:solidFill>
                <a:srgbClr val="FFFFFF"/>
              </a:solidFill>
              <a:effectLst/>
              <a:uFillTx/>
              <a:latin typeface="Arial"/>
            </a:endParaRPr>
          </a:p>
        </p:txBody>
      </p:sp>
      <p:sp>
        <p:nvSpPr>
          <p:cNvPr id="259" name="Text 9"/>
          <p:cNvSpPr/>
          <p:nvPr/>
        </p:nvSpPr>
        <p:spPr>
          <a:xfrm>
            <a:off x="9135000" y="2880360"/>
            <a:ext cx="2604960" cy="913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fr-FR" sz="1050" b="0" u="none" strike="noStrike">
                <a:solidFill>
                  <a:srgbClr val="CADCFC"/>
                </a:solidFill>
                <a:effectLst/>
                <a:uFillTx/>
                <a:latin typeface="Calibri"/>
                <a:ea typeface="Calibri"/>
              </a:rPr>
              <a:t>Infrastructure de gouvernance prête pour la croissance mondiale</a:t>
            </a:r>
            <a:endParaRPr lang="fr-FR" sz="1050" b="0" u="none" strike="noStrike">
              <a:solidFill>
                <a:srgbClr val="FFFFFF"/>
              </a:solidFill>
              <a:effectLst/>
              <a:uFillTx/>
              <a:latin typeface="Arial"/>
            </a:endParaRPr>
          </a:p>
        </p:txBody>
      </p:sp>
      <p:sp>
        <p:nvSpPr>
          <p:cNvPr id="260" name="Shape 10"/>
          <p:cNvSpPr/>
          <p:nvPr/>
        </p:nvSpPr>
        <p:spPr>
          <a:xfrm>
            <a:off x="548640" y="4160520"/>
            <a:ext cx="11090520" cy="1873440"/>
          </a:xfrm>
          <a:prstGeom prst="roundRect">
            <a:avLst>
              <a:gd name="adj" fmla="val 3902"/>
            </a:avLst>
          </a:prstGeom>
          <a:solidFill>
            <a:srgbClr val="2A3C60"/>
          </a:solidFill>
          <a:ln w="12700">
            <a:solidFill>
              <a:srgbClr val="3A4C72"/>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61" name="Text 11"/>
          <p:cNvSpPr/>
          <p:nvPr/>
        </p:nvSpPr>
        <p:spPr>
          <a:xfrm>
            <a:off x="868680" y="4316040"/>
            <a:ext cx="5485320" cy="31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2DBE8C"/>
                </a:solidFill>
                <a:effectLst/>
                <a:uFillTx/>
                <a:latin typeface="Calibri"/>
                <a:ea typeface="Calibri"/>
              </a:rPr>
              <a:t>Prochaines étapes</a:t>
            </a:r>
            <a:endParaRPr lang="fr-FR" sz="1400" b="0" u="none" strike="noStrike">
              <a:solidFill>
                <a:srgbClr val="FFFFFF"/>
              </a:solidFill>
              <a:effectLst/>
              <a:uFillTx/>
              <a:latin typeface="Arial"/>
            </a:endParaRPr>
          </a:p>
        </p:txBody>
      </p:sp>
      <p:sp>
        <p:nvSpPr>
          <p:cNvPr id="262" name="Text 12"/>
          <p:cNvSpPr/>
          <p:nvPr/>
        </p:nvSpPr>
        <p:spPr>
          <a:xfrm>
            <a:off x="868680" y="4681800"/>
            <a:ext cx="10423080" cy="123336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799"/>
              </a:spcAft>
              <a:buClr>
                <a:srgbClr val="FFFFFF"/>
              </a:buClr>
              <a:buFont typeface="Symbol" charset="2"/>
              <a:buChar char=""/>
            </a:pPr>
            <a:r>
              <a:rPr lang="fr-FR" sz="1250" b="0" u="none" strike="noStrike">
                <a:solidFill>
                  <a:srgbClr val="FFFFFF"/>
                </a:solidFill>
                <a:effectLst/>
                <a:uFillTx/>
                <a:latin typeface="Calibri"/>
                <a:ea typeface="Calibri"/>
              </a:rPr>
              <a:t>Lancer le pilote sur le système de recommandation (Product Development)</a:t>
            </a:r>
            <a:endParaRPr lang="fr-FR" sz="1250" b="0" u="none" strike="noStrike">
              <a:solidFill>
                <a:srgbClr val="FFFFFF"/>
              </a:solidFill>
              <a:effectLst/>
              <a:uFillTx/>
              <a:latin typeface="Arial"/>
            </a:endParaRPr>
          </a:p>
          <a:p>
            <a:pPr marL="177840" indent="-177840" defTabSz="914400">
              <a:lnSpc>
                <a:spcPct val="100000"/>
              </a:lnSpc>
              <a:spcAft>
                <a:spcPts val="799"/>
              </a:spcAft>
              <a:buClr>
                <a:srgbClr val="FFFFFF"/>
              </a:buClr>
              <a:buFont typeface="Symbol" charset="2"/>
              <a:buChar char=""/>
            </a:pPr>
            <a:r>
              <a:rPr lang="fr-FR" sz="1250" b="0" u="none" strike="noStrike">
                <a:solidFill>
                  <a:srgbClr val="FFFFFF"/>
                </a:solidFill>
                <a:effectLst/>
                <a:uFillTx/>
                <a:latin typeface="Calibri"/>
                <a:ea typeface="Calibri"/>
              </a:rPr>
              <a:t>Nommer / confirmer DPO, CDO, Legal Team, Data Owners, Data Stewards, Model Owners, Model Risk Manager</a:t>
            </a:r>
            <a:endParaRPr lang="fr-FR" sz="1250" b="0" u="none" strike="noStrike">
              <a:solidFill>
                <a:srgbClr val="FFFFFF"/>
              </a:solidFill>
              <a:effectLst/>
              <a:uFillTx/>
              <a:latin typeface="Arial"/>
            </a:endParaRPr>
          </a:p>
          <a:p>
            <a:pPr marL="177840" indent="-177840" defTabSz="914400">
              <a:lnSpc>
                <a:spcPct val="100000"/>
              </a:lnSpc>
              <a:spcAft>
                <a:spcPts val="799"/>
              </a:spcAft>
              <a:buClr>
                <a:srgbClr val="FFFFFF"/>
              </a:buClr>
              <a:buFont typeface="Symbol" charset="2"/>
              <a:buChar char=""/>
            </a:pPr>
            <a:r>
              <a:rPr lang="fr-FR" sz="1250" b="0" u="none" strike="noStrike">
                <a:solidFill>
                  <a:srgbClr val="FFFFFF"/>
                </a:solidFill>
                <a:effectLst/>
                <a:uFillTx/>
                <a:latin typeface="Calibri"/>
                <a:ea typeface="Calibri"/>
              </a:rPr>
              <a:t>Première revue de maturité DMAT au jalon intermédiaire (M5)</a:t>
            </a:r>
            <a:endParaRPr lang="fr-FR" sz="1250" b="0" u="none" strike="noStrike">
              <a:solidFill>
                <a:srgbClr val="FFFFFF"/>
              </a:solidFill>
              <a:effectLst/>
              <a:uFillTx/>
              <a:latin typeface="Arial"/>
            </a:endParaRPr>
          </a:p>
          <a:p>
            <a:pPr marL="177840" indent="-177840" defTabSz="914400">
              <a:lnSpc>
                <a:spcPct val="100000"/>
              </a:lnSpc>
              <a:spcAft>
                <a:spcPts val="799"/>
              </a:spcAft>
              <a:buClr>
                <a:srgbClr val="FFFFFF"/>
              </a:buClr>
              <a:buFont typeface="Symbol" charset="2"/>
              <a:buChar char=""/>
            </a:pPr>
            <a:r>
              <a:rPr lang="fr-FR" sz="1250" b="0" u="none" strike="noStrike">
                <a:solidFill>
                  <a:srgbClr val="FFFFFF"/>
                </a:solidFill>
                <a:effectLst/>
                <a:uFillTx/>
                <a:latin typeface="Calibri"/>
                <a:ea typeface="Calibri"/>
              </a:rPr>
              <a:t>Décision de passage à l'échelle (feu vert / orange / rouge) à chaque jalon de phase</a:t>
            </a:r>
            <a:endParaRPr lang="fr-FR" sz="1250" b="0" u="none" strike="noStrike">
              <a:solidFill>
                <a:srgbClr val="FFFFFF"/>
              </a:solidFill>
              <a:effectLst/>
              <a:uFillTx/>
              <a:latin typeface="Arial"/>
            </a:endParaRPr>
          </a:p>
        </p:txBody>
      </p:sp>
      <p:sp>
        <p:nvSpPr>
          <p:cNvPr id="263" name="Text 13"/>
          <p:cNvSpPr/>
          <p:nvPr/>
        </p:nvSpPr>
        <p:spPr>
          <a:xfrm>
            <a:off x="548640" y="6473880"/>
            <a:ext cx="7314120" cy="27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050" b="0" u="none" strike="noStrike">
                <a:solidFill>
                  <a:srgbClr val="9FB0C9"/>
                </a:solidFill>
                <a:effectLst/>
                <a:uFillTx/>
                <a:latin typeface="Calibri"/>
                <a:ea typeface="Calibri"/>
              </a:rPr>
              <a:t>Nicolas Pichon - AIA RNCP 38777 / BC01 - Présentation du 2026/10/13 - v2</a:t>
            </a:r>
            <a:endParaRPr lang="fr-FR" sz="1050" b="0" u="none" strike="noStrike">
              <a:solidFill>
                <a:srgbClr val="FFFFFF"/>
              </a:solidFill>
              <a:effectLst/>
              <a:uFillTx/>
              <a:latin typeface="Arial"/>
            </a:endParaRPr>
          </a:p>
        </p:txBody>
      </p:sp>
      <p:sp>
        <p:nvSpPr>
          <p:cNvPr id="264" name="Text 14"/>
          <p:cNvSpPr/>
          <p:nvPr/>
        </p:nvSpPr>
        <p:spPr>
          <a:xfrm>
            <a:off x="11003040" y="6473880"/>
            <a:ext cx="821880" cy="273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950" b="0" u="none" strike="noStrike">
                <a:solidFill>
                  <a:srgbClr val="9FB0C9"/>
                </a:solidFill>
                <a:effectLst/>
                <a:uFillTx/>
                <a:latin typeface="Calibri"/>
                <a:ea typeface="Calibri"/>
              </a:rPr>
              <a:t>10 / 10</a:t>
            </a:r>
            <a:endParaRPr lang="fr-FR" sz="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26</TotalTime>
  <Application>LibreOffice/26.2.1.2$Windows_X86_64 LibreOffice_project/620$Build-2</Application>
  <AppVersion>15.0000</AppVersion>
  <Words>0</Words>
  <Paragraphs>0</Paragraphs>
  <Company>AIA RNCP 38777 — BC01</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2026-08-25T02:40:30Z</dcterms:created>
  <dc:creator>Nicolas Pichon</dc:creator>
  <dc:description/>
  <dc:language>fr-FR</dc:language>
  <cp:lastModifiedBy/>
  <dcterms:modified xsi:type="dcterms:W3CDTF">2026-08-25T05:56:37Z</dcterms:modified>
  <cp:revision>5</cp:revision>
  <dc:subject>Data &amp; AI Governance — Présentation finale (Step 4)</dc:subject>
  <dc:title>Spotify — Gouvernance des Données et de l'IA</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