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A"/>
                </a:solidFill>
                <a:latin typeface="Calibri"/>
              </a:defRPr>
            </a:pPr>
            <a:r>
              <a:rPr sz="1200" b="0" i="0" u="none" strike="noStrike">
                <a:solidFill>
                  <a:srgbClr val="1B2A4A"/>
                </a:solidFill>
                <a:latin typeface="Calibri"/>
              </a:rPr>
              <a:t>Niveau de maturité par dimension (échelle 0–5)</a:t>
            </a:r>
          </a:p>
        </c:rich>
      </c:tx>
      <c:layout/>
      <c:overlay val="0"/>
    </c:title>
    <c:autoTitleDeleted val="0"/>
    <c:plotArea>
      <c:layout/>
      <c:barChart>
        <c:barDir val="bar"/>
        <c:grouping val="clustered"/>
        <c:varyColors val="0"/>
        <c:ser>
          <c:idx val="0"/>
          <c:order val="0"/>
          <c:tx>
            <c:strRef>
              <c:f>Sheet1!$B$1</c:f>
              <c:strCache>
                <c:ptCount val="1"/>
                <c:pt idx="0">
                  <c:v>Niveau de maturité</c:v>
                </c:pt>
              </c:strCache>
            </c:strRef>
          </c:tx>
          <c:spPr>
            <a:solidFill>
              <a:srgbClr val="2DBE8C"/>
            </a:solidFill>
            <a:effectLst/>
          </c:spPr>
          <c:invertIfNegative val="0"/>
          <c:dLbls>
            <c:numFmt formatCode="#,##0" sourceLinked="0"/>
            <c:txPr>
              <a:bodyPr/>
              <a:lstStyle/>
              <a:p>
                <a:pPr>
                  <a:defRPr b="0" i="0" strike="noStrike" sz="1000" u="none">
                    <a:solidFill>
                      <a:srgbClr val="1B2A4A"/>
                    </a:solidFill>
                    <a:latin typeface="Calibri"/>
                  </a:defRPr>
                </a:pPr>
              </a:p>
            </c:txPr>
            <c:showLegendKey val="0"/>
            <c:showVal val="1"/>
            <c:showCatName val="0"/>
            <c:showSerName val="0"/>
            <c:showPercent val="0"/>
            <c:showBubbleSize val="0"/>
            <c:showLeaderLines val="0"/>
          </c:dLbls>
          <c:dPt>
            <c:idx val="0"/>
            <c:invertIfNegative val="0"/>
            <c:bubble3D val="0"/>
            <c:spPr>
              <a:solidFill>
                <a:srgbClr val="2DBE8C"/>
              </a:solidFill>
              <a:effectLst/>
            </c:spPr>
          </c:dPt>
          <c:dPt>
            <c:idx val="1"/>
            <c:invertIfNegative val="0"/>
            <c:bubble3D val="0"/>
            <c:spPr>
              <a:solidFill>
                <a:srgbClr val="A9B6C9"/>
              </a:solidFill>
              <a:effectLst/>
            </c:spPr>
          </c:dPt>
          <c:dPt>
            <c:idx val="2"/>
            <c:invertIfNegative val="0"/>
            <c:bubble3D val="0"/>
            <c:spPr>
              <a:solidFill>
                <a:srgbClr val="A9B6C9"/>
              </a:solidFill>
              <a:effectLst/>
            </c:spPr>
          </c:dPt>
          <c:dPt>
            <c:idx val="3"/>
            <c:invertIfNegative val="0"/>
            <c:bubble3D val="0"/>
            <c:spPr>
              <a:solidFill>
                <a:srgbClr val="A9B6C9"/>
              </a:solidFill>
              <a:effectLst/>
            </c:spPr>
          </c:dPt>
          <c:dPt>
            <c:idx val="4"/>
            <c:invertIfNegative val="0"/>
            <c:bubble3D val="0"/>
            <c:spPr>
              <a:solidFill>
                <a:srgbClr val="2DBE8C"/>
              </a:solidFill>
              <a:effectLst/>
            </c:spPr>
          </c:dPt>
          <c:dPt>
            <c:idx val="5"/>
            <c:invertIfNegative val="0"/>
            <c:bubble3D val="0"/>
            <c:spPr>
              <a:solidFill>
                <a:srgbClr val="A9B6C9"/>
              </a:solidFill>
              <a:effectLst/>
            </c:spPr>
          </c:dPt>
          <c:dPt>
            <c:idx val="6"/>
            <c:invertIfNegative val="0"/>
            <c:bubble3D val="0"/>
            <c:spPr>
              <a:solidFill>
                <a:srgbClr val="2DBE8C"/>
              </a:solidFill>
              <a:effectLst/>
            </c:spPr>
          </c:dPt>
          <c:dPt>
            <c:idx val="7"/>
            <c:invertIfNegative val="0"/>
            <c:bubble3D val="0"/>
            <c:spPr>
              <a:solidFill>
                <a:srgbClr val="A9B6C9"/>
              </a:solidFill>
              <a:effectLst/>
            </c:spPr>
          </c:dPt>
          <c:dPt>
            <c:idx val="8"/>
            <c:invertIfNegative val="0"/>
            <c:bubble3D val="0"/>
            <c:spPr>
              <a:solidFill>
                <a:srgbClr val="A9B6C9"/>
              </a:solidFill>
              <a:effectLst/>
            </c:spPr>
          </c:dPt>
          <c:dPt>
            <c:idx val="9"/>
            <c:invertIfNegative val="0"/>
            <c:bubble3D val="0"/>
            <c:spPr>
              <a:solidFill>
                <a:srgbClr val="A9B6C9"/>
              </a:solidFill>
              <a:effectLst/>
            </c:spPr>
          </c:dPt>
          <c:dPt>
            <c:idx val="10"/>
            <c:invertIfNegative val="0"/>
            <c:bubble3D val="0"/>
            <c:spPr>
              <a:solidFill>
                <a:srgbClr val="A9B6C9"/>
              </a:solidFill>
              <a:effectLst/>
            </c:spPr>
          </c:dPt>
          <c:dPt>
            <c:idx val="11"/>
            <c:invertIfNegative val="0"/>
            <c:bubble3D val="0"/>
            <c:spPr>
              <a:solidFill>
                <a:srgbClr val="A9B6C9"/>
              </a:solidFill>
              <a:effectLst/>
            </c:spPr>
          </c:dPt>
          <c:cat>
            <c:multiLvlStrRef>
              <c:f>Sheet1!$A$2:$A$13</c:f>
              <c:multiLvlStrCache>
                <c:ptCount val="12"/>
                <c:lvl>
                  <c:pt idx="0">
                    <c:v>Analytics &amp; BI</c:v>
                  </c:pt>
                  <c:pt idx="1">
                    <c:v>Intégration</c:v>
                  </c:pt>
                  <c:pt idx="2">
                    <c:v>Métadonnées</c:v>
                  </c:pt>
                  <c:pt idx="3">
                    <c:v>Master &amp; Reference Data</c:v>
                  </c:pt>
                  <c:pt idx="4">
                    <c:v>Littératie data</c:v>
                  </c:pt>
                  <c:pt idx="5">
                    <c:v>Sécurité</c:v>
                  </c:pt>
                  <c:pt idx="6">
                    <c:v>Usage &amp; Accessibilité</c:v>
                  </c:pt>
                  <c:pt idx="7">
                    <c:v>Conformité</c:v>
                  </c:pt>
                  <c:pt idx="8">
                    <c:v>Opérations</c:v>
                  </c:pt>
                  <c:pt idx="9">
                    <c:v>Architecture</c:v>
                  </c:pt>
                  <c:pt idx="10">
                    <c:v>Qualité</c:v>
                  </c:pt>
                  <c:pt idx="11">
                    <c:v>Gouvernance</c:v>
                  </c:pt>
                </c:lvl>
              </c:multiLvlStrCache>
            </c:multiLvlStrRef>
          </c:cat>
          <c:val>
            <c:numRef>
              <c:f>Sheet1!$B$2:$B$13</c:f>
              <c:numCache>
                <c:formatCode>General</c:formatCode>
                <c:ptCount val="12"/>
                <c:pt idx="0">
                  <c:v>2</c:v>
                </c:pt>
                <c:pt idx="1">
                  <c:v>1</c:v>
                </c:pt>
                <c:pt idx="2">
                  <c:v>1</c:v>
                </c:pt>
                <c:pt idx="3">
                  <c:v>1</c:v>
                </c:pt>
                <c:pt idx="4">
                  <c:v>2</c:v>
                </c:pt>
                <c:pt idx="5">
                  <c:v>1</c:v>
                </c:pt>
                <c:pt idx="6">
                  <c:v>2</c:v>
                </c:pt>
                <c:pt idx="7">
                  <c:v>1</c:v>
                </c:pt>
                <c:pt idx="8">
                  <c:v>1</c:v>
                </c:pt>
                <c:pt idx="9">
                  <c:v>1</c:v>
                </c:pt>
                <c:pt idx="10">
                  <c:v>1</c:v>
                </c:pt>
                <c:pt idx="11">
                  <c:v>1</c:v>
                </c:pt>
              </c:numCache>
            </c:numRef>
          </c:val>
        </c:ser>
        <c:dLbls>
          <c:numFmt formatCode="#,##0" sourceLinked="0"/>
          <c:txPr>
            <a:bodyPr/>
            <a:lstStyle/>
            <a:p>
              <a:pPr>
                <a:defRPr b="0" i="0" strike="noStrike" sz="1000" u="none">
                  <a:solidFill>
                    <a:srgbClr val="1B2A4A"/>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8DEE6"/>
            </a:solidFill>
            <a:prstDash val="solid"/>
            <a:round/>
          </a:ln>
        </c:spPr>
        <c:txPr>
          <a:bodyPr/>
          <a:lstStyle/>
          <a:p>
            <a:pPr>
              <a:defRPr sz="1050" b="0" i="0" u="none" strike="noStrike">
                <a:solidFill>
                  <a:srgbClr val="1B2A4A"/>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12700" cap="flat">
              <a:solidFill>
                <a:srgbClr val="D8DEE6"/>
              </a:solidFill>
              <a:prstDash val="solid"/>
              <a:round/>
            </a:ln>
          </c:spPr>
        </c:majorGridlines>
        <c:numFmt formatCode="General" sourceLinked="0"/>
        <c:majorTickMark val="out"/>
        <c:minorTickMark val="none"/>
        <c:tickLblPos val="low"/>
        <c:spPr>
          <a:ln w="12700" cap="flat">
            <a:solidFill>
              <a:srgbClr val="D8DEE6"/>
            </a:solidFill>
            <a:prstDash val="solid"/>
            <a:round/>
          </a:ln>
        </c:spPr>
        <c:txPr>
          <a:bodyPr/>
          <a:lstStyle/>
          <a:p>
            <a:pPr>
              <a:defRPr sz="950" b="0" i="0" u="none" strike="noStrike">
                <a:solidFill>
                  <a:srgbClr val="5B6B84"/>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 Spotify opere a l'echelle mondiale (450M+ utilisateurs, 180+ pays) avec une dependance forte aux donnees (recommandation, personnalisation, monetisation). Le projet presente aujourd'hui repond a une demande de cadrage transverse : gouvernance des donnees ET de l'IA, pas seulement conformite. Objectif de la session : validation du cadre, de l'organisation cible, et du plan de deploiement propose (pilote puis generalisation).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dimensions evaluees selon la methodologie DMAT [R1], appliquee au business case Spotify [R2]. Niveau moyen ~1,25 sur 5. Points d'appui a 2 : usage/accessibilite, litteratie data, analytics &amp; BI (le moteur de recommandation est deja en production). Le reste (gouvernance, qualite, securite, conformite, architecture, operations, metadonnees, integration, master data) reste au niveau 1 : initiatives locales, non generalisees, non mesurees. Message cle pour le comite : l'entreprise sait deja produire de la valeur avec la donnee, le risque est dans la gouvernance de cette capacite, pas dans la capacite elle-meme.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Ordre de criticite justifie dans [D1]. E5 (gouvernance IA) est le seul enjeu qui n'est pas deja nomme comme tel dans le business case [R2] : c'est un gap identifie par le diagnostic, pas une demande initiale de Spotify. Le modele organisationnel choisi a la slide suivante repond specifiquement a E1 et E6 ; la politique de gouvernance repond a E2, E3, E4, E5.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9 principes viennent du referentiel fourni [R4] et sont reprises telles quelles dans la politique [D21]. Point notable pour le comite : P8 (ethique &amp; gouvernance IA) est le principe le plus operationnalise dans le document -- il donne lieu a 4 exigences concretes (tracabilite, biais, responsabilite/approbation proportionnee, explicabilite), detaillees a la slide Gouvernance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CDO, DPO et Legal Team rapportent au CEO (independance DPO exigee par le GDPR art. 38 par. 3). Le DGC est preside par le CDO. Le Model Risk Manager rapporte au CDO au quotidien mais peut escalader directement au DGC -- ce qui preserve son independance vis-a-vis des equipes dont il evalue les modeles. Les Data Custodians sont centralises dans Engineering mais servent tous les departements transversalement. Les Model Owners sont dans Product Development, separes du Model Risk Manager (separation execution / controle).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cadres sont traites separement dans la politique [D21], chacun avec ses propres exigences operationnelles issues de la checklist de conformite [R5]. La difficulte specifique de Spotify est la dimension multi-juridictionnelle (enjeu E3) : au-dela du socle GDPR/CCPA/PCI-DSS, chaque marche local (ex. PDPA a Singapour) doit etre cartographie separement, sous la responsabilite conjointe de Legal Team et du DPO.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proportionnalite du circuit d'approbation est le point cle a defendre devant le comite : elle evite qu'un circuit concu pour les modeles a fort impact ne devienne un frein systematique au deploiement des modeles a impact modere ou faible. Le DGC est Accountable sur l'approbation des modeles a fort impact, alors que le CDO -- qui preside le DGC -- n'est que Consulted sur cette decision : c'est volontaire, pour eviter que le CDO soit juge et partie sur ses propres arbitrages IA. Le calibrage final des seuils sera affine avec les resultats du pilote [D3].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outil repond a un role precis du modele CoE et a un enjeu identifie en [D1]. La selection resulte d'une comparaison entre les outils recommandes [R8] et des alternatives open source (retenues sur la majorite des lignes, sauf Collibra et TrustArc). Le pilote est volontairement resserre sur un seul sous-perimetre (systeme de recommandation) pour valider le rattachement fonctionnel des Data Stewards, le circuit d'approbation des modeles, et le cout reel d'ingenierie avant generalisation. La conformite GDPR complete (E3/E4) reste hors perimetre du pilote : un RoPA scope a un seul departement ne vaut pas conformite article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sequencement suit le niveau de risque et le cout marginal : Marketing en priorite pour E3/E4 (risque reglementaire le plus eleve), puis Content Curation pour E2/metadonnees. La phase de securisation (annuaire central, roles OpenBao, integrations SSO) ne se reproduit pas integralement aux phases suivantes : seule une migration allegee est reconduite par departement. Message pour le comite : la duree totale (22-24 mois) est deliberement prudente, pas un retard -- elle finance la rigueur de la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Synthese de la valeur business [R11, Q3] : economies, conformite, confiance, scalabilite. Les prochaines etapes sont volontairement concretes et actionnables des la sortie de cette reunion : lancement du pilote, nomination des roles, premiere revue de maturite a M5, et gouvernance des decisions de passage a l'echelle phase par phase plutot qu'un engagement global fige sur 24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685800"/>
            <a:ext cx="8229600" cy="320040"/>
          </a:xfrm>
          <a:prstGeom prst="rect">
            <a:avLst/>
          </a:prstGeom>
          <a:noFill/>
          <a:ln/>
        </p:spPr>
        <p:txBody>
          <a:bodyPr wrap="square" lIns="0" tIns="0" rIns="0" bIns="0" rtlCol="0" anchor="ctr"/>
          <a:lstStyle/>
          <a:p>
            <a:pPr indent="0" marL="0">
              <a:buNone/>
            </a:pPr>
            <a:r>
              <a:rPr lang="en-US" sz="1300" b="1" spc="200" kern="0" dirty="0">
                <a:solidFill>
                  <a:srgbClr val="2DBE8C"/>
                </a:solidFill>
                <a:latin typeface="Calibri" pitchFamily="34" charset="0"/>
                <a:ea typeface="Calibri" pitchFamily="34" charset="-122"/>
                <a:cs typeface="Calibri" pitchFamily="34" charset="-120"/>
              </a:rPr>
              <a:t>SPOTIFY - DATA &amp; AI GOVERNANCE PROJECT</a:t>
            </a:r>
            <a:endParaRPr lang="en-US" sz="1300" dirty="0"/>
          </a:p>
        </p:txBody>
      </p:sp>
      <p:sp>
        <p:nvSpPr>
          <p:cNvPr id="3" name="Text 1"/>
          <p:cNvSpPr/>
          <p:nvPr/>
        </p:nvSpPr>
        <p:spPr>
          <a:xfrm>
            <a:off x="640080" y="1417320"/>
            <a:ext cx="8503920" cy="155448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Gouvernance des Données et de l'Intelligence Artificielle</a:t>
            </a:r>
            <a:endParaRPr lang="en-US" sz="4000" dirty="0"/>
          </a:p>
        </p:txBody>
      </p:sp>
      <p:sp>
        <p:nvSpPr>
          <p:cNvPr id="4" name="Text 2"/>
          <p:cNvSpPr/>
          <p:nvPr/>
        </p:nvSpPr>
        <p:spPr>
          <a:xfrm>
            <a:off x="640080" y="2880360"/>
            <a:ext cx="7863840" cy="64008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Cadre, organisation et plan de mise en œuvre - Présentation au Comité Exécutif et au Leadership IA</a:t>
            </a:r>
            <a:endParaRPr lang="en-US" sz="1700" dirty="0"/>
          </a:p>
        </p:txBody>
      </p:sp>
      <p:sp>
        <p:nvSpPr>
          <p:cNvPr id="5" name="Text 3"/>
          <p:cNvSpPr/>
          <p:nvPr/>
        </p:nvSpPr>
        <p:spPr>
          <a:xfrm>
            <a:off x="640080" y="4160520"/>
            <a:ext cx="2377440" cy="685800"/>
          </a:xfrm>
          <a:prstGeom prst="rect">
            <a:avLst/>
          </a:prstGeom>
          <a:noFill/>
          <a:ln/>
        </p:spPr>
        <p:txBody>
          <a:bodyPr wrap="square" lIns="0" tIns="0" rIns="0" bIns="0" rtlCol="0" anchor="ctr"/>
          <a:lstStyle/>
          <a:p>
            <a:pPr indent="0" marL="0">
              <a:buNone/>
            </a:pPr>
            <a:r>
              <a:rPr lang="en-US" sz="3400" b="1" dirty="0">
                <a:solidFill>
                  <a:srgbClr val="2DBE8C"/>
                </a:solidFill>
                <a:latin typeface="Cambria" pitchFamily="34" charset="0"/>
                <a:ea typeface="Cambria" pitchFamily="34" charset="-122"/>
                <a:cs typeface="Cambria" pitchFamily="34" charset="-120"/>
              </a:rPr>
              <a:t>450M+</a:t>
            </a:r>
            <a:endParaRPr lang="en-US" sz="3400" dirty="0"/>
          </a:p>
        </p:txBody>
      </p:sp>
      <p:sp>
        <p:nvSpPr>
          <p:cNvPr id="6" name="Text 4"/>
          <p:cNvSpPr/>
          <p:nvPr/>
        </p:nvSpPr>
        <p:spPr>
          <a:xfrm>
            <a:off x="640080" y="4818888"/>
            <a:ext cx="2377440" cy="3657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utilisateurs actifs</a:t>
            </a:r>
            <a:endParaRPr lang="en-US" sz="1250" dirty="0"/>
          </a:p>
        </p:txBody>
      </p:sp>
      <p:sp>
        <p:nvSpPr>
          <p:cNvPr id="7" name="Text 5"/>
          <p:cNvSpPr/>
          <p:nvPr/>
        </p:nvSpPr>
        <p:spPr>
          <a:xfrm>
            <a:off x="3337560" y="4160520"/>
            <a:ext cx="2377440" cy="685800"/>
          </a:xfrm>
          <a:prstGeom prst="rect">
            <a:avLst/>
          </a:prstGeom>
          <a:noFill/>
          <a:ln/>
        </p:spPr>
        <p:txBody>
          <a:bodyPr wrap="square" lIns="0" tIns="0" rIns="0" bIns="0" rtlCol="0" anchor="ctr"/>
          <a:lstStyle/>
          <a:p>
            <a:pPr indent="0" marL="0">
              <a:buNone/>
            </a:pPr>
            <a:r>
              <a:rPr lang="en-US" sz="3400" b="1" dirty="0">
                <a:solidFill>
                  <a:srgbClr val="2DBE8C"/>
                </a:solidFill>
                <a:latin typeface="Cambria" pitchFamily="34" charset="0"/>
                <a:ea typeface="Cambria" pitchFamily="34" charset="-122"/>
                <a:cs typeface="Cambria" pitchFamily="34" charset="-120"/>
              </a:rPr>
              <a:t>200M</a:t>
            </a:r>
            <a:endParaRPr lang="en-US" sz="3400" dirty="0"/>
          </a:p>
        </p:txBody>
      </p:sp>
      <p:sp>
        <p:nvSpPr>
          <p:cNvPr id="8" name="Text 6"/>
          <p:cNvSpPr/>
          <p:nvPr/>
        </p:nvSpPr>
        <p:spPr>
          <a:xfrm>
            <a:off x="3337560" y="4818888"/>
            <a:ext cx="2377440" cy="3657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abonnés premium</a:t>
            </a:r>
            <a:endParaRPr lang="en-US" sz="1250" dirty="0"/>
          </a:p>
        </p:txBody>
      </p:sp>
      <p:sp>
        <p:nvSpPr>
          <p:cNvPr id="9" name="Text 7"/>
          <p:cNvSpPr/>
          <p:nvPr/>
        </p:nvSpPr>
        <p:spPr>
          <a:xfrm>
            <a:off x="6035040" y="4160520"/>
            <a:ext cx="2377440" cy="685800"/>
          </a:xfrm>
          <a:prstGeom prst="rect">
            <a:avLst/>
          </a:prstGeom>
          <a:noFill/>
          <a:ln/>
        </p:spPr>
        <p:txBody>
          <a:bodyPr wrap="square" lIns="0" tIns="0" rIns="0" bIns="0" rtlCol="0" anchor="ctr"/>
          <a:lstStyle/>
          <a:p>
            <a:pPr indent="0" marL="0">
              <a:buNone/>
            </a:pPr>
            <a:r>
              <a:rPr lang="en-US" sz="3400" b="1" dirty="0">
                <a:solidFill>
                  <a:srgbClr val="2DBE8C"/>
                </a:solidFill>
                <a:latin typeface="Cambria" pitchFamily="34" charset="0"/>
                <a:ea typeface="Cambria" pitchFamily="34" charset="-122"/>
                <a:cs typeface="Cambria" pitchFamily="34" charset="-120"/>
              </a:rPr>
              <a:t>180+</a:t>
            </a:r>
            <a:endParaRPr lang="en-US" sz="3400" dirty="0"/>
          </a:p>
        </p:txBody>
      </p:sp>
      <p:sp>
        <p:nvSpPr>
          <p:cNvPr id="10" name="Text 8"/>
          <p:cNvSpPr/>
          <p:nvPr/>
        </p:nvSpPr>
        <p:spPr>
          <a:xfrm>
            <a:off x="6035040" y="4818888"/>
            <a:ext cx="2377440" cy="3657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pays d'opération</a:t>
            </a:r>
            <a:endParaRPr lang="en-US" sz="1250" dirty="0"/>
          </a:p>
        </p:txBody>
      </p:sp>
      <p:sp>
        <p:nvSpPr>
          <p:cNvPr id="11" name="Text 9"/>
          <p:cNvSpPr/>
          <p:nvPr/>
        </p:nvSpPr>
        <p:spPr>
          <a:xfrm>
            <a:off x="640080" y="6355080"/>
            <a:ext cx="7315200" cy="274320"/>
          </a:xfrm>
          <a:prstGeom prst="rect">
            <a:avLst/>
          </a:prstGeom>
          <a:noFill/>
          <a:ln/>
        </p:spPr>
        <p:txBody>
          <a:bodyPr wrap="square" lIns="0" tIns="0" rIns="0" bIns="0" rtlCol="0" anchor="ctr"/>
          <a:lstStyle/>
          <a:p>
            <a:pPr indent="0" marL="0">
              <a:buNone/>
            </a:pPr>
            <a:r>
              <a:rPr lang="en-US" sz="1050" dirty="0">
                <a:solidFill>
                  <a:srgbClr val="9FB0C9"/>
                </a:solidFill>
                <a:latin typeface="Calibri" pitchFamily="34" charset="0"/>
                <a:ea typeface="Calibri" pitchFamily="34" charset="-122"/>
                <a:cs typeface="Calibri" pitchFamily="34" charset="-120"/>
              </a:rPr>
              <a:t>Nicolas Pichon - AIA RNCP 38777 - BC01 - Step 4 - v2 - 2026/10/13</a:t>
            </a:r>
            <a:endParaRPr lang="en-US" sz="1050" dirty="0"/>
          </a:p>
        </p:txBody>
      </p:sp>
      <p:sp>
        <p:nvSpPr>
          <p:cNvPr id="12" name="Text 10"/>
          <p:cNvSpPr/>
          <p:nvPr/>
        </p:nvSpPr>
        <p:spPr>
          <a:xfrm>
            <a:off x="11002975" y="6355080"/>
            <a:ext cx="822960" cy="274320"/>
          </a:xfrm>
          <a:prstGeom prst="rect">
            <a:avLst/>
          </a:prstGeom>
          <a:noFill/>
          <a:ln/>
        </p:spPr>
        <p:txBody>
          <a:bodyPr wrap="square" lIns="0" tIns="0" rIns="0" bIns="0" rtlCol="0" anchor="ctr"/>
          <a:lstStyle/>
          <a:p>
            <a:pPr algn="r" indent="0" marL="0">
              <a:buNone/>
            </a:pPr>
            <a:r>
              <a:rPr lang="en-US" sz="1050" dirty="0">
                <a:solidFill>
                  <a:srgbClr val="9FB0C9"/>
                </a:solidFill>
                <a:latin typeface="Calibri" pitchFamily="34" charset="0"/>
                <a:ea typeface="Calibri" pitchFamily="34" charset="-122"/>
                <a:cs typeface="Calibri" pitchFamily="34" charset="-120"/>
              </a:rPr>
              <a:t>1 / 10</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1C8C68"/>
                </a:solidFill>
                <a:latin typeface="Calibri" pitchFamily="34" charset="0"/>
                <a:ea typeface="Calibri" pitchFamily="34" charset="-122"/>
                <a:cs typeface="Calibri" pitchFamily="34" charset="-120"/>
              </a:rPr>
              <a:t>DIAGNOSTIC</a:t>
            </a:r>
            <a:endParaRPr lang="en-US" sz="1200" dirty="0"/>
          </a:p>
        </p:txBody>
      </p:sp>
      <p:sp>
        <p:nvSpPr>
          <p:cNvPr id="3" name="Text 1"/>
          <p:cNvSpPr/>
          <p:nvPr/>
        </p:nvSpPr>
        <p:spPr>
          <a:xfrm>
            <a:off x="548640" y="658368"/>
            <a:ext cx="9509760" cy="868680"/>
          </a:xfrm>
          <a:prstGeom prst="rect">
            <a:avLst/>
          </a:prstGeom>
          <a:noFill/>
          <a:ln/>
        </p:spPr>
        <p:txBody>
          <a:bodyPr wrap="square" lIns="0" tIns="0" rIns="0" bIns="0" rtlCol="0" anchor="t"/>
          <a:lstStyle/>
          <a:p>
            <a:pPr indent="0" marL="0">
              <a:lnSpc>
                <a:spcPct val="102000"/>
              </a:lnSpc>
              <a:buNone/>
            </a:pPr>
            <a:r>
              <a:rPr lang="en-US" sz="2800" b="1" dirty="0">
                <a:solidFill>
                  <a:srgbClr val="1B2A4A"/>
                </a:solidFill>
                <a:latin typeface="Cambria" pitchFamily="34" charset="0"/>
                <a:ea typeface="Cambria" pitchFamily="34" charset="-122"/>
                <a:cs typeface="Cambria" pitchFamily="34" charset="-120"/>
              </a:rPr>
              <a:t>Une maturité data en phase initiale, un potentiel analytique déjà avancé</a:t>
            </a:r>
            <a:endParaRPr lang="en-US" sz="2800" dirty="0"/>
          </a:p>
        </p:txBody>
      </p:sp>
      <p:pic>
        <p:nvPicPr>
          <p:cNvPr id="4" name="Image 0" descr="icons/icon_barchart.png">    </p:cNvPr>
          <p:cNvPicPr>
            <a:picLocks noChangeAspect="1"/>
          </p:cNvPicPr>
          <p:nvPr/>
        </p:nvPicPr>
        <p:blipFill>
          <a:blip r:embed="rId1"/>
          <a:stretch>
            <a:fillRect/>
          </a:stretch>
        </p:blipFill>
        <p:spPr>
          <a:xfrm>
            <a:off x="11140135" y="365760"/>
            <a:ext cx="658368" cy="658368"/>
          </a:xfrm>
          <a:prstGeom prst="rect">
            <a:avLst/>
          </a:prstGeom>
        </p:spPr>
      </p:pic>
      <p:graphicFrame>
        <p:nvGraphicFramePr>
          <p:cNvPr id="5" name="Chart 0" descr=""/>
          <p:cNvGraphicFramePr/>
          <p:nvPr/>
        </p:nvGraphicFramePr>
        <p:xfrm>
          <a:off x="502920" y="1691640"/>
          <a:ext cx="6949440" cy="448056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7726680" y="1691640"/>
            <a:ext cx="3931920" cy="1417320"/>
          </a:xfrm>
          <a:prstGeom prst="roundRect">
            <a:avLst>
              <a:gd name="adj" fmla="val 5161"/>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7" name="Text 3"/>
          <p:cNvSpPr/>
          <p:nvPr/>
        </p:nvSpPr>
        <p:spPr>
          <a:xfrm>
            <a:off x="7955280" y="1810512"/>
            <a:ext cx="347472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1,25 / 5</a:t>
            </a:r>
            <a:endParaRPr lang="en-US" sz="3000" dirty="0"/>
          </a:p>
        </p:txBody>
      </p:sp>
      <p:sp>
        <p:nvSpPr>
          <p:cNvPr id="8" name="Text 4"/>
          <p:cNvSpPr/>
          <p:nvPr/>
        </p:nvSpPr>
        <p:spPr>
          <a:xfrm>
            <a:off x="7955280" y="2450592"/>
            <a:ext cx="3520440" cy="548640"/>
          </a:xfrm>
          <a:prstGeom prst="rect">
            <a:avLst/>
          </a:prstGeom>
          <a:noFill/>
          <a:ln/>
        </p:spPr>
        <p:txBody>
          <a:bodyPr wrap="square" lIns="0" tIns="0" rIns="0" bIns="0" rtlCol="0" anchor="ctr"/>
          <a:lstStyle/>
          <a:p>
            <a:pPr indent="0" marL="0">
              <a:buNone/>
            </a:pPr>
            <a:r>
              <a:rPr lang="en-US" sz="1150" dirty="0">
                <a:solidFill>
                  <a:srgbClr val="5B6B84"/>
                </a:solidFill>
                <a:latin typeface="Calibri" pitchFamily="34" charset="0"/>
                <a:ea typeface="Calibri" pitchFamily="34" charset="-122"/>
                <a:cs typeface="Calibri" pitchFamily="34" charset="-120"/>
              </a:rPr>
              <a:t>Niveau moyen de maturité actuel - gouvernance locale, réactive, dispersée</a:t>
            </a:r>
            <a:endParaRPr lang="en-US" sz="1150" dirty="0"/>
          </a:p>
        </p:txBody>
      </p:sp>
      <p:sp>
        <p:nvSpPr>
          <p:cNvPr id="9" name="Shape 5"/>
          <p:cNvSpPr/>
          <p:nvPr/>
        </p:nvSpPr>
        <p:spPr>
          <a:xfrm>
            <a:off x="7726680" y="3246120"/>
            <a:ext cx="3931920" cy="1234440"/>
          </a:xfrm>
          <a:prstGeom prst="roundRect">
            <a:avLst>
              <a:gd name="adj" fmla="val 5926"/>
            </a:avLst>
          </a:prstGeom>
          <a:solidFill>
            <a:srgbClr val="EAF7F1"/>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10" name="Text 6"/>
          <p:cNvSpPr/>
          <p:nvPr/>
        </p:nvSpPr>
        <p:spPr>
          <a:xfrm>
            <a:off x="7955280" y="3364992"/>
            <a:ext cx="3520440" cy="365760"/>
          </a:xfrm>
          <a:prstGeom prst="rect">
            <a:avLst/>
          </a:prstGeom>
          <a:noFill/>
          <a:ln/>
        </p:spPr>
        <p:txBody>
          <a:bodyPr wrap="square" lIns="0" tIns="0" rIns="0" bIns="0" rtlCol="0" anchor="ctr"/>
          <a:lstStyle/>
          <a:p>
            <a:pPr indent="0" marL="0">
              <a:buNone/>
            </a:pPr>
            <a:r>
              <a:rPr lang="en-US" sz="1400" b="1" dirty="0">
                <a:solidFill>
                  <a:srgbClr val="1C8C68"/>
                </a:solidFill>
                <a:latin typeface="Calibri" pitchFamily="34" charset="0"/>
                <a:ea typeface="Calibri" pitchFamily="34" charset="-122"/>
                <a:cs typeface="Calibri" pitchFamily="34" charset="-120"/>
              </a:rPr>
              <a:t>Cible à moyen terme : niveau 3</a:t>
            </a:r>
            <a:endParaRPr lang="en-US" sz="1400" dirty="0"/>
          </a:p>
        </p:txBody>
      </p:sp>
      <p:sp>
        <p:nvSpPr>
          <p:cNvPr id="11" name="Text 7"/>
          <p:cNvSpPr/>
          <p:nvPr/>
        </p:nvSpPr>
        <p:spPr>
          <a:xfrm>
            <a:off x="7955280" y="3730752"/>
            <a:ext cx="3520440" cy="594360"/>
          </a:xfrm>
          <a:prstGeom prst="rect">
            <a:avLst/>
          </a:prstGeom>
          <a:noFill/>
          <a:ln/>
        </p:spPr>
        <p:txBody>
          <a:bodyPr wrap="square" lIns="0" tIns="0" rIns="0" bIns="0" rtlCol="0" anchor="ctr"/>
          <a:lstStyle/>
          <a:p>
            <a:pPr indent="0" marL="0">
              <a:buNone/>
            </a:pPr>
            <a:r>
              <a:rPr lang="en-US" sz="1100" dirty="0">
                <a:solidFill>
                  <a:srgbClr val="5B6B84"/>
                </a:solidFill>
                <a:latin typeface="Calibri" pitchFamily="34" charset="0"/>
                <a:ea typeface="Calibri" pitchFamily="34" charset="-122"/>
                <a:cs typeface="Calibri" pitchFamily="34" charset="-120"/>
              </a:rPr>
              <a:t>Gouvernance bien définie et globale, portée par la politique de gouvernance</a:t>
            </a:r>
            <a:endParaRPr lang="en-US" sz="1100" dirty="0"/>
          </a:p>
        </p:txBody>
      </p:sp>
      <p:sp>
        <p:nvSpPr>
          <p:cNvPr id="12" name="Shape 8"/>
          <p:cNvSpPr/>
          <p:nvPr/>
        </p:nvSpPr>
        <p:spPr>
          <a:xfrm>
            <a:off x="7726680" y="4617720"/>
            <a:ext cx="3931920" cy="1554480"/>
          </a:xfrm>
          <a:prstGeom prst="roundRect">
            <a:avLst>
              <a:gd name="adj" fmla="val 4706"/>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13" name="Text 9"/>
          <p:cNvSpPr/>
          <p:nvPr/>
        </p:nvSpPr>
        <p:spPr>
          <a:xfrm>
            <a:off x="7955280" y="4754880"/>
            <a:ext cx="3520440" cy="1280160"/>
          </a:xfrm>
          <a:prstGeom prst="rect">
            <a:avLst/>
          </a:prstGeom>
          <a:noFill/>
          <a:ln/>
        </p:spPr>
        <p:txBody>
          <a:bodyPr wrap="square" lIns="0" tIns="0" rIns="0" bIns="0" rtlCol="0" anchor="t"/>
          <a:lstStyle/>
          <a:p>
            <a:pPr indent="0" marL="0">
              <a:buNone/>
            </a:pPr>
            <a:r>
              <a:rPr lang="en-US" sz="1150" i="1" dirty="0">
                <a:solidFill>
                  <a:srgbClr val="1B2A4A"/>
                </a:solidFill>
                <a:latin typeface="Calibri" pitchFamily="34" charset="0"/>
                <a:ea typeface="Calibri" pitchFamily="34" charset="-122"/>
                <a:cs typeface="Calibri" pitchFamily="34" charset="-120"/>
              </a:rPr>
              <a:t>Un cadre est défini (rôles, outils identifiés) mais pas encore déployé : ni audit, ni monitoring, ni politique appliquée sur le terrain.</a:t>
            </a:r>
            <a:endParaRPr lang="en-US" sz="1150" dirty="0"/>
          </a:p>
        </p:txBody>
      </p:sp>
      <p:sp>
        <p:nvSpPr>
          <p:cNvPr id="14" name="Text 10"/>
          <p:cNvSpPr/>
          <p:nvPr/>
        </p:nvSpPr>
        <p:spPr>
          <a:xfrm>
            <a:off x="548640" y="6473952"/>
            <a:ext cx="8686800" cy="274320"/>
          </a:xfrm>
          <a:prstGeom prst="rect">
            <a:avLst/>
          </a:prstGeom>
          <a:noFill/>
          <a:ln/>
        </p:spPr>
        <p:txBody>
          <a:bodyPr wrap="square" lIns="0" tIns="0" rIns="0" bIns="0" rtlCol="0" anchor="ctr"/>
          <a:lstStyle/>
          <a:p>
            <a:pPr indent="0" marL="0">
              <a:buNone/>
            </a:pPr>
            <a:r>
              <a:rPr lang="en-US" sz="950" i="1" dirty="0">
                <a:solidFill>
                  <a:srgbClr val="8493A8"/>
                </a:solidFill>
                <a:latin typeface="Calibri" pitchFamily="34" charset="0"/>
                <a:ea typeface="Calibri" pitchFamily="34" charset="-122"/>
                <a:cs typeface="Calibri" pitchFamily="34" charset="-120"/>
              </a:rPr>
              <a:t>Source : [D1] Data &amp; AI Maturity Assessment Report - Méthodologie [R1] Australian Government DMAT</a:t>
            </a:r>
            <a:endParaRPr lang="en-US" sz="950" dirty="0"/>
          </a:p>
        </p:txBody>
      </p:sp>
      <p:sp>
        <p:nvSpPr>
          <p:cNvPr id="15" name="Text 11"/>
          <p:cNvSpPr/>
          <p:nvPr/>
        </p:nvSpPr>
        <p:spPr>
          <a:xfrm>
            <a:off x="11002975" y="6473952"/>
            <a:ext cx="822960" cy="274320"/>
          </a:xfrm>
          <a:prstGeom prst="rect">
            <a:avLst/>
          </a:prstGeom>
          <a:noFill/>
          <a:ln/>
        </p:spPr>
        <p:txBody>
          <a:bodyPr wrap="square" lIns="0" tIns="0" rIns="0" bIns="0" rtlCol="0" anchor="ctr"/>
          <a:lstStyle/>
          <a:p>
            <a:pPr algn="r" indent="0" marL="0">
              <a:buNone/>
            </a:pPr>
            <a:r>
              <a:rPr lang="en-US" sz="950" dirty="0">
                <a:solidFill>
                  <a:srgbClr val="8493A8"/>
                </a:solidFill>
                <a:latin typeface="Calibri" pitchFamily="34" charset="0"/>
                <a:ea typeface="Calibri" pitchFamily="34" charset="-122"/>
                <a:cs typeface="Calibri" pitchFamily="34" charset="-120"/>
              </a:rPr>
              <a:t>2 / 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1C8C68"/>
                </a:solidFill>
                <a:latin typeface="Calibri" pitchFamily="34" charset="0"/>
                <a:ea typeface="Calibri" pitchFamily="34" charset="-122"/>
                <a:cs typeface="Calibri" pitchFamily="34" charset="-120"/>
              </a:rPr>
              <a:t>ENJEUX</a:t>
            </a:r>
            <a:endParaRPr lang="en-US" sz="1200" dirty="0"/>
          </a:p>
        </p:txBody>
      </p:sp>
      <p:sp>
        <p:nvSpPr>
          <p:cNvPr id="3" name="Text 1"/>
          <p:cNvSpPr/>
          <p:nvPr/>
        </p:nvSpPr>
        <p:spPr>
          <a:xfrm>
            <a:off x="548640" y="658368"/>
            <a:ext cx="9509760" cy="868680"/>
          </a:xfrm>
          <a:prstGeom prst="rect">
            <a:avLst/>
          </a:prstGeom>
          <a:noFill/>
          <a:ln/>
        </p:spPr>
        <p:txBody>
          <a:bodyPr wrap="square" lIns="0" tIns="0" rIns="0" bIns="0" rtlCol="0" anchor="t"/>
          <a:lstStyle/>
          <a:p>
            <a:pPr indent="0" marL="0">
              <a:lnSpc>
                <a:spcPct val="102000"/>
              </a:lnSpc>
              <a:buNone/>
            </a:pPr>
            <a:r>
              <a:rPr lang="en-US" sz="2800" b="1" dirty="0">
                <a:solidFill>
                  <a:srgbClr val="1B2A4A"/>
                </a:solidFill>
                <a:latin typeface="Cambria" pitchFamily="34" charset="0"/>
                <a:ea typeface="Cambria" pitchFamily="34" charset="-122"/>
                <a:cs typeface="Cambria" pitchFamily="34" charset="-120"/>
              </a:rPr>
              <a:t>Six enjeux majeurs, par ordre de criticité</a:t>
            </a:r>
            <a:endParaRPr lang="en-US" sz="2800" dirty="0"/>
          </a:p>
        </p:txBody>
      </p:sp>
      <p:pic>
        <p:nvPicPr>
          <p:cNvPr id="4" name="Image 0" descr="icons/icon_alert.png">    </p:cNvPr>
          <p:cNvPicPr>
            <a:picLocks noChangeAspect="1"/>
          </p:cNvPicPr>
          <p:nvPr/>
        </p:nvPicPr>
        <p:blipFill>
          <a:blip r:embed="rId1"/>
          <a:stretch>
            <a:fillRect/>
          </a:stretch>
        </p:blipFill>
        <p:spPr>
          <a:xfrm>
            <a:off x="11140135" y="365760"/>
            <a:ext cx="658368" cy="658368"/>
          </a:xfrm>
          <a:prstGeom prst="rect">
            <a:avLst/>
          </a:prstGeom>
        </p:spPr>
      </p:pic>
      <p:sp>
        <p:nvSpPr>
          <p:cNvPr id="5" name="Shape 2"/>
          <p:cNvSpPr/>
          <p:nvPr/>
        </p:nvSpPr>
        <p:spPr>
          <a:xfrm>
            <a:off x="548640" y="1691640"/>
            <a:ext cx="5349240" cy="1371600"/>
          </a:xfrm>
          <a:prstGeom prst="roundRect">
            <a:avLst>
              <a:gd name="adj" fmla="val 5333"/>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6" name="Shape 3"/>
          <p:cNvSpPr/>
          <p:nvPr/>
        </p:nvSpPr>
        <p:spPr>
          <a:xfrm>
            <a:off x="749808" y="1892808"/>
            <a:ext cx="566928" cy="566928"/>
          </a:xfrm>
          <a:prstGeom prst="ellipse">
            <a:avLst/>
          </a:prstGeom>
          <a:solidFill>
            <a:srgbClr val="B8574A"/>
          </a:solidFill>
          <a:ln/>
        </p:spPr>
      </p:sp>
      <p:sp>
        <p:nvSpPr>
          <p:cNvPr id="7" name="Text 4"/>
          <p:cNvSpPr/>
          <p:nvPr/>
        </p:nvSpPr>
        <p:spPr>
          <a:xfrm>
            <a:off x="749808" y="189280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E1</a:t>
            </a:r>
            <a:endParaRPr lang="en-US" sz="1400" dirty="0"/>
          </a:p>
        </p:txBody>
      </p:sp>
      <p:sp>
        <p:nvSpPr>
          <p:cNvPr id="8" name="Text 5"/>
          <p:cNvSpPr/>
          <p:nvPr/>
        </p:nvSpPr>
        <p:spPr>
          <a:xfrm>
            <a:off x="1463040" y="1837944"/>
            <a:ext cx="4251960" cy="384048"/>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Décompartimenter les données</a:t>
            </a:r>
            <a:endParaRPr lang="en-US" sz="1450" dirty="0"/>
          </a:p>
        </p:txBody>
      </p:sp>
      <p:sp>
        <p:nvSpPr>
          <p:cNvPr id="9" name="Text 6"/>
          <p:cNvSpPr/>
          <p:nvPr/>
        </p:nvSpPr>
        <p:spPr>
          <a:xfrm>
            <a:off x="1463040" y="2221992"/>
            <a:ext cx="4251960" cy="777240"/>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Silos départementaux → vues incohérentes ou incomplètes, angles morts décisionnels.</a:t>
            </a:r>
            <a:endParaRPr lang="en-US" sz="1100" dirty="0"/>
          </a:p>
        </p:txBody>
      </p:sp>
      <p:sp>
        <p:nvSpPr>
          <p:cNvPr id="10" name="Shape 7"/>
          <p:cNvSpPr/>
          <p:nvPr/>
        </p:nvSpPr>
        <p:spPr>
          <a:xfrm>
            <a:off x="6217920" y="1691640"/>
            <a:ext cx="5349240" cy="1371600"/>
          </a:xfrm>
          <a:prstGeom prst="roundRect">
            <a:avLst>
              <a:gd name="adj" fmla="val 5333"/>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11" name="Shape 8"/>
          <p:cNvSpPr/>
          <p:nvPr/>
        </p:nvSpPr>
        <p:spPr>
          <a:xfrm>
            <a:off x="6419088" y="1892808"/>
            <a:ext cx="566928" cy="566928"/>
          </a:xfrm>
          <a:prstGeom prst="ellipse">
            <a:avLst/>
          </a:prstGeom>
          <a:solidFill>
            <a:srgbClr val="B8574A"/>
          </a:solidFill>
          <a:ln/>
        </p:spPr>
      </p:sp>
      <p:sp>
        <p:nvSpPr>
          <p:cNvPr id="12" name="Text 9"/>
          <p:cNvSpPr/>
          <p:nvPr/>
        </p:nvSpPr>
        <p:spPr>
          <a:xfrm>
            <a:off x="6419088" y="189280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E2</a:t>
            </a:r>
            <a:endParaRPr lang="en-US" sz="1400" dirty="0"/>
          </a:p>
        </p:txBody>
      </p:sp>
      <p:sp>
        <p:nvSpPr>
          <p:cNvPr id="13" name="Text 10"/>
          <p:cNvSpPr/>
          <p:nvPr/>
        </p:nvSpPr>
        <p:spPr>
          <a:xfrm>
            <a:off x="7132320" y="1837944"/>
            <a:ext cx="4251960" cy="384048"/>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Maîtriser la qualité des données</a:t>
            </a:r>
            <a:endParaRPr lang="en-US" sz="1450" dirty="0"/>
          </a:p>
        </p:txBody>
      </p:sp>
      <p:sp>
        <p:nvSpPr>
          <p:cNvPr id="14" name="Text 11"/>
          <p:cNvSpPr/>
          <p:nvPr/>
        </p:nvSpPr>
        <p:spPr>
          <a:xfrm>
            <a:off x="7132320" y="2221992"/>
            <a:ext cx="4251960" cy="777240"/>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Données et métadonnées inexactes : recommandations dégradées, règles de qualité à définir.</a:t>
            </a:r>
            <a:endParaRPr lang="en-US" sz="1100" dirty="0"/>
          </a:p>
        </p:txBody>
      </p:sp>
      <p:sp>
        <p:nvSpPr>
          <p:cNvPr id="15" name="Shape 12"/>
          <p:cNvSpPr/>
          <p:nvPr/>
        </p:nvSpPr>
        <p:spPr>
          <a:xfrm>
            <a:off x="548640" y="3319272"/>
            <a:ext cx="5349240" cy="1371600"/>
          </a:xfrm>
          <a:prstGeom prst="roundRect">
            <a:avLst>
              <a:gd name="adj" fmla="val 5333"/>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16" name="Shape 13"/>
          <p:cNvSpPr/>
          <p:nvPr/>
        </p:nvSpPr>
        <p:spPr>
          <a:xfrm>
            <a:off x="749808" y="3520440"/>
            <a:ext cx="566928" cy="566928"/>
          </a:xfrm>
          <a:prstGeom prst="ellipse">
            <a:avLst/>
          </a:prstGeom>
          <a:solidFill>
            <a:srgbClr val="B8574A"/>
          </a:solidFill>
          <a:ln/>
        </p:spPr>
      </p:sp>
      <p:sp>
        <p:nvSpPr>
          <p:cNvPr id="17" name="Text 14"/>
          <p:cNvSpPr/>
          <p:nvPr/>
        </p:nvSpPr>
        <p:spPr>
          <a:xfrm>
            <a:off x="749808" y="352044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E3</a:t>
            </a:r>
            <a:endParaRPr lang="en-US" sz="1400" dirty="0"/>
          </a:p>
        </p:txBody>
      </p:sp>
      <p:sp>
        <p:nvSpPr>
          <p:cNvPr id="18" name="Text 15"/>
          <p:cNvSpPr/>
          <p:nvPr/>
        </p:nvSpPr>
        <p:spPr>
          <a:xfrm>
            <a:off x="1463040" y="3465576"/>
            <a:ext cx="4251960" cy="384048"/>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Conformité multi-juridictionnelle</a:t>
            </a:r>
            <a:endParaRPr lang="en-US" sz="1450" dirty="0"/>
          </a:p>
        </p:txBody>
      </p:sp>
      <p:sp>
        <p:nvSpPr>
          <p:cNvPr id="19" name="Text 16"/>
          <p:cNvSpPr/>
          <p:nvPr/>
        </p:nvSpPr>
        <p:spPr>
          <a:xfrm>
            <a:off x="1463040" y="3849624"/>
            <a:ext cx="4251960" cy="777240"/>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GDPR, CCPA, PDPA + réglementations IA à concilier sans perdre en cohérence globale.</a:t>
            </a:r>
            <a:endParaRPr lang="en-US" sz="1100" dirty="0"/>
          </a:p>
        </p:txBody>
      </p:sp>
      <p:sp>
        <p:nvSpPr>
          <p:cNvPr id="20" name="Shape 17"/>
          <p:cNvSpPr/>
          <p:nvPr/>
        </p:nvSpPr>
        <p:spPr>
          <a:xfrm>
            <a:off x="6217920" y="3319272"/>
            <a:ext cx="5349240" cy="1371600"/>
          </a:xfrm>
          <a:prstGeom prst="roundRect">
            <a:avLst>
              <a:gd name="adj" fmla="val 5333"/>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21" name="Shape 18"/>
          <p:cNvSpPr/>
          <p:nvPr/>
        </p:nvSpPr>
        <p:spPr>
          <a:xfrm>
            <a:off x="6419088" y="3520440"/>
            <a:ext cx="566928" cy="566928"/>
          </a:xfrm>
          <a:prstGeom prst="ellipse">
            <a:avLst/>
          </a:prstGeom>
          <a:solidFill>
            <a:srgbClr val="B8574A"/>
          </a:solidFill>
          <a:ln/>
        </p:spPr>
      </p:sp>
      <p:sp>
        <p:nvSpPr>
          <p:cNvPr id="22" name="Text 19"/>
          <p:cNvSpPr/>
          <p:nvPr/>
        </p:nvSpPr>
        <p:spPr>
          <a:xfrm>
            <a:off x="6419088" y="352044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E4</a:t>
            </a:r>
            <a:endParaRPr lang="en-US" sz="1400" dirty="0"/>
          </a:p>
        </p:txBody>
      </p:sp>
      <p:sp>
        <p:nvSpPr>
          <p:cNvPr id="23" name="Text 20"/>
          <p:cNvSpPr/>
          <p:nvPr/>
        </p:nvSpPr>
        <p:spPr>
          <a:xfrm>
            <a:off x="7132320" y="3465576"/>
            <a:ext cx="4251960" cy="384048"/>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Vie privée &amp; usage éthique</a:t>
            </a:r>
            <a:endParaRPr lang="en-US" sz="1450" dirty="0"/>
          </a:p>
        </p:txBody>
      </p:sp>
      <p:sp>
        <p:nvSpPr>
          <p:cNvPr id="24" name="Text 21"/>
          <p:cNvSpPr/>
          <p:nvPr/>
        </p:nvSpPr>
        <p:spPr>
          <a:xfrm>
            <a:off x="7132320" y="3849624"/>
            <a:ext cx="4251960" cy="777240"/>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Transparence, contrôle utilisateur, anonymisation - au-delà de la seule conformité légale.</a:t>
            </a:r>
            <a:endParaRPr lang="en-US" sz="1100" dirty="0"/>
          </a:p>
        </p:txBody>
      </p:sp>
      <p:sp>
        <p:nvSpPr>
          <p:cNvPr id="25" name="Shape 22"/>
          <p:cNvSpPr/>
          <p:nvPr/>
        </p:nvSpPr>
        <p:spPr>
          <a:xfrm>
            <a:off x="548640" y="4946904"/>
            <a:ext cx="5349240" cy="1371600"/>
          </a:xfrm>
          <a:prstGeom prst="roundRect">
            <a:avLst>
              <a:gd name="adj" fmla="val 5333"/>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26" name="Shape 23"/>
          <p:cNvSpPr/>
          <p:nvPr/>
        </p:nvSpPr>
        <p:spPr>
          <a:xfrm>
            <a:off x="749808" y="5148072"/>
            <a:ext cx="566928" cy="566928"/>
          </a:xfrm>
          <a:prstGeom prst="ellipse">
            <a:avLst/>
          </a:prstGeom>
          <a:solidFill>
            <a:srgbClr val="B8574A"/>
          </a:solidFill>
          <a:ln/>
        </p:spPr>
      </p:sp>
      <p:sp>
        <p:nvSpPr>
          <p:cNvPr id="27" name="Text 24"/>
          <p:cNvSpPr/>
          <p:nvPr/>
        </p:nvSpPr>
        <p:spPr>
          <a:xfrm>
            <a:off x="749808" y="5148072"/>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E5</a:t>
            </a:r>
            <a:endParaRPr lang="en-US" sz="1400" dirty="0"/>
          </a:p>
        </p:txBody>
      </p:sp>
      <p:sp>
        <p:nvSpPr>
          <p:cNvPr id="28" name="Text 25"/>
          <p:cNvSpPr/>
          <p:nvPr/>
        </p:nvSpPr>
        <p:spPr>
          <a:xfrm>
            <a:off x="1463040" y="5093208"/>
            <a:ext cx="4251960" cy="384048"/>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Gouverner les données IA</a:t>
            </a:r>
            <a:endParaRPr lang="en-US" sz="1450" dirty="0"/>
          </a:p>
        </p:txBody>
      </p:sp>
      <p:sp>
        <p:nvSpPr>
          <p:cNvPr id="29" name="Text 26"/>
          <p:cNvSpPr/>
          <p:nvPr/>
        </p:nvSpPr>
        <p:spPr>
          <a:xfrm>
            <a:off x="1463040" y="5477256"/>
            <a:ext cx="4251960" cy="777240"/>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Traçabilité, biais, responsabilité des modèles du moteur de recommandation en production.</a:t>
            </a:r>
            <a:endParaRPr lang="en-US" sz="1100" dirty="0"/>
          </a:p>
        </p:txBody>
      </p:sp>
      <p:sp>
        <p:nvSpPr>
          <p:cNvPr id="30" name="Shape 27"/>
          <p:cNvSpPr/>
          <p:nvPr/>
        </p:nvSpPr>
        <p:spPr>
          <a:xfrm>
            <a:off x="6217920" y="4946904"/>
            <a:ext cx="5349240" cy="1371600"/>
          </a:xfrm>
          <a:prstGeom prst="roundRect">
            <a:avLst>
              <a:gd name="adj" fmla="val 5333"/>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31" name="Shape 28"/>
          <p:cNvSpPr/>
          <p:nvPr/>
        </p:nvSpPr>
        <p:spPr>
          <a:xfrm>
            <a:off x="6419088" y="5148072"/>
            <a:ext cx="566928" cy="566928"/>
          </a:xfrm>
          <a:prstGeom prst="ellipse">
            <a:avLst/>
          </a:prstGeom>
          <a:solidFill>
            <a:srgbClr val="B8574A"/>
          </a:solidFill>
          <a:ln/>
        </p:spPr>
      </p:sp>
      <p:sp>
        <p:nvSpPr>
          <p:cNvPr id="32" name="Text 29"/>
          <p:cNvSpPr/>
          <p:nvPr/>
        </p:nvSpPr>
        <p:spPr>
          <a:xfrm>
            <a:off x="6419088" y="5148072"/>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E6</a:t>
            </a:r>
            <a:endParaRPr lang="en-US" sz="1400" dirty="0"/>
          </a:p>
        </p:txBody>
      </p:sp>
      <p:sp>
        <p:nvSpPr>
          <p:cNvPr id="33" name="Text 30"/>
          <p:cNvSpPr/>
          <p:nvPr/>
        </p:nvSpPr>
        <p:spPr>
          <a:xfrm>
            <a:off x="7132320" y="5093208"/>
            <a:ext cx="4251960" cy="384048"/>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Monter en compétences data</a:t>
            </a:r>
            <a:endParaRPr lang="en-US" sz="1450" dirty="0"/>
          </a:p>
        </p:txBody>
      </p:sp>
      <p:sp>
        <p:nvSpPr>
          <p:cNvPr id="34" name="Text 31"/>
          <p:cNvSpPr/>
          <p:nvPr/>
        </p:nvSpPr>
        <p:spPr>
          <a:xfrm>
            <a:off x="7132320" y="5477256"/>
            <a:ext cx="4251960" cy="777240"/>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Culture de gouvernance partagée encore à construire ; risque de résistance au changement.</a:t>
            </a:r>
            <a:endParaRPr lang="en-US" sz="1100" dirty="0"/>
          </a:p>
        </p:txBody>
      </p:sp>
      <p:sp>
        <p:nvSpPr>
          <p:cNvPr id="35" name="Text 32"/>
          <p:cNvSpPr/>
          <p:nvPr/>
        </p:nvSpPr>
        <p:spPr>
          <a:xfrm>
            <a:off x="548640" y="6473952"/>
            <a:ext cx="8686800" cy="274320"/>
          </a:xfrm>
          <a:prstGeom prst="rect">
            <a:avLst/>
          </a:prstGeom>
          <a:noFill/>
          <a:ln/>
        </p:spPr>
        <p:txBody>
          <a:bodyPr wrap="square" lIns="0" tIns="0" rIns="0" bIns="0" rtlCol="0" anchor="ctr"/>
          <a:lstStyle/>
          <a:p>
            <a:pPr indent="0" marL="0">
              <a:buNone/>
            </a:pPr>
            <a:r>
              <a:rPr lang="en-US" sz="950" i="1" dirty="0">
                <a:solidFill>
                  <a:srgbClr val="8493A8"/>
                </a:solidFill>
                <a:latin typeface="Calibri" pitchFamily="34" charset="0"/>
                <a:ea typeface="Calibri" pitchFamily="34" charset="-122"/>
                <a:cs typeface="Calibri" pitchFamily="34" charset="-120"/>
              </a:rPr>
              <a:t>Source : [D1] §1.2 - enjeux dérivés de [R2], à l'exception de E5</a:t>
            </a:r>
            <a:endParaRPr lang="en-US" sz="950" dirty="0"/>
          </a:p>
        </p:txBody>
      </p:sp>
      <p:sp>
        <p:nvSpPr>
          <p:cNvPr id="36" name="Text 33"/>
          <p:cNvSpPr/>
          <p:nvPr/>
        </p:nvSpPr>
        <p:spPr>
          <a:xfrm>
            <a:off x="11002975" y="6473952"/>
            <a:ext cx="822960" cy="274320"/>
          </a:xfrm>
          <a:prstGeom prst="rect">
            <a:avLst/>
          </a:prstGeom>
          <a:noFill/>
          <a:ln/>
        </p:spPr>
        <p:txBody>
          <a:bodyPr wrap="square" lIns="0" tIns="0" rIns="0" bIns="0" rtlCol="0" anchor="ctr"/>
          <a:lstStyle/>
          <a:p>
            <a:pPr algn="r" indent="0" marL="0">
              <a:buNone/>
            </a:pPr>
            <a:r>
              <a:rPr lang="en-US" sz="950" dirty="0">
                <a:solidFill>
                  <a:srgbClr val="8493A8"/>
                </a:solidFill>
                <a:latin typeface="Calibri" pitchFamily="34" charset="0"/>
                <a:ea typeface="Calibri" pitchFamily="34" charset="-122"/>
                <a:cs typeface="Calibri" pitchFamily="34" charset="-120"/>
              </a:rPr>
              <a:t>3 / 10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1C8C68"/>
                </a:solidFill>
                <a:latin typeface="Calibri" pitchFamily="34" charset="0"/>
                <a:ea typeface="Calibri" pitchFamily="34" charset="-122"/>
                <a:cs typeface="Calibri" pitchFamily="34" charset="-120"/>
              </a:rPr>
              <a:t>POLITIQUE DE GOUVERNANCE</a:t>
            </a:r>
            <a:endParaRPr lang="en-US" sz="1200" dirty="0"/>
          </a:p>
        </p:txBody>
      </p:sp>
      <p:sp>
        <p:nvSpPr>
          <p:cNvPr id="3" name="Text 1"/>
          <p:cNvSpPr/>
          <p:nvPr/>
        </p:nvSpPr>
        <p:spPr>
          <a:xfrm>
            <a:off x="548640" y="658368"/>
            <a:ext cx="9692640" cy="868680"/>
          </a:xfrm>
          <a:prstGeom prst="rect">
            <a:avLst/>
          </a:prstGeom>
          <a:noFill/>
          <a:ln/>
        </p:spPr>
        <p:txBody>
          <a:bodyPr wrap="square" lIns="0" tIns="0" rIns="0" bIns="0" rtlCol="0" anchor="t"/>
          <a:lstStyle/>
          <a:p>
            <a:pPr indent="0" marL="0">
              <a:lnSpc>
                <a:spcPct val="102000"/>
              </a:lnSpc>
              <a:buNone/>
            </a:pPr>
            <a:r>
              <a:rPr lang="en-US" sz="2800" b="1" dirty="0">
                <a:solidFill>
                  <a:srgbClr val="1B2A4A"/>
                </a:solidFill>
                <a:latin typeface="Cambria" pitchFamily="34" charset="0"/>
                <a:ea typeface="Cambria" pitchFamily="34" charset="-122"/>
                <a:cs typeface="Cambria" pitchFamily="34" charset="-120"/>
              </a:rPr>
              <a:t>Neuf principes structurent le cadre de gouvernance</a:t>
            </a:r>
            <a:endParaRPr lang="en-US" sz="2800" dirty="0"/>
          </a:p>
        </p:txBody>
      </p:sp>
      <p:pic>
        <p:nvPicPr>
          <p:cNvPr id="4" name="Image 0" descr="icons/icon_shield.png">    </p:cNvPr>
          <p:cNvPicPr>
            <a:picLocks noChangeAspect="1"/>
          </p:cNvPicPr>
          <p:nvPr/>
        </p:nvPicPr>
        <p:blipFill>
          <a:blip r:embed="rId1"/>
          <a:stretch>
            <a:fillRect/>
          </a:stretch>
        </p:blipFill>
        <p:spPr>
          <a:xfrm>
            <a:off x="11140135" y="365760"/>
            <a:ext cx="658368" cy="658368"/>
          </a:xfrm>
          <a:prstGeom prst="rect">
            <a:avLst/>
          </a:prstGeom>
        </p:spPr>
      </p:pic>
      <p:sp>
        <p:nvSpPr>
          <p:cNvPr id="5" name="Shape 2"/>
          <p:cNvSpPr/>
          <p:nvPr/>
        </p:nvSpPr>
        <p:spPr>
          <a:xfrm>
            <a:off x="548640" y="1645920"/>
            <a:ext cx="5349240" cy="2148840"/>
          </a:xfrm>
          <a:prstGeom prst="roundRect">
            <a:avLst>
              <a:gd name="adj" fmla="val 3404"/>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6" name="Text 3"/>
          <p:cNvSpPr/>
          <p:nvPr/>
        </p:nvSpPr>
        <p:spPr>
          <a:xfrm>
            <a:off x="822960" y="1810512"/>
            <a:ext cx="4800600" cy="329184"/>
          </a:xfrm>
          <a:prstGeom prst="rect">
            <a:avLst/>
          </a:prstGeom>
          <a:noFill/>
          <a:ln/>
        </p:spPr>
        <p:txBody>
          <a:bodyPr wrap="square" lIns="0" tIns="0" rIns="0" bIns="0" rtlCol="0" anchor="ctr"/>
          <a:lstStyle/>
          <a:p>
            <a:pPr indent="0" marL="0">
              <a:buNone/>
            </a:pPr>
            <a:r>
              <a:rPr lang="en-US" sz="1400" b="1" dirty="0">
                <a:solidFill>
                  <a:srgbClr val="1C8C68"/>
                </a:solidFill>
                <a:latin typeface="Calibri" pitchFamily="34" charset="0"/>
                <a:ea typeface="Calibri" pitchFamily="34" charset="-122"/>
                <a:cs typeface="Calibri" pitchFamily="34" charset="-120"/>
              </a:rPr>
              <a:t>Responsabilité &amp; qualité</a:t>
            </a:r>
            <a:endParaRPr lang="en-US" sz="1400" dirty="0"/>
          </a:p>
        </p:txBody>
      </p:sp>
      <p:sp>
        <p:nvSpPr>
          <p:cNvPr id="7" name="Shape 4"/>
          <p:cNvSpPr/>
          <p:nvPr/>
        </p:nvSpPr>
        <p:spPr>
          <a:xfrm>
            <a:off x="822960" y="2212848"/>
            <a:ext cx="384048" cy="384048"/>
          </a:xfrm>
          <a:prstGeom prst="ellipse">
            <a:avLst/>
          </a:prstGeom>
          <a:solidFill>
            <a:srgbClr val="1B2A4A"/>
          </a:solidFill>
          <a:ln/>
        </p:spPr>
      </p:sp>
      <p:sp>
        <p:nvSpPr>
          <p:cNvPr id="8" name="Text 5"/>
          <p:cNvSpPr/>
          <p:nvPr/>
        </p:nvSpPr>
        <p:spPr>
          <a:xfrm>
            <a:off x="822960" y="2212848"/>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P1</a:t>
            </a:r>
            <a:endParaRPr lang="en-US" sz="1050" dirty="0"/>
          </a:p>
        </p:txBody>
      </p:sp>
      <p:sp>
        <p:nvSpPr>
          <p:cNvPr id="9" name="Text 6"/>
          <p:cNvSpPr/>
          <p:nvPr/>
        </p:nvSpPr>
        <p:spPr>
          <a:xfrm>
            <a:off x="1325880" y="2185416"/>
            <a:ext cx="4297680" cy="566928"/>
          </a:xfrm>
          <a:prstGeom prst="rect">
            <a:avLst/>
          </a:prstGeom>
          <a:noFill/>
          <a:ln/>
        </p:spPr>
        <p:txBody>
          <a:bodyPr wrap="square" lIns="0" tIns="0" rIns="0" bIns="0" rtlCol="0" anchor="t"/>
          <a:lstStyle/>
          <a:p>
            <a:pPr indent="0" marL="0">
              <a:buNone/>
            </a:pPr>
            <a:r>
              <a:rPr lang="en-US" sz="1080" dirty="0">
                <a:solidFill>
                  <a:srgbClr val="1B2A4A"/>
                </a:solidFill>
                <a:latin typeface="Calibri" pitchFamily="34" charset="0"/>
                <a:ea typeface="Calibri" pitchFamily="34" charset="-122"/>
                <a:cs typeface="Calibri" pitchFamily="34" charset="-120"/>
              </a:rPr>
              <a:t>Responsabilité - un responsable identifié par actif de données et par modèle</a:t>
            </a:r>
            <a:endParaRPr lang="en-US" sz="1080" dirty="0"/>
          </a:p>
        </p:txBody>
      </p:sp>
      <p:sp>
        <p:nvSpPr>
          <p:cNvPr id="10" name="Shape 7"/>
          <p:cNvSpPr/>
          <p:nvPr/>
        </p:nvSpPr>
        <p:spPr>
          <a:xfrm>
            <a:off x="822960" y="2779776"/>
            <a:ext cx="384048" cy="384048"/>
          </a:xfrm>
          <a:prstGeom prst="ellipse">
            <a:avLst/>
          </a:prstGeom>
          <a:solidFill>
            <a:srgbClr val="1B2A4A"/>
          </a:solidFill>
          <a:ln/>
        </p:spPr>
      </p:sp>
      <p:sp>
        <p:nvSpPr>
          <p:cNvPr id="11" name="Text 8"/>
          <p:cNvSpPr/>
          <p:nvPr/>
        </p:nvSpPr>
        <p:spPr>
          <a:xfrm>
            <a:off x="822960" y="2779776"/>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P4</a:t>
            </a:r>
            <a:endParaRPr lang="en-US" sz="1050" dirty="0"/>
          </a:p>
        </p:txBody>
      </p:sp>
      <p:sp>
        <p:nvSpPr>
          <p:cNvPr id="12" name="Text 9"/>
          <p:cNvSpPr/>
          <p:nvPr/>
        </p:nvSpPr>
        <p:spPr>
          <a:xfrm>
            <a:off x="1325880" y="2752344"/>
            <a:ext cx="4297680" cy="566928"/>
          </a:xfrm>
          <a:prstGeom prst="rect">
            <a:avLst/>
          </a:prstGeom>
          <a:noFill/>
          <a:ln/>
        </p:spPr>
        <p:txBody>
          <a:bodyPr wrap="square" lIns="0" tIns="0" rIns="0" bIns="0" rtlCol="0" anchor="t"/>
          <a:lstStyle/>
          <a:p>
            <a:pPr indent="0" marL="0">
              <a:buNone/>
            </a:pPr>
            <a:r>
              <a:rPr lang="en-US" sz="1080" dirty="0">
                <a:solidFill>
                  <a:srgbClr val="1B2A4A"/>
                </a:solidFill>
                <a:latin typeface="Calibri" pitchFamily="34" charset="0"/>
                <a:ea typeface="Calibri" pitchFamily="34" charset="-122"/>
                <a:cs typeface="Calibri" pitchFamily="34" charset="-120"/>
              </a:rPr>
              <a:t>Qualité - règles mesurables (exactitude, complétude, fraîcheur), auditées régulièrement</a:t>
            </a:r>
            <a:endParaRPr lang="en-US" sz="1080" dirty="0"/>
          </a:p>
        </p:txBody>
      </p:sp>
      <p:sp>
        <p:nvSpPr>
          <p:cNvPr id="13" name="Shape 10"/>
          <p:cNvSpPr/>
          <p:nvPr/>
        </p:nvSpPr>
        <p:spPr>
          <a:xfrm>
            <a:off x="6217920" y="1645920"/>
            <a:ext cx="5349240" cy="2148840"/>
          </a:xfrm>
          <a:prstGeom prst="roundRect">
            <a:avLst>
              <a:gd name="adj" fmla="val 3404"/>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14" name="Text 11"/>
          <p:cNvSpPr/>
          <p:nvPr/>
        </p:nvSpPr>
        <p:spPr>
          <a:xfrm>
            <a:off x="6492240" y="1810512"/>
            <a:ext cx="4800600" cy="329184"/>
          </a:xfrm>
          <a:prstGeom prst="rect">
            <a:avLst/>
          </a:prstGeom>
          <a:noFill/>
          <a:ln/>
        </p:spPr>
        <p:txBody>
          <a:bodyPr wrap="square" lIns="0" tIns="0" rIns="0" bIns="0" rtlCol="0" anchor="ctr"/>
          <a:lstStyle/>
          <a:p>
            <a:pPr indent="0" marL="0">
              <a:buNone/>
            </a:pPr>
            <a:r>
              <a:rPr lang="en-US" sz="1400" b="1" dirty="0">
                <a:solidFill>
                  <a:srgbClr val="1C8C68"/>
                </a:solidFill>
                <a:latin typeface="Calibri" pitchFamily="34" charset="0"/>
                <a:ea typeface="Calibri" pitchFamily="34" charset="-122"/>
                <a:cs typeface="Calibri" pitchFamily="34" charset="-120"/>
              </a:rPr>
              <a:t>Confiance utilisateur</a:t>
            </a:r>
            <a:endParaRPr lang="en-US" sz="1400" dirty="0"/>
          </a:p>
        </p:txBody>
      </p:sp>
      <p:sp>
        <p:nvSpPr>
          <p:cNvPr id="15" name="Shape 12"/>
          <p:cNvSpPr/>
          <p:nvPr/>
        </p:nvSpPr>
        <p:spPr>
          <a:xfrm>
            <a:off x="6492240" y="2212848"/>
            <a:ext cx="384048" cy="384048"/>
          </a:xfrm>
          <a:prstGeom prst="ellipse">
            <a:avLst/>
          </a:prstGeom>
          <a:solidFill>
            <a:srgbClr val="1B2A4A"/>
          </a:solidFill>
          <a:ln/>
        </p:spPr>
      </p:sp>
      <p:sp>
        <p:nvSpPr>
          <p:cNvPr id="16" name="Text 13"/>
          <p:cNvSpPr/>
          <p:nvPr/>
        </p:nvSpPr>
        <p:spPr>
          <a:xfrm>
            <a:off x="6492240" y="2212848"/>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P2</a:t>
            </a:r>
            <a:endParaRPr lang="en-US" sz="1050" dirty="0"/>
          </a:p>
        </p:txBody>
      </p:sp>
      <p:sp>
        <p:nvSpPr>
          <p:cNvPr id="17" name="Text 14"/>
          <p:cNvSpPr/>
          <p:nvPr/>
        </p:nvSpPr>
        <p:spPr>
          <a:xfrm>
            <a:off x="6995160" y="2185416"/>
            <a:ext cx="4297680" cy="566928"/>
          </a:xfrm>
          <a:prstGeom prst="rect">
            <a:avLst/>
          </a:prstGeom>
          <a:noFill/>
          <a:ln/>
        </p:spPr>
        <p:txBody>
          <a:bodyPr wrap="square" lIns="0" tIns="0" rIns="0" bIns="0" rtlCol="0" anchor="t"/>
          <a:lstStyle/>
          <a:p>
            <a:pPr indent="0" marL="0">
              <a:buNone/>
            </a:pPr>
            <a:r>
              <a:rPr lang="en-US" sz="1080" dirty="0">
                <a:solidFill>
                  <a:srgbClr val="1B2A4A"/>
                </a:solidFill>
                <a:latin typeface="Calibri" pitchFamily="34" charset="0"/>
                <a:ea typeface="Calibri" pitchFamily="34" charset="-122"/>
                <a:cs typeface="Calibri" pitchFamily="34" charset="-120"/>
              </a:rPr>
              <a:t>Transparence - information claire et gestion du consentement</a:t>
            </a:r>
            <a:endParaRPr lang="en-US" sz="1080" dirty="0"/>
          </a:p>
        </p:txBody>
      </p:sp>
      <p:sp>
        <p:nvSpPr>
          <p:cNvPr id="18" name="Shape 15"/>
          <p:cNvSpPr/>
          <p:nvPr/>
        </p:nvSpPr>
        <p:spPr>
          <a:xfrm>
            <a:off x="6492240" y="2779776"/>
            <a:ext cx="384048" cy="384048"/>
          </a:xfrm>
          <a:prstGeom prst="ellipse">
            <a:avLst/>
          </a:prstGeom>
          <a:solidFill>
            <a:srgbClr val="1B2A4A"/>
          </a:solidFill>
          <a:ln/>
        </p:spPr>
      </p:sp>
      <p:sp>
        <p:nvSpPr>
          <p:cNvPr id="19" name="Text 16"/>
          <p:cNvSpPr/>
          <p:nvPr/>
        </p:nvSpPr>
        <p:spPr>
          <a:xfrm>
            <a:off x="6492240" y="2779776"/>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P6</a:t>
            </a:r>
            <a:endParaRPr lang="en-US" sz="1050" dirty="0"/>
          </a:p>
        </p:txBody>
      </p:sp>
      <p:sp>
        <p:nvSpPr>
          <p:cNvPr id="20" name="Text 17"/>
          <p:cNvSpPr/>
          <p:nvPr/>
        </p:nvSpPr>
        <p:spPr>
          <a:xfrm>
            <a:off x="6995160" y="2752344"/>
            <a:ext cx="4297680" cy="566928"/>
          </a:xfrm>
          <a:prstGeom prst="rect">
            <a:avLst/>
          </a:prstGeom>
          <a:noFill/>
          <a:ln/>
        </p:spPr>
        <p:txBody>
          <a:bodyPr wrap="square" lIns="0" tIns="0" rIns="0" bIns="0" rtlCol="0" anchor="t"/>
          <a:lstStyle/>
          <a:p>
            <a:pPr indent="0" marL="0">
              <a:buNone/>
            </a:pPr>
            <a:r>
              <a:rPr lang="en-US" sz="1080" dirty="0">
                <a:solidFill>
                  <a:srgbClr val="1B2A4A"/>
                </a:solidFill>
                <a:latin typeface="Calibri" pitchFamily="34" charset="0"/>
                <a:ea typeface="Calibri" pitchFamily="34" charset="-122"/>
                <a:cs typeface="Calibri" pitchFamily="34" charset="-120"/>
              </a:rPr>
              <a:t>Minimisation - collecte limitée aux finalités métier</a:t>
            </a:r>
            <a:endParaRPr lang="en-US" sz="1080" dirty="0"/>
          </a:p>
        </p:txBody>
      </p:sp>
      <p:sp>
        <p:nvSpPr>
          <p:cNvPr id="21" name="Shape 18"/>
          <p:cNvSpPr/>
          <p:nvPr/>
        </p:nvSpPr>
        <p:spPr>
          <a:xfrm>
            <a:off x="6492240" y="3346704"/>
            <a:ext cx="384048" cy="384048"/>
          </a:xfrm>
          <a:prstGeom prst="ellipse">
            <a:avLst/>
          </a:prstGeom>
          <a:solidFill>
            <a:srgbClr val="1B2A4A"/>
          </a:solidFill>
          <a:ln/>
        </p:spPr>
      </p:sp>
      <p:sp>
        <p:nvSpPr>
          <p:cNvPr id="22" name="Text 19"/>
          <p:cNvSpPr/>
          <p:nvPr/>
        </p:nvSpPr>
        <p:spPr>
          <a:xfrm>
            <a:off x="6492240" y="3346704"/>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P7</a:t>
            </a:r>
            <a:endParaRPr lang="en-US" sz="1050" dirty="0"/>
          </a:p>
        </p:txBody>
      </p:sp>
      <p:sp>
        <p:nvSpPr>
          <p:cNvPr id="23" name="Text 20"/>
          <p:cNvSpPr/>
          <p:nvPr/>
        </p:nvSpPr>
        <p:spPr>
          <a:xfrm>
            <a:off x="6995160" y="3319272"/>
            <a:ext cx="4297680" cy="566928"/>
          </a:xfrm>
          <a:prstGeom prst="rect">
            <a:avLst/>
          </a:prstGeom>
          <a:noFill/>
          <a:ln/>
        </p:spPr>
        <p:txBody>
          <a:bodyPr wrap="square" lIns="0" tIns="0" rIns="0" bIns="0" rtlCol="0" anchor="t"/>
          <a:lstStyle/>
          <a:p>
            <a:pPr indent="0" marL="0">
              <a:buNone/>
            </a:pPr>
            <a:r>
              <a:rPr lang="en-US" sz="1080" dirty="0">
                <a:solidFill>
                  <a:srgbClr val="1B2A4A"/>
                </a:solidFill>
                <a:latin typeface="Calibri" pitchFamily="34" charset="0"/>
                <a:ea typeface="Calibri" pitchFamily="34" charset="-122"/>
                <a:cs typeface="Calibri" pitchFamily="34" charset="-120"/>
              </a:rPr>
              <a:t>Droits des utilisateurs - accès, modification, suppression, opposition</a:t>
            </a:r>
            <a:endParaRPr lang="en-US" sz="1080" dirty="0"/>
          </a:p>
        </p:txBody>
      </p:sp>
      <p:sp>
        <p:nvSpPr>
          <p:cNvPr id="24" name="Shape 21"/>
          <p:cNvSpPr/>
          <p:nvPr/>
        </p:nvSpPr>
        <p:spPr>
          <a:xfrm>
            <a:off x="548640" y="4023360"/>
            <a:ext cx="5349240" cy="2148840"/>
          </a:xfrm>
          <a:prstGeom prst="roundRect">
            <a:avLst>
              <a:gd name="adj" fmla="val 3404"/>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25" name="Text 22"/>
          <p:cNvSpPr/>
          <p:nvPr/>
        </p:nvSpPr>
        <p:spPr>
          <a:xfrm>
            <a:off x="822960" y="4187952"/>
            <a:ext cx="4800600" cy="329184"/>
          </a:xfrm>
          <a:prstGeom prst="rect">
            <a:avLst/>
          </a:prstGeom>
          <a:noFill/>
          <a:ln/>
        </p:spPr>
        <p:txBody>
          <a:bodyPr wrap="square" lIns="0" tIns="0" rIns="0" bIns="0" rtlCol="0" anchor="ctr"/>
          <a:lstStyle/>
          <a:p>
            <a:pPr indent="0" marL="0">
              <a:buNone/>
            </a:pPr>
            <a:r>
              <a:rPr lang="en-US" sz="1400" b="1" dirty="0">
                <a:solidFill>
                  <a:srgbClr val="1C8C68"/>
                </a:solidFill>
                <a:latin typeface="Calibri" pitchFamily="34" charset="0"/>
                <a:ea typeface="Calibri" pitchFamily="34" charset="-122"/>
                <a:cs typeface="Calibri" pitchFamily="34" charset="-120"/>
              </a:rPr>
              <a:t>Sécurité &amp; conformité</a:t>
            </a:r>
            <a:endParaRPr lang="en-US" sz="1400" dirty="0"/>
          </a:p>
        </p:txBody>
      </p:sp>
      <p:sp>
        <p:nvSpPr>
          <p:cNvPr id="26" name="Shape 23"/>
          <p:cNvSpPr/>
          <p:nvPr/>
        </p:nvSpPr>
        <p:spPr>
          <a:xfrm>
            <a:off x="822960" y="4590288"/>
            <a:ext cx="384048" cy="384048"/>
          </a:xfrm>
          <a:prstGeom prst="ellipse">
            <a:avLst/>
          </a:prstGeom>
          <a:solidFill>
            <a:srgbClr val="1B2A4A"/>
          </a:solidFill>
          <a:ln/>
        </p:spPr>
      </p:sp>
      <p:sp>
        <p:nvSpPr>
          <p:cNvPr id="27" name="Text 24"/>
          <p:cNvSpPr/>
          <p:nvPr/>
        </p:nvSpPr>
        <p:spPr>
          <a:xfrm>
            <a:off x="822960" y="4590288"/>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P3</a:t>
            </a:r>
            <a:endParaRPr lang="en-US" sz="1050" dirty="0"/>
          </a:p>
        </p:txBody>
      </p:sp>
      <p:sp>
        <p:nvSpPr>
          <p:cNvPr id="28" name="Text 25"/>
          <p:cNvSpPr/>
          <p:nvPr/>
        </p:nvSpPr>
        <p:spPr>
          <a:xfrm>
            <a:off x="1325880" y="4562856"/>
            <a:ext cx="4297680" cy="566928"/>
          </a:xfrm>
          <a:prstGeom prst="rect">
            <a:avLst/>
          </a:prstGeom>
          <a:noFill/>
          <a:ln/>
        </p:spPr>
        <p:txBody>
          <a:bodyPr wrap="square" lIns="0" tIns="0" rIns="0" bIns="0" rtlCol="0" anchor="t"/>
          <a:lstStyle/>
          <a:p>
            <a:pPr indent="0" marL="0">
              <a:buNone/>
            </a:pPr>
            <a:r>
              <a:rPr lang="en-US" sz="1080" dirty="0">
                <a:solidFill>
                  <a:srgbClr val="1B2A4A"/>
                </a:solidFill>
                <a:latin typeface="Calibri" pitchFamily="34" charset="0"/>
                <a:ea typeface="Calibri" pitchFamily="34" charset="-122"/>
                <a:cs typeface="Calibri" pitchFamily="34" charset="-120"/>
              </a:rPr>
              <a:t>Sécurité - chiffrement, contrôle d'accès par rôle, protocoles PCI-DSS</a:t>
            </a:r>
            <a:endParaRPr lang="en-US" sz="1080" dirty="0"/>
          </a:p>
        </p:txBody>
      </p:sp>
      <p:sp>
        <p:nvSpPr>
          <p:cNvPr id="29" name="Shape 26"/>
          <p:cNvSpPr/>
          <p:nvPr/>
        </p:nvSpPr>
        <p:spPr>
          <a:xfrm>
            <a:off x="822960" y="5157216"/>
            <a:ext cx="384048" cy="384048"/>
          </a:xfrm>
          <a:prstGeom prst="ellipse">
            <a:avLst/>
          </a:prstGeom>
          <a:solidFill>
            <a:srgbClr val="1B2A4A"/>
          </a:solidFill>
          <a:ln/>
        </p:spPr>
      </p:sp>
      <p:sp>
        <p:nvSpPr>
          <p:cNvPr id="30" name="Text 27"/>
          <p:cNvSpPr/>
          <p:nvPr/>
        </p:nvSpPr>
        <p:spPr>
          <a:xfrm>
            <a:off x="822960" y="5157216"/>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P5</a:t>
            </a:r>
            <a:endParaRPr lang="en-US" sz="1050" dirty="0"/>
          </a:p>
        </p:txBody>
      </p:sp>
      <p:sp>
        <p:nvSpPr>
          <p:cNvPr id="31" name="Text 28"/>
          <p:cNvSpPr/>
          <p:nvPr/>
        </p:nvSpPr>
        <p:spPr>
          <a:xfrm>
            <a:off x="1325880" y="5129784"/>
            <a:ext cx="4297680" cy="566928"/>
          </a:xfrm>
          <a:prstGeom prst="rect">
            <a:avLst/>
          </a:prstGeom>
          <a:noFill/>
          <a:ln/>
        </p:spPr>
        <p:txBody>
          <a:bodyPr wrap="square" lIns="0" tIns="0" rIns="0" bIns="0" rtlCol="0" anchor="t"/>
          <a:lstStyle/>
          <a:p>
            <a:pPr indent="0" marL="0">
              <a:buNone/>
            </a:pPr>
            <a:r>
              <a:rPr lang="en-US" sz="1080" dirty="0">
                <a:solidFill>
                  <a:srgbClr val="1B2A4A"/>
                </a:solidFill>
                <a:latin typeface="Calibri" pitchFamily="34" charset="0"/>
                <a:ea typeface="Calibri" pitchFamily="34" charset="-122"/>
                <a:cs typeface="Calibri" pitchFamily="34" charset="-120"/>
              </a:rPr>
              <a:t>Conformité - GDPR, CCPA, PCI-DSS et réglementations locales, veille continue</a:t>
            </a:r>
            <a:endParaRPr lang="en-US" sz="1080" dirty="0"/>
          </a:p>
        </p:txBody>
      </p:sp>
      <p:sp>
        <p:nvSpPr>
          <p:cNvPr id="32" name="Shape 29"/>
          <p:cNvSpPr/>
          <p:nvPr/>
        </p:nvSpPr>
        <p:spPr>
          <a:xfrm>
            <a:off x="6217920" y="4023360"/>
            <a:ext cx="5349240" cy="2148840"/>
          </a:xfrm>
          <a:prstGeom prst="roundRect">
            <a:avLst>
              <a:gd name="adj" fmla="val 3404"/>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33" name="Text 30"/>
          <p:cNvSpPr/>
          <p:nvPr/>
        </p:nvSpPr>
        <p:spPr>
          <a:xfrm>
            <a:off x="6492240" y="4187952"/>
            <a:ext cx="4800600" cy="329184"/>
          </a:xfrm>
          <a:prstGeom prst="rect">
            <a:avLst/>
          </a:prstGeom>
          <a:noFill/>
          <a:ln/>
        </p:spPr>
        <p:txBody>
          <a:bodyPr wrap="square" lIns="0" tIns="0" rIns="0" bIns="0" rtlCol="0" anchor="ctr"/>
          <a:lstStyle/>
          <a:p>
            <a:pPr indent="0" marL="0">
              <a:buNone/>
            </a:pPr>
            <a:r>
              <a:rPr lang="en-US" sz="1400" b="1" dirty="0">
                <a:solidFill>
                  <a:srgbClr val="1C8C68"/>
                </a:solidFill>
                <a:latin typeface="Calibri" pitchFamily="34" charset="0"/>
                <a:ea typeface="Calibri" pitchFamily="34" charset="-122"/>
                <a:cs typeface="Calibri" pitchFamily="34" charset="-120"/>
              </a:rPr>
              <a:t>IA responsable &amp; amélioration continue</a:t>
            </a:r>
            <a:endParaRPr lang="en-US" sz="1400" dirty="0"/>
          </a:p>
        </p:txBody>
      </p:sp>
      <p:sp>
        <p:nvSpPr>
          <p:cNvPr id="34" name="Shape 31"/>
          <p:cNvSpPr/>
          <p:nvPr/>
        </p:nvSpPr>
        <p:spPr>
          <a:xfrm>
            <a:off x="6492240" y="4590288"/>
            <a:ext cx="384048" cy="384048"/>
          </a:xfrm>
          <a:prstGeom prst="ellipse">
            <a:avLst/>
          </a:prstGeom>
          <a:solidFill>
            <a:srgbClr val="1B2A4A"/>
          </a:solidFill>
          <a:ln/>
        </p:spPr>
      </p:sp>
      <p:sp>
        <p:nvSpPr>
          <p:cNvPr id="35" name="Text 32"/>
          <p:cNvSpPr/>
          <p:nvPr/>
        </p:nvSpPr>
        <p:spPr>
          <a:xfrm>
            <a:off x="6492240" y="4590288"/>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P8</a:t>
            </a:r>
            <a:endParaRPr lang="en-US" sz="1050" dirty="0"/>
          </a:p>
        </p:txBody>
      </p:sp>
      <p:sp>
        <p:nvSpPr>
          <p:cNvPr id="36" name="Text 33"/>
          <p:cNvSpPr/>
          <p:nvPr/>
        </p:nvSpPr>
        <p:spPr>
          <a:xfrm>
            <a:off x="6995160" y="4562856"/>
            <a:ext cx="4297680" cy="566928"/>
          </a:xfrm>
          <a:prstGeom prst="rect">
            <a:avLst/>
          </a:prstGeom>
          <a:noFill/>
          <a:ln/>
        </p:spPr>
        <p:txBody>
          <a:bodyPr wrap="square" lIns="0" tIns="0" rIns="0" bIns="0" rtlCol="0" anchor="t"/>
          <a:lstStyle/>
          <a:p>
            <a:pPr indent="0" marL="0">
              <a:buNone/>
            </a:pPr>
            <a:r>
              <a:rPr lang="en-US" sz="1080" dirty="0">
                <a:solidFill>
                  <a:srgbClr val="1B2A4A"/>
                </a:solidFill>
                <a:latin typeface="Calibri" pitchFamily="34" charset="0"/>
                <a:ea typeface="Calibri" pitchFamily="34" charset="-122"/>
                <a:cs typeface="Calibri" pitchFamily="34" charset="-120"/>
              </a:rPr>
              <a:t>Éthique &amp; gouvernance IA - traçabilité, biais, explicabilité</a:t>
            </a:r>
            <a:endParaRPr lang="en-US" sz="1080" dirty="0"/>
          </a:p>
        </p:txBody>
      </p:sp>
      <p:sp>
        <p:nvSpPr>
          <p:cNvPr id="37" name="Shape 34"/>
          <p:cNvSpPr/>
          <p:nvPr/>
        </p:nvSpPr>
        <p:spPr>
          <a:xfrm>
            <a:off x="6492240" y="5157216"/>
            <a:ext cx="384048" cy="384048"/>
          </a:xfrm>
          <a:prstGeom prst="ellipse">
            <a:avLst/>
          </a:prstGeom>
          <a:solidFill>
            <a:srgbClr val="1B2A4A"/>
          </a:solidFill>
          <a:ln/>
        </p:spPr>
      </p:sp>
      <p:sp>
        <p:nvSpPr>
          <p:cNvPr id="38" name="Text 35"/>
          <p:cNvSpPr/>
          <p:nvPr/>
        </p:nvSpPr>
        <p:spPr>
          <a:xfrm>
            <a:off x="6492240" y="5157216"/>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P9</a:t>
            </a:r>
            <a:endParaRPr lang="en-US" sz="1050" dirty="0"/>
          </a:p>
        </p:txBody>
      </p:sp>
      <p:sp>
        <p:nvSpPr>
          <p:cNvPr id="39" name="Text 36"/>
          <p:cNvSpPr/>
          <p:nvPr/>
        </p:nvSpPr>
        <p:spPr>
          <a:xfrm>
            <a:off x="6995160" y="5129784"/>
            <a:ext cx="4297680" cy="566928"/>
          </a:xfrm>
          <a:prstGeom prst="rect">
            <a:avLst/>
          </a:prstGeom>
          <a:noFill/>
          <a:ln/>
        </p:spPr>
        <p:txBody>
          <a:bodyPr wrap="square" lIns="0" tIns="0" rIns="0" bIns="0" rtlCol="0" anchor="t"/>
          <a:lstStyle/>
          <a:p>
            <a:pPr indent="0" marL="0">
              <a:buNone/>
            </a:pPr>
            <a:r>
              <a:rPr lang="en-US" sz="1080" dirty="0">
                <a:solidFill>
                  <a:srgbClr val="1B2A4A"/>
                </a:solidFill>
                <a:latin typeface="Calibri" pitchFamily="34" charset="0"/>
                <a:ea typeface="Calibri" pitchFamily="34" charset="-122"/>
                <a:cs typeface="Calibri" pitchFamily="34" charset="-120"/>
              </a:rPr>
              <a:t>Amélioration continue - revues périodiques alignées sur la méthodologie DMAT</a:t>
            </a:r>
            <a:endParaRPr lang="en-US" sz="1080" dirty="0"/>
          </a:p>
        </p:txBody>
      </p:sp>
      <p:sp>
        <p:nvSpPr>
          <p:cNvPr id="40" name="Text 37"/>
          <p:cNvSpPr/>
          <p:nvPr/>
        </p:nvSpPr>
        <p:spPr>
          <a:xfrm>
            <a:off x="548640" y="6473952"/>
            <a:ext cx="8686800" cy="274320"/>
          </a:xfrm>
          <a:prstGeom prst="rect">
            <a:avLst/>
          </a:prstGeom>
          <a:noFill/>
          <a:ln/>
        </p:spPr>
        <p:txBody>
          <a:bodyPr wrap="square" lIns="0" tIns="0" rIns="0" bIns="0" rtlCol="0" anchor="ctr"/>
          <a:lstStyle/>
          <a:p>
            <a:pPr indent="0" marL="0">
              <a:buNone/>
            </a:pPr>
            <a:r>
              <a:rPr lang="en-US" sz="950" i="1" dirty="0">
                <a:solidFill>
                  <a:srgbClr val="8493A8"/>
                </a:solidFill>
                <a:latin typeface="Calibri" pitchFamily="34" charset="0"/>
                <a:ea typeface="Calibri" pitchFamily="34" charset="-122"/>
                <a:cs typeface="Calibri" pitchFamily="34" charset="-120"/>
              </a:rPr>
              <a:t>Source : [D21] §2.1.3 - principes issus de [R4]</a:t>
            </a:r>
            <a:endParaRPr lang="en-US" sz="950" dirty="0"/>
          </a:p>
        </p:txBody>
      </p:sp>
      <p:sp>
        <p:nvSpPr>
          <p:cNvPr id="41" name="Text 38"/>
          <p:cNvSpPr/>
          <p:nvPr/>
        </p:nvSpPr>
        <p:spPr>
          <a:xfrm>
            <a:off x="11002975" y="6473952"/>
            <a:ext cx="822960" cy="274320"/>
          </a:xfrm>
          <a:prstGeom prst="rect">
            <a:avLst/>
          </a:prstGeom>
          <a:noFill/>
          <a:ln/>
        </p:spPr>
        <p:txBody>
          <a:bodyPr wrap="square" lIns="0" tIns="0" rIns="0" bIns="0" rtlCol="0" anchor="ctr"/>
          <a:lstStyle/>
          <a:p>
            <a:pPr algn="r" indent="0" marL="0">
              <a:buNone/>
            </a:pPr>
            <a:r>
              <a:rPr lang="en-US" sz="950" dirty="0">
                <a:solidFill>
                  <a:srgbClr val="8493A8"/>
                </a:solidFill>
                <a:latin typeface="Calibri" pitchFamily="34" charset="0"/>
                <a:ea typeface="Calibri" pitchFamily="34" charset="-122"/>
                <a:cs typeface="Calibri" pitchFamily="34" charset="-120"/>
              </a:rPr>
              <a:t>4 / 10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1C8C68"/>
                </a:solidFill>
                <a:latin typeface="Calibri" pitchFamily="34" charset="0"/>
                <a:ea typeface="Calibri" pitchFamily="34" charset="-122"/>
                <a:cs typeface="Calibri" pitchFamily="34" charset="-120"/>
              </a:rPr>
              <a:t>ORGANISATION</a:t>
            </a:r>
            <a:endParaRPr lang="en-US" sz="1200" dirty="0"/>
          </a:p>
        </p:txBody>
      </p:sp>
      <p:sp>
        <p:nvSpPr>
          <p:cNvPr id="3" name="Text 1"/>
          <p:cNvSpPr/>
          <p:nvPr/>
        </p:nvSpPr>
        <p:spPr>
          <a:xfrm>
            <a:off x="548640" y="658368"/>
            <a:ext cx="9509760" cy="868680"/>
          </a:xfrm>
          <a:prstGeom prst="rect">
            <a:avLst/>
          </a:prstGeom>
          <a:noFill/>
          <a:ln/>
        </p:spPr>
        <p:txBody>
          <a:bodyPr wrap="square" lIns="0" tIns="0" rIns="0" bIns="0" rtlCol="0" anchor="t"/>
          <a:lstStyle/>
          <a:p>
            <a:pPr indent="0" marL="0">
              <a:lnSpc>
                <a:spcPct val="102000"/>
              </a:lnSpc>
              <a:buNone/>
            </a:pPr>
            <a:r>
              <a:rPr lang="en-US" sz="2800" b="1" dirty="0">
                <a:solidFill>
                  <a:srgbClr val="1B2A4A"/>
                </a:solidFill>
                <a:latin typeface="Cambria" pitchFamily="34" charset="0"/>
                <a:ea typeface="Cambria" pitchFamily="34" charset="-122"/>
                <a:cs typeface="Cambria" pitchFamily="34" charset="-120"/>
              </a:rPr>
              <a:t>Un modèle Center of Excellence, adapté à Spotify</a:t>
            </a:r>
            <a:endParaRPr lang="en-US" sz="2800" dirty="0"/>
          </a:p>
        </p:txBody>
      </p:sp>
      <p:pic>
        <p:nvPicPr>
          <p:cNvPr id="4" name="Image 0" descr="icons/icon_users.png">    </p:cNvPr>
          <p:cNvPicPr>
            <a:picLocks noChangeAspect="1"/>
          </p:cNvPicPr>
          <p:nvPr/>
        </p:nvPicPr>
        <p:blipFill>
          <a:blip r:embed="rId1"/>
          <a:stretch>
            <a:fillRect/>
          </a:stretch>
        </p:blipFill>
        <p:spPr>
          <a:xfrm>
            <a:off x="11140135" y="365760"/>
            <a:ext cx="658368" cy="658368"/>
          </a:xfrm>
          <a:prstGeom prst="rect">
            <a:avLst/>
          </a:prstGeom>
        </p:spPr>
      </p:pic>
      <p:sp>
        <p:nvSpPr>
          <p:cNvPr id="5" name="Shape 2"/>
          <p:cNvSpPr/>
          <p:nvPr/>
        </p:nvSpPr>
        <p:spPr>
          <a:xfrm>
            <a:off x="548640" y="1691640"/>
            <a:ext cx="4114800" cy="4572000"/>
          </a:xfrm>
          <a:prstGeom prst="roundRect">
            <a:avLst>
              <a:gd name="adj" fmla="val 1778"/>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6" name="Text 3"/>
          <p:cNvSpPr/>
          <p:nvPr/>
        </p:nvSpPr>
        <p:spPr>
          <a:xfrm>
            <a:off x="822960" y="1920240"/>
            <a:ext cx="3566160" cy="292608"/>
          </a:xfrm>
          <a:prstGeom prst="rect">
            <a:avLst/>
          </a:prstGeom>
          <a:noFill/>
          <a:ln/>
        </p:spPr>
        <p:txBody>
          <a:bodyPr wrap="square" lIns="0" tIns="0" rIns="0" bIns="0" rtlCol="0" anchor="ctr"/>
          <a:lstStyle/>
          <a:p>
            <a:pPr indent="0" marL="0">
              <a:buNone/>
            </a:pPr>
            <a:r>
              <a:rPr lang="en-US" sz="1300" b="1" dirty="0">
                <a:solidFill>
                  <a:srgbClr val="1C8C68"/>
                </a:solidFill>
                <a:latin typeface="Calibri" pitchFamily="34" charset="0"/>
                <a:ea typeface="Calibri" pitchFamily="34" charset="-122"/>
                <a:cs typeface="Calibri" pitchFamily="34" charset="-120"/>
              </a:rPr>
              <a:t>Le modèle</a:t>
            </a:r>
            <a:endParaRPr lang="en-US" sz="1300" dirty="0"/>
          </a:p>
        </p:txBody>
      </p:sp>
      <p:sp>
        <p:nvSpPr>
          <p:cNvPr id="7" name="Text 4"/>
          <p:cNvSpPr/>
          <p:nvPr/>
        </p:nvSpPr>
        <p:spPr>
          <a:xfrm>
            <a:off x="822960" y="2249424"/>
            <a:ext cx="3566160" cy="1051560"/>
          </a:xfrm>
          <a:prstGeom prst="rect">
            <a:avLst/>
          </a:prstGeom>
          <a:noFill/>
          <a:ln/>
        </p:spPr>
        <p:txBody>
          <a:bodyPr wrap="square" lIns="0" tIns="0" rIns="0" bIns="0" rtlCol="0" anchor="t"/>
          <a:lstStyle/>
          <a:p>
            <a:pPr indent="0" marL="0">
              <a:buNone/>
            </a:pPr>
            <a:r>
              <a:rPr lang="en-US" sz="1150" dirty="0">
                <a:solidFill>
                  <a:srgbClr val="1B2A4A"/>
                </a:solidFill>
                <a:latin typeface="Calibri" pitchFamily="34" charset="0"/>
                <a:ea typeface="Calibri" pitchFamily="34" charset="-122"/>
                <a:cs typeface="Calibri" pitchFamily="34" charset="-120"/>
              </a:rPr>
              <a:t>Gouvernance centralisée (CDO, DGC) combinée à une autonomie départementale (Data Owners par métier).</a:t>
            </a:r>
            <a:endParaRPr lang="en-US" sz="1150" dirty="0"/>
          </a:p>
        </p:txBody>
      </p:sp>
      <p:sp>
        <p:nvSpPr>
          <p:cNvPr id="8" name="Text 5"/>
          <p:cNvSpPr/>
          <p:nvPr/>
        </p:nvSpPr>
        <p:spPr>
          <a:xfrm>
            <a:off x="822960" y="3401568"/>
            <a:ext cx="3566160" cy="292608"/>
          </a:xfrm>
          <a:prstGeom prst="rect">
            <a:avLst/>
          </a:prstGeom>
          <a:noFill/>
          <a:ln/>
        </p:spPr>
        <p:txBody>
          <a:bodyPr wrap="square" lIns="0" tIns="0" rIns="0" bIns="0" rtlCol="0" anchor="ctr"/>
          <a:lstStyle/>
          <a:p>
            <a:pPr indent="0" marL="0">
              <a:buNone/>
            </a:pPr>
            <a:r>
              <a:rPr lang="en-US" sz="1300" b="1" dirty="0">
                <a:solidFill>
                  <a:srgbClr val="1C8C68"/>
                </a:solidFill>
                <a:latin typeface="Calibri" pitchFamily="34" charset="0"/>
                <a:ea typeface="Calibri" pitchFamily="34" charset="-122"/>
                <a:cs typeface="Calibri" pitchFamily="34" charset="-120"/>
              </a:rPr>
              <a:t>Deux écarts assumés</a:t>
            </a:r>
            <a:endParaRPr lang="en-US" sz="1300" dirty="0"/>
          </a:p>
        </p:txBody>
      </p:sp>
      <p:sp>
        <p:nvSpPr>
          <p:cNvPr id="9" name="Text 6"/>
          <p:cNvSpPr/>
          <p:nvPr/>
        </p:nvSpPr>
        <p:spPr>
          <a:xfrm>
            <a:off x="822960" y="3730752"/>
            <a:ext cx="3566160" cy="1051560"/>
          </a:xfrm>
          <a:prstGeom prst="rect">
            <a:avLst/>
          </a:prstGeom>
          <a:noFill/>
          <a:ln/>
        </p:spPr>
        <p:txBody>
          <a:bodyPr wrap="square" lIns="0" tIns="0" rIns="0" bIns="0" rtlCol="0" anchor="t"/>
          <a:lstStyle/>
          <a:p>
            <a:pPr indent="0" marL="0">
              <a:buNone/>
            </a:pPr>
            <a:r>
              <a:rPr lang="en-US" sz="1150" dirty="0">
                <a:solidFill>
                  <a:srgbClr val="1B2A4A"/>
                </a:solidFill>
                <a:latin typeface="Calibri" pitchFamily="34" charset="0"/>
                <a:ea typeface="Calibri" pitchFamily="34" charset="-122"/>
                <a:cs typeface="Calibri" pitchFamily="34" charset="-120"/>
              </a:rPr>
              <a:t>Infrastructure technique maintenue dans Engineering ; autorité de conformité (DPO/Legal) séparée de l'autorité de gouvernance (CDO/DGC).</a:t>
            </a:r>
            <a:endParaRPr lang="en-US" sz="1150" dirty="0"/>
          </a:p>
        </p:txBody>
      </p:sp>
      <p:sp>
        <p:nvSpPr>
          <p:cNvPr id="10" name="Text 7"/>
          <p:cNvSpPr/>
          <p:nvPr/>
        </p:nvSpPr>
        <p:spPr>
          <a:xfrm>
            <a:off x="822960" y="4882896"/>
            <a:ext cx="3566160" cy="292608"/>
          </a:xfrm>
          <a:prstGeom prst="rect">
            <a:avLst/>
          </a:prstGeom>
          <a:noFill/>
          <a:ln/>
        </p:spPr>
        <p:txBody>
          <a:bodyPr wrap="square" lIns="0" tIns="0" rIns="0" bIns="0" rtlCol="0" anchor="ctr"/>
          <a:lstStyle/>
          <a:p>
            <a:pPr indent="0" marL="0">
              <a:buNone/>
            </a:pPr>
            <a:r>
              <a:rPr lang="en-US" sz="1300" b="1" dirty="0">
                <a:solidFill>
                  <a:srgbClr val="1C8C68"/>
                </a:solidFill>
                <a:latin typeface="Calibri" pitchFamily="34" charset="0"/>
                <a:ea typeface="Calibri" pitchFamily="34" charset="-122"/>
                <a:cs typeface="Calibri" pitchFamily="34" charset="-120"/>
              </a:rPr>
              <a:t>Le mécanisme clé</a:t>
            </a:r>
            <a:endParaRPr lang="en-US" sz="1300" dirty="0"/>
          </a:p>
        </p:txBody>
      </p:sp>
      <p:sp>
        <p:nvSpPr>
          <p:cNvPr id="11" name="Text 8"/>
          <p:cNvSpPr/>
          <p:nvPr/>
        </p:nvSpPr>
        <p:spPr>
          <a:xfrm>
            <a:off x="822960" y="5212080"/>
            <a:ext cx="3566160" cy="1051560"/>
          </a:xfrm>
          <a:prstGeom prst="rect">
            <a:avLst/>
          </a:prstGeom>
          <a:noFill/>
          <a:ln/>
        </p:spPr>
        <p:txBody>
          <a:bodyPr wrap="square" lIns="0" tIns="0" rIns="0" bIns="0" rtlCol="0" anchor="t"/>
          <a:lstStyle/>
          <a:p>
            <a:pPr indent="0" marL="0">
              <a:buNone/>
            </a:pPr>
            <a:r>
              <a:rPr lang="en-US" sz="1150" dirty="0">
                <a:solidFill>
                  <a:srgbClr val="1B2A4A"/>
                </a:solidFill>
                <a:latin typeface="Calibri" pitchFamily="34" charset="0"/>
                <a:ea typeface="Calibri" pitchFamily="34" charset="-122"/>
                <a:cs typeface="Calibri" pitchFamily="34" charset="-120"/>
              </a:rPr>
              <a:t>Double rattachement des Data Stewards - fonctionnel au CDO, organisationnel au département - principal levier contre le cloisonnement (E1).</a:t>
            </a:r>
            <a:endParaRPr lang="en-US" sz="1150" dirty="0"/>
          </a:p>
        </p:txBody>
      </p:sp>
      <p:pic>
        <p:nvPicPr>
          <p:cNvPr id="12" name="Image 1" descr="assets/orgchart.png">    </p:cNvPr>
          <p:cNvPicPr>
            <a:picLocks noChangeAspect="1"/>
          </p:cNvPicPr>
          <p:nvPr/>
        </p:nvPicPr>
        <p:blipFill>
          <a:blip r:embed="rId2"/>
          <a:stretch>
            <a:fillRect/>
          </a:stretch>
        </p:blipFill>
        <p:spPr>
          <a:xfrm>
            <a:off x="4892040" y="1691640"/>
            <a:ext cx="6766560" cy="4120020"/>
          </a:xfrm>
          <a:prstGeom prst="rect">
            <a:avLst/>
          </a:prstGeom>
        </p:spPr>
      </p:pic>
      <p:sp>
        <p:nvSpPr>
          <p:cNvPr id="13" name="Text 9"/>
          <p:cNvSpPr/>
          <p:nvPr/>
        </p:nvSpPr>
        <p:spPr>
          <a:xfrm>
            <a:off x="4892040" y="5884812"/>
            <a:ext cx="6766560" cy="320040"/>
          </a:xfrm>
          <a:prstGeom prst="rect">
            <a:avLst/>
          </a:prstGeom>
          <a:noFill/>
          <a:ln/>
        </p:spPr>
        <p:txBody>
          <a:bodyPr wrap="square" lIns="0" tIns="0" rIns="0" bIns="0" rtlCol="0" anchor="ctr"/>
          <a:lstStyle/>
          <a:p>
            <a:pPr algn="ctr" indent="0" marL="0">
              <a:buNone/>
            </a:pPr>
            <a:r>
              <a:rPr lang="en-US" sz="1000" i="1" dirty="0">
                <a:solidFill>
                  <a:srgbClr val="8493A8"/>
                </a:solidFill>
                <a:latin typeface="Calibri" pitchFamily="34" charset="0"/>
                <a:ea typeface="Calibri" pitchFamily="34" charset="-122"/>
                <a:cs typeface="Calibri" pitchFamily="34" charset="-120"/>
              </a:rPr>
              <a:t>Trait plein = rattachement hiérarchique - Trait pointillé = rattachement fonctionnel / transverse</a:t>
            </a:r>
            <a:endParaRPr lang="en-US" sz="1000" dirty="0"/>
          </a:p>
        </p:txBody>
      </p:sp>
      <p:sp>
        <p:nvSpPr>
          <p:cNvPr id="14" name="Text 10"/>
          <p:cNvSpPr/>
          <p:nvPr/>
        </p:nvSpPr>
        <p:spPr>
          <a:xfrm>
            <a:off x="548640" y="6473952"/>
            <a:ext cx="8686800" cy="274320"/>
          </a:xfrm>
          <a:prstGeom prst="rect">
            <a:avLst/>
          </a:prstGeom>
          <a:noFill/>
          <a:ln/>
        </p:spPr>
        <p:txBody>
          <a:bodyPr wrap="square" lIns="0" tIns="0" rIns="0" bIns="0" rtlCol="0" anchor="ctr"/>
          <a:lstStyle/>
          <a:p>
            <a:pPr indent="0" marL="0">
              <a:buNone/>
            </a:pPr>
            <a:r>
              <a:rPr lang="en-US" sz="950" i="1" dirty="0">
                <a:solidFill>
                  <a:srgbClr val="8493A8"/>
                </a:solidFill>
                <a:latin typeface="Calibri" pitchFamily="34" charset="0"/>
                <a:ea typeface="Calibri" pitchFamily="34" charset="-122"/>
                <a:cs typeface="Calibri" pitchFamily="34" charset="-120"/>
              </a:rPr>
              <a:t>Source : [D22] Roles and Responsibilities Organizational Chart</a:t>
            </a:r>
            <a:endParaRPr lang="en-US" sz="950" dirty="0"/>
          </a:p>
        </p:txBody>
      </p:sp>
      <p:sp>
        <p:nvSpPr>
          <p:cNvPr id="15" name="Text 11"/>
          <p:cNvSpPr/>
          <p:nvPr/>
        </p:nvSpPr>
        <p:spPr>
          <a:xfrm>
            <a:off x="11002975" y="6473952"/>
            <a:ext cx="822960" cy="274320"/>
          </a:xfrm>
          <a:prstGeom prst="rect">
            <a:avLst/>
          </a:prstGeom>
          <a:noFill/>
          <a:ln/>
        </p:spPr>
        <p:txBody>
          <a:bodyPr wrap="square" lIns="0" tIns="0" rIns="0" bIns="0" rtlCol="0" anchor="ctr"/>
          <a:lstStyle/>
          <a:p>
            <a:pPr algn="r" indent="0" marL="0">
              <a:buNone/>
            </a:pPr>
            <a:r>
              <a:rPr lang="en-US" sz="950" dirty="0">
                <a:solidFill>
                  <a:srgbClr val="8493A8"/>
                </a:solidFill>
                <a:latin typeface="Calibri" pitchFamily="34" charset="0"/>
                <a:ea typeface="Calibri" pitchFamily="34" charset="-122"/>
                <a:cs typeface="Calibri" pitchFamily="34" charset="-120"/>
              </a:rPr>
              <a:t>5 / 10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1C8C68"/>
                </a:solidFill>
                <a:latin typeface="Calibri" pitchFamily="34" charset="0"/>
                <a:ea typeface="Calibri" pitchFamily="34" charset="-122"/>
                <a:cs typeface="Calibri" pitchFamily="34" charset="-120"/>
              </a:rPr>
              <a:t>CONFORMITÉ</a:t>
            </a:r>
            <a:endParaRPr lang="en-US" sz="1200" dirty="0"/>
          </a:p>
        </p:txBody>
      </p:sp>
      <p:sp>
        <p:nvSpPr>
          <p:cNvPr id="3" name="Text 1"/>
          <p:cNvSpPr/>
          <p:nvPr/>
        </p:nvSpPr>
        <p:spPr>
          <a:xfrm>
            <a:off x="548640" y="658368"/>
            <a:ext cx="9509760" cy="868680"/>
          </a:xfrm>
          <a:prstGeom prst="rect">
            <a:avLst/>
          </a:prstGeom>
          <a:noFill/>
          <a:ln/>
        </p:spPr>
        <p:txBody>
          <a:bodyPr wrap="square" lIns="0" tIns="0" rIns="0" bIns="0" rtlCol="0" anchor="t"/>
          <a:lstStyle/>
          <a:p>
            <a:pPr indent="0" marL="0">
              <a:lnSpc>
                <a:spcPct val="102000"/>
              </a:lnSpc>
              <a:buNone/>
            </a:pPr>
            <a:r>
              <a:rPr lang="en-US" sz="2800" b="1" dirty="0">
                <a:solidFill>
                  <a:srgbClr val="1B2A4A"/>
                </a:solidFill>
                <a:latin typeface="Cambria" pitchFamily="34" charset="0"/>
                <a:ea typeface="Cambria" pitchFamily="34" charset="-122"/>
                <a:cs typeface="Cambria" pitchFamily="34" charset="-120"/>
              </a:rPr>
              <a:t>Un socle réglementaire structuré cadre par cadre</a:t>
            </a:r>
            <a:endParaRPr lang="en-US" sz="2800" dirty="0"/>
          </a:p>
        </p:txBody>
      </p:sp>
      <p:pic>
        <p:nvPicPr>
          <p:cNvPr id="4" name="Image 0" descr="icons/icon_lock.png">    </p:cNvPr>
          <p:cNvPicPr>
            <a:picLocks noChangeAspect="1"/>
          </p:cNvPicPr>
          <p:nvPr/>
        </p:nvPicPr>
        <p:blipFill>
          <a:blip r:embed="rId1"/>
          <a:stretch>
            <a:fillRect/>
          </a:stretch>
        </p:blipFill>
        <p:spPr>
          <a:xfrm>
            <a:off x="11140135" y="365760"/>
            <a:ext cx="658368" cy="658368"/>
          </a:xfrm>
          <a:prstGeom prst="rect">
            <a:avLst/>
          </a:prstGeom>
        </p:spPr>
      </p:pic>
      <p:sp>
        <p:nvSpPr>
          <p:cNvPr id="5" name="Shape 2"/>
          <p:cNvSpPr/>
          <p:nvPr/>
        </p:nvSpPr>
        <p:spPr>
          <a:xfrm>
            <a:off x="548640" y="1691640"/>
            <a:ext cx="3611880" cy="3703320"/>
          </a:xfrm>
          <a:prstGeom prst="roundRect">
            <a:avLst>
              <a:gd name="adj" fmla="val 2025"/>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6" name="Shape 3"/>
          <p:cNvSpPr/>
          <p:nvPr/>
        </p:nvSpPr>
        <p:spPr>
          <a:xfrm>
            <a:off x="822960" y="1920240"/>
            <a:ext cx="3063240" cy="457200"/>
          </a:xfrm>
          <a:prstGeom prst="roundRect">
            <a:avLst>
              <a:gd name="adj" fmla="val 12000"/>
            </a:avLst>
          </a:prstGeom>
          <a:solidFill>
            <a:srgbClr val="1B2A4A"/>
          </a:solidFill>
          <a:ln/>
        </p:spPr>
      </p:sp>
      <p:sp>
        <p:nvSpPr>
          <p:cNvPr id="7" name="Text 4"/>
          <p:cNvSpPr/>
          <p:nvPr/>
        </p:nvSpPr>
        <p:spPr>
          <a:xfrm>
            <a:off x="822960" y="1920240"/>
            <a:ext cx="30632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GDPR</a:t>
            </a:r>
            <a:endParaRPr lang="en-US" sz="1600" dirty="0"/>
          </a:p>
        </p:txBody>
      </p:sp>
      <p:sp>
        <p:nvSpPr>
          <p:cNvPr id="8" name="Text 5"/>
          <p:cNvSpPr/>
          <p:nvPr/>
        </p:nvSpPr>
        <p:spPr>
          <a:xfrm>
            <a:off x="822960" y="2560320"/>
            <a:ext cx="3063240" cy="2606040"/>
          </a:xfrm>
          <a:prstGeom prst="rect">
            <a:avLst/>
          </a:prstGeom>
          <a:noFill/>
          <a:ln/>
        </p:spPr>
        <p:txBody>
          <a:bodyPr wrap="square" lIns="0" tIns="0" rIns="0" bIns="0" rtlCol="0" anchor="t"/>
          <a:lstStyle/>
          <a:p>
            <a:pPr marL="177800" indent="-177800">
              <a:spcAft>
                <a:spcPts val="1000"/>
              </a:spcAft>
              <a:buSzPct val="100000"/>
              <a:buChar char="•"/>
            </a:pPr>
            <a:r>
              <a:rPr lang="en-US" sz="1150" dirty="0">
                <a:solidFill>
                  <a:srgbClr val="1B2A4A"/>
                </a:solidFill>
                <a:latin typeface="Calibri" pitchFamily="34" charset="0"/>
                <a:ea typeface="Calibri" pitchFamily="34" charset="-122"/>
                <a:cs typeface="Calibri" pitchFamily="34" charset="-120"/>
              </a:rPr>
              <a:t>Traitement licite, loyal et transparent</a:t>
            </a:r>
            <a:endParaRPr lang="en-US" sz="1150" dirty="0"/>
          </a:p>
          <a:p>
            <a:pPr marL="177800" indent="-177800">
              <a:spcAft>
                <a:spcPts val="1000"/>
              </a:spcAft>
              <a:buSzPct val="100000"/>
              <a:buChar char="•"/>
            </a:pPr>
            <a:r>
              <a:rPr lang="en-US" sz="1150" dirty="0">
                <a:solidFill>
                  <a:srgbClr val="1B2A4A"/>
                </a:solidFill>
                <a:latin typeface="Calibri" pitchFamily="34" charset="0"/>
                <a:ea typeface="Calibri" pitchFamily="34" charset="-122"/>
                <a:cs typeface="Calibri" pitchFamily="34" charset="-120"/>
              </a:rPr>
              <a:t>Droits d'accès, rectification, suppression</a:t>
            </a:r>
            <a:endParaRPr lang="en-US" sz="1150" dirty="0"/>
          </a:p>
          <a:p>
            <a:pPr marL="177800" indent="-177800">
              <a:spcAft>
                <a:spcPts val="1000"/>
              </a:spcAft>
              <a:buSzPct val="100000"/>
              <a:buChar char="•"/>
            </a:pPr>
            <a:r>
              <a:rPr lang="en-US" sz="1150" dirty="0">
                <a:solidFill>
                  <a:srgbClr val="1B2A4A"/>
                </a:solidFill>
                <a:latin typeface="Calibri" pitchFamily="34" charset="0"/>
                <a:ea typeface="Calibri" pitchFamily="34" charset="-122"/>
                <a:cs typeface="Calibri" pitchFamily="34" charset="-120"/>
              </a:rPr>
              <a:t>Consentement explicite préalable</a:t>
            </a:r>
            <a:endParaRPr lang="en-US" sz="1150" dirty="0"/>
          </a:p>
          <a:p>
            <a:pPr marL="177800" indent="-177800">
              <a:spcAft>
                <a:spcPts val="1000"/>
              </a:spcAft>
              <a:buSzPct val="100000"/>
              <a:buChar char="•"/>
            </a:pPr>
            <a:r>
              <a:rPr lang="en-US" sz="1150" dirty="0">
                <a:solidFill>
                  <a:srgbClr val="1B2A4A"/>
                </a:solidFill>
                <a:latin typeface="Calibri" pitchFamily="34" charset="0"/>
                <a:ea typeface="Calibri" pitchFamily="34" charset="-122"/>
                <a:cs typeface="Calibri" pitchFamily="34" charset="-120"/>
              </a:rPr>
              <a:t>Notification de violation sous 72h</a:t>
            </a:r>
            <a:endParaRPr lang="en-US" sz="1150" dirty="0"/>
          </a:p>
          <a:p>
            <a:pPr marL="177800" indent="-177800">
              <a:spcAft>
                <a:spcPts val="1000"/>
              </a:spcAft>
              <a:buSzPct val="100000"/>
              <a:buChar char="•"/>
            </a:pPr>
            <a:r>
              <a:rPr lang="en-US" sz="1150" dirty="0">
                <a:solidFill>
                  <a:srgbClr val="1B2A4A"/>
                </a:solidFill>
                <a:latin typeface="Calibri" pitchFamily="34" charset="0"/>
                <a:ea typeface="Calibri" pitchFamily="34" charset="-122"/>
                <a:cs typeface="Calibri" pitchFamily="34" charset="-120"/>
              </a:rPr>
              <a:t>Data Protection Officer nommé</a:t>
            </a:r>
            <a:endParaRPr lang="en-US" sz="1150" dirty="0"/>
          </a:p>
        </p:txBody>
      </p:sp>
      <p:sp>
        <p:nvSpPr>
          <p:cNvPr id="9" name="Shape 6"/>
          <p:cNvSpPr/>
          <p:nvPr/>
        </p:nvSpPr>
        <p:spPr>
          <a:xfrm>
            <a:off x="4379976" y="1691640"/>
            <a:ext cx="3611880" cy="3703320"/>
          </a:xfrm>
          <a:prstGeom prst="roundRect">
            <a:avLst>
              <a:gd name="adj" fmla="val 2025"/>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10" name="Shape 7"/>
          <p:cNvSpPr/>
          <p:nvPr/>
        </p:nvSpPr>
        <p:spPr>
          <a:xfrm>
            <a:off x="4654296" y="1920240"/>
            <a:ext cx="3063240" cy="457200"/>
          </a:xfrm>
          <a:prstGeom prst="roundRect">
            <a:avLst>
              <a:gd name="adj" fmla="val 12000"/>
            </a:avLst>
          </a:prstGeom>
          <a:solidFill>
            <a:srgbClr val="1B2A4A"/>
          </a:solidFill>
          <a:ln/>
        </p:spPr>
      </p:sp>
      <p:sp>
        <p:nvSpPr>
          <p:cNvPr id="11" name="Text 8"/>
          <p:cNvSpPr/>
          <p:nvPr/>
        </p:nvSpPr>
        <p:spPr>
          <a:xfrm>
            <a:off x="4654296" y="1920240"/>
            <a:ext cx="30632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CCPA</a:t>
            </a:r>
            <a:endParaRPr lang="en-US" sz="1600" dirty="0"/>
          </a:p>
        </p:txBody>
      </p:sp>
      <p:sp>
        <p:nvSpPr>
          <p:cNvPr id="12" name="Text 9"/>
          <p:cNvSpPr/>
          <p:nvPr/>
        </p:nvSpPr>
        <p:spPr>
          <a:xfrm>
            <a:off x="4654296" y="2560320"/>
            <a:ext cx="3063240" cy="2606040"/>
          </a:xfrm>
          <a:prstGeom prst="rect">
            <a:avLst/>
          </a:prstGeom>
          <a:noFill/>
          <a:ln/>
        </p:spPr>
        <p:txBody>
          <a:bodyPr wrap="square" lIns="0" tIns="0" rIns="0" bIns="0" rtlCol="0" anchor="t"/>
          <a:lstStyle/>
          <a:p>
            <a:pPr marL="177800" indent="-177800">
              <a:spcAft>
                <a:spcPts val="1000"/>
              </a:spcAft>
              <a:buSzPct val="100000"/>
              <a:buChar char="•"/>
            </a:pPr>
            <a:r>
              <a:rPr lang="en-US" sz="1150" dirty="0">
                <a:solidFill>
                  <a:srgbClr val="1B2A4A"/>
                </a:solidFill>
                <a:latin typeface="Calibri" pitchFamily="34" charset="0"/>
                <a:ea typeface="Calibri" pitchFamily="34" charset="-122"/>
                <a:cs typeface="Calibri" pitchFamily="34" charset="-120"/>
              </a:rPr>
              <a:t>Opt-out sur la vente de données</a:t>
            </a:r>
            <a:endParaRPr lang="en-US" sz="1150" dirty="0"/>
          </a:p>
          <a:p>
            <a:pPr marL="177800" indent="-177800">
              <a:spcAft>
                <a:spcPts val="1000"/>
              </a:spcAft>
              <a:buSzPct val="100000"/>
              <a:buChar char="•"/>
            </a:pPr>
            <a:r>
              <a:rPr lang="en-US" sz="1150" dirty="0">
                <a:solidFill>
                  <a:srgbClr val="1B2A4A"/>
                </a:solidFill>
                <a:latin typeface="Calibri" pitchFamily="34" charset="0"/>
                <a:ea typeface="Calibri" pitchFamily="34" charset="-122"/>
                <a:cs typeface="Calibri" pitchFamily="34" charset="-120"/>
              </a:rPr>
              <a:t>Droit d'accès, modification, suppression</a:t>
            </a:r>
            <a:endParaRPr lang="en-US" sz="1150" dirty="0"/>
          </a:p>
          <a:p>
            <a:pPr marL="177800" indent="-177800">
              <a:spcAft>
                <a:spcPts val="1000"/>
              </a:spcAft>
              <a:buSzPct val="100000"/>
              <a:buChar char="•"/>
            </a:pPr>
            <a:r>
              <a:rPr lang="en-US" sz="1150" dirty="0">
                <a:solidFill>
                  <a:srgbClr val="1B2A4A"/>
                </a:solidFill>
                <a:latin typeface="Calibri" pitchFamily="34" charset="0"/>
                <a:ea typeface="Calibri" pitchFamily="34" charset="-122"/>
                <a:cs typeface="Calibri" pitchFamily="34" charset="-120"/>
              </a:rPr>
              <a:t>Non-discrimination envers les utilisateurs exerçant leurs droits</a:t>
            </a:r>
            <a:endParaRPr lang="en-US" sz="1150" dirty="0"/>
          </a:p>
        </p:txBody>
      </p:sp>
      <p:sp>
        <p:nvSpPr>
          <p:cNvPr id="13" name="Shape 10"/>
          <p:cNvSpPr/>
          <p:nvPr/>
        </p:nvSpPr>
        <p:spPr>
          <a:xfrm>
            <a:off x="8211312" y="1691640"/>
            <a:ext cx="3611880" cy="3703320"/>
          </a:xfrm>
          <a:prstGeom prst="roundRect">
            <a:avLst>
              <a:gd name="adj" fmla="val 2025"/>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14" name="Shape 11"/>
          <p:cNvSpPr/>
          <p:nvPr/>
        </p:nvSpPr>
        <p:spPr>
          <a:xfrm>
            <a:off x="8485632" y="1920240"/>
            <a:ext cx="3063240" cy="457200"/>
          </a:xfrm>
          <a:prstGeom prst="roundRect">
            <a:avLst>
              <a:gd name="adj" fmla="val 12000"/>
            </a:avLst>
          </a:prstGeom>
          <a:solidFill>
            <a:srgbClr val="1B2A4A"/>
          </a:solidFill>
          <a:ln/>
        </p:spPr>
      </p:sp>
      <p:sp>
        <p:nvSpPr>
          <p:cNvPr id="15" name="Text 12"/>
          <p:cNvSpPr/>
          <p:nvPr/>
        </p:nvSpPr>
        <p:spPr>
          <a:xfrm>
            <a:off x="8485632" y="1920240"/>
            <a:ext cx="30632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PCI-DSS</a:t>
            </a:r>
            <a:endParaRPr lang="en-US" sz="1600" dirty="0"/>
          </a:p>
        </p:txBody>
      </p:sp>
      <p:sp>
        <p:nvSpPr>
          <p:cNvPr id="16" name="Text 13"/>
          <p:cNvSpPr/>
          <p:nvPr/>
        </p:nvSpPr>
        <p:spPr>
          <a:xfrm>
            <a:off x="8485632" y="2560320"/>
            <a:ext cx="3063240" cy="2606040"/>
          </a:xfrm>
          <a:prstGeom prst="rect">
            <a:avLst/>
          </a:prstGeom>
          <a:noFill/>
          <a:ln/>
        </p:spPr>
        <p:txBody>
          <a:bodyPr wrap="square" lIns="0" tIns="0" rIns="0" bIns="0" rtlCol="0" anchor="t"/>
          <a:lstStyle/>
          <a:p>
            <a:pPr marL="177800" indent="-177800">
              <a:spcAft>
                <a:spcPts val="1000"/>
              </a:spcAft>
              <a:buSzPct val="100000"/>
              <a:buChar char="•"/>
            </a:pPr>
            <a:r>
              <a:rPr lang="en-US" sz="1150" dirty="0">
                <a:solidFill>
                  <a:srgbClr val="1B2A4A"/>
                </a:solidFill>
                <a:latin typeface="Calibri" pitchFamily="34" charset="0"/>
                <a:ea typeface="Calibri" pitchFamily="34" charset="-122"/>
                <a:cs typeface="Calibri" pitchFamily="34" charset="-120"/>
              </a:rPr>
              <a:t>Sécurisation de l'infrastructure réseau</a:t>
            </a:r>
            <a:endParaRPr lang="en-US" sz="1150" dirty="0"/>
          </a:p>
          <a:p>
            <a:pPr marL="177800" indent="-177800">
              <a:spcAft>
                <a:spcPts val="1000"/>
              </a:spcAft>
              <a:buSzPct val="100000"/>
              <a:buChar char="•"/>
            </a:pPr>
            <a:r>
              <a:rPr lang="en-US" sz="1150" dirty="0">
                <a:solidFill>
                  <a:srgbClr val="1B2A4A"/>
                </a:solidFill>
                <a:latin typeface="Calibri" pitchFamily="34" charset="0"/>
                <a:ea typeface="Calibri" pitchFamily="34" charset="-122"/>
                <a:cs typeface="Calibri" pitchFamily="34" charset="-120"/>
              </a:rPr>
              <a:t>Chiffrement des données de carte bancaire</a:t>
            </a:r>
            <a:endParaRPr lang="en-US" sz="1150" dirty="0"/>
          </a:p>
          <a:p>
            <a:pPr marL="177800" indent="-177800">
              <a:spcAft>
                <a:spcPts val="1000"/>
              </a:spcAft>
              <a:buSzPct val="100000"/>
              <a:buChar char="•"/>
            </a:pPr>
            <a:r>
              <a:rPr lang="en-US" sz="1150" dirty="0">
                <a:solidFill>
                  <a:srgbClr val="1B2A4A"/>
                </a:solidFill>
                <a:latin typeface="Calibri" pitchFamily="34" charset="0"/>
                <a:ea typeface="Calibri" pitchFamily="34" charset="-122"/>
                <a:cs typeface="Calibri" pitchFamily="34" charset="-120"/>
              </a:rPr>
              <a:t>Gestion des vulnérabilités</a:t>
            </a:r>
            <a:endParaRPr lang="en-US" sz="1150" dirty="0"/>
          </a:p>
          <a:p>
            <a:pPr marL="177800" indent="-177800">
              <a:spcAft>
                <a:spcPts val="1000"/>
              </a:spcAft>
              <a:buSzPct val="100000"/>
              <a:buChar char="•"/>
            </a:pPr>
            <a:r>
              <a:rPr lang="en-US" sz="1150" dirty="0">
                <a:solidFill>
                  <a:srgbClr val="1B2A4A"/>
                </a:solidFill>
                <a:latin typeface="Calibri" pitchFamily="34" charset="0"/>
                <a:ea typeface="Calibri" pitchFamily="34" charset="-122"/>
                <a:cs typeface="Calibri" pitchFamily="34" charset="-120"/>
              </a:rPr>
              <a:t>Contrôle d'accès strict aux données de paiement</a:t>
            </a:r>
            <a:endParaRPr lang="en-US" sz="1150" dirty="0"/>
          </a:p>
          <a:p>
            <a:pPr marL="177800" indent="-177800">
              <a:spcAft>
                <a:spcPts val="1000"/>
              </a:spcAft>
              <a:buSzPct val="100000"/>
              <a:buChar char="•"/>
            </a:pPr>
            <a:r>
              <a:rPr lang="en-US" sz="1150" dirty="0">
                <a:solidFill>
                  <a:srgbClr val="1B2A4A"/>
                </a:solidFill>
                <a:latin typeface="Calibri" pitchFamily="34" charset="0"/>
                <a:ea typeface="Calibri" pitchFamily="34" charset="-122"/>
                <a:cs typeface="Calibri" pitchFamily="34" charset="-120"/>
              </a:rPr>
              <a:t>Tests réguliers des dispositifs de sécurité</a:t>
            </a:r>
            <a:endParaRPr lang="en-US" sz="1150" dirty="0"/>
          </a:p>
        </p:txBody>
      </p:sp>
      <p:sp>
        <p:nvSpPr>
          <p:cNvPr id="17" name="Shape 14"/>
          <p:cNvSpPr/>
          <p:nvPr/>
        </p:nvSpPr>
        <p:spPr>
          <a:xfrm>
            <a:off x="548640" y="5532120"/>
            <a:ext cx="11091672" cy="658368"/>
          </a:xfrm>
          <a:prstGeom prst="roundRect">
            <a:avLst>
              <a:gd name="adj" fmla="val 11111"/>
            </a:avLst>
          </a:prstGeom>
          <a:solidFill>
            <a:srgbClr val="EAF7F1"/>
          </a:solidFill>
          <a:ln w="12700">
            <a:solidFill>
              <a:srgbClr val="D8DEE6"/>
            </a:solidFill>
            <a:prstDash val="solid"/>
          </a:ln>
        </p:spPr>
      </p:sp>
      <p:sp>
        <p:nvSpPr>
          <p:cNvPr id="18" name="Text 15"/>
          <p:cNvSpPr/>
          <p:nvPr/>
        </p:nvSpPr>
        <p:spPr>
          <a:xfrm>
            <a:off x="822960" y="5532120"/>
            <a:ext cx="10515600" cy="658368"/>
          </a:xfrm>
          <a:prstGeom prst="rect">
            <a:avLst/>
          </a:prstGeom>
          <a:noFill/>
          <a:ln/>
        </p:spPr>
        <p:txBody>
          <a:bodyPr wrap="square" lIns="0" tIns="0" rIns="0" bIns="0" rtlCol="0" anchor="ctr"/>
          <a:lstStyle/>
          <a:p>
            <a:pPr algn="l" indent="0" marL="0">
              <a:buNone/>
            </a:pPr>
            <a:r>
              <a:rPr lang="en-US" sz="1200" b="1" dirty="0">
                <a:solidFill>
                  <a:srgbClr val="1C8C68"/>
                </a:solidFill>
                <a:latin typeface="Calibri" pitchFamily="34" charset="0"/>
                <a:ea typeface="Calibri" pitchFamily="34" charset="-122"/>
                <a:cs typeface="Calibri" pitchFamily="34" charset="-120"/>
              </a:rPr>
              <a:t>Complété par une cartographie réglementaire marché par marché (PDPA à Singapour, etc.), pilotée par Legal Team en lien avec le DPO.</a:t>
            </a:r>
            <a:endParaRPr lang="en-US" sz="1200" dirty="0"/>
          </a:p>
        </p:txBody>
      </p:sp>
      <p:sp>
        <p:nvSpPr>
          <p:cNvPr id="19" name="Text 16"/>
          <p:cNvSpPr/>
          <p:nvPr/>
        </p:nvSpPr>
        <p:spPr>
          <a:xfrm>
            <a:off x="548640" y="6473952"/>
            <a:ext cx="8686800" cy="274320"/>
          </a:xfrm>
          <a:prstGeom prst="rect">
            <a:avLst/>
          </a:prstGeom>
          <a:noFill/>
          <a:ln/>
        </p:spPr>
        <p:txBody>
          <a:bodyPr wrap="square" lIns="0" tIns="0" rIns="0" bIns="0" rtlCol="0" anchor="ctr"/>
          <a:lstStyle/>
          <a:p>
            <a:pPr indent="0" marL="0">
              <a:buNone/>
            </a:pPr>
            <a:r>
              <a:rPr lang="en-US" sz="950" i="1" dirty="0">
                <a:solidFill>
                  <a:srgbClr val="8493A8"/>
                </a:solidFill>
                <a:latin typeface="Calibri" pitchFamily="34" charset="0"/>
                <a:ea typeface="Calibri" pitchFamily="34" charset="-122"/>
                <a:cs typeface="Calibri" pitchFamily="34" charset="-120"/>
              </a:rPr>
              <a:t>Source : [D21] §2.1.4 - Référentiel [R5]</a:t>
            </a:r>
            <a:endParaRPr lang="en-US" sz="950" dirty="0"/>
          </a:p>
        </p:txBody>
      </p:sp>
      <p:sp>
        <p:nvSpPr>
          <p:cNvPr id="20" name="Text 17"/>
          <p:cNvSpPr/>
          <p:nvPr/>
        </p:nvSpPr>
        <p:spPr>
          <a:xfrm>
            <a:off x="11002975" y="6473952"/>
            <a:ext cx="822960" cy="274320"/>
          </a:xfrm>
          <a:prstGeom prst="rect">
            <a:avLst/>
          </a:prstGeom>
          <a:noFill/>
          <a:ln/>
        </p:spPr>
        <p:txBody>
          <a:bodyPr wrap="square" lIns="0" tIns="0" rIns="0" bIns="0" rtlCol="0" anchor="ctr"/>
          <a:lstStyle/>
          <a:p>
            <a:pPr algn="r" indent="0" marL="0">
              <a:buNone/>
            </a:pPr>
            <a:r>
              <a:rPr lang="en-US" sz="950" dirty="0">
                <a:solidFill>
                  <a:srgbClr val="8493A8"/>
                </a:solidFill>
                <a:latin typeface="Calibri" pitchFamily="34" charset="0"/>
                <a:ea typeface="Calibri" pitchFamily="34" charset="-122"/>
                <a:cs typeface="Calibri" pitchFamily="34" charset="-120"/>
              </a:rPr>
              <a:t>6 / 10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1C8C68"/>
                </a:solidFill>
                <a:latin typeface="Calibri" pitchFamily="34" charset="0"/>
                <a:ea typeface="Calibri" pitchFamily="34" charset="-122"/>
                <a:cs typeface="Calibri" pitchFamily="34" charset="-120"/>
              </a:rPr>
              <a:t>GOUVERNANCE DE L'IA</a:t>
            </a:r>
            <a:endParaRPr lang="en-US" sz="1200" dirty="0"/>
          </a:p>
        </p:txBody>
      </p:sp>
      <p:sp>
        <p:nvSpPr>
          <p:cNvPr id="3" name="Text 1"/>
          <p:cNvSpPr/>
          <p:nvPr/>
        </p:nvSpPr>
        <p:spPr>
          <a:xfrm>
            <a:off x="548640" y="658368"/>
            <a:ext cx="9692640" cy="868680"/>
          </a:xfrm>
          <a:prstGeom prst="rect">
            <a:avLst/>
          </a:prstGeom>
          <a:noFill/>
          <a:ln/>
        </p:spPr>
        <p:txBody>
          <a:bodyPr wrap="square" lIns="0" tIns="0" rIns="0" bIns="0" rtlCol="0" anchor="t"/>
          <a:lstStyle/>
          <a:p>
            <a:pPr indent="0" marL="0">
              <a:lnSpc>
                <a:spcPct val="102000"/>
              </a:lnSpc>
              <a:buNone/>
            </a:pPr>
            <a:r>
              <a:rPr lang="en-US" sz="2800" b="1" dirty="0">
                <a:solidFill>
                  <a:srgbClr val="1B2A4A"/>
                </a:solidFill>
                <a:latin typeface="Cambria" pitchFamily="34" charset="0"/>
                <a:ea typeface="Cambria" pitchFamily="34" charset="-122"/>
                <a:cs typeface="Cambria" pitchFamily="34" charset="-120"/>
              </a:rPr>
              <a:t>Une responsabilité proportionnée au niveau d'impact du modèle</a:t>
            </a:r>
            <a:endParaRPr lang="en-US" sz="2800" dirty="0"/>
          </a:p>
        </p:txBody>
      </p:sp>
      <p:pic>
        <p:nvPicPr>
          <p:cNvPr id="4" name="Image 0" descr="icons/icon_cpu.png">    </p:cNvPr>
          <p:cNvPicPr>
            <a:picLocks noChangeAspect="1"/>
          </p:cNvPicPr>
          <p:nvPr/>
        </p:nvPicPr>
        <p:blipFill>
          <a:blip r:embed="rId1"/>
          <a:stretch>
            <a:fillRect/>
          </a:stretch>
        </p:blipFill>
        <p:spPr>
          <a:xfrm>
            <a:off x="11140135" y="365760"/>
            <a:ext cx="658368" cy="658368"/>
          </a:xfrm>
          <a:prstGeom prst="rect">
            <a:avLst/>
          </a:prstGeom>
        </p:spPr>
      </p:pic>
      <p:sp>
        <p:nvSpPr>
          <p:cNvPr id="5" name="Shape 2"/>
          <p:cNvSpPr/>
          <p:nvPr/>
        </p:nvSpPr>
        <p:spPr>
          <a:xfrm>
            <a:off x="548640" y="1783080"/>
            <a:ext cx="2651760" cy="1051560"/>
          </a:xfrm>
          <a:prstGeom prst="roundRect">
            <a:avLst>
              <a:gd name="adj" fmla="val 6957"/>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6" name="Text 3"/>
          <p:cNvSpPr/>
          <p:nvPr/>
        </p:nvSpPr>
        <p:spPr>
          <a:xfrm>
            <a:off x="731520" y="1892808"/>
            <a:ext cx="2286000" cy="274320"/>
          </a:xfrm>
          <a:prstGeom prst="rect">
            <a:avLst/>
          </a:prstGeom>
          <a:noFill/>
          <a:ln/>
        </p:spPr>
        <p:txBody>
          <a:bodyPr wrap="square" lIns="0" tIns="0" rIns="0" bIns="0" rtlCol="0" anchor="ctr"/>
          <a:lstStyle/>
          <a:p>
            <a:pPr indent="0" marL="0">
              <a:buNone/>
            </a:pPr>
            <a:r>
              <a:rPr lang="en-US" sz="1250" b="1" dirty="0">
                <a:solidFill>
                  <a:srgbClr val="1C8C68"/>
                </a:solidFill>
                <a:latin typeface="Calibri" pitchFamily="34" charset="0"/>
                <a:ea typeface="Calibri" pitchFamily="34" charset="-122"/>
                <a:cs typeface="Calibri" pitchFamily="34" charset="-120"/>
              </a:rPr>
              <a:t>Traçabilité</a:t>
            </a:r>
            <a:endParaRPr lang="en-US" sz="1250" dirty="0"/>
          </a:p>
        </p:txBody>
      </p:sp>
      <p:sp>
        <p:nvSpPr>
          <p:cNvPr id="7" name="Text 4"/>
          <p:cNvSpPr/>
          <p:nvPr/>
        </p:nvSpPr>
        <p:spPr>
          <a:xfrm>
            <a:off x="731520" y="2185416"/>
            <a:ext cx="2286000" cy="594360"/>
          </a:xfrm>
          <a:prstGeom prst="rect">
            <a:avLst/>
          </a:prstGeom>
          <a:noFill/>
          <a:ln/>
        </p:spPr>
        <p:txBody>
          <a:bodyPr wrap="square" lIns="0" tIns="0" rIns="0" bIns="0" rtlCol="0" anchor="t"/>
          <a:lstStyle/>
          <a:p>
            <a:pPr indent="0" marL="0">
              <a:buNone/>
            </a:pPr>
            <a:r>
              <a:rPr lang="en-US" sz="980" dirty="0">
                <a:solidFill>
                  <a:srgbClr val="1B2A4A"/>
                </a:solidFill>
                <a:latin typeface="Calibri" pitchFamily="34" charset="0"/>
                <a:ea typeface="Calibri" pitchFamily="34" charset="-122"/>
                <a:cs typeface="Calibri" pitchFamily="34" charset="-120"/>
              </a:rPr>
              <a:t>Chaque jeu d'entraînement documenté : source, période, transformations, lineage.</a:t>
            </a:r>
            <a:endParaRPr lang="en-US" sz="980" dirty="0"/>
          </a:p>
        </p:txBody>
      </p:sp>
      <p:sp>
        <p:nvSpPr>
          <p:cNvPr id="8" name="Shape 5"/>
          <p:cNvSpPr/>
          <p:nvPr/>
        </p:nvSpPr>
        <p:spPr>
          <a:xfrm>
            <a:off x="3401568" y="1783080"/>
            <a:ext cx="2651760" cy="1051560"/>
          </a:xfrm>
          <a:prstGeom prst="roundRect">
            <a:avLst>
              <a:gd name="adj" fmla="val 6957"/>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9" name="Text 6"/>
          <p:cNvSpPr/>
          <p:nvPr/>
        </p:nvSpPr>
        <p:spPr>
          <a:xfrm>
            <a:off x="3584448" y="1892808"/>
            <a:ext cx="2286000" cy="274320"/>
          </a:xfrm>
          <a:prstGeom prst="rect">
            <a:avLst/>
          </a:prstGeom>
          <a:noFill/>
          <a:ln/>
        </p:spPr>
        <p:txBody>
          <a:bodyPr wrap="square" lIns="0" tIns="0" rIns="0" bIns="0" rtlCol="0" anchor="ctr"/>
          <a:lstStyle/>
          <a:p>
            <a:pPr indent="0" marL="0">
              <a:buNone/>
            </a:pPr>
            <a:r>
              <a:rPr lang="en-US" sz="1250" b="1" dirty="0">
                <a:solidFill>
                  <a:srgbClr val="1C8C68"/>
                </a:solidFill>
                <a:latin typeface="Calibri" pitchFamily="34" charset="0"/>
                <a:ea typeface="Calibri" pitchFamily="34" charset="-122"/>
                <a:cs typeface="Calibri" pitchFamily="34" charset="-120"/>
              </a:rPr>
              <a:t>Biais</a:t>
            </a:r>
            <a:endParaRPr lang="en-US" sz="1250" dirty="0"/>
          </a:p>
        </p:txBody>
      </p:sp>
      <p:sp>
        <p:nvSpPr>
          <p:cNvPr id="10" name="Text 7"/>
          <p:cNvSpPr/>
          <p:nvPr/>
        </p:nvSpPr>
        <p:spPr>
          <a:xfrm>
            <a:off x="3584448" y="2185416"/>
            <a:ext cx="2286000" cy="594360"/>
          </a:xfrm>
          <a:prstGeom prst="rect">
            <a:avLst/>
          </a:prstGeom>
          <a:noFill/>
          <a:ln/>
        </p:spPr>
        <p:txBody>
          <a:bodyPr wrap="square" lIns="0" tIns="0" rIns="0" bIns="0" rtlCol="0" anchor="t"/>
          <a:lstStyle/>
          <a:p>
            <a:pPr indent="0" marL="0">
              <a:buNone/>
            </a:pPr>
            <a:r>
              <a:rPr lang="en-US" sz="980" dirty="0">
                <a:solidFill>
                  <a:srgbClr val="1B2A4A"/>
                </a:solidFill>
                <a:latin typeface="Calibri" pitchFamily="34" charset="0"/>
                <a:ea typeface="Calibri" pitchFamily="34" charset="-122"/>
                <a:cs typeface="Calibri" pitchFamily="34" charset="-120"/>
              </a:rPr>
              <a:t>Évaluation périodique des biais algorithmiques pour les modèles à fort impact.</a:t>
            </a:r>
            <a:endParaRPr lang="en-US" sz="980" dirty="0"/>
          </a:p>
        </p:txBody>
      </p:sp>
      <p:sp>
        <p:nvSpPr>
          <p:cNvPr id="11" name="Shape 8"/>
          <p:cNvSpPr/>
          <p:nvPr/>
        </p:nvSpPr>
        <p:spPr>
          <a:xfrm>
            <a:off x="6254496" y="1783080"/>
            <a:ext cx="2651760" cy="1051560"/>
          </a:xfrm>
          <a:prstGeom prst="roundRect">
            <a:avLst>
              <a:gd name="adj" fmla="val 6957"/>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12" name="Text 9"/>
          <p:cNvSpPr/>
          <p:nvPr/>
        </p:nvSpPr>
        <p:spPr>
          <a:xfrm>
            <a:off x="6437376" y="1892808"/>
            <a:ext cx="2286000" cy="274320"/>
          </a:xfrm>
          <a:prstGeom prst="rect">
            <a:avLst/>
          </a:prstGeom>
          <a:noFill/>
          <a:ln/>
        </p:spPr>
        <p:txBody>
          <a:bodyPr wrap="square" lIns="0" tIns="0" rIns="0" bIns="0" rtlCol="0" anchor="ctr"/>
          <a:lstStyle/>
          <a:p>
            <a:pPr indent="0" marL="0">
              <a:buNone/>
            </a:pPr>
            <a:r>
              <a:rPr lang="en-US" sz="1250" b="1" dirty="0">
                <a:solidFill>
                  <a:srgbClr val="1C8C68"/>
                </a:solidFill>
                <a:latin typeface="Calibri" pitchFamily="34" charset="0"/>
                <a:ea typeface="Calibri" pitchFamily="34" charset="-122"/>
                <a:cs typeface="Calibri" pitchFamily="34" charset="-120"/>
              </a:rPr>
              <a:t>Approbation</a:t>
            </a:r>
            <a:endParaRPr lang="en-US" sz="1250" dirty="0"/>
          </a:p>
        </p:txBody>
      </p:sp>
      <p:sp>
        <p:nvSpPr>
          <p:cNvPr id="13" name="Text 10"/>
          <p:cNvSpPr/>
          <p:nvPr/>
        </p:nvSpPr>
        <p:spPr>
          <a:xfrm>
            <a:off x="6437376" y="2185416"/>
            <a:ext cx="2286000" cy="594360"/>
          </a:xfrm>
          <a:prstGeom prst="rect">
            <a:avLst/>
          </a:prstGeom>
          <a:noFill/>
          <a:ln/>
        </p:spPr>
        <p:txBody>
          <a:bodyPr wrap="square" lIns="0" tIns="0" rIns="0" bIns="0" rtlCol="0" anchor="t"/>
          <a:lstStyle/>
          <a:p>
            <a:pPr indent="0" marL="0">
              <a:buNone/>
            </a:pPr>
            <a:r>
              <a:rPr lang="en-US" sz="980" dirty="0">
                <a:solidFill>
                  <a:srgbClr val="1B2A4A"/>
                </a:solidFill>
                <a:latin typeface="Calibri" pitchFamily="34" charset="0"/>
                <a:ea typeface="Calibri" pitchFamily="34" charset="-122"/>
                <a:cs typeface="Calibri" pitchFamily="34" charset="-120"/>
              </a:rPr>
              <a:t>Responsabilité confiée à un Model Owner ; circuit proportionné au niveau d'impact.</a:t>
            </a:r>
            <a:endParaRPr lang="en-US" sz="980" dirty="0"/>
          </a:p>
        </p:txBody>
      </p:sp>
      <p:sp>
        <p:nvSpPr>
          <p:cNvPr id="14" name="Shape 11"/>
          <p:cNvSpPr/>
          <p:nvPr/>
        </p:nvSpPr>
        <p:spPr>
          <a:xfrm>
            <a:off x="9107424" y="1783080"/>
            <a:ext cx="2651760" cy="1051560"/>
          </a:xfrm>
          <a:prstGeom prst="roundRect">
            <a:avLst>
              <a:gd name="adj" fmla="val 6957"/>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15" name="Text 12"/>
          <p:cNvSpPr/>
          <p:nvPr/>
        </p:nvSpPr>
        <p:spPr>
          <a:xfrm>
            <a:off x="9290304" y="1892808"/>
            <a:ext cx="2286000" cy="274320"/>
          </a:xfrm>
          <a:prstGeom prst="rect">
            <a:avLst/>
          </a:prstGeom>
          <a:noFill/>
          <a:ln/>
        </p:spPr>
        <p:txBody>
          <a:bodyPr wrap="square" lIns="0" tIns="0" rIns="0" bIns="0" rtlCol="0" anchor="ctr"/>
          <a:lstStyle/>
          <a:p>
            <a:pPr indent="0" marL="0">
              <a:buNone/>
            </a:pPr>
            <a:r>
              <a:rPr lang="en-US" sz="1250" b="1" dirty="0">
                <a:solidFill>
                  <a:srgbClr val="1C8C68"/>
                </a:solidFill>
                <a:latin typeface="Calibri" pitchFamily="34" charset="0"/>
                <a:ea typeface="Calibri" pitchFamily="34" charset="-122"/>
                <a:cs typeface="Calibri" pitchFamily="34" charset="-120"/>
              </a:rPr>
              <a:t>Explicabilité</a:t>
            </a:r>
            <a:endParaRPr lang="en-US" sz="1250" dirty="0"/>
          </a:p>
        </p:txBody>
      </p:sp>
      <p:sp>
        <p:nvSpPr>
          <p:cNvPr id="16" name="Text 13"/>
          <p:cNvSpPr/>
          <p:nvPr/>
        </p:nvSpPr>
        <p:spPr>
          <a:xfrm>
            <a:off x="9290304" y="2185416"/>
            <a:ext cx="2286000" cy="594360"/>
          </a:xfrm>
          <a:prstGeom prst="rect">
            <a:avLst/>
          </a:prstGeom>
          <a:noFill/>
          <a:ln/>
        </p:spPr>
        <p:txBody>
          <a:bodyPr wrap="square" lIns="0" tIns="0" rIns="0" bIns="0" rtlCol="0" anchor="t"/>
          <a:lstStyle/>
          <a:p>
            <a:pPr indent="0" marL="0">
              <a:buNone/>
            </a:pPr>
            <a:r>
              <a:rPr lang="en-US" sz="980" dirty="0">
                <a:solidFill>
                  <a:srgbClr val="1B2A4A"/>
                </a:solidFill>
                <a:latin typeface="Calibri" pitchFamily="34" charset="0"/>
                <a:ea typeface="Calibri" pitchFamily="34" charset="-122"/>
                <a:cs typeface="Calibri" pitchFamily="34" charset="-120"/>
              </a:rPr>
              <a:t>Décisions automatisées à impact significatif explicables de manière intelligible.</a:t>
            </a:r>
            <a:endParaRPr lang="en-US" sz="98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11091672" cy="914400"/>
        </p:xfrm>
        <a:graphic>
          <a:graphicData uri="http://schemas.openxmlformats.org/drawingml/2006/table">
            <a:tbl>
              <a:tblPr/>
              <a:tblGrid>
                <a:gridCol w="1371600"/>
                <a:gridCol w="6245352"/>
                <a:gridCol w="3474720"/>
              </a:tblGrid>
              <a:tr h="45720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Niveau d'impact</a:t>
                      </a:r>
                      <a:endParaRPr lang="en-US" sz="1250" dirty="0">
                        <a:latin typeface="Calibri" charset="0"/>
                        <a:ea typeface="Calibri" charset="0"/>
                        <a:cs typeface="Calibri" charset="0"/>
                      </a:endParaRPr>
                    </a:p>
                  </a:txBody>
                  <a:tcPr marL="91440" marR="91440" marT="45720" marB="45720"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1B2A4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Critères (extraits)</a:t>
                      </a:r>
                      <a:endParaRPr lang="en-US" sz="1250" dirty="0">
                        <a:latin typeface="Calibri" charset="0"/>
                        <a:ea typeface="Calibri" charset="0"/>
                        <a:cs typeface="Calibri" charset="0"/>
                      </a:endParaRPr>
                    </a:p>
                  </a:txBody>
                  <a:tcPr marL="91440" marR="91440" marT="45720" marB="45720"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1B2A4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Circuit de validation</a:t>
                      </a:r>
                      <a:endParaRPr lang="en-US" sz="1250" dirty="0">
                        <a:latin typeface="Calibri" charset="0"/>
                        <a:ea typeface="Calibri" charset="0"/>
                        <a:cs typeface="Calibri" charset="0"/>
                      </a:endParaRPr>
                    </a:p>
                  </a:txBody>
                  <a:tcPr marL="91440" marR="91440" marT="45720" marB="45720"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1B2A4A"/>
                    </a:solidFill>
                  </a:tcPr>
                </a:tc>
              </a:tr>
              <a:tr h="777240">
                <a:tc>
                  <a:txBody>
                    <a:bodyPr/>
                    <a:lstStyle/>
                    <a:p>
                      <a:pPr algn="ctr" indent="0" marL="0">
                        <a:buNone/>
                      </a:pPr>
                      <a:r>
                        <a:rPr lang="en-US" sz="1200" b="1" dirty="0">
                          <a:solidFill>
                            <a:srgbClr val="B8574A"/>
                          </a:solidFill>
                          <a:latin typeface="Calibri" pitchFamily="34" charset="0"/>
                          <a:ea typeface="Calibri" pitchFamily="34" charset="-122"/>
                          <a:cs typeface="Calibri" pitchFamily="34" charset="-120"/>
                        </a:rPr>
                        <a:t>Fort</a:t>
                      </a:r>
                      <a:endParaRPr lang="en-US" sz="1200" dirty="0">
                        <a:latin typeface="Calibri" charset="0"/>
                        <a:ea typeface="Calibri" charset="0"/>
                        <a:cs typeface="Calibri" charset="0"/>
                      </a:endParaRPr>
                    </a:p>
                  </a:txBody>
                  <a:tcPr marL="91440" marR="91440" marT="45720" marB="45720"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BEDEA"/>
                    </a:solidFill>
                  </a:tcPr>
                </a:tc>
                <a:tc>
                  <a:txBody>
                    <a:bodyPr/>
                    <a:lstStyle/>
                    <a:p>
                      <a:pPr algn="l" indent="0" marL="0">
                        <a:buNone/>
                      </a:pPr>
                      <a:r>
                        <a:rPr lang="en-US" sz="1100" dirty="0">
                          <a:solidFill>
                            <a:srgbClr val="1B2A4A"/>
                          </a:solidFill>
                          <a:latin typeface="Calibri" pitchFamily="34" charset="0"/>
                          <a:ea typeface="Calibri" pitchFamily="34" charset="-122"/>
                          <a:cs typeface="Calibri" pitchFamily="34" charset="-120"/>
                        </a:rPr>
                        <a:t>Majorité des utilisateurs actifs - décision peu réversible - art. 22 GDPR - fonctionnalité principale</a:t>
                      </a:r>
                      <a:endParaRPr lang="en-US" sz="1100" dirty="0">
                        <a:latin typeface="Calibri" charset="0"/>
                        <a:ea typeface="Calibri" charset="0"/>
                        <a:cs typeface="Calibri" charset="0"/>
                      </a:endParaRPr>
                    </a:p>
                  </a:txBody>
                  <a:tcPr marL="91440" marR="91440" marT="45720" marB="45720"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BEDEA"/>
                    </a:solidFill>
                  </a:tcPr>
                </a:tc>
                <a:tc>
                  <a:txBody>
                    <a:bodyPr/>
                    <a:lstStyle/>
                    <a:p>
                      <a:pPr algn="l" indent="0" marL="0">
                        <a:buNone/>
                      </a:pPr>
                      <a:r>
                        <a:rPr lang="en-US" sz="1100" b="1" dirty="0">
                          <a:solidFill>
                            <a:srgbClr val="1B2A4A"/>
                          </a:solidFill>
                          <a:latin typeface="Calibri" pitchFamily="34" charset="0"/>
                          <a:ea typeface="Calibri" pitchFamily="34" charset="-122"/>
                          <a:cs typeface="Calibri" pitchFamily="34" charset="-120"/>
                        </a:rPr>
                        <a:t>MO (C) → MRM (R) → DGC (A)</a:t>
                      </a:r>
                      <a:endParaRPr lang="en-US" sz="1100" dirty="0">
                        <a:latin typeface="Calibri" charset="0"/>
                        <a:ea typeface="Calibri" charset="0"/>
                        <a:cs typeface="Calibri" charset="0"/>
                      </a:endParaRPr>
                    </a:p>
                  </a:txBody>
                  <a:tcPr marL="91440" marR="91440" marT="45720" marB="45720"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BEDEA"/>
                    </a:solidFill>
                  </a:tcPr>
                </a:tc>
              </a:tr>
              <a:tr h="777240">
                <a:tc>
                  <a:txBody>
                    <a:bodyPr/>
                    <a:lstStyle/>
                    <a:p>
                      <a:pPr algn="ctr" indent="0" marL="0">
                        <a:buNone/>
                      </a:pPr>
                      <a:r>
                        <a:rPr lang="en-US" sz="1200" b="1" dirty="0">
                          <a:solidFill>
                            <a:srgbClr val="C99A3C"/>
                          </a:solidFill>
                          <a:latin typeface="Calibri" pitchFamily="34" charset="0"/>
                          <a:ea typeface="Calibri" pitchFamily="34" charset="-122"/>
                          <a:cs typeface="Calibri" pitchFamily="34" charset="-120"/>
                        </a:rPr>
                        <a:t>Modéré</a:t>
                      </a:r>
                      <a:endParaRPr lang="en-US" sz="1200" dirty="0">
                        <a:latin typeface="Calibri" charset="0"/>
                        <a:ea typeface="Calibri" charset="0"/>
                        <a:cs typeface="Calibri" charset="0"/>
                      </a:endParaRPr>
                    </a:p>
                  </a:txBody>
                  <a:tcPr marL="91440" marR="91440" marT="45720" marB="45720"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BF3E2"/>
                    </a:solidFill>
                  </a:tcPr>
                </a:tc>
                <a:tc>
                  <a:txBody>
                    <a:bodyPr/>
                    <a:lstStyle/>
                    <a:p>
                      <a:pPr algn="l" indent="0" marL="0">
                        <a:buNone/>
                      </a:pPr>
                      <a:r>
                        <a:rPr lang="en-US" sz="1100" dirty="0">
                          <a:solidFill>
                            <a:srgbClr val="1B2A4A"/>
                          </a:solidFill>
                          <a:latin typeface="Calibri" pitchFamily="34" charset="0"/>
                          <a:ea typeface="Calibri" pitchFamily="34" charset="-122"/>
                          <a:cs typeface="Calibri" pitchFamily="34" charset="-120"/>
                        </a:rPr>
                        <a:t>Utilisateurs ciblés (cohorte, marché, A/B test) - décision réversible sous délai court</a:t>
                      </a:r>
                      <a:endParaRPr lang="en-US" sz="1100" dirty="0">
                        <a:latin typeface="Calibri" charset="0"/>
                        <a:ea typeface="Calibri" charset="0"/>
                        <a:cs typeface="Calibri" charset="0"/>
                      </a:endParaRPr>
                    </a:p>
                  </a:txBody>
                  <a:tcPr marL="91440" marR="91440" marT="45720" marB="45720"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BF3E2"/>
                    </a:solidFill>
                  </a:tcPr>
                </a:tc>
                <a:tc>
                  <a:txBody>
                    <a:bodyPr/>
                    <a:lstStyle/>
                    <a:p>
                      <a:pPr algn="l" indent="0" marL="0">
                        <a:buNone/>
                      </a:pPr>
                      <a:r>
                        <a:rPr lang="en-US" sz="1100" b="1" dirty="0">
                          <a:solidFill>
                            <a:srgbClr val="1B2A4A"/>
                          </a:solidFill>
                          <a:latin typeface="Calibri" pitchFamily="34" charset="0"/>
                          <a:ea typeface="Calibri" pitchFamily="34" charset="-122"/>
                          <a:cs typeface="Calibri" pitchFamily="34" charset="-120"/>
                        </a:rPr>
                        <a:t>MO (R) → MRM (A)</a:t>
                      </a:r>
                      <a:endParaRPr lang="en-US" sz="1100" dirty="0">
                        <a:latin typeface="Calibri" charset="0"/>
                        <a:ea typeface="Calibri" charset="0"/>
                        <a:cs typeface="Calibri" charset="0"/>
                      </a:endParaRPr>
                    </a:p>
                  </a:txBody>
                  <a:tcPr marL="91440" marR="91440" marT="45720" marB="45720"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BF3E2"/>
                    </a:solidFill>
                  </a:tcPr>
                </a:tc>
              </a:tr>
              <a:tr h="777240">
                <a:tc>
                  <a:txBody>
                    <a:bodyPr/>
                    <a:lstStyle/>
                    <a:p>
                      <a:pPr algn="ctr" indent="0" marL="0">
                        <a:buNone/>
                      </a:pPr>
                      <a:r>
                        <a:rPr lang="en-US" sz="1200" b="1" dirty="0">
                          <a:solidFill>
                            <a:srgbClr val="1C8C68"/>
                          </a:solidFill>
                          <a:latin typeface="Calibri" pitchFamily="34" charset="0"/>
                          <a:ea typeface="Calibri" pitchFamily="34" charset="-122"/>
                          <a:cs typeface="Calibri" pitchFamily="34" charset="-120"/>
                        </a:rPr>
                        <a:t>Faible</a:t>
                      </a:r>
                      <a:endParaRPr lang="en-US" sz="1200" dirty="0">
                        <a:latin typeface="Calibri" charset="0"/>
                        <a:ea typeface="Calibri" charset="0"/>
                        <a:cs typeface="Calibri" charset="0"/>
                      </a:endParaRPr>
                    </a:p>
                  </a:txBody>
                  <a:tcPr marL="91440" marR="91440" marT="45720" marB="45720"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AF7F1"/>
                    </a:solidFill>
                  </a:tcPr>
                </a:tc>
                <a:tc>
                  <a:txBody>
                    <a:bodyPr/>
                    <a:lstStyle/>
                    <a:p>
                      <a:pPr algn="l" indent="0" marL="0">
                        <a:buNone/>
                      </a:pPr>
                      <a:r>
                        <a:rPr lang="en-US" sz="1100" dirty="0">
                          <a:solidFill>
                            <a:srgbClr val="1B2A4A"/>
                          </a:solidFill>
                          <a:latin typeface="Calibri" pitchFamily="34" charset="0"/>
                          <a:ea typeface="Calibri" pitchFamily="34" charset="-122"/>
                          <a:cs typeface="Calibri" pitchFamily="34" charset="-120"/>
                        </a:rPr>
                        <a:t>Fonction auxiliaire, sans exposition directe à l'utilisateur final</a:t>
                      </a:r>
                      <a:endParaRPr lang="en-US" sz="1100" dirty="0">
                        <a:latin typeface="Calibri" charset="0"/>
                        <a:ea typeface="Calibri" charset="0"/>
                        <a:cs typeface="Calibri" charset="0"/>
                      </a:endParaRPr>
                    </a:p>
                  </a:txBody>
                  <a:tcPr marL="91440" marR="91440" marT="45720" marB="45720"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AF7F1"/>
                    </a:solidFill>
                  </a:tcPr>
                </a:tc>
                <a:tc>
                  <a:txBody>
                    <a:bodyPr/>
                    <a:lstStyle/>
                    <a:p>
                      <a:pPr algn="l" indent="0" marL="0">
                        <a:buNone/>
                      </a:pPr>
                      <a:r>
                        <a:rPr lang="en-US" sz="1100" b="1" dirty="0">
                          <a:solidFill>
                            <a:srgbClr val="1B2A4A"/>
                          </a:solidFill>
                          <a:latin typeface="Calibri" pitchFamily="34" charset="0"/>
                          <a:ea typeface="Calibri" pitchFamily="34" charset="-122"/>
                          <a:cs typeface="Calibri" pitchFamily="34" charset="-120"/>
                        </a:rPr>
                        <a:t>MO (RA) - contrôle a posteriori par MRM (échantillonnage)</a:t>
                      </a:r>
                      <a:endParaRPr lang="en-US" sz="1100" dirty="0">
                        <a:latin typeface="Calibri" charset="0"/>
                        <a:ea typeface="Calibri" charset="0"/>
                        <a:cs typeface="Calibri" charset="0"/>
                      </a:endParaRPr>
                    </a:p>
                  </a:txBody>
                  <a:tcPr marL="91440" marR="91440" marT="45720" marB="45720"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AF7F1"/>
                    </a:solidFill>
                  </a:tcPr>
                </a:tc>
              </a:tr>
            </a:tbl>
          </a:graphicData>
        </a:graphic>
      </p:graphicFrame>
      <p:sp>
        <p:nvSpPr>
          <p:cNvPr id="18" name="Text 14"/>
          <p:cNvSpPr/>
          <p:nvPr/>
        </p:nvSpPr>
        <p:spPr>
          <a:xfrm>
            <a:off x="548640" y="6035040"/>
            <a:ext cx="11091672" cy="320040"/>
          </a:xfrm>
          <a:prstGeom prst="rect">
            <a:avLst/>
          </a:prstGeom>
          <a:noFill/>
          <a:ln/>
        </p:spPr>
        <p:txBody>
          <a:bodyPr wrap="square" lIns="0" tIns="0" rIns="0" bIns="0" rtlCol="0" anchor="ctr"/>
          <a:lstStyle/>
          <a:p>
            <a:pPr indent="0" marL="0">
              <a:buNone/>
            </a:pPr>
            <a:r>
              <a:rPr lang="en-US" sz="950" i="1" dirty="0">
                <a:solidFill>
                  <a:srgbClr val="8493A8"/>
                </a:solidFill>
                <a:latin typeface="Calibri" pitchFamily="34" charset="0"/>
                <a:ea typeface="Calibri" pitchFamily="34" charset="-122"/>
                <a:cs typeface="Calibri" pitchFamily="34" charset="-120"/>
              </a:rPr>
              <a:t>MO = Model Owner - MRM = Model Risk Manager - DGC = Data Governance Committee - R = Responsible, A = Accountable, C = Consulted</a:t>
            </a:r>
            <a:endParaRPr lang="en-US" sz="950" dirty="0"/>
          </a:p>
        </p:txBody>
      </p:sp>
      <p:sp>
        <p:nvSpPr>
          <p:cNvPr id="19" name="Text 15"/>
          <p:cNvSpPr/>
          <p:nvPr/>
        </p:nvSpPr>
        <p:spPr>
          <a:xfrm>
            <a:off x="548640" y="6473952"/>
            <a:ext cx="8686800" cy="274320"/>
          </a:xfrm>
          <a:prstGeom prst="rect">
            <a:avLst/>
          </a:prstGeom>
          <a:noFill/>
          <a:ln/>
        </p:spPr>
        <p:txBody>
          <a:bodyPr wrap="square" lIns="0" tIns="0" rIns="0" bIns="0" rtlCol="0" anchor="ctr"/>
          <a:lstStyle/>
          <a:p>
            <a:pPr indent="0" marL="0">
              <a:buNone/>
            </a:pPr>
            <a:r>
              <a:rPr lang="en-US" sz="950" i="1" dirty="0">
                <a:solidFill>
                  <a:srgbClr val="8493A8"/>
                </a:solidFill>
                <a:latin typeface="Calibri" pitchFamily="34" charset="0"/>
                <a:ea typeface="Calibri" pitchFamily="34" charset="-122"/>
                <a:cs typeface="Calibri" pitchFamily="34" charset="-120"/>
              </a:rPr>
              <a:t>Source : [D21] §2.1.5</a:t>
            </a:r>
            <a:endParaRPr lang="en-US" sz="950" dirty="0"/>
          </a:p>
        </p:txBody>
      </p:sp>
      <p:sp>
        <p:nvSpPr>
          <p:cNvPr id="20" name="Text 16"/>
          <p:cNvSpPr/>
          <p:nvPr/>
        </p:nvSpPr>
        <p:spPr>
          <a:xfrm>
            <a:off x="11002975" y="6473952"/>
            <a:ext cx="822960" cy="274320"/>
          </a:xfrm>
          <a:prstGeom prst="rect">
            <a:avLst/>
          </a:prstGeom>
          <a:noFill/>
          <a:ln/>
        </p:spPr>
        <p:txBody>
          <a:bodyPr wrap="square" lIns="0" tIns="0" rIns="0" bIns="0" rtlCol="0" anchor="ctr"/>
          <a:lstStyle/>
          <a:p>
            <a:pPr algn="r" indent="0" marL="0">
              <a:buNone/>
            </a:pPr>
            <a:r>
              <a:rPr lang="en-US" sz="950" dirty="0">
                <a:solidFill>
                  <a:srgbClr val="8493A8"/>
                </a:solidFill>
                <a:latin typeface="Calibri" pitchFamily="34" charset="0"/>
                <a:ea typeface="Calibri" pitchFamily="34" charset="-122"/>
                <a:cs typeface="Calibri" pitchFamily="34" charset="-120"/>
              </a:rPr>
              <a:t>7 / 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1C8C68"/>
                </a:solidFill>
                <a:latin typeface="Calibri" pitchFamily="34" charset="0"/>
                <a:ea typeface="Calibri" pitchFamily="34" charset="-122"/>
                <a:cs typeface="Calibri" pitchFamily="34" charset="-120"/>
              </a:rPr>
              <a:t>MISE EN ŒUVRE</a:t>
            </a:r>
            <a:endParaRPr lang="en-US" sz="1200" dirty="0"/>
          </a:p>
        </p:txBody>
      </p:sp>
      <p:sp>
        <p:nvSpPr>
          <p:cNvPr id="3" name="Text 1"/>
          <p:cNvSpPr/>
          <p:nvPr/>
        </p:nvSpPr>
        <p:spPr>
          <a:xfrm>
            <a:off x="548640" y="658368"/>
            <a:ext cx="9692640" cy="868680"/>
          </a:xfrm>
          <a:prstGeom prst="rect">
            <a:avLst/>
          </a:prstGeom>
          <a:noFill/>
          <a:ln/>
        </p:spPr>
        <p:txBody>
          <a:bodyPr wrap="square" lIns="0" tIns="0" rIns="0" bIns="0" rtlCol="0" anchor="t"/>
          <a:lstStyle/>
          <a:p>
            <a:pPr indent="0" marL="0">
              <a:lnSpc>
                <a:spcPct val="102000"/>
              </a:lnSpc>
              <a:buNone/>
            </a:pPr>
            <a:r>
              <a:rPr lang="en-US" sz="2800" b="1" dirty="0">
                <a:solidFill>
                  <a:srgbClr val="1B2A4A"/>
                </a:solidFill>
                <a:latin typeface="Cambria" pitchFamily="34" charset="0"/>
                <a:ea typeface="Cambria" pitchFamily="34" charset="-122"/>
                <a:cs typeface="Cambria" pitchFamily="34" charset="-120"/>
              </a:rPr>
              <a:t>Un outillage ciblé, testé sur un pilote de 21 semaines</a:t>
            </a:r>
            <a:endParaRPr lang="en-US" sz="2800" dirty="0"/>
          </a:p>
        </p:txBody>
      </p:sp>
      <p:pic>
        <p:nvPicPr>
          <p:cNvPr id="4" name="Image 0" descr="icons/icon_tool.png">    </p:cNvPr>
          <p:cNvPicPr>
            <a:picLocks noChangeAspect="1"/>
          </p:cNvPicPr>
          <p:nvPr/>
        </p:nvPicPr>
        <p:blipFill>
          <a:blip r:embed="rId1"/>
          <a:stretch>
            <a:fillRect/>
          </a:stretch>
        </p:blipFill>
        <p:spPr>
          <a:xfrm>
            <a:off x="11140135" y="365760"/>
            <a:ext cx="658368" cy="658368"/>
          </a:xfrm>
          <a:prstGeom prst="rect">
            <a:avLst/>
          </a:prstGeom>
        </p:spPr>
      </p:pic>
      <p:sp>
        <p:nvSpPr>
          <p:cNvPr id="5" name="Text 2"/>
          <p:cNvSpPr/>
          <p:nvPr/>
        </p:nvSpPr>
        <p:spPr>
          <a:xfrm>
            <a:off x="548640" y="1600200"/>
            <a:ext cx="5760720" cy="32004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Outillage par catégorie</a:t>
            </a:r>
            <a:endParaRPr lang="en-US" sz="1400" dirty="0"/>
          </a:p>
        </p:txBody>
      </p:sp>
      <p:sp>
        <p:nvSpPr>
          <p:cNvPr id="6" name="Shape 3"/>
          <p:cNvSpPr/>
          <p:nvPr/>
        </p:nvSpPr>
        <p:spPr>
          <a:xfrm>
            <a:off x="548640" y="2011680"/>
            <a:ext cx="5760720" cy="694944"/>
          </a:xfrm>
          <a:prstGeom prst="roundRect">
            <a:avLst>
              <a:gd name="adj" fmla="val 10526"/>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7" name="Shape 4"/>
          <p:cNvSpPr/>
          <p:nvPr/>
        </p:nvSpPr>
        <p:spPr>
          <a:xfrm>
            <a:off x="713232" y="2139696"/>
            <a:ext cx="438912" cy="438912"/>
          </a:xfrm>
          <a:prstGeom prst="ellipse">
            <a:avLst/>
          </a:prstGeom>
          <a:solidFill>
            <a:srgbClr val="2DBE8C"/>
          </a:solidFill>
          <a:ln/>
        </p:spPr>
      </p:sp>
      <p:sp>
        <p:nvSpPr>
          <p:cNvPr id="8" name="Text 5"/>
          <p:cNvSpPr/>
          <p:nvPr/>
        </p:nvSpPr>
        <p:spPr>
          <a:xfrm>
            <a:off x="713232" y="2139696"/>
            <a:ext cx="438912" cy="438912"/>
          </a:xfrm>
          <a:prstGeom prst="rect">
            <a:avLst/>
          </a:prstGeom>
          <a:noFill/>
          <a:ln/>
        </p:spPr>
        <p:txBody>
          <a:bodyPr wrap="square" lIns="0" tIns="0" rIns="0" bIns="0" rtlCol="0" anchor="ctr"/>
          <a:lstStyle/>
          <a:p>
            <a:pPr algn="ctr" indent="0" marL="0">
              <a:buNone/>
            </a:pPr>
            <a:r>
              <a:rPr lang="en-US" sz="950" b="1" dirty="0">
                <a:solidFill>
                  <a:srgbClr val="1B2A4A"/>
                </a:solidFill>
                <a:latin typeface="Calibri" pitchFamily="34" charset="0"/>
                <a:ea typeface="Calibri" pitchFamily="34" charset="-122"/>
                <a:cs typeface="Calibri" pitchFamily="34" charset="-120"/>
              </a:rPr>
              <a:t>E1</a:t>
            </a:r>
            <a:endParaRPr lang="en-US" sz="950" dirty="0"/>
          </a:p>
        </p:txBody>
      </p:sp>
      <p:sp>
        <p:nvSpPr>
          <p:cNvPr id="9" name="Text 6"/>
          <p:cNvSpPr/>
          <p:nvPr/>
        </p:nvSpPr>
        <p:spPr>
          <a:xfrm>
            <a:off x="1325880" y="2084832"/>
            <a:ext cx="475488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Catalogage</a:t>
            </a:r>
            <a:endParaRPr lang="en-US" sz="1250" dirty="0"/>
          </a:p>
        </p:txBody>
      </p:sp>
      <p:sp>
        <p:nvSpPr>
          <p:cNvPr id="10" name="Text 7"/>
          <p:cNvSpPr/>
          <p:nvPr/>
        </p:nvSpPr>
        <p:spPr>
          <a:xfrm>
            <a:off x="1325880" y="2359152"/>
            <a:ext cx="4754880" cy="292608"/>
          </a:xfrm>
          <a:prstGeom prst="rect">
            <a:avLst/>
          </a:prstGeom>
          <a:noFill/>
          <a:ln/>
        </p:spPr>
        <p:txBody>
          <a:bodyPr wrap="square" lIns="0" tIns="0" rIns="0" bIns="0" rtlCol="0" anchor="ctr"/>
          <a:lstStyle/>
          <a:p>
            <a:pPr indent="0" marL="0">
              <a:buNone/>
            </a:pPr>
            <a:r>
              <a:rPr lang="en-US" sz="1100" dirty="0">
                <a:solidFill>
                  <a:srgbClr val="5B6B84"/>
                </a:solidFill>
                <a:latin typeface="Calibri" pitchFamily="34" charset="0"/>
                <a:ea typeface="Calibri" pitchFamily="34" charset="-122"/>
                <a:cs typeface="Calibri" pitchFamily="34" charset="-120"/>
              </a:rPr>
              <a:t>Collibra - OpenMetadata</a:t>
            </a:r>
            <a:endParaRPr lang="en-US" sz="1100" dirty="0"/>
          </a:p>
        </p:txBody>
      </p:sp>
      <p:sp>
        <p:nvSpPr>
          <p:cNvPr id="11" name="Shape 8"/>
          <p:cNvSpPr/>
          <p:nvPr/>
        </p:nvSpPr>
        <p:spPr>
          <a:xfrm>
            <a:off x="548640" y="2798064"/>
            <a:ext cx="5760720" cy="694944"/>
          </a:xfrm>
          <a:prstGeom prst="roundRect">
            <a:avLst>
              <a:gd name="adj" fmla="val 10526"/>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12" name="Shape 9"/>
          <p:cNvSpPr/>
          <p:nvPr/>
        </p:nvSpPr>
        <p:spPr>
          <a:xfrm>
            <a:off x="713232" y="2926080"/>
            <a:ext cx="438912" cy="438912"/>
          </a:xfrm>
          <a:prstGeom prst="ellipse">
            <a:avLst/>
          </a:prstGeom>
          <a:solidFill>
            <a:srgbClr val="2DBE8C"/>
          </a:solidFill>
          <a:ln/>
        </p:spPr>
      </p:sp>
      <p:sp>
        <p:nvSpPr>
          <p:cNvPr id="13" name="Text 10"/>
          <p:cNvSpPr/>
          <p:nvPr/>
        </p:nvSpPr>
        <p:spPr>
          <a:xfrm>
            <a:off x="713232" y="2926080"/>
            <a:ext cx="438912" cy="438912"/>
          </a:xfrm>
          <a:prstGeom prst="rect">
            <a:avLst/>
          </a:prstGeom>
          <a:noFill/>
          <a:ln/>
        </p:spPr>
        <p:txBody>
          <a:bodyPr wrap="square" lIns="0" tIns="0" rIns="0" bIns="0" rtlCol="0" anchor="ctr"/>
          <a:lstStyle/>
          <a:p>
            <a:pPr algn="ctr" indent="0" marL="0">
              <a:buNone/>
            </a:pPr>
            <a:r>
              <a:rPr lang="en-US" sz="950" b="1" dirty="0">
                <a:solidFill>
                  <a:srgbClr val="1B2A4A"/>
                </a:solidFill>
                <a:latin typeface="Calibri" pitchFamily="34" charset="0"/>
                <a:ea typeface="Calibri" pitchFamily="34" charset="-122"/>
                <a:cs typeface="Calibri" pitchFamily="34" charset="-120"/>
              </a:rPr>
              <a:t>E2, E5</a:t>
            </a:r>
            <a:endParaRPr lang="en-US" sz="950" dirty="0"/>
          </a:p>
        </p:txBody>
      </p:sp>
      <p:sp>
        <p:nvSpPr>
          <p:cNvPr id="14" name="Text 11"/>
          <p:cNvSpPr/>
          <p:nvPr/>
        </p:nvSpPr>
        <p:spPr>
          <a:xfrm>
            <a:off x="1325880" y="2871216"/>
            <a:ext cx="475488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Qualité</a:t>
            </a:r>
            <a:endParaRPr lang="en-US" sz="1250" dirty="0"/>
          </a:p>
        </p:txBody>
      </p:sp>
      <p:sp>
        <p:nvSpPr>
          <p:cNvPr id="15" name="Text 12"/>
          <p:cNvSpPr/>
          <p:nvPr/>
        </p:nvSpPr>
        <p:spPr>
          <a:xfrm>
            <a:off x="1325880" y="3145536"/>
            <a:ext cx="4754880" cy="292608"/>
          </a:xfrm>
          <a:prstGeom prst="rect">
            <a:avLst/>
          </a:prstGeom>
          <a:noFill/>
          <a:ln/>
        </p:spPr>
        <p:txBody>
          <a:bodyPr wrap="square" lIns="0" tIns="0" rIns="0" bIns="0" rtlCol="0" anchor="ctr"/>
          <a:lstStyle/>
          <a:p>
            <a:pPr indent="0" marL="0">
              <a:buNone/>
            </a:pPr>
            <a:r>
              <a:rPr lang="en-US" sz="1100" dirty="0">
                <a:solidFill>
                  <a:srgbClr val="5B6B84"/>
                </a:solidFill>
                <a:latin typeface="Calibri" pitchFamily="34" charset="0"/>
                <a:ea typeface="Calibri" pitchFamily="34" charset="-122"/>
                <a:cs typeface="Calibri" pitchFamily="34" charset="-120"/>
              </a:rPr>
              <a:t>Soda Core</a:t>
            </a:r>
            <a:endParaRPr lang="en-US" sz="1100" dirty="0"/>
          </a:p>
        </p:txBody>
      </p:sp>
      <p:sp>
        <p:nvSpPr>
          <p:cNvPr id="16" name="Shape 13"/>
          <p:cNvSpPr/>
          <p:nvPr/>
        </p:nvSpPr>
        <p:spPr>
          <a:xfrm>
            <a:off x="548640" y="3584448"/>
            <a:ext cx="5760720" cy="694944"/>
          </a:xfrm>
          <a:prstGeom prst="roundRect">
            <a:avLst>
              <a:gd name="adj" fmla="val 10526"/>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17" name="Shape 14"/>
          <p:cNvSpPr/>
          <p:nvPr/>
        </p:nvSpPr>
        <p:spPr>
          <a:xfrm>
            <a:off x="713232" y="3712464"/>
            <a:ext cx="438912" cy="438912"/>
          </a:xfrm>
          <a:prstGeom prst="ellipse">
            <a:avLst/>
          </a:prstGeom>
          <a:solidFill>
            <a:srgbClr val="2DBE8C"/>
          </a:solidFill>
          <a:ln/>
        </p:spPr>
      </p:sp>
      <p:sp>
        <p:nvSpPr>
          <p:cNvPr id="18" name="Text 15"/>
          <p:cNvSpPr/>
          <p:nvPr/>
        </p:nvSpPr>
        <p:spPr>
          <a:xfrm>
            <a:off x="713232" y="3712464"/>
            <a:ext cx="438912" cy="438912"/>
          </a:xfrm>
          <a:prstGeom prst="rect">
            <a:avLst/>
          </a:prstGeom>
          <a:noFill/>
          <a:ln/>
        </p:spPr>
        <p:txBody>
          <a:bodyPr wrap="square" lIns="0" tIns="0" rIns="0" bIns="0" rtlCol="0" anchor="ctr"/>
          <a:lstStyle/>
          <a:p>
            <a:pPr algn="ctr" indent="0" marL="0">
              <a:buNone/>
            </a:pPr>
            <a:r>
              <a:rPr lang="en-US" sz="950" b="1" dirty="0">
                <a:solidFill>
                  <a:srgbClr val="1B2A4A"/>
                </a:solidFill>
                <a:latin typeface="Calibri" pitchFamily="34" charset="0"/>
                <a:ea typeface="Calibri" pitchFamily="34" charset="-122"/>
                <a:cs typeface="Calibri" pitchFamily="34" charset="-120"/>
              </a:rPr>
              <a:t>E3, E4</a:t>
            </a:r>
            <a:endParaRPr lang="en-US" sz="950" dirty="0"/>
          </a:p>
        </p:txBody>
      </p:sp>
      <p:sp>
        <p:nvSpPr>
          <p:cNvPr id="19" name="Text 16"/>
          <p:cNvSpPr/>
          <p:nvPr/>
        </p:nvSpPr>
        <p:spPr>
          <a:xfrm>
            <a:off x="1325880" y="3657600"/>
            <a:ext cx="475488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Conformité</a:t>
            </a:r>
            <a:endParaRPr lang="en-US" sz="1250" dirty="0"/>
          </a:p>
        </p:txBody>
      </p:sp>
      <p:sp>
        <p:nvSpPr>
          <p:cNvPr id="20" name="Text 17"/>
          <p:cNvSpPr/>
          <p:nvPr/>
        </p:nvSpPr>
        <p:spPr>
          <a:xfrm>
            <a:off x="1325880" y="3931920"/>
            <a:ext cx="4754880" cy="292608"/>
          </a:xfrm>
          <a:prstGeom prst="rect">
            <a:avLst/>
          </a:prstGeom>
          <a:noFill/>
          <a:ln/>
        </p:spPr>
        <p:txBody>
          <a:bodyPr wrap="square" lIns="0" tIns="0" rIns="0" bIns="0" rtlCol="0" anchor="ctr"/>
          <a:lstStyle/>
          <a:p>
            <a:pPr indent="0" marL="0">
              <a:buNone/>
            </a:pPr>
            <a:r>
              <a:rPr lang="en-US" sz="1100" dirty="0">
                <a:solidFill>
                  <a:srgbClr val="5B6B84"/>
                </a:solidFill>
                <a:latin typeface="Calibri" pitchFamily="34" charset="0"/>
                <a:ea typeface="Calibri" pitchFamily="34" charset="-122"/>
                <a:cs typeface="Calibri" pitchFamily="34" charset="-120"/>
              </a:rPr>
              <a:t>TrustArc</a:t>
            </a:r>
            <a:endParaRPr lang="en-US" sz="1100" dirty="0"/>
          </a:p>
        </p:txBody>
      </p:sp>
      <p:sp>
        <p:nvSpPr>
          <p:cNvPr id="21" name="Shape 18"/>
          <p:cNvSpPr/>
          <p:nvPr/>
        </p:nvSpPr>
        <p:spPr>
          <a:xfrm>
            <a:off x="548640" y="4370832"/>
            <a:ext cx="5760720" cy="694944"/>
          </a:xfrm>
          <a:prstGeom prst="roundRect">
            <a:avLst>
              <a:gd name="adj" fmla="val 10526"/>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22" name="Shape 19"/>
          <p:cNvSpPr/>
          <p:nvPr/>
        </p:nvSpPr>
        <p:spPr>
          <a:xfrm>
            <a:off x="713232" y="4498848"/>
            <a:ext cx="438912" cy="438912"/>
          </a:xfrm>
          <a:prstGeom prst="ellipse">
            <a:avLst/>
          </a:prstGeom>
          <a:solidFill>
            <a:srgbClr val="2DBE8C"/>
          </a:solidFill>
          <a:ln/>
        </p:spPr>
      </p:sp>
      <p:sp>
        <p:nvSpPr>
          <p:cNvPr id="23" name="Text 20"/>
          <p:cNvSpPr/>
          <p:nvPr/>
        </p:nvSpPr>
        <p:spPr>
          <a:xfrm>
            <a:off x="713232" y="4498848"/>
            <a:ext cx="438912" cy="438912"/>
          </a:xfrm>
          <a:prstGeom prst="rect">
            <a:avLst/>
          </a:prstGeom>
          <a:noFill/>
          <a:ln/>
        </p:spPr>
        <p:txBody>
          <a:bodyPr wrap="square" lIns="0" tIns="0" rIns="0" bIns="0" rtlCol="0" anchor="ctr"/>
          <a:lstStyle/>
          <a:p>
            <a:pPr algn="ctr" indent="0" marL="0">
              <a:buNone/>
            </a:pPr>
            <a:r>
              <a:rPr lang="en-US" sz="950" b="1" dirty="0">
                <a:solidFill>
                  <a:srgbClr val="1B2A4A"/>
                </a:solidFill>
                <a:latin typeface="Calibri" pitchFamily="34" charset="0"/>
                <a:ea typeface="Calibri" pitchFamily="34" charset="-122"/>
                <a:cs typeface="Calibri" pitchFamily="34" charset="-120"/>
              </a:rPr>
              <a:t>P3</a:t>
            </a:r>
            <a:endParaRPr lang="en-US" sz="950" dirty="0"/>
          </a:p>
        </p:txBody>
      </p:sp>
      <p:sp>
        <p:nvSpPr>
          <p:cNvPr id="24" name="Text 21"/>
          <p:cNvSpPr/>
          <p:nvPr/>
        </p:nvSpPr>
        <p:spPr>
          <a:xfrm>
            <a:off x="1325880" y="4443984"/>
            <a:ext cx="475488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Sécurité</a:t>
            </a:r>
            <a:endParaRPr lang="en-US" sz="1250" dirty="0"/>
          </a:p>
        </p:txBody>
      </p:sp>
      <p:sp>
        <p:nvSpPr>
          <p:cNvPr id="25" name="Text 22"/>
          <p:cNvSpPr/>
          <p:nvPr/>
        </p:nvSpPr>
        <p:spPr>
          <a:xfrm>
            <a:off x="1325880" y="4718304"/>
            <a:ext cx="4754880" cy="292608"/>
          </a:xfrm>
          <a:prstGeom prst="rect">
            <a:avLst/>
          </a:prstGeom>
          <a:noFill/>
          <a:ln/>
        </p:spPr>
        <p:txBody>
          <a:bodyPr wrap="square" lIns="0" tIns="0" rIns="0" bIns="0" rtlCol="0" anchor="ctr"/>
          <a:lstStyle/>
          <a:p>
            <a:pPr indent="0" marL="0">
              <a:buNone/>
            </a:pPr>
            <a:r>
              <a:rPr lang="en-US" sz="1100" dirty="0">
                <a:solidFill>
                  <a:srgbClr val="5B6B84"/>
                </a:solidFill>
                <a:latin typeface="Calibri" pitchFamily="34" charset="0"/>
                <a:ea typeface="Calibri" pitchFamily="34" charset="-122"/>
                <a:cs typeface="Calibri" pitchFamily="34" charset="-120"/>
              </a:rPr>
              <a:t>Wazuh - OpenBao</a:t>
            </a:r>
            <a:endParaRPr lang="en-US" sz="1100" dirty="0"/>
          </a:p>
        </p:txBody>
      </p:sp>
      <p:sp>
        <p:nvSpPr>
          <p:cNvPr id="26" name="Shape 23"/>
          <p:cNvSpPr/>
          <p:nvPr/>
        </p:nvSpPr>
        <p:spPr>
          <a:xfrm>
            <a:off x="548640" y="5157216"/>
            <a:ext cx="5760720" cy="694944"/>
          </a:xfrm>
          <a:prstGeom prst="roundRect">
            <a:avLst>
              <a:gd name="adj" fmla="val 10526"/>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27" name="Shape 24"/>
          <p:cNvSpPr/>
          <p:nvPr/>
        </p:nvSpPr>
        <p:spPr>
          <a:xfrm>
            <a:off x="713232" y="5285232"/>
            <a:ext cx="438912" cy="438912"/>
          </a:xfrm>
          <a:prstGeom prst="ellipse">
            <a:avLst/>
          </a:prstGeom>
          <a:solidFill>
            <a:srgbClr val="2DBE8C"/>
          </a:solidFill>
          <a:ln/>
        </p:spPr>
      </p:sp>
      <p:sp>
        <p:nvSpPr>
          <p:cNvPr id="28" name="Text 25"/>
          <p:cNvSpPr/>
          <p:nvPr/>
        </p:nvSpPr>
        <p:spPr>
          <a:xfrm>
            <a:off x="713232" y="5285232"/>
            <a:ext cx="438912" cy="438912"/>
          </a:xfrm>
          <a:prstGeom prst="rect">
            <a:avLst/>
          </a:prstGeom>
          <a:noFill/>
          <a:ln/>
        </p:spPr>
        <p:txBody>
          <a:bodyPr wrap="square" lIns="0" tIns="0" rIns="0" bIns="0" rtlCol="0" anchor="ctr"/>
          <a:lstStyle/>
          <a:p>
            <a:pPr algn="ctr" indent="0" marL="0">
              <a:buNone/>
            </a:pPr>
            <a:r>
              <a:rPr lang="en-US" sz="950" b="1" dirty="0">
                <a:solidFill>
                  <a:srgbClr val="1B2A4A"/>
                </a:solidFill>
                <a:latin typeface="Calibri" pitchFamily="34" charset="0"/>
                <a:ea typeface="Calibri" pitchFamily="34" charset="-122"/>
                <a:cs typeface="Calibri" pitchFamily="34" charset="-120"/>
              </a:rPr>
              <a:t>E5</a:t>
            </a:r>
            <a:endParaRPr lang="en-US" sz="950" dirty="0"/>
          </a:p>
        </p:txBody>
      </p:sp>
      <p:sp>
        <p:nvSpPr>
          <p:cNvPr id="29" name="Text 26"/>
          <p:cNvSpPr/>
          <p:nvPr/>
        </p:nvSpPr>
        <p:spPr>
          <a:xfrm>
            <a:off x="1325880" y="5230368"/>
            <a:ext cx="475488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Gouvernance IA</a:t>
            </a:r>
            <a:endParaRPr lang="en-US" sz="1250" dirty="0"/>
          </a:p>
        </p:txBody>
      </p:sp>
      <p:sp>
        <p:nvSpPr>
          <p:cNvPr id="30" name="Text 27"/>
          <p:cNvSpPr/>
          <p:nvPr/>
        </p:nvSpPr>
        <p:spPr>
          <a:xfrm>
            <a:off x="1325880" y="5504688"/>
            <a:ext cx="4754880" cy="292608"/>
          </a:xfrm>
          <a:prstGeom prst="rect">
            <a:avLst/>
          </a:prstGeom>
          <a:noFill/>
          <a:ln/>
        </p:spPr>
        <p:txBody>
          <a:bodyPr wrap="square" lIns="0" tIns="0" rIns="0" bIns="0" rtlCol="0" anchor="ctr"/>
          <a:lstStyle/>
          <a:p>
            <a:pPr indent="0" marL="0">
              <a:buNone/>
            </a:pPr>
            <a:r>
              <a:rPr lang="en-US" sz="1100" dirty="0">
                <a:solidFill>
                  <a:srgbClr val="5B6B84"/>
                </a:solidFill>
                <a:latin typeface="Calibri" pitchFamily="34" charset="0"/>
                <a:ea typeface="Calibri" pitchFamily="34" charset="-122"/>
                <a:cs typeface="Calibri" pitchFamily="34" charset="-120"/>
              </a:rPr>
              <a:t>MLflow - DVC - AIF360 - AIX360</a:t>
            </a:r>
            <a:endParaRPr lang="en-US" sz="1100" dirty="0"/>
          </a:p>
        </p:txBody>
      </p:sp>
      <p:sp>
        <p:nvSpPr>
          <p:cNvPr id="31" name="Text 28"/>
          <p:cNvSpPr/>
          <p:nvPr/>
        </p:nvSpPr>
        <p:spPr>
          <a:xfrm>
            <a:off x="6583680" y="1600200"/>
            <a:ext cx="5074920" cy="32004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Pilote - système de recommandation</a:t>
            </a:r>
            <a:endParaRPr lang="en-US" sz="1400" dirty="0"/>
          </a:p>
        </p:txBody>
      </p:sp>
      <p:sp>
        <p:nvSpPr>
          <p:cNvPr id="32" name="Shape 29"/>
          <p:cNvSpPr/>
          <p:nvPr/>
        </p:nvSpPr>
        <p:spPr>
          <a:xfrm>
            <a:off x="6583680" y="2011680"/>
            <a:ext cx="5074920" cy="1005840"/>
          </a:xfrm>
          <a:prstGeom prst="roundRect">
            <a:avLst>
              <a:gd name="adj" fmla="val 7273"/>
            </a:avLst>
          </a:prstGeom>
          <a:solidFill>
            <a:srgbClr val="EAF7F1"/>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33" name="Text 30"/>
          <p:cNvSpPr/>
          <p:nvPr/>
        </p:nvSpPr>
        <p:spPr>
          <a:xfrm>
            <a:off x="6812280" y="2121408"/>
            <a:ext cx="4617720" cy="411480"/>
          </a:xfrm>
          <a:prstGeom prst="rect">
            <a:avLst/>
          </a:prstGeom>
          <a:noFill/>
          <a:ln/>
        </p:spPr>
        <p:txBody>
          <a:bodyPr wrap="square" lIns="0" tIns="0" rIns="0" bIns="0" rtlCol="0" anchor="ctr"/>
          <a:lstStyle/>
          <a:p>
            <a:pPr indent="0" marL="0">
              <a:buNone/>
            </a:pPr>
            <a:r>
              <a:rPr lang="en-US" sz="2000" b="1" dirty="0">
                <a:solidFill>
                  <a:srgbClr val="1C8C68"/>
                </a:solidFill>
                <a:latin typeface="Cambria" pitchFamily="34" charset="0"/>
                <a:ea typeface="Cambria" pitchFamily="34" charset="-122"/>
                <a:cs typeface="Cambria" pitchFamily="34" charset="-120"/>
              </a:rPr>
              <a:t>21 semaines (~5 mois)</a:t>
            </a:r>
            <a:endParaRPr lang="en-US" sz="2000" dirty="0"/>
          </a:p>
        </p:txBody>
      </p:sp>
      <p:sp>
        <p:nvSpPr>
          <p:cNvPr id="34" name="Text 31"/>
          <p:cNvSpPr/>
          <p:nvPr/>
        </p:nvSpPr>
        <p:spPr>
          <a:xfrm>
            <a:off x="6812280" y="2542032"/>
            <a:ext cx="4617720" cy="438912"/>
          </a:xfrm>
          <a:prstGeom prst="rect">
            <a:avLst/>
          </a:prstGeom>
          <a:noFill/>
          <a:ln/>
        </p:spPr>
        <p:txBody>
          <a:bodyPr wrap="square" lIns="0" tIns="0" rIns="0" bIns="0" rtlCol="0" anchor="ctr"/>
          <a:lstStyle/>
          <a:p>
            <a:pPr indent="0" marL="0">
              <a:buNone/>
            </a:pPr>
            <a:r>
              <a:rPr lang="en-US" sz="1050" dirty="0">
                <a:solidFill>
                  <a:srgbClr val="5B6B84"/>
                </a:solidFill>
                <a:latin typeface="Calibri" pitchFamily="34" charset="0"/>
                <a:ea typeface="Calibri" pitchFamily="34" charset="-122"/>
                <a:cs typeface="Calibri" pitchFamily="34" charset="-120"/>
              </a:rPr>
              <a:t>dont 7 semaines de phase de sécurisation bloquante (annuaire central, migration des accès)</a:t>
            </a:r>
            <a:endParaRPr lang="en-US" sz="1050" dirty="0"/>
          </a:p>
        </p:txBody>
      </p:sp>
      <p:sp>
        <p:nvSpPr>
          <p:cNvPr id="35" name="Shape 32"/>
          <p:cNvSpPr/>
          <p:nvPr/>
        </p:nvSpPr>
        <p:spPr>
          <a:xfrm>
            <a:off x="6583680" y="3154680"/>
            <a:ext cx="5074920" cy="1188720"/>
          </a:xfrm>
          <a:prstGeom prst="roundRect">
            <a:avLst>
              <a:gd name="adj" fmla="val 6154"/>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36" name="Text 33"/>
          <p:cNvSpPr/>
          <p:nvPr/>
        </p:nvSpPr>
        <p:spPr>
          <a:xfrm>
            <a:off x="6812280" y="3273552"/>
            <a:ext cx="461772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Périmètre</a:t>
            </a:r>
            <a:endParaRPr lang="en-US" sz="1200" dirty="0"/>
          </a:p>
        </p:txBody>
      </p:sp>
      <p:sp>
        <p:nvSpPr>
          <p:cNvPr id="37" name="Text 34"/>
          <p:cNvSpPr/>
          <p:nvPr/>
        </p:nvSpPr>
        <p:spPr>
          <a:xfrm>
            <a:off x="6812280" y="3566160"/>
            <a:ext cx="4617720" cy="731520"/>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Modèles et données d'entraînement du système de recommandation - département Product Development</a:t>
            </a:r>
            <a:endParaRPr lang="en-US" sz="1100" dirty="0"/>
          </a:p>
        </p:txBody>
      </p:sp>
      <p:sp>
        <p:nvSpPr>
          <p:cNvPr id="38" name="Shape 35"/>
          <p:cNvSpPr/>
          <p:nvPr/>
        </p:nvSpPr>
        <p:spPr>
          <a:xfrm>
            <a:off x="6583680" y="4480560"/>
            <a:ext cx="5074920" cy="1188720"/>
          </a:xfrm>
          <a:prstGeom prst="roundRect">
            <a:avLst>
              <a:gd name="adj" fmla="val 6154"/>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39" name="Text 36"/>
          <p:cNvSpPr/>
          <p:nvPr/>
        </p:nvSpPr>
        <p:spPr>
          <a:xfrm>
            <a:off x="6812280" y="4599432"/>
            <a:ext cx="461772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Indicateurs clés (DMAT)</a:t>
            </a:r>
            <a:endParaRPr lang="en-US" sz="1200" dirty="0"/>
          </a:p>
        </p:txBody>
      </p:sp>
      <p:sp>
        <p:nvSpPr>
          <p:cNvPr id="40" name="Text 37"/>
          <p:cNvSpPr/>
          <p:nvPr/>
        </p:nvSpPr>
        <p:spPr>
          <a:xfrm>
            <a:off x="6812280" y="4892040"/>
            <a:ext cx="4617720" cy="731520"/>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Gouvernance &amp; Qualité : niveau 1 → 2 - Gouvernance IA (Analytics &amp; BI) : niveau 2 → 3</a:t>
            </a:r>
            <a:endParaRPr lang="en-US" sz="1100" dirty="0"/>
          </a:p>
        </p:txBody>
      </p:sp>
      <p:sp>
        <p:nvSpPr>
          <p:cNvPr id="41" name="Shape 38"/>
          <p:cNvSpPr/>
          <p:nvPr/>
        </p:nvSpPr>
        <p:spPr>
          <a:xfrm>
            <a:off x="6583680" y="5806440"/>
            <a:ext cx="5074920" cy="621792"/>
          </a:xfrm>
          <a:prstGeom prst="roundRect">
            <a:avLst>
              <a:gd name="adj" fmla="val 11765"/>
            </a:avLst>
          </a:prstGeom>
          <a:solidFill>
            <a:srgbClr val="FBEDEA"/>
          </a:solidFill>
          <a:ln w="12700">
            <a:solidFill>
              <a:srgbClr val="D8DEE6"/>
            </a:solidFill>
            <a:prstDash val="solid"/>
          </a:ln>
        </p:spPr>
      </p:sp>
      <p:sp>
        <p:nvSpPr>
          <p:cNvPr id="42" name="Text 39"/>
          <p:cNvSpPr/>
          <p:nvPr/>
        </p:nvSpPr>
        <p:spPr>
          <a:xfrm>
            <a:off x="6784848" y="5806440"/>
            <a:ext cx="4672584" cy="621792"/>
          </a:xfrm>
          <a:prstGeom prst="rect">
            <a:avLst/>
          </a:prstGeom>
          <a:noFill/>
          <a:ln/>
        </p:spPr>
        <p:txBody>
          <a:bodyPr wrap="square" lIns="0" tIns="0" rIns="0" bIns="0" rtlCol="0" anchor="ctr"/>
          <a:lstStyle/>
          <a:p>
            <a:pPr indent="0" marL="0">
              <a:buNone/>
            </a:pPr>
            <a:r>
              <a:rPr lang="en-US" sz="1020" b="1" dirty="0">
                <a:solidFill>
                  <a:srgbClr val="97402F"/>
                </a:solidFill>
                <a:latin typeface="Calibri" pitchFamily="34" charset="0"/>
                <a:ea typeface="Calibri" pitchFamily="34" charset="-122"/>
                <a:cs typeface="Calibri" pitchFamily="34" charset="-120"/>
              </a:rPr>
              <a:t>Risques clés : suspension sans repli (absence d'annuaire central) - débordement de planning</a:t>
            </a:r>
            <a:endParaRPr lang="en-US" sz="1020" dirty="0"/>
          </a:p>
        </p:txBody>
      </p:sp>
      <p:sp>
        <p:nvSpPr>
          <p:cNvPr id="43" name="Text 40"/>
          <p:cNvSpPr/>
          <p:nvPr/>
        </p:nvSpPr>
        <p:spPr>
          <a:xfrm>
            <a:off x="548640" y="6473952"/>
            <a:ext cx="8686800" cy="274320"/>
          </a:xfrm>
          <a:prstGeom prst="rect">
            <a:avLst/>
          </a:prstGeom>
          <a:noFill/>
          <a:ln/>
        </p:spPr>
        <p:txBody>
          <a:bodyPr wrap="square" lIns="0" tIns="0" rIns="0" bIns="0" rtlCol="0" anchor="ctr"/>
          <a:lstStyle/>
          <a:p>
            <a:pPr indent="0" marL="0">
              <a:buNone/>
            </a:pPr>
            <a:r>
              <a:rPr lang="en-US" sz="950" i="1" dirty="0">
                <a:solidFill>
                  <a:srgbClr val="8493A8"/>
                </a:solidFill>
                <a:latin typeface="Calibri" pitchFamily="34" charset="0"/>
                <a:ea typeface="Calibri" pitchFamily="34" charset="-122"/>
                <a:cs typeface="Calibri" pitchFamily="34" charset="-120"/>
              </a:rPr>
              <a:t>Source : [D3] §3.4 (outils) - §3.5 (plan pilote)</a:t>
            </a:r>
            <a:endParaRPr lang="en-US" sz="950" dirty="0"/>
          </a:p>
        </p:txBody>
      </p:sp>
      <p:sp>
        <p:nvSpPr>
          <p:cNvPr id="44" name="Text 41"/>
          <p:cNvSpPr/>
          <p:nvPr/>
        </p:nvSpPr>
        <p:spPr>
          <a:xfrm>
            <a:off x="11002975" y="6473952"/>
            <a:ext cx="822960" cy="274320"/>
          </a:xfrm>
          <a:prstGeom prst="rect">
            <a:avLst/>
          </a:prstGeom>
          <a:noFill/>
          <a:ln/>
        </p:spPr>
        <p:txBody>
          <a:bodyPr wrap="square" lIns="0" tIns="0" rIns="0" bIns="0" rtlCol="0" anchor="ctr"/>
          <a:lstStyle/>
          <a:p>
            <a:pPr algn="r" indent="0" marL="0">
              <a:buNone/>
            </a:pPr>
            <a:r>
              <a:rPr lang="en-US" sz="950" dirty="0">
                <a:solidFill>
                  <a:srgbClr val="8493A8"/>
                </a:solidFill>
                <a:latin typeface="Calibri" pitchFamily="34" charset="0"/>
                <a:ea typeface="Calibri" pitchFamily="34" charset="-122"/>
                <a:cs typeface="Calibri" pitchFamily="34" charset="-120"/>
              </a:rPr>
              <a:t>8 / 10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1C8C68"/>
                </a:solidFill>
                <a:latin typeface="Calibri" pitchFamily="34" charset="0"/>
                <a:ea typeface="Calibri" pitchFamily="34" charset="-122"/>
                <a:cs typeface="Calibri" pitchFamily="34" charset="-120"/>
              </a:rPr>
              <a:t>FEUILLE DE ROUTE</a:t>
            </a:r>
            <a:endParaRPr lang="en-US" sz="1200" dirty="0"/>
          </a:p>
        </p:txBody>
      </p:sp>
      <p:sp>
        <p:nvSpPr>
          <p:cNvPr id="3" name="Text 1"/>
          <p:cNvSpPr/>
          <p:nvPr/>
        </p:nvSpPr>
        <p:spPr>
          <a:xfrm>
            <a:off x="548640" y="658368"/>
            <a:ext cx="9692640" cy="868680"/>
          </a:xfrm>
          <a:prstGeom prst="rect">
            <a:avLst/>
          </a:prstGeom>
          <a:noFill/>
          <a:ln/>
        </p:spPr>
        <p:txBody>
          <a:bodyPr wrap="square" lIns="0" tIns="0" rIns="0" bIns="0" rtlCol="0" anchor="t"/>
          <a:lstStyle/>
          <a:p>
            <a:pPr indent="0" marL="0">
              <a:lnSpc>
                <a:spcPct val="102000"/>
              </a:lnSpc>
              <a:buNone/>
            </a:pPr>
            <a:r>
              <a:rPr lang="en-US" sz="2800" b="1" dirty="0">
                <a:solidFill>
                  <a:srgbClr val="1B2A4A"/>
                </a:solidFill>
                <a:latin typeface="Cambria" pitchFamily="34" charset="0"/>
                <a:ea typeface="Cambria" pitchFamily="34" charset="-122"/>
                <a:cs typeface="Cambria" pitchFamily="34" charset="-120"/>
              </a:rPr>
              <a:t>Une généralisation en quatre phases, jusqu'au niveau 3</a:t>
            </a:r>
            <a:endParaRPr lang="en-US" sz="2800" dirty="0"/>
          </a:p>
        </p:txBody>
      </p:sp>
      <p:pic>
        <p:nvPicPr>
          <p:cNvPr id="4" name="Image 0" descr="icons/icon_map.png">    </p:cNvPr>
          <p:cNvPicPr>
            <a:picLocks noChangeAspect="1"/>
          </p:cNvPicPr>
          <p:nvPr/>
        </p:nvPicPr>
        <p:blipFill>
          <a:blip r:embed="rId1"/>
          <a:stretch>
            <a:fillRect/>
          </a:stretch>
        </p:blipFill>
        <p:spPr>
          <a:xfrm>
            <a:off x="11140135" y="365760"/>
            <a:ext cx="658368" cy="658368"/>
          </a:xfrm>
          <a:prstGeom prst="rect">
            <a:avLst/>
          </a:prstGeom>
        </p:spPr>
      </p:pic>
      <p:sp>
        <p:nvSpPr>
          <p:cNvPr id="5" name="Shape 2"/>
          <p:cNvSpPr/>
          <p:nvPr/>
        </p:nvSpPr>
        <p:spPr>
          <a:xfrm>
            <a:off x="1658082" y="3781044"/>
            <a:ext cx="8875532" cy="27432"/>
          </a:xfrm>
          <a:prstGeom prst="rect">
            <a:avLst/>
          </a:prstGeom>
          <a:solidFill>
            <a:srgbClr val="D8DEE6"/>
          </a:solidFill>
          <a:ln/>
        </p:spPr>
      </p:sp>
      <p:sp>
        <p:nvSpPr>
          <p:cNvPr id="6" name="Shape 3"/>
          <p:cNvSpPr/>
          <p:nvPr/>
        </p:nvSpPr>
        <p:spPr>
          <a:xfrm>
            <a:off x="676656" y="1691640"/>
            <a:ext cx="1962851" cy="1783080"/>
          </a:xfrm>
          <a:prstGeom prst="roundRect">
            <a:avLst>
              <a:gd name="adj" fmla="val 4103"/>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7" name="Text 4"/>
          <p:cNvSpPr/>
          <p:nvPr/>
        </p:nvSpPr>
        <p:spPr>
          <a:xfrm>
            <a:off x="813816" y="1828800"/>
            <a:ext cx="1688531" cy="32004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Phase 1 - Pilote</a:t>
            </a:r>
            <a:endParaRPr lang="en-US" sz="1250" dirty="0"/>
          </a:p>
        </p:txBody>
      </p:sp>
      <p:sp>
        <p:nvSpPr>
          <p:cNvPr id="8" name="Text 5"/>
          <p:cNvSpPr/>
          <p:nvPr/>
        </p:nvSpPr>
        <p:spPr>
          <a:xfrm>
            <a:off x="813816" y="2176272"/>
            <a:ext cx="1688531" cy="868680"/>
          </a:xfrm>
          <a:prstGeom prst="rect">
            <a:avLst/>
          </a:prstGeom>
          <a:noFill/>
          <a:ln/>
        </p:spPr>
        <p:txBody>
          <a:bodyPr wrap="square" lIns="0" tIns="0" rIns="0" bIns="0" rtlCol="0" anchor="t"/>
          <a:lstStyle/>
          <a:p>
            <a:pPr indent="0" marL="0">
              <a:buNone/>
            </a:pPr>
            <a:r>
              <a:rPr lang="en-US" sz="1000" dirty="0">
                <a:solidFill>
                  <a:srgbClr val="5B6B84"/>
                </a:solidFill>
                <a:latin typeface="Calibri" pitchFamily="34" charset="0"/>
                <a:ea typeface="Calibri" pitchFamily="34" charset="-122"/>
                <a:cs typeface="Calibri" pitchFamily="34" charset="-120"/>
              </a:rPr>
              <a:t>Product Development</a:t>
            </a:r>
            <a:endParaRPr lang="en-US" sz="1000" dirty="0"/>
          </a:p>
          <a:p>
            <a:pPr indent="0" marL="0">
              <a:buNone/>
            </a:pPr>
            <a:r>
              <a:rPr lang="en-US" sz="1000" dirty="0">
                <a:solidFill>
                  <a:srgbClr val="5B6B84"/>
                </a:solidFill>
                <a:latin typeface="Calibri" pitchFamily="34" charset="0"/>
                <a:ea typeface="Calibri" pitchFamily="34" charset="-122"/>
                <a:cs typeface="Calibri" pitchFamily="34" charset="-120"/>
              </a:rPr>
              <a:t>(entraînement recommandation)</a:t>
            </a:r>
            <a:endParaRPr lang="en-US" sz="1000" dirty="0"/>
          </a:p>
        </p:txBody>
      </p:sp>
      <p:sp>
        <p:nvSpPr>
          <p:cNvPr id="9" name="Text 6"/>
          <p:cNvSpPr/>
          <p:nvPr/>
        </p:nvSpPr>
        <p:spPr>
          <a:xfrm>
            <a:off x="813816" y="3090672"/>
            <a:ext cx="1688531" cy="320040"/>
          </a:xfrm>
          <a:prstGeom prst="rect">
            <a:avLst/>
          </a:prstGeom>
          <a:noFill/>
          <a:ln/>
        </p:spPr>
        <p:txBody>
          <a:bodyPr wrap="square" lIns="0" tIns="0" rIns="0" bIns="0" rtlCol="0" anchor="ctr"/>
          <a:lstStyle/>
          <a:p>
            <a:pPr indent="0" marL="0">
              <a:buNone/>
            </a:pPr>
            <a:r>
              <a:rPr lang="en-US" sz="1050" b="1" i="1" dirty="0">
                <a:solidFill>
                  <a:srgbClr val="1B2A4A"/>
                </a:solidFill>
                <a:latin typeface="Calibri" pitchFamily="34" charset="0"/>
                <a:ea typeface="Calibri" pitchFamily="34" charset="-122"/>
                <a:cs typeface="Calibri" pitchFamily="34" charset="-120"/>
              </a:rPr>
              <a:t>21 semaines</a:t>
            </a:r>
            <a:endParaRPr lang="en-US" sz="1050" dirty="0"/>
          </a:p>
        </p:txBody>
      </p:sp>
      <p:sp>
        <p:nvSpPr>
          <p:cNvPr id="10" name="Shape 7"/>
          <p:cNvSpPr/>
          <p:nvPr/>
        </p:nvSpPr>
        <p:spPr>
          <a:xfrm>
            <a:off x="1511778" y="3648456"/>
            <a:ext cx="292608" cy="292608"/>
          </a:xfrm>
          <a:prstGeom prst="ellipse">
            <a:avLst/>
          </a:prstGeom>
          <a:solidFill>
            <a:srgbClr val="1B2A4A"/>
          </a:solidFill>
          <a:ln w="25400">
            <a:solidFill>
              <a:srgbClr val="FFFFFF"/>
            </a:solidFill>
            <a:prstDash val="solid"/>
          </a:ln>
        </p:spPr>
      </p:sp>
      <p:sp>
        <p:nvSpPr>
          <p:cNvPr id="11" name="Text 8"/>
          <p:cNvSpPr/>
          <p:nvPr/>
        </p:nvSpPr>
        <p:spPr>
          <a:xfrm>
            <a:off x="676656" y="3995928"/>
            <a:ext cx="1962851" cy="320040"/>
          </a:xfrm>
          <a:prstGeom prst="rect">
            <a:avLst/>
          </a:prstGeom>
          <a:noFill/>
          <a:ln/>
        </p:spPr>
        <p:txBody>
          <a:bodyPr wrap="square" lIns="0" tIns="0" rIns="0" bIns="0" rtlCol="0" anchor="ctr"/>
          <a:lstStyle/>
          <a:p>
            <a:pPr algn="ctr" indent="0" marL="0">
              <a:buNone/>
            </a:pPr>
            <a:r>
              <a:rPr lang="en-US" sz="1300" b="1" dirty="0">
                <a:solidFill>
                  <a:srgbClr val="1C8C68"/>
                </a:solidFill>
                <a:latin typeface="Calibri" pitchFamily="34" charset="0"/>
                <a:ea typeface="Calibri" pitchFamily="34" charset="-122"/>
                <a:cs typeface="Calibri" pitchFamily="34" charset="-120"/>
              </a:rPr>
              <a:t>M5</a:t>
            </a:r>
            <a:endParaRPr lang="en-US" sz="1300" dirty="0"/>
          </a:p>
        </p:txBody>
      </p:sp>
      <p:sp>
        <p:nvSpPr>
          <p:cNvPr id="12" name="Shape 9"/>
          <p:cNvSpPr/>
          <p:nvPr/>
        </p:nvSpPr>
        <p:spPr>
          <a:xfrm>
            <a:off x="2895539" y="1691640"/>
            <a:ext cx="1962851" cy="1783080"/>
          </a:xfrm>
          <a:prstGeom prst="roundRect">
            <a:avLst>
              <a:gd name="adj" fmla="val 4103"/>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13" name="Text 10"/>
          <p:cNvSpPr/>
          <p:nvPr/>
        </p:nvSpPr>
        <p:spPr>
          <a:xfrm>
            <a:off x="3032699" y="1828800"/>
            <a:ext cx="1688531" cy="32004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Phase 2</a:t>
            </a:r>
            <a:endParaRPr lang="en-US" sz="1250" dirty="0"/>
          </a:p>
        </p:txBody>
      </p:sp>
      <p:sp>
        <p:nvSpPr>
          <p:cNvPr id="14" name="Text 11"/>
          <p:cNvSpPr/>
          <p:nvPr/>
        </p:nvSpPr>
        <p:spPr>
          <a:xfrm>
            <a:off x="3032699" y="2176272"/>
            <a:ext cx="1688531" cy="868680"/>
          </a:xfrm>
          <a:prstGeom prst="rect">
            <a:avLst/>
          </a:prstGeom>
          <a:noFill/>
          <a:ln/>
        </p:spPr>
        <p:txBody>
          <a:bodyPr wrap="square" lIns="0" tIns="0" rIns="0" bIns="0" rtlCol="0" anchor="t"/>
          <a:lstStyle/>
          <a:p>
            <a:pPr indent="0" marL="0">
              <a:buNone/>
            </a:pPr>
            <a:r>
              <a:rPr lang="en-US" sz="1000" dirty="0">
                <a:solidFill>
                  <a:srgbClr val="5B6B84"/>
                </a:solidFill>
                <a:latin typeface="Calibri" pitchFamily="34" charset="0"/>
                <a:ea typeface="Calibri" pitchFamily="34" charset="-122"/>
                <a:cs typeface="Calibri" pitchFamily="34" charset="-120"/>
              </a:rPr>
              <a:t>Product Development</a:t>
            </a:r>
            <a:endParaRPr lang="en-US" sz="1000" dirty="0"/>
          </a:p>
          <a:p>
            <a:pPr indent="0" marL="0">
              <a:buNone/>
            </a:pPr>
            <a:r>
              <a:rPr lang="en-US" sz="1000" dirty="0">
                <a:solidFill>
                  <a:srgbClr val="5B6B84"/>
                </a:solidFill>
                <a:latin typeface="Calibri" pitchFamily="34" charset="0"/>
                <a:ea typeface="Calibri" pitchFamily="34" charset="-122"/>
                <a:cs typeface="Calibri" pitchFamily="34" charset="-120"/>
              </a:rPr>
              <a:t>(reste des activités)</a:t>
            </a:r>
            <a:endParaRPr lang="en-US" sz="1000" dirty="0"/>
          </a:p>
        </p:txBody>
      </p:sp>
      <p:sp>
        <p:nvSpPr>
          <p:cNvPr id="15" name="Text 12"/>
          <p:cNvSpPr/>
          <p:nvPr/>
        </p:nvSpPr>
        <p:spPr>
          <a:xfrm>
            <a:off x="3032699" y="3090672"/>
            <a:ext cx="1688531" cy="320040"/>
          </a:xfrm>
          <a:prstGeom prst="rect">
            <a:avLst/>
          </a:prstGeom>
          <a:noFill/>
          <a:ln/>
        </p:spPr>
        <p:txBody>
          <a:bodyPr wrap="square" lIns="0" tIns="0" rIns="0" bIns="0" rtlCol="0" anchor="ctr"/>
          <a:lstStyle/>
          <a:p>
            <a:pPr indent="0" marL="0">
              <a:buNone/>
            </a:pPr>
            <a:r>
              <a:rPr lang="en-US" sz="1050" b="1" i="1" dirty="0">
                <a:solidFill>
                  <a:srgbClr val="1B2A4A"/>
                </a:solidFill>
                <a:latin typeface="Calibri" pitchFamily="34" charset="0"/>
                <a:ea typeface="Calibri" pitchFamily="34" charset="-122"/>
                <a:cs typeface="Calibri" pitchFamily="34" charset="-120"/>
              </a:rPr>
              <a:t>3 mois</a:t>
            </a:r>
            <a:endParaRPr lang="en-US" sz="1050" dirty="0"/>
          </a:p>
        </p:txBody>
      </p:sp>
      <p:sp>
        <p:nvSpPr>
          <p:cNvPr id="16" name="Shape 13"/>
          <p:cNvSpPr/>
          <p:nvPr/>
        </p:nvSpPr>
        <p:spPr>
          <a:xfrm>
            <a:off x="3730661" y="3648456"/>
            <a:ext cx="292608" cy="292608"/>
          </a:xfrm>
          <a:prstGeom prst="ellipse">
            <a:avLst/>
          </a:prstGeom>
          <a:solidFill>
            <a:srgbClr val="1B2A4A"/>
          </a:solidFill>
          <a:ln w="25400">
            <a:solidFill>
              <a:srgbClr val="FFFFFF"/>
            </a:solidFill>
            <a:prstDash val="solid"/>
          </a:ln>
        </p:spPr>
      </p:sp>
      <p:sp>
        <p:nvSpPr>
          <p:cNvPr id="17" name="Text 14"/>
          <p:cNvSpPr/>
          <p:nvPr/>
        </p:nvSpPr>
        <p:spPr>
          <a:xfrm>
            <a:off x="2895539" y="3995928"/>
            <a:ext cx="1962851" cy="320040"/>
          </a:xfrm>
          <a:prstGeom prst="rect">
            <a:avLst/>
          </a:prstGeom>
          <a:noFill/>
          <a:ln/>
        </p:spPr>
        <p:txBody>
          <a:bodyPr wrap="square" lIns="0" tIns="0" rIns="0" bIns="0" rtlCol="0" anchor="ctr"/>
          <a:lstStyle/>
          <a:p>
            <a:pPr algn="ctr" indent="0" marL="0">
              <a:buNone/>
            </a:pPr>
            <a:r>
              <a:rPr lang="en-US" sz="1300" b="1" dirty="0">
                <a:solidFill>
                  <a:srgbClr val="1C8C68"/>
                </a:solidFill>
                <a:latin typeface="Calibri" pitchFamily="34" charset="0"/>
                <a:ea typeface="Calibri" pitchFamily="34" charset="-122"/>
                <a:cs typeface="Calibri" pitchFamily="34" charset="-120"/>
              </a:rPr>
              <a:t>M10</a:t>
            </a:r>
            <a:endParaRPr lang="en-US" sz="1300" dirty="0"/>
          </a:p>
        </p:txBody>
      </p:sp>
      <p:sp>
        <p:nvSpPr>
          <p:cNvPr id="18" name="Shape 15"/>
          <p:cNvSpPr/>
          <p:nvPr/>
        </p:nvSpPr>
        <p:spPr>
          <a:xfrm>
            <a:off x="5114422" y="1691640"/>
            <a:ext cx="1962851" cy="1783080"/>
          </a:xfrm>
          <a:prstGeom prst="roundRect">
            <a:avLst>
              <a:gd name="adj" fmla="val 4103"/>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19" name="Text 16"/>
          <p:cNvSpPr/>
          <p:nvPr/>
        </p:nvSpPr>
        <p:spPr>
          <a:xfrm>
            <a:off x="5251582" y="1828800"/>
            <a:ext cx="1688531" cy="32004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Phase 3</a:t>
            </a:r>
            <a:endParaRPr lang="en-US" sz="1250" dirty="0"/>
          </a:p>
        </p:txBody>
      </p:sp>
      <p:sp>
        <p:nvSpPr>
          <p:cNvPr id="20" name="Text 17"/>
          <p:cNvSpPr/>
          <p:nvPr/>
        </p:nvSpPr>
        <p:spPr>
          <a:xfrm>
            <a:off x="5251582" y="2176272"/>
            <a:ext cx="1688531" cy="868680"/>
          </a:xfrm>
          <a:prstGeom prst="rect">
            <a:avLst/>
          </a:prstGeom>
          <a:noFill/>
          <a:ln/>
        </p:spPr>
        <p:txBody>
          <a:bodyPr wrap="square" lIns="0" tIns="0" rIns="0" bIns="0" rtlCol="0" anchor="t"/>
          <a:lstStyle/>
          <a:p>
            <a:pPr indent="0" marL="0">
              <a:buNone/>
            </a:pPr>
            <a:r>
              <a:rPr lang="en-US" sz="1000" dirty="0">
                <a:solidFill>
                  <a:srgbClr val="5B6B84"/>
                </a:solidFill>
                <a:latin typeface="Calibri" pitchFamily="34" charset="0"/>
                <a:ea typeface="Calibri" pitchFamily="34" charset="-122"/>
                <a:cs typeface="Calibri" pitchFamily="34" charset="-120"/>
              </a:rPr>
              <a:t>Marketing</a:t>
            </a:r>
            <a:endParaRPr lang="en-US" sz="1000" dirty="0"/>
          </a:p>
          <a:p>
            <a:pPr indent="0" marL="0">
              <a:buNone/>
            </a:pPr>
            <a:r>
              <a:rPr lang="en-US" sz="1000" dirty="0">
                <a:solidFill>
                  <a:srgbClr val="5B6B84"/>
                </a:solidFill>
                <a:latin typeface="Calibri" pitchFamily="34" charset="0"/>
                <a:ea typeface="Calibri" pitchFamily="34" charset="-122"/>
                <a:cs typeface="Calibri" pitchFamily="34" charset="-120"/>
              </a:rPr>
              <a:t>(E1 / E3 / E4)</a:t>
            </a:r>
            <a:endParaRPr lang="en-US" sz="1000" dirty="0"/>
          </a:p>
        </p:txBody>
      </p:sp>
      <p:sp>
        <p:nvSpPr>
          <p:cNvPr id="21" name="Text 18"/>
          <p:cNvSpPr/>
          <p:nvPr/>
        </p:nvSpPr>
        <p:spPr>
          <a:xfrm>
            <a:off x="5251582" y="3090672"/>
            <a:ext cx="1688531" cy="320040"/>
          </a:xfrm>
          <a:prstGeom prst="rect">
            <a:avLst/>
          </a:prstGeom>
          <a:noFill/>
          <a:ln/>
        </p:spPr>
        <p:txBody>
          <a:bodyPr wrap="square" lIns="0" tIns="0" rIns="0" bIns="0" rtlCol="0" anchor="ctr"/>
          <a:lstStyle/>
          <a:p>
            <a:pPr indent="0" marL="0">
              <a:buNone/>
            </a:pPr>
            <a:r>
              <a:rPr lang="en-US" sz="1050" b="1" i="1" dirty="0">
                <a:solidFill>
                  <a:srgbClr val="1B2A4A"/>
                </a:solidFill>
                <a:latin typeface="Calibri" pitchFamily="34" charset="0"/>
                <a:ea typeface="Calibri" pitchFamily="34" charset="-122"/>
                <a:cs typeface="Calibri" pitchFamily="34" charset="-120"/>
              </a:rPr>
              <a:t>3 mois</a:t>
            </a:r>
            <a:endParaRPr lang="en-US" sz="1050" dirty="0"/>
          </a:p>
        </p:txBody>
      </p:sp>
      <p:sp>
        <p:nvSpPr>
          <p:cNvPr id="22" name="Shape 19"/>
          <p:cNvSpPr/>
          <p:nvPr/>
        </p:nvSpPr>
        <p:spPr>
          <a:xfrm>
            <a:off x="5949544" y="3648456"/>
            <a:ext cx="292608" cy="292608"/>
          </a:xfrm>
          <a:prstGeom prst="ellipse">
            <a:avLst/>
          </a:prstGeom>
          <a:solidFill>
            <a:srgbClr val="1B2A4A"/>
          </a:solidFill>
          <a:ln w="25400">
            <a:solidFill>
              <a:srgbClr val="FFFFFF"/>
            </a:solidFill>
            <a:prstDash val="solid"/>
          </a:ln>
        </p:spPr>
      </p:sp>
      <p:sp>
        <p:nvSpPr>
          <p:cNvPr id="23" name="Text 20"/>
          <p:cNvSpPr/>
          <p:nvPr/>
        </p:nvSpPr>
        <p:spPr>
          <a:xfrm>
            <a:off x="5114422" y="3995928"/>
            <a:ext cx="1962851" cy="320040"/>
          </a:xfrm>
          <a:prstGeom prst="rect">
            <a:avLst/>
          </a:prstGeom>
          <a:noFill/>
          <a:ln/>
        </p:spPr>
        <p:txBody>
          <a:bodyPr wrap="square" lIns="0" tIns="0" rIns="0" bIns="0" rtlCol="0" anchor="ctr"/>
          <a:lstStyle/>
          <a:p>
            <a:pPr algn="ctr" indent="0" marL="0">
              <a:buNone/>
            </a:pPr>
            <a:r>
              <a:rPr lang="en-US" sz="1300" b="1" dirty="0">
                <a:solidFill>
                  <a:srgbClr val="1C8C68"/>
                </a:solidFill>
                <a:latin typeface="Calibri" pitchFamily="34" charset="0"/>
                <a:ea typeface="Calibri" pitchFamily="34" charset="-122"/>
                <a:cs typeface="Calibri" pitchFamily="34" charset="-120"/>
              </a:rPr>
              <a:t>M15</a:t>
            </a:r>
            <a:endParaRPr lang="en-US" sz="1300" dirty="0"/>
          </a:p>
        </p:txBody>
      </p:sp>
      <p:sp>
        <p:nvSpPr>
          <p:cNvPr id="24" name="Shape 21"/>
          <p:cNvSpPr/>
          <p:nvPr/>
        </p:nvSpPr>
        <p:spPr>
          <a:xfrm>
            <a:off x="7333305" y="1691640"/>
            <a:ext cx="1962851" cy="1783080"/>
          </a:xfrm>
          <a:prstGeom prst="roundRect">
            <a:avLst>
              <a:gd name="adj" fmla="val 4103"/>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25" name="Text 22"/>
          <p:cNvSpPr/>
          <p:nvPr/>
        </p:nvSpPr>
        <p:spPr>
          <a:xfrm>
            <a:off x="7470465" y="1828800"/>
            <a:ext cx="1688531" cy="32004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Phase 4</a:t>
            </a:r>
            <a:endParaRPr lang="en-US" sz="1250" dirty="0"/>
          </a:p>
        </p:txBody>
      </p:sp>
      <p:sp>
        <p:nvSpPr>
          <p:cNvPr id="26" name="Text 23"/>
          <p:cNvSpPr/>
          <p:nvPr/>
        </p:nvSpPr>
        <p:spPr>
          <a:xfrm>
            <a:off x="7470465" y="2176272"/>
            <a:ext cx="1688531" cy="868680"/>
          </a:xfrm>
          <a:prstGeom prst="rect">
            <a:avLst/>
          </a:prstGeom>
          <a:noFill/>
          <a:ln/>
        </p:spPr>
        <p:txBody>
          <a:bodyPr wrap="square" lIns="0" tIns="0" rIns="0" bIns="0" rtlCol="0" anchor="t"/>
          <a:lstStyle/>
          <a:p>
            <a:pPr indent="0" marL="0">
              <a:buNone/>
            </a:pPr>
            <a:r>
              <a:rPr lang="en-US" sz="1000" dirty="0">
                <a:solidFill>
                  <a:srgbClr val="5B6B84"/>
                </a:solidFill>
                <a:latin typeface="Calibri" pitchFamily="34" charset="0"/>
                <a:ea typeface="Calibri" pitchFamily="34" charset="-122"/>
                <a:cs typeface="Calibri" pitchFamily="34" charset="-120"/>
              </a:rPr>
              <a:t>Content Curation</a:t>
            </a:r>
            <a:endParaRPr lang="en-US" sz="1000" dirty="0"/>
          </a:p>
          <a:p>
            <a:pPr indent="0" marL="0">
              <a:buNone/>
            </a:pPr>
            <a:r>
              <a:rPr lang="en-US" sz="1000" dirty="0">
                <a:solidFill>
                  <a:srgbClr val="5B6B84"/>
                </a:solidFill>
                <a:latin typeface="Calibri" pitchFamily="34" charset="0"/>
                <a:ea typeface="Calibri" pitchFamily="34" charset="-122"/>
                <a:cs typeface="Calibri" pitchFamily="34" charset="-120"/>
              </a:rPr>
              <a:t>(E2 / métadonnées)</a:t>
            </a:r>
            <a:endParaRPr lang="en-US" sz="1000" dirty="0"/>
          </a:p>
        </p:txBody>
      </p:sp>
      <p:sp>
        <p:nvSpPr>
          <p:cNvPr id="27" name="Text 24"/>
          <p:cNvSpPr/>
          <p:nvPr/>
        </p:nvSpPr>
        <p:spPr>
          <a:xfrm>
            <a:off x="7470465" y="3090672"/>
            <a:ext cx="1688531" cy="320040"/>
          </a:xfrm>
          <a:prstGeom prst="rect">
            <a:avLst/>
          </a:prstGeom>
          <a:noFill/>
          <a:ln/>
        </p:spPr>
        <p:txBody>
          <a:bodyPr wrap="square" lIns="0" tIns="0" rIns="0" bIns="0" rtlCol="0" anchor="ctr"/>
          <a:lstStyle/>
          <a:p>
            <a:pPr indent="0" marL="0">
              <a:buNone/>
            </a:pPr>
            <a:r>
              <a:rPr lang="en-US" sz="1050" b="1" i="1" dirty="0">
                <a:solidFill>
                  <a:srgbClr val="1B2A4A"/>
                </a:solidFill>
                <a:latin typeface="Calibri" pitchFamily="34" charset="0"/>
                <a:ea typeface="Calibri" pitchFamily="34" charset="-122"/>
                <a:cs typeface="Calibri" pitchFamily="34" charset="-120"/>
              </a:rPr>
              <a:t>3 mois</a:t>
            </a:r>
            <a:endParaRPr lang="en-US" sz="1050" dirty="0"/>
          </a:p>
        </p:txBody>
      </p:sp>
      <p:sp>
        <p:nvSpPr>
          <p:cNvPr id="28" name="Shape 25"/>
          <p:cNvSpPr/>
          <p:nvPr/>
        </p:nvSpPr>
        <p:spPr>
          <a:xfrm>
            <a:off x="8168427" y="3648456"/>
            <a:ext cx="292608" cy="292608"/>
          </a:xfrm>
          <a:prstGeom prst="ellipse">
            <a:avLst/>
          </a:prstGeom>
          <a:solidFill>
            <a:srgbClr val="1B2A4A"/>
          </a:solidFill>
          <a:ln w="25400">
            <a:solidFill>
              <a:srgbClr val="FFFFFF"/>
            </a:solidFill>
            <a:prstDash val="solid"/>
          </a:ln>
        </p:spPr>
      </p:sp>
      <p:sp>
        <p:nvSpPr>
          <p:cNvPr id="29" name="Text 26"/>
          <p:cNvSpPr/>
          <p:nvPr/>
        </p:nvSpPr>
        <p:spPr>
          <a:xfrm>
            <a:off x="7333305" y="3995928"/>
            <a:ext cx="1962851" cy="320040"/>
          </a:xfrm>
          <a:prstGeom prst="rect">
            <a:avLst/>
          </a:prstGeom>
          <a:noFill/>
          <a:ln/>
        </p:spPr>
        <p:txBody>
          <a:bodyPr wrap="square" lIns="0" tIns="0" rIns="0" bIns="0" rtlCol="0" anchor="ctr"/>
          <a:lstStyle/>
          <a:p>
            <a:pPr algn="ctr" indent="0" marL="0">
              <a:buNone/>
            </a:pPr>
            <a:r>
              <a:rPr lang="en-US" sz="1300" b="1" dirty="0">
                <a:solidFill>
                  <a:srgbClr val="1C8C68"/>
                </a:solidFill>
                <a:latin typeface="Calibri" pitchFamily="34" charset="0"/>
                <a:ea typeface="Calibri" pitchFamily="34" charset="-122"/>
                <a:cs typeface="Calibri" pitchFamily="34" charset="-120"/>
              </a:rPr>
              <a:t>M20</a:t>
            </a:r>
            <a:endParaRPr lang="en-US" sz="1300" dirty="0"/>
          </a:p>
        </p:txBody>
      </p:sp>
      <p:sp>
        <p:nvSpPr>
          <p:cNvPr id="30" name="Shape 27"/>
          <p:cNvSpPr/>
          <p:nvPr/>
        </p:nvSpPr>
        <p:spPr>
          <a:xfrm>
            <a:off x="9552188" y="1691640"/>
            <a:ext cx="1962851" cy="1783080"/>
          </a:xfrm>
          <a:prstGeom prst="roundRect">
            <a:avLst>
              <a:gd name="adj" fmla="val 4103"/>
            </a:avLst>
          </a:prstGeom>
          <a:solidFill>
            <a:srgbClr val="EAF7F1"/>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31" name="Text 28"/>
          <p:cNvSpPr/>
          <p:nvPr/>
        </p:nvSpPr>
        <p:spPr>
          <a:xfrm>
            <a:off x="9689348" y="1828800"/>
            <a:ext cx="1688531" cy="320040"/>
          </a:xfrm>
          <a:prstGeom prst="rect">
            <a:avLst/>
          </a:prstGeom>
          <a:noFill/>
          <a:ln/>
        </p:spPr>
        <p:txBody>
          <a:bodyPr wrap="square" lIns="0" tIns="0" rIns="0" bIns="0" rtlCol="0" anchor="ctr"/>
          <a:lstStyle/>
          <a:p>
            <a:pPr indent="0" marL="0">
              <a:buNone/>
            </a:pPr>
            <a:r>
              <a:rPr lang="en-US" sz="1250" b="1" dirty="0">
                <a:solidFill>
                  <a:srgbClr val="1C8C68"/>
                </a:solidFill>
                <a:latin typeface="Calibri" pitchFamily="34" charset="0"/>
                <a:ea typeface="Calibri" pitchFamily="34" charset="-122"/>
                <a:cs typeface="Calibri" pitchFamily="34" charset="-120"/>
              </a:rPr>
              <a:t>Consolidation</a:t>
            </a:r>
            <a:endParaRPr lang="en-US" sz="1250" dirty="0"/>
          </a:p>
        </p:txBody>
      </p:sp>
      <p:sp>
        <p:nvSpPr>
          <p:cNvPr id="32" name="Text 29"/>
          <p:cNvSpPr/>
          <p:nvPr/>
        </p:nvSpPr>
        <p:spPr>
          <a:xfrm>
            <a:off x="9689348" y="2176272"/>
            <a:ext cx="1688531" cy="868680"/>
          </a:xfrm>
          <a:prstGeom prst="rect">
            <a:avLst/>
          </a:prstGeom>
          <a:noFill/>
          <a:ln/>
        </p:spPr>
        <p:txBody>
          <a:bodyPr wrap="square" lIns="0" tIns="0" rIns="0" bIns="0" rtlCol="0" anchor="t"/>
          <a:lstStyle/>
          <a:p>
            <a:pPr indent="0" marL="0">
              <a:buNone/>
            </a:pPr>
            <a:r>
              <a:rPr lang="en-US" sz="1000" dirty="0">
                <a:solidFill>
                  <a:srgbClr val="5B6B84"/>
                </a:solidFill>
                <a:latin typeface="Calibri" pitchFamily="34" charset="0"/>
                <a:ea typeface="Calibri" pitchFamily="34" charset="-122"/>
                <a:cs typeface="Calibri" pitchFamily="34" charset="-120"/>
              </a:rPr>
              <a:t>Ensemble des départements</a:t>
            </a:r>
            <a:endParaRPr lang="en-US" sz="1000" dirty="0"/>
          </a:p>
          <a:p>
            <a:pPr indent="0" marL="0">
              <a:buNone/>
            </a:pPr>
            <a:r>
              <a:rPr lang="en-US" sz="1000" dirty="0">
                <a:solidFill>
                  <a:srgbClr val="5B6B84"/>
                </a:solidFill>
                <a:latin typeface="Calibri" pitchFamily="34" charset="0"/>
                <a:ea typeface="Calibri" pitchFamily="34" charset="-122"/>
                <a:cs typeface="Calibri" pitchFamily="34" charset="-120"/>
              </a:rPr>
              <a:t>Niveau 3 généralisé</a:t>
            </a:r>
            <a:endParaRPr lang="en-US" sz="1000" dirty="0"/>
          </a:p>
        </p:txBody>
      </p:sp>
      <p:sp>
        <p:nvSpPr>
          <p:cNvPr id="33" name="Text 30"/>
          <p:cNvSpPr/>
          <p:nvPr/>
        </p:nvSpPr>
        <p:spPr>
          <a:xfrm>
            <a:off x="9689348" y="3090672"/>
            <a:ext cx="1688531" cy="320040"/>
          </a:xfrm>
          <a:prstGeom prst="rect">
            <a:avLst/>
          </a:prstGeom>
          <a:noFill/>
          <a:ln/>
        </p:spPr>
        <p:txBody>
          <a:bodyPr wrap="square" lIns="0" tIns="0" rIns="0" bIns="0" rtlCol="0" anchor="ctr"/>
          <a:lstStyle/>
          <a:p>
            <a:pPr indent="0" marL="0">
              <a:buNone/>
            </a:pPr>
            <a:r>
              <a:rPr lang="en-US" sz="1050" b="1" i="1" dirty="0">
                <a:solidFill>
                  <a:srgbClr val="1B2A4A"/>
                </a:solidFill>
                <a:latin typeface="Calibri" pitchFamily="34" charset="0"/>
                <a:ea typeface="Calibri" pitchFamily="34" charset="-122"/>
                <a:cs typeface="Calibri" pitchFamily="34" charset="-120"/>
              </a:rPr>
              <a:t>-</a:t>
            </a:r>
            <a:endParaRPr lang="en-US" sz="1050" dirty="0"/>
          </a:p>
        </p:txBody>
      </p:sp>
      <p:sp>
        <p:nvSpPr>
          <p:cNvPr id="34" name="Shape 31"/>
          <p:cNvSpPr/>
          <p:nvPr/>
        </p:nvSpPr>
        <p:spPr>
          <a:xfrm>
            <a:off x="10387310" y="3648456"/>
            <a:ext cx="292608" cy="292608"/>
          </a:xfrm>
          <a:prstGeom prst="ellipse">
            <a:avLst/>
          </a:prstGeom>
          <a:solidFill>
            <a:srgbClr val="2DBE8C"/>
          </a:solidFill>
          <a:ln w="25400">
            <a:solidFill>
              <a:srgbClr val="FFFFFF"/>
            </a:solidFill>
            <a:prstDash val="solid"/>
          </a:ln>
        </p:spPr>
      </p:sp>
      <p:sp>
        <p:nvSpPr>
          <p:cNvPr id="35" name="Text 32"/>
          <p:cNvSpPr/>
          <p:nvPr/>
        </p:nvSpPr>
        <p:spPr>
          <a:xfrm>
            <a:off x="9552188" y="3995928"/>
            <a:ext cx="1962851" cy="320040"/>
          </a:xfrm>
          <a:prstGeom prst="rect">
            <a:avLst/>
          </a:prstGeom>
          <a:noFill/>
          <a:ln/>
        </p:spPr>
        <p:txBody>
          <a:bodyPr wrap="square" lIns="0" tIns="0" rIns="0" bIns="0" rtlCol="0" anchor="ctr"/>
          <a:lstStyle/>
          <a:p>
            <a:pPr algn="ctr" indent="0" marL="0">
              <a:buNone/>
            </a:pPr>
            <a:r>
              <a:rPr lang="en-US" sz="1300" b="1" dirty="0">
                <a:solidFill>
                  <a:srgbClr val="1C8C68"/>
                </a:solidFill>
                <a:latin typeface="Calibri" pitchFamily="34" charset="0"/>
                <a:ea typeface="Calibri" pitchFamily="34" charset="-122"/>
                <a:cs typeface="Calibri" pitchFamily="34" charset="-120"/>
              </a:rPr>
              <a:t>M22-M24</a:t>
            </a:r>
            <a:endParaRPr lang="en-US" sz="1300" dirty="0"/>
          </a:p>
        </p:txBody>
      </p:sp>
      <p:sp>
        <p:nvSpPr>
          <p:cNvPr id="36" name="Shape 33"/>
          <p:cNvSpPr/>
          <p:nvPr/>
        </p:nvSpPr>
        <p:spPr>
          <a:xfrm>
            <a:off x="548640" y="4526280"/>
            <a:ext cx="11094415" cy="868680"/>
          </a:xfrm>
          <a:prstGeom prst="roundRect">
            <a:avLst>
              <a:gd name="adj" fmla="val 8421"/>
            </a:avLst>
          </a:prstGeom>
          <a:solidFill>
            <a:srgbClr val="F7F8FA"/>
          </a:solidFill>
          <a:ln w="12700">
            <a:solidFill>
              <a:srgbClr val="D8DEE6"/>
            </a:solidFill>
            <a:prstDash val="solid"/>
          </a:ln>
        </p:spPr>
      </p:sp>
      <p:sp>
        <p:nvSpPr>
          <p:cNvPr id="37" name="Text 34"/>
          <p:cNvSpPr/>
          <p:nvPr/>
        </p:nvSpPr>
        <p:spPr>
          <a:xfrm>
            <a:off x="822960" y="4526280"/>
            <a:ext cx="10545775" cy="86868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Trajectoire de maturité : niveau 1 (actuel) → niveau 3 généralisé (M22-M24). Ce séquencement atteint la borne haute de la fourchette de référence (15–24 mois) - un compromis assumé pour garantir la rigueur de la phase de sécurisation initiale.</a:t>
            </a:r>
            <a:endParaRPr lang="en-US" sz="1150" dirty="0"/>
          </a:p>
        </p:txBody>
      </p:sp>
      <p:sp>
        <p:nvSpPr>
          <p:cNvPr id="38" name="Shape 35"/>
          <p:cNvSpPr/>
          <p:nvPr/>
        </p:nvSpPr>
        <p:spPr>
          <a:xfrm>
            <a:off x="548640" y="5532120"/>
            <a:ext cx="11094415" cy="658368"/>
          </a:xfrm>
          <a:prstGeom prst="roundRect">
            <a:avLst>
              <a:gd name="adj" fmla="val 11111"/>
            </a:avLst>
          </a:prstGeom>
          <a:solidFill>
            <a:srgbClr val="FFFFFF"/>
          </a:solidFill>
          <a:ln w="12700">
            <a:solidFill>
              <a:srgbClr val="D8DEE6"/>
            </a:solidFill>
            <a:prstDash val="solid"/>
          </a:ln>
          <a:effectLst>
            <a:outerShdw sx="100000" sy="100000" kx="0" ky="0" algn="bl" rotWithShape="0" blurRad="76200" dist="25400" dir="5400000">
              <a:srgbClr val="1B2A4A">
                <a:alpha val="12000"/>
              </a:srgbClr>
            </a:outerShdw>
          </a:effectLst>
        </p:spPr>
      </p:sp>
      <p:sp>
        <p:nvSpPr>
          <p:cNvPr id="39" name="Text 36"/>
          <p:cNvSpPr/>
          <p:nvPr/>
        </p:nvSpPr>
        <p:spPr>
          <a:xfrm>
            <a:off x="822960" y="5532120"/>
            <a:ext cx="10545775" cy="658368"/>
          </a:xfrm>
          <a:prstGeom prst="rect">
            <a:avLst/>
          </a:prstGeom>
          <a:noFill/>
          <a:ln/>
        </p:spPr>
        <p:txBody>
          <a:bodyPr wrap="square" lIns="0" tIns="0" rIns="0" bIns="0" rtlCol="0" anchor="ctr"/>
          <a:lstStyle/>
          <a:p>
            <a:pPr indent="0" marL="0">
              <a:buNone/>
            </a:pPr>
            <a:r>
              <a:rPr lang="en-US" sz="1050" i="1" dirty="0">
                <a:solidFill>
                  <a:srgbClr val="5B6B84"/>
                </a:solidFill>
                <a:latin typeface="Calibri" pitchFamily="34" charset="0"/>
                <a:ea typeface="Calibri" pitchFamily="34" charset="-122"/>
                <a:cs typeface="Calibri" pitchFamily="34" charset="-120"/>
              </a:rPr>
              <a:t>Chaque jalon de phase est un point de réévaluation (feu vert / orange / rouge), pas un engagement figé - conformément au principe d'amélioration continue (P9).</a:t>
            </a:r>
            <a:endParaRPr lang="en-US" sz="1050" dirty="0"/>
          </a:p>
        </p:txBody>
      </p:sp>
      <p:sp>
        <p:nvSpPr>
          <p:cNvPr id="40" name="Text 37"/>
          <p:cNvSpPr/>
          <p:nvPr/>
        </p:nvSpPr>
        <p:spPr>
          <a:xfrm>
            <a:off x="548640" y="6473952"/>
            <a:ext cx="8686800" cy="274320"/>
          </a:xfrm>
          <a:prstGeom prst="rect">
            <a:avLst/>
          </a:prstGeom>
          <a:noFill/>
          <a:ln/>
        </p:spPr>
        <p:txBody>
          <a:bodyPr wrap="square" lIns="0" tIns="0" rIns="0" bIns="0" rtlCol="0" anchor="ctr"/>
          <a:lstStyle/>
          <a:p>
            <a:pPr indent="0" marL="0">
              <a:buNone/>
            </a:pPr>
            <a:r>
              <a:rPr lang="en-US" sz="950" i="1" dirty="0">
                <a:solidFill>
                  <a:srgbClr val="8493A8"/>
                </a:solidFill>
                <a:latin typeface="Calibri" pitchFamily="34" charset="0"/>
                <a:ea typeface="Calibri" pitchFamily="34" charset="-122"/>
                <a:cs typeface="Calibri" pitchFamily="34" charset="-120"/>
              </a:rPr>
              <a:t>Source : [D3] §3.6</a:t>
            </a:r>
            <a:endParaRPr lang="en-US" sz="950" dirty="0"/>
          </a:p>
        </p:txBody>
      </p:sp>
      <p:sp>
        <p:nvSpPr>
          <p:cNvPr id="41" name="Text 38"/>
          <p:cNvSpPr/>
          <p:nvPr/>
        </p:nvSpPr>
        <p:spPr>
          <a:xfrm>
            <a:off x="11002975" y="6473952"/>
            <a:ext cx="822960" cy="274320"/>
          </a:xfrm>
          <a:prstGeom prst="rect">
            <a:avLst/>
          </a:prstGeom>
          <a:noFill/>
          <a:ln/>
        </p:spPr>
        <p:txBody>
          <a:bodyPr wrap="square" lIns="0" tIns="0" rIns="0" bIns="0" rtlCol="0" anchor="ctr"/>
          <a:lstStyle/>
          <a:p>
            <a:pPr algn="r" indent="0" marL="0">
              <a:buNone/>
            </a:pPr>
            <a:r>
              <a:rPr lang="en-US" sz="950" dirty="0">
                <a:solidFill>
                  <a:srgbClr val="8493A8"/>
                </a:solidFill>
                <a:latin typeface="Calibri" pitchFamily="34" charset="0"/>
                <a:ea typeface="Calibri" pitchFamily="34" charset="-122"/>
                <a:cs typeface="Calibri" pitchFamily="34" charset="-120"/>
              </a:rPr>
              <a:t>9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2DBE8C"/>
                </a:solidFill>
                <a:latin typeface="Calibri" pitchFamily="34" charset="0"/>
                <a:ea typeface="Calibri" pitchFamily="34" charset="-122"/>
                <a:cs typeface="Calibri" pitchFamily="34" charset="-120"/>
              </a:rPr>
              <a:t>VALEUR &amp; PROCHAINES ÉTAPES</a:t>
            </a:r>
            <a:endParaRPr lang="en-US" sz="1200" dirty="0"/>
          </a:p>
        </p:txBody>
      </p:sp>
      <p:sp>
        <p:nvSpPr>
          <p:cNvPr id="3" name="Text 1"/>
          <p:cNvSpPr/>
          <p:nvPr/>
        </p:nvSpPr>
        <p:spPr>
          <a:xfrm>
            <a:off x="548640" y="658368"/>
            <a:ext cx="9692640" cy="868680"/>
          </a:xfrm>
          <a:prstGeom prst="rect">
            <a:avLst/>
          </a:prstGeom>
          <a:noFill/>
          <a:ln/>
        </p:spPr>
        <p:txBody>
          <a:bodyPr wrap="square" lIns="0" tIns="0" rIns="0" bIns="0" rtlCol="0" anchor="t"/>
          <a:lstStyle/>
          <a:p>
            <a:pPr indent="0" marL="0">
              <a:lnSpc>
                <a:spcPct val="102000"/>
              </a:lnSpc>
              <a:buNone/>
            </a:pPr>
            <a:r>
              <a:rPr lang="en-US" sz="2800" b="1" dirty="0">
                <a:solidFill>
                  <a:srgbClr val="FFFFFF"/>
                </a:solidFill>
                <a:latin typeface="Cambria" pitchFamily="34" charset="0"/>
                <a:ea typeface="Cambria" pitchFamily="34" charset="-122"/>
                <a:cs typeface="Cambria" pitchFamily="34" charset="-120"/>
              </a:rPr>
              <a:t>Une gouvernance qui protège la confiance et soutient la croissance</a:t>
            </a:r>
            <a:endParaRPr lang="en-US" sz="2800" dirty="0"/>
          </a:p>
        </p:txBody>
      </p:sp>
      <p:pic>
        <p:nvPicPr>
          <p:cNvPr id="4" name="Image 0" descr="icons/icon_flag.png">    </p:cNvPr>
          <p:cNvPicPr>
            <a:picLocks noChangeAspect="1"/>
          </p:cNvPicPr>
          <p:nvPr/>
        </p:nvPicPr>
        <p:blipFill>
          <a:blip r:embed="rId1"/>
          <a:stretch>
            <a:fillRect/>
          </a:stretch>
        </p:blipFill>
        <p:spPr>
          <a:xfrm>
            <a:off x="11140135" y="365760"/>
            <a:ext cx="658368" cy="658368"/>
          </a:xfrm>
          <a:prstGeom prst="rect">
            <a:avLst/>
          </a:prstGeom>
        </p:spPr>
      </p:pic>
      <p:pic>
        <p:nvPicPr>
          <p:cNvPr id="5" name="Image 1" descr="icons/icon_check_white.png">    </p:cNvPr>
          <p:cNvPicPr>
            <a:picLocks noChangeAspect="1"/>
          </p:cNvPicPr>
          <p:nvPr/>
        </p:nvPicPr>
        <p:blipFill>
          <a:blip r:embed="rId2"/>
          <a:stretch>
            <a:fillRect/>
          </a:stretch>
        </p:blipFill>
        <p:spPr>
          <a:xfrm>
            <a:off x="1531620" y="1783080"/>
            <a:ext cx="640080" cy="640080"/>
          </a:xfrm>
          <a:prstGeom prst="rect">
            <a:avLst/>
          </a:prstGeom>
        </p:spPr>
      </p:pic>
      <p:sp>
        <p:nvSpPr>
          <p:cNvPr id="6" name="Text 2"/>
          <p:cNvSpPr/>
          <p:nvPr/>
        </p:nvSpPr>
        <p:spPr>
          <a:xfrm>
            <a:off x="548640" y="2560320"/>
            <a:ext cx="2606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Économies</a:t>
            </a:r>
            <a:endParaRPr lang="en-US" sz="1500" dirty="0"/>
          </a:p>
        </p:txBody>
      </p:sp>
      <p:sp>
        <p:nvSpPr>
          <p:cNvPr id="7" name="Text 3"/>
          <p:cNvSpPr/>
          <p:nvPr/>
        </p:nvSpPr>
        <p:spPr>
          <a:xfrm>
            <a:off x="548640" y="2880360"/>
            <a:ext cx="2606040" cy="914400"/>
          </a:xfrm>
          <a:prstGeom prst="rect">
            <a:avLst/>
          </a:prstGeom>
          <a:noFill/>
          <a:ln/>
        </p:spPr>
        <p:txBody>
          <a:bodyPr wrap="square" lIns="0" tIns="0" rIns="0" bIns="0"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Réduction des inefficiences liées à une donnée de mauvaise qualité</a:t>
            </a:r>
            <a:endParaRPr lang="en-US" sz="1050" dirty="0"/>
          </a:p>
        </p:txBody>
      </p:sp>
      <p:pic>
        <p:nvPicPr>
          <p:cNvPr id="8" name="Image 2" descr="icons/icon_lock.png">    </p:cNvPr>
          <p:cNvPicPr>
            <a:picLocks noChangeAspect="1"/>
          </p:cNvPicPr>
          <p:nvPr/>
        </p:nvPicPr>
        <p:blipFill>
          <a:blip r:embed="rId3"/>
          <a:stretch>
            <a:fillRect/>
          </a:stretch>
        </p:blipFill>
        <p:spPr>
          <a:xfrm>
            <a:off x="4393692" y="1783080"/>
            <a:ext cx="640080" cy="640080"/>
          </a:xfrm>
          <a:prstGeom prst="rect">
            <a:avLst/>
          </a:prstGeom>
        </p:spPr>
      </p:pic>
      <p:sp>
        <p:nvSpPr>
          <p:cNvPr id="9" name="Text 4"/>
          <p:cNvSpPr/>
          <p:nvPr/>
        </p:nvSpPr>
        <p:spPr>
          <a:xfrm>
            <a:off x="3410712" y="2560320"/>
            <a:ext cx="2606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Conformité</a:t>
            </a:r>
            <a:endParaRPr lang="en-US" sz="1500" dirty="0"/>
          </a:p>
        </p:txBody>
      </p:sp>
      <p:sp>
        <p:nvSpPr>
          <p:cNvPr id="10" name="Text 5"/>
          <p:cNvSpPr/>
          <p:nvPr/>
        </p:nvSpPr>
        <p:spPr>
          <a:xfrm>
            <a:off x="3410712" y="2880360"/>
            <a:ext cx="2606040" cy="914400"/>
          </a:xfrm>
          <a:prstGeom prst="rect">
            <a:avLst/>
          </a:prstGeom>
          <a:noFill/>
          <a:ln/>
        </p:spPr>
        <p:txBody>
          <a:bodyPr wrap="square" lIns="0" tIns="0" rIns="0" bIns="0"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Éviter les sanctions GDPR/CCPA (jusqu'à 4% du CA mondial)</a:t>
            </a:r>
            <a:endParaRPr lang="en-US" sz="1050" dirty="0"/>
          </a:p>
        </p:txBody>
      </p:sp>
      <p:pic>
        <p:nvPicPr>
          <p:cNvPr id="11" name="Image 3" descr="icons/icon_shield.png">    </p:cNvPr>
          <p:cNvPicPr>
            <a:picLocks noChangeAspect="1"/>
          </p:cNvPicPr>
          <p:nvPr/>
        </p:nvPicPr>
        <p:blipFill>
          <a:blip r:embed="rId4"/>
          <a:stretch>
            <a:fillRect/>
          </a:stretch>
        </p:blipFill>
        <p:spPr>
          <a:xfrm>
            <a:off x="7255764" y="1783080"/>
            <a:ext cx="640080" cy="640080"/>
          </a:xfrm>
          <a:prstGeom prst="rect">
            <a:avLst/>
          </a:prstGeom>
        </p:spPr>
      </p:pic>
      <p:sp>
        <p:nvSpPr>
          <p:cNvPr id="12" name="Text 6"/>
          <p:cNvSpPr/>
          <p:nvPr/>
        </p:nvSpPr>
        <p:spPr>
          <a:xfrm>
            <a:off x="6272784" y="2560320"/>
            <a:ext cx="2606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Confiance</a:t>
            </a:r>
            <a:endParaRPr lang="en-US" sz="1500" dirty="0"/>
          </a:p>
        </p:txBody>
      </p:sp>
      <p:sp>
        <p:nvSpPr>
          <p:cNvPr id="13" name="Text 7"/>
          <p:cNvSpPr/>
          <p:nvPr/>
        </p:nvSpPr>
        <p:spPr>
          <a:xfrm>
            <a:off x="6272784" y="2880360"/>
            <a:ext cx="2606040" cy="914400"/>
          </a:xfrm>
          <a:prstGeom prst="rect">
            <a:avLst/>
          </a:prstGeom>
          <a:noFill/>
          <a:ln/>
        </p:spPr>
        <p:txBody>
          <a:bodyPr wrap="square" lIns="0" tIns="0" rIns="0" bIns="0"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Transparence et sécurité renforcées auprès des utilisateurs</a:t>
            </a:r>
            <a:endParaRPr lang="en-US" sz="1050" dirty="0"/>
          </a:p>
        </p:txBody>
      </p:sp>
      <p:pic>
        <p:nvPicPr>
          <p:cNvPr id="14" name="Image 4" descr="icons/icon_globe.png">    </p:cNvPr>
          <p:cNvPicPr>
            <a:picLocks noChangeAspect="1"/>
          </p:cNvPicPr>
          <p:nvPr/>
        </p:nvPicPr>
        <p:blipFill>
          <a:blip r:embed="rId5"/>
          <a:stretch>
            <a:fillRect/>
          </a:stretch>
        </p:blipFill>
        <p:spPr>
          <a:xfrm>
            <a:off x="10117836" y="1783080"/>
            <a:ext cx="640080" cy="640080"/>
          </a:xfrm>
          <a:prstGeom prst="rect">
            <a:avLst/>
          </a:prstGeom>
        </p:spPr>
      </p:pic>
      <p:sp>
        <p:nvSpPr>
          <p:cNvPr id="15" name="Text 8"/>
          <p:cNvSpPr/>
          <p:nvPr/>
        </p:nvSpPr>
        <p:spPr>
          <a:xfrm>
            <a:off x="9134856" y="2560320"/>
            <a:ext cx="26060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Scalabilité</a:t>
            </a:r>
            <a:endParaRPr lang="en-US" sz="1500" dirty="0"/>
          </a:p>
        </p:txBody>
      </p:sp>
      <p:sp>
        <p:nvSpPr>
          <p:cNvPr id="16" name="Text 9"/>
          <p:cNvSpPr/>
          <p:nvPr/>
        </p:nvSpPr>
        <p:spPr>
          <a:xfrm>
            <a:off x="9134856" y="2880360"/>
            <a:ext cx="2606040" cy="914400"/>
          </a:xfrm>
          <a:prstGeom prst="rect">
            <a:avLst/>
          </a:prstGeom>
          <a:noFill/>
          <a:ln/>
        </p:spPr>
        <p:txBody>
          <a:bodyPr wrap="square" lIns="0" tIns="0" rIns="0" bIns="0"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Infrastructure de gouvernance prête pour la croissance mondiale</a:t>
            </a:r>
            <a:endParaRPr lang="en-US" sz="1050" dirty="0"/>
          </a:p>
        </p:txBody>
      </p:sp>
      <p:sp>
        <p:nvSpPr>
          <p:cNvPr id="17" name="Shape 10"/>
          <p:cNvSpPr/>
          <p:nvPr/>
        </p:nvSpPr>
        <p:spPr>
          <a:xfrm>
            <a:off x="548640" y="4160520"/>
            <a:ext cx="11091672" cy="1874520"/>
          </a:xfrm>
          <a:prstGeom prst="roundRect">
            <a:avLst>
              <a:gd name="adj" fmla="val 3902"/>
            </a:avLst>
          </a:prstGeom>
          <a:solidFill>
            <a:srgbClr val="2A3C60"/>
          </a:solidFill>
          <a:ln w="12700">
            <a:solidFill>
              <a:srgbClr val="3A4C72"/>
            </a:solidFill>
            <a:prstDash val="solid"/>
          </a:ln>
        </p:spPr>
      </p:sp>
      <p:sp>
        <p:nvSpPr>
          <p:cNvPr id="18" name="Text 11"/>
          <p:cNvSpPr/>
          <p:nvPr/>
        </p:nvSpPr>
        <p:spPr>
          <a:xfrm>
            <a:off x="868680" y="4315968"/>
            <a:ext cx="5486400" cy="320040"/>
          </a:xfrm>
          <a:prstGeom prst="rect">
            <a:avLst/>
          </a:prstGeom>
          <a:noFill/>
          <a:ln/>
        </p:spPr>
        <p:txBody>
          <a:bodyPr wrap="square" lIns="0" tIns="0" rIns="0" bIns="0" rtlCol="0" anchor="ctr"/>
          <a:lstStyle/>
          <a:p>
            <a:pPr indent="0" marL="0">
              <a:buNone/>
            </a:pPr>
            <a:r>
              <a:rPr lang="en-US" sz="1400" b="1" dirty="0">
                <a:solidFill>
                  <a:srgbClr val="2DBE8C"/>
                </a:solidFill>
                <a:latin typeface="Calibri" pitchFamily="34" charset="0"/>
                <a:ea typeface="Calibri" pitchFamily="34" charset="-122"/>
                <a:cs typeface="Calibri" pitchFamily="34" charset="-120"/>
              </a:rPr>
              <a:t>Prochaines étapes</a:t>
            </a:r>
            <a:endParaRPr lang="en-US" sz="1400" dirty="0"/>
          </a:p>
        </p:txBody>
      </p:sp>
      <p:sp>
        <p:nvSpPr>
          <p:cNvPr id="19" name="Text 12"/>
          <p:cNvSpPr/>
          <p:nvPr/>
        </p:nvSpPr>
        <p:spPr>
          <a:xfrm>
            <a:off x="868680" y="4681728"/>
            <a:ext cx="10424160" cy="12344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Lancer le pilote sur le système de recommandation (Product Development)</a:t>
            </a:r>
            <a:endParaRPr lang="en-US" sz="1250" dirty="0"/>
          </a:p>
          <a:p>
            <a:pPr marL="177800" indent="-1778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Nommer / confirmer DPO, CDO, Data Stewards et Model Owners</a:t>
            </a:r>
            <a:endParaRPr lang="en-US" sz="1250" dirty="0"/>
          </a:p>
          <a:p>
            <a:pPr marL="177800" indent="-1778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Première revue de maturité DMAT au jalon intermédiaire (M5)</a:t>
            </a:r>
            <a:endParaRPr lang="en-US" sz="1250" dirty="0"/>
          </a:p>
          <a:p>
            <a:pPr marL="177800" indent="-1778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Décision de passage à l'échelle (feu vert / orange / rouge) à chaque jalon de phase</a:t>
            </a:r>
            <a:endParaRPr lang="en-US" sz="1250" dirty="0"/>
          </a:p>
        </p:txBody>
      </p:sp>
      <p:sp>
        <p:nvSpPr>
          <p:cNvPr id="20" name="Text 13"/>
          <p:cNvSpPr/>
          <p:nvPr/>
        </p:nvSpPr>
        <p:spPr>
          <a:xfrm>
            <a:off x="548640" y="6473952"/>
            <a:ext cx="7315200" cy="274320"/>
          </a:xfrm>
          <a:prstGeom prst="rect">
            <a:avLst/>
          </a:prstGeom>
          <a:noFill/>
          <a:ln/>
        </p:spPr>
        <p:txBody>
          <a:bodyPr wrap="square" lIns="0" tIns="0" rIns="0" bIns="0" rtlCol="0" anchor="ctr"/>
          <a:lstStyle/>
          <a:p>
            <a:pPr indent="0" marL="0">
              <a:buNone/>
            </a:pPr>
            <a:r>
              <a:rPr lang="en-US" sz="950" dirty="0">
                <a:solidFill>
                  <a:srgbClr val="9FB0C9"/>
                </a:solidFill>
                <a:latin typeface="Calibri" pitchFamily="34" charset="0"/>
                <a:ea typeface="Calibri" pitchFamily="34" charset="-122"/>
                <a:cs typeface="Calibri" pitchFamily="34" charset="-120"/>
              </a:rPr>
              <a:t>Nicolas Pichon - AIA RNCP 38777 - BC01 - Step 4 - v2 - 2026/10/13</a:t>
            </a:r>
            <a:endParaRPr lang="en-US" sz="950" dirty="0"/>
          </a:p>
        </p:txBody>
      </p:sp>
      <p:sp>
        <p:nvSpPr>
          <p:cNvPr id="21" name="Text 14"/>
          <p:cNvSpPr/>
          <p:nvPr/>
        </p:nvSpPr>
        <p:spPr>
          <a:xfrm>
            <a:off x="11002975" y="6473952"/>
            <a:ext cx="822960" cy="274320"/>
          </a:xfrm>
          <a:prstGeom prst="rect">
            <a:avLst/>
          </a:prstGeom>
          <a:noFill/>
          <a:ln/>
        </p:spPr>
        <p:txBody>
          <a:bodyPr wrap="square" lIns="0" tIns="0" rIns="0" bIns="0" rtlCol="0" anchor="ctr"/>
          <a:lstStyle/>
          <a:p>
            <a:pPr algn="r" indent="0" marL="0">
              <a:buNone/>
            </a:pPr>
            <a:r>
              <a:rPr lang="en-US" sz="950" dirty="0">
                <a:solidFill>
                  <a:srgbClr val="9FB0C9"/>
                </a:solidFill>
                <a:latin typeface="Calibri" pitchFamily="34" charset="0"/>
                <a:ea typeface="Calibri" pitchFamily="34" charset="-122"/>
                <a:cs typeface="Calibri" pitchFamily="34" charset="-120"/>
              </a:rPr>
              <a:t>10 / 10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AIA RNCP 38777 - BC01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Spotify - Gouvernance des Données et de l'IA</dc:title>
  <dc:subject>Data &amp; AI Governance - Présentation finale (Step 4)</dc:subject>
  <dc:creator>Nicolas Pichon</dc:creator>
  <cp:lastModifiedBy>Nicolas Pichon</cp:lastModifiedBy>
  <cp:revision>1</cp:revision>
  <dcterms:created xsi:type="dcterms:W3CDTF">2026-08-25T07:57:58Z</dcterms:created>
  <dcterms:modified xsi:type="dcterms:W3CDTF">2026-08-25T07:57:58Z</dcterms:modified>
</cp:coreProperties>
</file>