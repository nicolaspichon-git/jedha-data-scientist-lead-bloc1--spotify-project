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200" b="1">
                <a:solidFill>
                  <a:srgbClr val="1B2A4A"/>
                </a:solidFill>
                <a:latin typeface="Calibri"/>
              </a:rPr>
              <a:t>Niveau de maturité par dimension (échelle 0-5)</a:t>
            </a:r>
          </a:p>
        </c:rich>
      </c:tx>
      <c:layout/>
      <c:overlay val="0"/>
    </c:title>
    <c:autoTitleDeleted val="0"/>
    <c:plotArea>
      <c:barChart>
        <c:barDir val="bar"/>
        <c:grouping val="clustered"/>
        <c:ser>
          <c:idx val="0"/>
          <c:order val="0"/>
          <c:tx>
            <c:strRef>
              <c:f>Sheet1!$B$1</c:f>
              <c:strCache>
                <c:ptCount val="1"/>
                <c:pt idx="0">
                  <c:v>Niveau de maturité</c:v>
                </c:pt>
              </c:strCache>
            </c:strRef>
          </c:tx>
          <c:dPt>
            <c:idx val="0"/>
            <c:spPr>
              <a:solidFill>
                <a:srgbClr val="2DBE8C"/>
              </a:solidFill>
            </c:spPr>
          </c:dPt>
          <c:dPt>
            <c:idx val="1"/>
            <c:spPr>
              <a:solidFill>
                <a:srgbClr val="A9B6C9"/>
              </a:solidFill>
            </c:spPr>
          </c:dPt>
          <c:dPt>
            <c:idx val="2"/>
            <c:spPr>
              <a:solidFill>
                <a:srgbClr val="A9B6C9"/>
              </a:solidFill>
            </c:spPr>
          </c:dPt>
          <c:dPt>
            <c:idx val="3"/>
            <c:spPr>
              <a:solidFill>
                <a:srgbClr val="A9B6C9"/>
              </a:solidFill>
            </c:spPr>
          </c:dPt>
          <c:dPt>
            <c:idx val="4"/>
            <c:spPr>
              <a:solidFill>
                <a:srgbClr val="2DBE8C"/>
              </a:solidFill>
            </c:spPr>
          </c:dPt>
          <c:dPt>
            <c:idx val="5"/>
            <c:spPr>
              <a:solidFill>
                <a:srgbClr val="A9B6C9"/>
              </a:solidFill>
            </c:spPr>
          </c:dPt>
          <c:dPt>
            <c:idx val="6"/>
            <c:spPr>
              <a:solidFill>
                <a:srgbClr val="2DBE8C"/>
              </a:solidFill>
            </c:spPr>
          </c:dPt>
          <c:dPt>
            <c:idx val="7"/>
            <c:spPr>
              <a:solidFill>
                <a:srgbClr val="A9B6C9"/>
              </a:solidFill>
            </c:spPr>
          </c:dPt>
          <c:dPt>
            <c:idx val="8"/>
            <c:spPr>
              <a:solidFill>
                <a:srgbClr val="A9B6C9"/>
              </a:solidFill>
            </c:spPr>
          </c:dPt>
          <c:dPt>
            <c:idx val="9"/>
            <c:spPr>
              <a:solidFill>
                <a:srgbClr val="A9B6C9"/>
              </a:solidFill>
            </c:spPr>
          </c:dPt>
          <c:dPt>
            <c:idx val="10"/>
            <c:spPr>
              <a:solidFill>
                <a:srgbClr val="A9B6C9"/>
              </a:solidFill>
            </c:spPr>
          </c:dPt>
          <c:dPt>
            <c:idx val="11"/>
            <c:spPr>
              <a:solidFill>
                <a:srgbClr val="A9B6C9"/>
              </a:solidFill>
            </c:spPr>
          </c:dPt>
          <c:cat>
            <c:strRef>
              <c:f>Sheet1!$A$2:$A$13</c:f>
              <c:strCache>
                <c:ptCount val="12"/>
                <c:pt idx="0">
                  <c:v>Analytics &amp; BI</c:v>
                </c:pt>
                <c:pt idx="1">
                  <c:v>Intégration</c:v>
                </c:pt>
                <c:pt idx="2">
                  <c:v>Métadonnées</c:v>
                </c:pt>
                <c:pt idx="3">
                  <c:v>Master &amp; Reference Data</c:v>
                </c:pt>
                <c:pt idx="4">
                  <c:v>Littératie data</c:v>
                </c:pt>
                <c:pt idx="5">
                  <c:v>Sécurité</c:v>
                </c:pt>
                <c:pt idx="6">
                  <c:v>Usage &amp; Accessibilité</c:v>
                </c:pt>
                <c:pt idx="7">
                  <c:v>Conformité</c:v>
                </c:pt>
                <c:pt idx="8">
                  <c:v>Opérations</c:v>
                </c:pt>
                <c:pt idx="9">
                  <c:v>Architecture</c:v>
                </c:pt>
                <c:pt idx="10">
                  <c:v>Qualité</c:v>
                </c:pt>
                <c:pt idx="11">
                  <c:v>Gouvernance</c:v>
                </c:pt>
              </c:strCache>
            </c:strRef>
          </c:cat>
          <c:val>
            <c:numRef>
              <c:f>Sheet1!$B$2:$B$13</c:f>
              <c:numCache>
                <c:formatCode>General</c:formatCode>
                <c:ptCount val="12"/>
                <c:pt idx="0">
                  <c:v>2</c:v>
                </c:pt>
                <c:pt idx="1">
                  <c:v>1</c:v>
                </c:pt>
                <c:pt idx="2">
                  <c:v>1</c:v>
                </c:pt>
                <c:pt idx="3">
                  <c:v>1</c:v>
                </c:pt>
                <c:pt idx="4">
                  <c:v>2</c:v>
                </c:pt>
                <c:pt idx="5">
                  <c:v>1</c:v>
                </c:pt>
                <c:pt idx="6">
                  <c:v>2</c:v>
                </c:pt>
                <c:pt idx="7">
                  <c:v>1</c:v>
                </c:pt>
                <c:pt idx="8">
                  <c:v>1</c:v>
                </c:pt>
                <c:pt idx="9">
                  <c:v>1</c:v>
                </c:pt>
                <c:pt idx="10">
                  <c:v>1</c:v>
                </c:pt>
                <c:pt idx="11">
                  <c:v>1</c:v>
                </c:pt>
              </c:numCache>
            </c:numRef>
          </c:val>
        </c:ser>
        <c:dLbls>
          <c:numFmt formatCode="0" sourceLinked="0"/>
          <c:txPr>
            <a:bodyPr/>
            <a:lstStyle/>
            <a:p>
              <a:pPr>
                <a:defRPr sz="1000">
                  <a:solidFill>
                    <a:srgbClr val="1B2A4A"/>
                  </a:solidFill>
                  <a:latin typeface="Calibri"/>
                </a:defRPr>
              </a:pPr>
            </a:p>
          </c:txPr>
          <c:showLegendKey val="0"/>
          <c:showVal val="1"/>
          <c:showCatName val="0"/>
          <c:showSerName val="0"/>
          <c:showPercent val="0"/>
          <c:showBubbleSize val="0"/>
          <c:showLeaderLines val="1"/>
        </c:dLbls>
        <c:gapWidth val="35"/>
        <c:axId val="-2068027336"/>
        <c:axId val="-2113994440"/>
      </c:barChart>
      <c:catAx>
        <c:axId val="-2068027336"/>
        <c:scaling>
          <c:orientation val="minMax"/>
        </c:scaling>
        <c:delete val="0"/>
        <c:axPos val="l"/>
        <c:majorTickMark val="out"/>
        <c:minorTickMark val="none"/>
        <c:tickLblPos val="nextTo"/>
        <c:spPr>
          <a:ln>
            <a:solidFill>
              <a:srgbClr val="D8DEE6"/>
            </a:solidFill>
          </a:ln>
        </c:spPr>
        <c:txPr>
          <a:bodyPr/>
          <a:lstStyle/>
          <a:p>
            <a:pPr>
              <a:defRPr sz="1050">
                <a:solidFill>
                  <a:srgbClr val="1B2A4A"/>
                </a:solidFill>
                <a:latin typeface="Calibri"/>
              </a:defRPr>
            </a:pPr>
          </a:p>
        </c:txPr>
        <c:crossAx val="-2113994440"/>
        <c:crosses val="autoZero"/>
        <c:auto val="1"/>
        <c:lblAlgn val="ctr"/>
        <c:lblOffset val="100"/>
        <c:noMultiLvlLbl val="0"/>
      </c:catAx>
      <c:valAx>
        <c:axId val="-2113994440"/>
        <c:scaling>
          <c:max val="5.0"/>
          <c:min val="0.0"/>
        </c:scaling>
        <c:delete val="0"/>
        <c:axPos val="b"/>
        <c:majorGridlines>
          <c:spPr>
            <a:ln>
              <a:solidFill>
                <a:srgbClr val="D8DEE6"/>
              </a:solidFill>
            </a:ln>
          </c:spPr>
        </c:majorGridlines>
        <c:majorTickMark val="out"/>
        <c:minorTickMark val="none"/>
        <c:tickLblPos val="nextTo"/>
        <c:spPr>
          <a:ln>
            <a:solidFill>
              <a:srgbClr val="D8DEE6"/>
            </a:solidFill>
          </a:ln>
        </c:spPr>
        <c:txPr>
          <a:bodyPr/>
          <a:lstStyle/>
          <a:p>
            <a:pPr>
              <a:defRPr sz="950">
                <a:solidFill>
                  <a:srgbClr val="5B6B84"/>
                </a:solidFill>
              </a:defRPr>
            </a:pPr>
          </a:p>
        </c:txPr>
        <c:crossAx val="-2068027336"/>
        <c:crosses val="autoZero"/>
        <c:majorUnit val="1.0"/>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Introduction : Spotify opere a l'echelle mondiale (450M+ utilisateurs, 180+ pays) avec une dependance forte aux donnees (recommandation, personnalisation, monetisation). Le projet presente aujourd'hui repond a une demande de cadrage transverse : gouvernance des donnees ET de l'IA, pas seulement conformite. Objectif de la session : validation du cadre, de l'organisation cible, et du plan de deploiement propose (pilote puis generalisation).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 dimensions evaluees selon la methodologie DMAT [R1], appliquee au business case Spotify [R2]. Niveau moyen ~1,25 sur 5. Points d'appui a 2 : usage/accessibilite, litteratie data, analytics &amp; BI (le moteur de recommandation est deja en production). Le reste (gouvernance, qualite, securite, conformite, architecture, operations, metadonnees, integration, master data) reste au niveau 1 : initiatives locales, non generalisees, non mesurees. Message cle pour le comite : l'entreprise sait deja produire de la valeur avec la donnee, le risque est dans la gouvernance de cette capacite, pas dans la capacite elle-meme.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Ordre de criticite justifie dans [D1]. E5 (gouvernance IA) est le seul enjeu qui n'est pas deja nomme comme tel dans le business case [R2] : c'est un gap identifie par le diagnostic, pas une demande initiale de Spotify. Le modele organisationnel choisi a la slide suivante repond specifiquement a E1 et E6 ; la politique de gouvernance repond a E2, E3, E4, E5.</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9 principes viennent du referentiel fourni [R4] et sont reprises telles quelles dans la politique [D21]. Point notable pour le comite : P8 (ethique &amp; gouvernance IA) est le principe le plus operationnalise dans le document -- il donne lieu a 4 exigences concretes (tracabilite, biais, responsabilite/approbation proportionnee, explicabilite), detaillees a la slide Gouvernance IA.</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CDO, DPO et Legal Team rapportent au CEO (independance DPO exigee par le GDPR art. 38 par. 3). Le DGC est preside par le CDO. Le Model Risk Manager rapporte au CDO au quotidien mais peut escalader directement au DGC -- ce qui preserve son independance vis-a-vis des equipes dont il evalue les modeles. Les Data Custodians sont centralises dans Engineering mais servent tous les departements transversalement. Les Model Owners sont dans Product Development, separes du Model Risk Manager (separation execution / controle).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trois cadres sont traites separement dans la politique [D21], chacun avec ses propres exigences operationnelles issues de la checklist de conformite [R5]. La difficulte specifique de Spotify est la dimension multi-juridictionnelle (enjeu E3) : au-dela du socle GDPR/CCPA/PCI-DSS, chaque marche local (ex. PDPA a Singapour) doit etre cartographie separement, sous la responsabilite conjointe de Legal Team et du DPO.</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proportionnalite du circuit d'approbation est le point cle a defendre devant le comite : elle evite qu'un circuit concu pour les modeles a fort impact ne devienne un frein systematique au deploiement des modeles a impact modere ou faible. Le DGC est Accountable sur l'approbation des modeles a fort impact, alors que le CDO -- qui preside le DGC -- n'est que Consulted sur cette decision : c'est volontaire, pour eviter que le CDO soit juge et partie sur ses propres arbitrages IA. Le calibrage final des seuils sera affine avec les resultats du pilote [D3].</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Chaque outil repond a un role precis du modele CoE et a un enjeu identifie en [D1]. La selection resulte d'une comparaison entre les outils recommandes [R8] et des alternatives open source (retenues sur la majorite des lignes, sauf Collibra et TrustArc). Le pilote est volontairement resserre sur un seul sous-perimetre (systeme de recommandation) pour valider le rattachement fonctionnel des Data Stewards, le circuit d'approbation des modeles, et le cout reel d'ingenierie avant generalisation. La conformite GDPR complete (E3/E4) reste hors perimetre du pilote : un RoPA scope a un seul departement ne vaut pas conformite article 30.</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sequencement suit le niveau de risque et le cout marginal : Marketing en priorite pour E3/E4 (risque reglementaire le plus eleve), puis Content Curation pour E2/metadonnees. La phase de securisation (annuaire central, roles OpenBao, integrations SSO) ne se reproduit pas integralement aux phases suivantes : seule une migration allegee est reconduite par departement. Message pour le comite : la duree totale (22-24 mois) est deliberement prudente, pas un retard -- elle finance la rigueur de la phase 1.</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Synthese de la valeur business [R11, Q3] : economies, conformite, confiance, scalabilite. Les prochaines etapes sont volontairement concretes et actionnables des la sortie de cette reunion : lancement du pilote, nomination des roles, premiere revue de maturite a M5, et gouvernance des decisions de passage a l'echelle phase par phase plutot qu'un engagement global fige sur 24 mois.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image" Target="../media/image6.png"/><Relationship Id="rId5" Type="http://schemas.openxmlformats.org/officeDocument/2006/relationships/image" Target="../media/image3.png"/><Relationship Id="rId6" Type="http://schemas.openxmlformats.org/officeDocument/2006/relationships/image" Target="../media/image12.png"/><Relationship Id="rId7"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2A4A"/>
        </a:solidFill>
        <a:effectLst/>
      </p:bgPr>
    </p:bg>
    <p:spTree>
      <p:nvGrpSpPr>
        <p:cNvPr id="1" name=""/>
        <p:cNvGrpSpPr/>
        <p:nvPr/>
      </p:nvGrpSpPr>
      <p:grpSpPr/>
      <p:sp>
        <p:nvSpPr>
          <p:cNvPr id="2" name="TextBox 1"/>
          <p:cNvSpPr txBox="1"/>
          <p:nvPr/>
        </p:nvSpPr>
        <p:spPr>
          <a:xfrm>
            <a:off x="640080" y="685800"/>
            <a:ext cx="8229600" cy="320040"/>
          </a:xfrm>
          <a:prstGeom prst="rect">
            <a:avLst/>
          </a:prstGeom>
          <a:noFill/>
        </p:spPr>
        <p:txBody>
          <a:bodyPr wrap="square" lIns="0" rIns="0" tIns="0" bIns="0">
            <a:noAutofit/>
          </a:bodyPr>
          <a:lstStyle/>
          <a:p>
            <a:r>
              <a:rPr sz="1300" b="1" i="0" spc="200">
                <a:solidFill>
                  <a:srgbClr val="2DBE8C"/>
                </a:solidFill>
                <a:latin typeface="Calibri"/>
              </a:rPr>
              <a:t>SPOTIFY - DATA &amp; AI GOVERNANCE PROJECT</a:t>
            </a:r>
          </a:p>
        </p:txBody>
      </p:sp>
      <p:sp>
        <p:nvSpPr>
          <p:cNvPr id="3" name="TextBox 2"/>
          <p:cNvSpPr txBox="1"/>
          <p:nvPr/>
        </p:nvSpPr>
        <p:spPr>
          <a:xfrm>
            <a:off x="640080" y="1417320"/>
            <a:ext cx="8503920" cy="1554480"/>
          </a:xfrm>
          <a:prstGeom prst="rect">
            <a:avLst/>
          </a:prstGeom>
          <a:noFill/>
        </p:spPr>
        <p:txBody>
          <a:bodyPr wrap="square" lIns="0" rIns="0" tIns="0" bIns="0">
            <a:noAutofit/>
          </a:bodyPr>
          <a:lstStyle/>
          <a:p>
            <a:pPr>
              <a:lnSpc>
                <a:spcPct val="105000"/>
              </a:lnSpc>
            </a:pPr>
            <a:r>
              <a:rPr sz="4000" b="1" i="0">
                <a:solidFill>
                  <a:srgbClr val="FFFFFF"/>
                </a:solidFill>
                <a:latin typeface="Cambria"/>
              </a:rPr>
              <a:t>Gouvernance des Données et de l'Intelligence Artificielle</a:t>
            </a:r>
          </a:p>
        </p:txBody>
      </p:sp>
      <p:sp>
        <p:nvSpPr>
          <p:cNvPr id="4" name="TextBox 3"/>
          <p:cNvSpPr txBox="1"/>
          <p:nvPr/>
        </p:nvSpPr>
        <p:spPr>
          <a:xfrm>
            <a:off x="640080" y="2880360"/>
            <a:ext cx="7863840" cy="640080"/>
          </a:xfrm>
          <a:prstGeom prst="rect">
            <a:avLst/>
          </a:prstGeom>
          <a:noFill/>
        </p:spPr>
        <p:txBody>
          <a:bodyPr wrap="square" lIns="0" rIns="0" tIns="0" bIns="0">
            <a:noAutofit/>
          </a:bodyPr>
          <a:lstStyle/>
          <a:p>
            <a:r>
              <a:rPr sz="1700" b="0" i="1">
                <a:solidFill>
                  <a:srgbClr val="CADCFC"/>
                </a:solidFill>
                <a:latin typeface="Calibri"/>
              </a:rPr>
              <a:t>Cadre, organisation et plan de mise en œuvre - Présentation au Comité Exécutif et au Leadership IA</a:t>
            </a:r>
          </a:p>
        </p:txBody>
      </p:sp>
      <p:sp>
        <p:nvSpPr>
          <p:cNvPr id="5" name="TextBox 4"/>
          <p:cNvSpPr txBox="1"/>
          <p:nvPr/>
        </p:nvSpPr>
        <p:spPr>
          <a:xfrm>
            <a:off x="640080" y="4160520"/>
            <a:ext cx="2377440" cy="685800"/>
          </a:xfrm>
          <a:prstGeom prst="rect">
            <a:avLst/>
          </a:prstGeom>
          <a:noFill/>
        </p:spPr>
        <p:txBody>
          <a:bodyPr wrap="square" lIns="0" rIns="0" tIns="0" bIns="0">
            <a:noAutofit/>
          </a:bodyPr>
          <a:lstStyle/>
          <a:p>
            <a:r>
              <a:rPr sz="3400" b="1" i="0">
                <a:solidFill>
                  <a:srgbClr val="2DBE8C"/>
                </a:solidFill>
                <a:latin typeface="Cambria"/>
              </a:rPr>
              <a:t>450M+</a:t>
            </a:r>
          </a:p>
        </p:txBody>
      </p:sp>
      <p:sp>
        <p:nvSpPr>
          <p:cNvPr id="6" name="TextBox 5"/>
          <p:cNvSpPr txBox="1"/>
          <p:nvPr/>
        </p:nvSpPr>
        <p:spPr>
          <a:xfrm>
            <a:off x="640080" y="4818888"/>
            <a:ext cx="2377440" cy="365760"/>
          </a:xfrm>
          <a:prstGeom prst="rect">
            <a:avLst/>
          </a:prstGeom>
          <a:noFill/>
        </p:spPr>
        <p:txBody>
          <a:bodyPr wrap="square" lIns="0" rIns="0" tIns="0" bIns="0">
            <a:noAutofit/>
          </a:bodyPr>
          <a:lstStyle/>
          <a:p>
            <a:r>
              <a:rPr sz="1250" b="0" i="0">
                <a:solidFill>
                  <a:srgbClr val="CADCFC"/>
                </a:solidFill>
                <a:latin typeface="Calibri"/>
              </a:rPr>
              <a:t>utilisateurs actifs</a:t>
            </a:r>
          </a:p>
        </p:txBody>
      </p:sp>
      <p:sp>
        <p:nvSpPr>
          <p:cNvPr id="7" name="TextBox 6"/>
          <p:cNvSpPr txBox="1"/>
          <p:nvPr/>
        </p:nvSpPr>
        <p:spPr>
          <a:xfrm>
            <a:off x="3337560" y="4160520"/>
            <a:ext cx="2377440" cy="685800"/>
          </a:xfrm>
          <a:prstGeom prst="rect">
            <a:avLst/>
          </a:prstGeom>
          <a:noFill/>
        </p:spPr>
        <p:txBody>
          <a:bodyPr wrap="square" lIns="0" rIns="0" tIns="0" bIns="0">
            <a:noAutofit/>
          </a:bodyPr>
          <a:lstStyle/>
          <a:p>
            <a:r>
              <a:rPr sz="3400" b="1" i="0">
                <a:solidFill>
                  <a:srgbClr val="2DBE8C"/>
                </a:solidFill>
                <a:latin typeface="Cambria"/>
              </a:rPr>
              <a:t>200M</a:t>
            </a:r>
          </a:p>
        </p:txBody>
      </p:sp>
      <p:sp>
        <p:nvSpPr>
          <p:cNvPr id="8" name="TextBox 7"/>
          <p:cNvSpPr txBox="1"/>
          <p:nvPr/>
        </p:nvSpPr>
        <p:spPr>
          <a:xfrm>
            <a:off x="3337560" y="4818888"/>
            <a:ext cx="2377440" cy="365760"/>
          </a:xfrm>
          <a:prstGeom prst="rect">
            <a:avLst/>
          </a:prstGeom>
          <a:noFill/>
        </p:spPr>
        <p:txBody>
          <a:bodyPr wrap="square" lIns="0" rIns="0" tIns="0" bIns="0">
            <a:noAutofit/>
          </a:bodyPr>
          <a:lstStyle/>
          <a:p>
            <a:r>
              <a:rPr sz="1250" b="0" i="0">
                <a:solidFill>
                  <a:srgbClr val="CADCFC"/>
                </a:solidFill>
                <a:latin typeface="Calibri"/>
              </a:rPr>
              <a:t>abonnés premium</a:t>
            </a:r>
          </a:p>
        </p:txBody>
      </p:sp>
      <p:sp>
        <p:nvSpPr>
          <p:cNvPr id="9" name="TextBox 8"/>
          <p:cNvSpPr txBox="1"/>
          <p:nvPr/>
        </p:nvSpPr>
        <p:spPr>
          <a:xfrm>
            <a:off x="6035040" y="4160520"/>
            <a:ext cx="2377440" cy="685800"/>
          </a:xfrm>
          <a:prstGeom prst="rect">
            <a:avLst/>
          </a:prstGeom>
          <a:noFill/>
        </p:spPr>
        <p:txBody>
          <a:bodyPr wrap="square" lIns="0" rIns="0" tIns="0" bIns="0">
            <a:noAutofit/>
          </a:bodyPr>
          <a:lstStyle/>
          <a:p>
            <a:r>
              <a:rPr sz="3400" b="1" i="0">
                <a:solidFill>
                  <a:srgbClr val="2DBE8C"/>
                </a:solidFill>
                <a:latin typeface="Cambria"/>
              </a:rPr>
              <a:t>180+</a:t>
            </a:r>
          </a:p>
        </p:txBody>
      </p:sp>
      <p:sp>
        <p:nvSpPr>
          <p:cNvPr id="10" name="TextBox 9"/>
          <p:cNvSpPr txBox="1"/>
          <p:nvPr/>
        </p:nvSpPr>
        <p:spPr>
          <a:xfrm>
            <a:off x="6035040" y="4818888"/>
            <a:ext cx="2377440" cy="365760"/>
          </a:xfrm>
          <a:prstGeom prst="rect">
            <a:avLst/>
          </a:prstGeom>
          <a:noFill/>
        </p:spPr>
        <p:txBody>
          <a:bodyPr wrap="square" lIns="0" rIns="0" tIns="0" bIns="0">
            <a:noAutofit/>
          </a:bodyPr>
          <a:lstStyle/>
          <a:p>
            <a:r>
              <a:rPr sz="1250" b="0" i="0">
                <a:solidFill>
                  <a:srgbClr val="CADCFC"/>
                </a:solidFill>
                <a:latin typeface="Calibri"/>
              </a:rPr>
              <a:t>pays d'opération</a:t>
            </a:r>
          </a:p>
        </p:txBody>
      </p:sp>
      <p:sp>
        <p:nvSpPr>
          <p:cNvPr id="11" name="TextBox 10"/>
          <p:cNvSpPr txBox="1"/>
          <p:nvPr/>
        </p:nvSpPr>
        <p:spPr>
          <a:xfrm>
            <a:off x="640080" y="6355080"/>
            <a:ext cx="7315200" cy="274320"/>
          </a:xfrm>
          <a:prstGeom prst="rect">
            <a:avLst/>
          </a:prstGeom>
          <a:noFill/>
        </p:spPr>
        <p:txBody>
          <a:bodyPr wrap="square" lIns="0" rIns="0" tIns="0" bIns="0">
            <a:noAutofit/>
          </a:bodyPr>
          <a:lstStyle/>
          <a:p>
            <a:r>
              <a:rPr sz="1050" b="0" i="0">
                <a:solidFill>
                  <a:srgbClr val="9FB0C9"/>
                </a:solidFill>
                <a:latin typeface="Calibri"/>
              </a:rPr>
              <a:t>Nicolas Pichon - AIA RNCP 38777 - BC01 - Step 4 - v2 - 2026/10/13</a:t>
            </a:r>
          </a:p>
        </p:txBody>
      </p:sp>
      <p:sp>
        <p:nvSpPr>
          <p:cNvPr id="12" name="TextBox 11"/>
          <p:cNvSpPr txBox="1"/>
          <p:nvPr/>
        </p:nvSpPr>
        <p:spPr>
          <a:xfrm>
            <a:off x="11002975" y="6355080"/>
            <a:ext cx="822960" cy="274320"/>
          </a:xfrm>
          <a:prstGeom prst="rect">
            <a:avLst/>
          </a:prstGeom>
          <a:noFill/>
        </p:spPr>
        <p:txBody>
          <a:bodyPr wrap="square" lIns="0" rIns="0" tIns="0" bIns="0">
            <a:noAutofit/>
          </a:bodyPr>
          <a:lstStyle/>
          <a:p>
            <a:pPr algn="r"/>
            <a:r>
              <a:rPr sz="1050" b="0" i="0">
                <a:solidFill>
                  <a:srgbClr val="9FB0C9"/>
                </a:solidFill>
                <a:latin typeface="Calibri"/>
              </a:rPr>
              <a:t>1 / 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2F4F7"/>
        </a:solidFill>
        <a:effectLst/>
      </p:bgPr>
    </p:bg>
    <p:spTree>
      <p:nvGrpSpPr>
        <p:cNvPr id="1" name=""/>
        <p:cNvGrpSpPr/>
        <p:nvPr/>
      </p:nvGrpSpPr>
      <p:grpSpPr/>
      <p:sp>
        <p:nvSpPr>
          <p:cNvPr id="2" name="TextBox 1"/>
          <p:cNvSpPr txBox="1"/>
          <p:nvPr/>
        </p:nvSpPr>
        <p:spPr>
          <a:xfrm>
            <a:off x="548640" y="384048"/>
            <a:ext cx="7315200" cy="292608"/>
          </a:xfrm>
          <a:prstGeom prst="rect">
            <a:avLst/>
          </a:prstGeom>
          <a:noFill/>
        </p:spPr>
        <p:txBody>
          <a:bodyPr wrap="square" lIns="0" rIns="0" tIns="0" bIns="0">
            <a:noAutofit/>
          </a:bodyPr>
          <a:lstStyle/>
          <a:p>
            <a:r>
              <a:rPr sz="1200" b="1" i="0" spc="200">
                <a:solidFill>
                  <a:srgbClr val="1C8C68"/>
                </a:solidFill>
                <a:latin typeface="Calibri"/>
              </a:rPr>
              <a:t>DIAGNOSTIC</a:t>
            </a:r>
          </a:p>
        </p:txBody>
      </p:sp>
      <p:sp>
        <p:nvSpPr>
          <p:cNvPr id="3" name="TextBox 2"/>
          <p:cNvSpPr txBox="1"/>
          <p:nvPr/>
        </p:nvSpPr>
        <p:spPr>
          <a:xfrm>
            <a:off x="548640" y="658368"/>
            <a:ext cx="9509760" cy="868680"/>
          </a:xfrm>
          <a:prstGeom prst="rect">
            <a:avLst/>
          </a:prstGeom>
          <a:noFill/>
        </p:spPr>
        <p:txBody>
          <a:bodyPr wrap="square" lIns="0" rIns="0" tIns="0" bIns="0" anchor="t">
            <a:noAutofit/>
          </a:bodyPr>
          <a:lstStyle/>
          <a:p>
            <a:pPr>
              <a:lnSpc>
                <a:spcPct val="102000"/>
              </a:lnSpc>
            </a:pPr>
            <a:r>
              <a:rPr sz="2800" b="1" i="0">
                <a:solidFill>
                  <a:srgbClr val="1B2A4A"/>
                </a:solidFill>
                <a:latin typeface="Cambria"/>
              </a:rPr>
              <a:t>Une maturité data en phase initiale, un potentiel analytique déjà avancé</a:t>
            </a:r>
          </a:p>
        </p:txBody>
      </p:sp>
      <p:pic>
        <p:nvPicPr>
          <p:cNvPr id="4" name="Picture 3" descr="icon_barchart.png"/>
          <p:cNvPicPr>
            <a:picLocks noChangeAspect="1"/>
          </p:cNvPicPr>
          <p:nvPr/>
        </p:nvPicPr>
        <p:blipFill>
          <a:blip r:embed="rId2"/>
          <a:stretch>
            <a:fillRect/>
          </a:stretch>
        </p:blipFill>
        <p:spPr>
          <a:xfrm>
            <a:off x="11140135" y="365760"/>
            <a:ext cx="658368" cy="658368"/>
          </a:xfrm>
          <a:prstGeom prst="rect">
            <a:avLst/>
          </a:prstGeom>
        </p:spPr>
      </p:pic>
      <p:graphicFrame>
        <p:nvGraphicFramePr>
          <p:cNvPr id="5" name="Chart 4"/>
          <p:cNvGraphicFramePr>
            <a:graphicFrameLocks noGrp="1"/>
          </p:cNvGraphicFramePr>
          <p:nvPr/>
        </p:nvGraphicFramePr>
        <p:xfrm>
          <a:off x="502920" y="1691640"/>
          <a:ext cx="6949440" cy="4480560"/>
        </p:xfrm>
        <a:graphic>
          <a:graphicData uri="http://schemas.openxmlformats.org/drawingml/2006/chart">
            <c:chart xmlns:c="http://schemas.openxmlformats.org/drawingml/2006/chart" r:id="rId3"/>
          </a:graphicData>
        </a:graphic>
      </p:graphicFrame>
      <p:sp>
        <p:nvSpPr>
          <p:cNvPr id="6" name="Rounded Rectangle 5"/>
          <p:cNvSpPr/>
          <p:nvPr/>
        </p:nvSpPr>
        <p:spPr>
          <a:xfrm>
            <a:off x="7726679" y="1691640"/>
            <a:ext cx="3931920" cy="1417320"/>
          </a:xfrm>
          <a:prstGeom prst="roundRect">
            <a:avLst>
              <a:gd name="adj" fmla="val 8000"/>
            </a:avLst>
          </a:prstGeom>
          <a:solidFill>
            <a:srgbClr val="FFFFFF"/>
          </a:solidFill>
          <a:ln w="9525">
            <a:solidFill>
              <a:srgbClr val="D8DEE6"/>
            </a:solidFill>
          </a:ln>
          <a:effectLst>
            <a:outerShdw blurRad="63500" dist="19050" dir="5400000" rotWithShape="0">
              <a:srgbClr val="1B2A4A">
                <a:alpha val="12000"/>
              </a:srgbClr>
            </a:outerShdw>
          </a:effectLst>
        </p:spPr>
        <p:txBody>
          <a:bodyPr rtlCol="0" anchor="ctr"/>
          <a:lstStyle/>
          <a:p>
            <a:pPr algn="ctr"/>
          </a:p>
        </p:txBody>
      </p:sp>
      <p:sp>
        <p:nvSpPr>
          <p:cNvPr id="7" name="TextBox 6"/>
          <p:cNvSpPr txBox="1"/>
          <p:nvPr/>
        </p:nvSpPr>
        <p:spPr>
          <a:xfrm>
            <a:off x="7955279" y="1810512"/>
            <a:ext cx="3474720" cy="640080"/>
          </a:xfrm>
          <a:prstGeom prst="rect">
            <a:avLst/>
          </a:prstGeom>
          <a:noFill/>
        </p:spPr>
        <p:txBody>
          <a:bodyPr wrap="square" lIns="0" rIns="0" tIns="0" bIns="0">
            <a:noAutofit/>
          </a:bodyPr>
          <a:lstStyle/>
          <a:p>
            <a:r>
              <a:rPr sz="3000" b="1" i="0">
                <a:solidFill>
                  <a:srgbClr val="1B2A4A"/>
                </a:solidFill>
                <a:latin typeface="Cambria"/>
              </a:rPr>
              <a:t>1,25 / 5</a:t>
            </a:r>
          </a:p>
        </p:txBody>
      </p:sp>
      <p:sp>
        <p:nvSpPr>
          <p:cNvPr id="8" name="TextBox 7"/>
          <p:cNvSpPr txBox="1"/>
          <p:nvPr/>
        </p:nvSpPr>
        <p:spPr>
          <a:xfrm>
            <a:off x="7955279" y="2450592"/>
            <a:ext cx="3520440" cy="548640"/>
          </a:xfrm>
          <a:prstGeom prst="rect">
            <a:avLst/>
          </a:prstGeom>
          <a:noFill/>
        </p:spPr>
        <p:txBody>
          <a:bodyPr wrap="square" lIns="0" rIns="0" tIns="0" bIns="0">
            <a:noAutofit/>
          </a:bodyPr>
          <a:lstStyle/>
          <a:p>
            <a:r>
              <a:rPr sz="1150" b="0" i="0">
                <a:solidFill>
                  <a:srgbClr val="5B6B84"/>
                </a:solidFill>
                <a:latin typeface="Calibri"/>
              </a:rPr>
              <a:t>Niveau moyen de maturité actuel - gouvernance locale, réactive, dispersée</a:t>
            </a:r>
          </a:p>
        </p:txBody>
      </p:sp>
      <p:sp>
        <p:nvSpPr>
          <p:cNvPr id="9" name="Rounded Rectangle 8"/>
          <p:cNvSpPr/>
          <p:nvPr/>
        </p:nvSpPr>
        <p:spPr>
          <a:xfrm>
            <a:off x="7726679" y="3246120"/>
            <a:ext cx="3931920" cy="1234440"/>
          </a:xfrm>
          <a:prstGeom prst="roundRect">
            <a:avLst>
              <a:gd name="adj" fmla="val 8000"/>
            </a:avLst>
          </a:prstGeom>
          <a:solidFill>
            <a:srgbClr val="EAF7F1"/>
          </a:solidFill>
          <a:ln w="9525">
            <a:solidFill>
              <a:srgbClr val="D8DEE6"/>
            </a:solidFill>
          </a:ln>
          <a:effectLst>
            <a:outerShdw blurRad="63500" dist="19050" dir="5400000" rotWithShape="0">
              <a:srgbClr val="1B2A4A">
                <a:alpha val="12000"/>
              </a:srgbClr>
            </a:outerShdw>
          </a:effectLst>
        </p:spPr>
        <p:txBody>
          <a:bodyPr rtlCol="0" anchor="ctr"/>
          <a:lstStyle/>
          <a:p>
            <a:pPr algn="ctr"/>
          </a:p>
        </p:txBody>
      </p:sp>
      <p:sp>
        <p:nvSpPr>
          <p:cNvPr id="10" name="TextBox 9"/>
          <p:cNvSpPr txBox="1"/>
          <p:nvPr/>
        </p:nvSpPr>
        <p:spPr>
          <a:xfrm>
            <a:off x="7955279" y="3364992"/>
            <a:ext cx="3520440" cy="365760"/>
          </a:xfrm>
          <a:prstGeom prst="rect">
            <a:avLst/>
          </a:prstGeom>
          <a:noFill/>
        </p:spPr>
        <p:txBody>
          <a:bodyPr wrap="square" lIns="0" rIns="0" tIns="0" bIns="0">
            <a:noAutofit/>
          </a:bodyPr>
          <a:lstStyle/>
          <a:p>
            <a:r>
              <a:rPr sz="1400" b="1" i="0">
                <a:solidFill>
                  <a:srgbClr val="1C8C68"/>
                </a:solidFill>
                <a:latin typeface="Calibri"/>
              </a:rPr>
              <a:t>Cible à moyen terme : niveau 3</a:t>
            </a:r>
          </a:p>
        </p:txBody>
      </p:sp>
      <p:sp>
        <p:nvSpPr>
          <p:cNvPr id="11" name="TextBox 10"/>
          <p:cNvSpPr txBox="1"/>
          <p:nvPr/>
        </p:nvSpPr>
        <p:spPr>
          <a:xfrm>
            <a:off x="7955279" y="3730752"/>
            <a:ext cx="3520440" cy="594360"/>
          </a:xfrm>
          <a:prstGeom prst="rect">
            <a:avLst/>
          </a:prstGeom>
          <a:noFill/>
        </p:spPr>
        <p:txBody>
          <a:bodyPr wrap="square" lIns="0" rIns="0" tIns="0" bIns="0">
            <a:noAutofit/>
          </a:bodyPr>
          <a:lstStyle/>
          <a:p>
            <a:r>
              <a:rPr sz="1100" b="0" i="0">
                <a:solidFill>
                  <a:srgbClr val="5B6B84"/>
                </a:solidFill>
                <a:latin typeface="Calibri"/>
              </a:rPr>
              <a:t>Gouvernance bien définie et globale, portée par la politique de gouvernance</a:t>
            </a:r>
          </a:p>
        </p:txBody>
      </p:sp>
      <p:sp>
        <p:nvSpPr>
          <p:cNvPr id="12" name="Rounded Rectangle 11"/>
          <p:cNvSpPr/>
          <p:nvPr/>
        </p:nvSpPr>
        <p:spPr>
          <a:xfrm>
            <a:off x="7726679" y="4617720"/>
            <a:ext cx="3931920" cy="1554480"/>
          </a:xfrm>
          <a:prstGeom prst="roundRect">
            <a:avLst>
              <a:gd name="adj" fmla="val 8000"/>
            </a:avLst>
          </a:prstGeom>
          <a:solidFill>
            <a:srgbClr val="FFFFFF"/>
          </a:solidFill>
          <a:ln w="9525">
            <a:solidFill>
              <a:srgbClr val="D8DEE6"/>
            </a:solidFill>
          </a:ln>
          <a:effectLst>
            <a:outerShdw blurRad="63500" dist="19050" dir="5400000" rotWithShape="0">
              <a:srgbClr val="1B2A4A">
                <a:alpha val="12000"/>
              </a:srgbClr>
            </a:outerShdw>
          </a:effectLst>
        </p:spPr>
        <p:txBody>
          <a:bodyPr rtlCol="0" anchor="ctr"/>
          <a:lstStyle/>
          <a:p>
            <a:pPr algn="ctr"/>
          </a:p>
        </p:txBody>
      </p:sp>
      <p:sp>
        <p:nvSpPr>
          <p:cNvPr id="13" name="TextBox 12"/>
          <p:cNvSpPr txBox="1"/>
          <p:nvPr/>
        </p:nvSpPr>
        <p:spPr>
          <a:xfrm>
            <a:off x="7955279" y="4754880"/>
            <a:ext cx="3520440" cy="1280160"/>
          </a:xfrm>
          <a:prstGeom prst="rect">
            <a:avLst/>
          </a:prstGeom>
          <a:noFill/>
        </p:spPr>
        <p:txBody>
          <a:bodyPr wrap="square" lIns="0" rIns="0" tIns="0" bIns="0" anchor="t">
            <a:noAutofit/>
          </a:bodyPr>
          <a:lstStyle/>
          <a:p>
            <a:r>
              <a:rPr sz="1150" b="0" i="1">
                <a:solidFill>
                  <a:srgbClr val="1B2A4A"/>
                </a:solidFill>
                <a:latin typeface="Calibri"/>
              </a:rPr>
              <a:t>Un cadre est défini (rôles, outils identifiés) mais pas encore déployé : ni audit, ni monitoring, ni politique appliquée sur le terrain.</a:t>
            </a:r>
          </a:p>
        </p:txBody>
      </p:sp>
      <p:sp>
        <p:nvSpPr>
          <p:cNvPr id="14" name="TextBox 13"/>
          <p:cNvSpPr txBox="1"/>
          <p:nvPr/>
        </p:nvSpPr>
        <p:spPr>
          <a:xfrm>
            <a:off x="548640" y="6473952"/>
            <a:ext cx="8686800" cy="274320"/>
          </a:xfrm>
          <a:prstGeom prst="rect">
            <a:avLst/>
          </a:prstGeom>
          <a:noFill/>
        </p:spPr>
        <p:txBody>
          <a:bodyPr wrap="square" lIns="0" rIns="0" tIns="0" bIns="0">
            <a:noAutofit/>
          </a:bodyPr>
          <a:lstStyle/>
          <a:p>
            <a:r>
              <a:rPr sz="950" b="0" i="1">
                <a:solidFill>
                  <a:srgbClr val="8493A8"/>
                </a:solidFill>
                <a:latin typeface="Calibri"/>
              </a:rPr>
              <a:t>Source : [D1] Data &amp; AI Maturity Assessment Report - Méthodologie [R1] Australian Government DMAT</a:t>
            </a:r>
          </a:p>
        </p:txBody>
      </p:sp>
      <p:sp>
        <p:nvSpPr>
          <p:cNvPr id="15" name="TextBox 14"/>
          <p:cNvSpPr txBox="1"/>
          <p:nvPr/>
        </p:nvSpPr>
        <p:spPr>
          <a:xfrm>
            <a:off x="11002975" y="6473952"/>
            <a:ext cx="822960" cy="274320"/>
          </a:xfrm>
          <a:prstGeom prst="rect">
            <a:avLst/>
          </a:prstGeom>
          <a:noFill/>
        </p:spPr>
        <p:txBody>
          <a:bodyPr wrap="square" lIns="0" rIns="0" tIns="0" bIns="0">
            <a:noAutofit/>
          </a:bodyPr>
          <a:lstStyle/>
          <a:p>
            <a:pPr algn="r"/>
            <a:r>
              <a:rPr sz="950" b="0" i="0">
                <a:solidFill>
                  <a:srgbClr val="8493A8"/>
                </a:solidFill>
                <a:latin typeface="Calibri"/>
              </a:rPr>
              <a:t>2 / 10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2F4F7"/>
        </a:solidFill>
        <a:effectLst/>
      </p:bgPr>
    </p:bg>
    <p:spTree>
      <p:nvGrpSpPr>
        <p:cNvPr id="1" name=""/>
        <p:cNvGrpSpPr/>
        <p:nvPr/>
      </p:nvGrpSpPr>
      <p:grpSpPr/>
      <p:sp>
        <p:nvSpPr>
          <p:cNvPr id="2" name="TextBox 1"/>
          <p:cNvSpPr txBox="1"/>
          <p:nvPr/>
        </p:nvSpPr>
        <p:spPr>
          <a:xfrm>
            <a:off x="548640" y="384048"/>
            <a:ext cx="7315200" cy="292608"/>
          </a:xfrm>
          <a:prstGeom prst="rect">
            <a:avLst/>
          </a:prstGeom>
          <a:noFill/>
        </p:spPr>
        <p:txBody>
          <a:bodyPr wrap="square" lIns="0" rIns="0" tIns="0" bIns="0">
            <a:noAutofit/>
          </a:bodyPr>
          <a:lstStyle/>
          <a:p>
            <a:r>
              <a:rPr sz="1200" b="1" i="0" spc="200">
                <a:solidFill>
                  <a:srgbClr val="1C8C68"/>
                </a:solidFill>
                <a:latin typeface="Calibri"/>
              </a:rPr>
              <a:t>ENJEUX</a:t>
            </a:r>
          </a:p>
        </p:txBody>
      </p:sp>
      <p:sp>
        <p:nvSpPr>
          <p:cNvPr id="3" name="TextBox 2"/>
          <p:cNvSpPr txBox="1"/>
          <p:nvPr/>
        </p:nvSpPr>
        <p:spPr>
          <a:xfrm>
            <a:off x="548640" y="658368"/>
            <a:ext cx="9509760" cy="868680"/>
          </a:xfrm>
          <a:prstGeom prst="rect">
            <a:avLst/>
          </a:prstGeom>
          <a:noFill/>
        </p:spPr>
        <p:txBody>
          <a:bodyPr wrap="square" lIns="0" rIns="0" tIns="0" bIns="0" anchor="t">
            <a:noAutofit/>
          </a:bodyPr>
          <a:lstStyle/>
          <a:p>
            <a:pPr>
              <a:lnSpc>
                <a:spcPct val="102000"/>
              </a:lnSpc>
            </a:pPr>
            <a:r>
              <a:rPr sz="2800" b="1" i="0">
                <a:solidFill>
                  <a:srgbClr val="1B2A4A"/>
                </a:solidFill>
                <a:latin typeface="Cambria"/>
              </a:rPr>
              <a:t>Six enjeux majeurs, par ordre de criticité</a:t>
            </a:r>
          </a:p>
        </p:txBody>
      </p:sp>
      <p:pic>
        <p:nvPicPr>
          <p:cNvPr id="4" name="Picture 3" descr="icon_alert.png"/>
          <p:cNvPicPr>
            <a:picLocks noChangeAspect="1"/>
          </p:cNvPicPr>
          <p:nvPr/>
        </p:nvPicPr>
        <p:blipFill>
          <a:blip r:embed="rId2"/>
          <a:stretch>
            <a:fillRect/>
          </a:stretch>
        </p:blipFill>
        <p:spPr>
          <a:xfrm>
            <a:off x="11140135" y="365760"/>
            <a:ext cx="658368" cy="658368"/>
          </a:xfrm>
          <a:prstGeom prst="rect">
            <a:avLst/>
          </a:prstGeom>
        </p:spPr>
      </p:pic>
      <p:sp>
        <p:nvSpPr>
          <p:cNvPr id="5" name="Rounded Rectangle 4"/>
          <p:cNvSpPr/>
          <p:nvPr/>
        </p:nvSpPr>
        <p:spPr>
          <a:xfrm>
            <a:off x="548640" y="1691640"/>
            <a:ext cx="5349240" cy="1371600"/>
          </a:xfrm>
          <a:prstGeom prst="roundRect">
            <a:avLst>
              <a:gd name="adj" fmla="val 8000"/>
            </a:avLst>
          </a:prstGeom>
          <a:solidFill>
            <a:srgbClr val="FFFFFF"/>
          </a:solidFill>
          <a:ln w="9525">
            <a:solidFill>
              <a:srgbClr val="D8DEE6"/>
            </a:solidFill>
          </a:ln>
          <a:effectLst>
            <a:outerShdw blurRad="63500" dist="19050" dir="5400000" rotWithShape="0">
              <a:srgbClr val="1B2A4A">
                <a:alpha val="12000"/>
              </a:srgbClr>
            </a:outerShdw>
          </a:effectLst>
        </p:spPr>
        <p:txBody>
          <a:bodyPr rtlCol="0" anchor="ctr"/>
          <a:lstStyle/>
          <a:p>
            <a:pPr algn="ctr"/>
          </a:p>
        </p:txBody>
      </p:sp>
      <p:sp>
        <p:nvSpPr>
          <p:cNvPr id="6" name="Oval 5"/>
          <p:cNvSpPr/>
          <p:nvPr/>
        </p:nvSpPr>
        <p:spPr>
          <a:xfrm>
            <a:off x="749808" y="1892808"/>
            <a:ext cx="566928" cy="566928"/>
          </a:xfrm>
          <a:prstGeom prst="ellipse">
            <a:avLst/>
          </a:prstGeom>
          <a:solidFill>
            <a:srgbClr val="B8574A"/>
          </a:solidFill>
          <a:ln>
            <a:noFill/>
          </a:ln>
          <a:effectLst/>
        </p:spPr>
        <p:txBody>
          <a:bodyPr rtlCol="0" anchor="ctr"/>
          <a:lstStyle/>
          <a:p>
            <a:pPr algn="ctr"/>
          </a:p>
        </p:txBody>
      </p:sp>
      <p:sp>
        <p:nvSpPr>
          <p:cNvPr id="7" name="TextBox 6"/>
          <p:cNvSpPr txBox="1"/>
          <p:nvPr/>
        </p:nvSpPr>
        <p:spPr>
          <a:xfrm>
            <a:off x="749808" y="1892808"/>
            <a:ext cx="566928" cy="566928"/>
          </a:xfrm>
          <a:prstGeom prst="rect">
            <a:avLst/>
          </a:prstGeom>
          <a:noFill/>
        </p:spPr>
        <p:txBody>
          <a:bodyPr wrap="square" lIns="0" rIns="0" tIns="0" bIns="0" anchor="ctr">
            <a:noAutofit/>
          </a:bodyPr>
          <a:lstStyle/>
          <a:p>
            <a:pPr algn="ctr"/>
            <a:r>
              <a:rPr sz="1400" b="1" i="0">
                <a:solidFill>
                  <a:srgbClr val="FFFFFF"/>
                </a:solidFill>
                <a:latin typeface="Calibri"/>
              </a:rPr>
              <a:t>E1</a:t>
            </a:r>
          </a:p>
        </p:txBody>
      </p:sp>
      <p:sp>
        <p:nvSpPr>
          <p:cNvPr id="8" name="TextBox 7"/>
          <p:cNvSpPr txBox="1"/>
          <p:nvPr/>
        </p:nvSpPr>
        <p:spPr>
          <a:xfrm>
            <a:off x="1463040" y="1837944"/>
            <a:ext cx="4251959" cy="384048"/>
          </a:xfrm>
          <a:prstGeom prst="rect">
            <a:avLst/>
          </a:prstGeom>
          <a:noFill/>
        </p:spPr>
        <p:txBody>
          <a:bodyPr wrap="square" lIns="0" rIns="0" tIns="0" bIns="0">
            <a:noAutofit/>
          </a:bodyPr>
          <a:lstStyle/>
          <a:p>
            <a:r>
              <a:rPr sz="1450" b="1" i="0">
                <a:solidFill>
                  <a:srgbClr val="1B2A4A"/>
                </a:solidFill>
                <a:latin typeface="Calibri"/>
              </a:rPr>
              <a:t>Décompartimenter les données</a:t>
            </a:r>
          </a:p>
        </p:txBody>
      </p:sp>
      <p:sp>
        <p:nvSpPr>
          <p:cNvPr id="9" name="TextBox 8"/>
          <p:cNvSpPr txBox="1"/>
          <p:nvPr/>
        </p:nvSpPr>
        <p:spPr>
          <a:xfrm>
            <a:off x="1463040" y="2221992"/>
            <a:ext cx="4251959" cy="777240"/>
          </a:xfrm>
          <a:prstGeom prst="rect">
            <a:avLst/>
          </a:prstGeom>
          <a:noFill/>
        </p:spPr>
        <p:txBody>
          <a:bodyPr wrap="square" lIns="0" rIns="0" tIns="0" bIns="0" anchor="t">
            <a:noAutofit/>
          </a:bodyPr>
          <a:lstStyle/>
          <a:p>
            <a:r>
              <a:rPr sz="1100" b="0" i="0">
                <a:solidFill>
                  <a:srgbClr val="5B6B84"/>
                </a:solidFill>
                <a:latin typeface="Calibri"/>
              </a:rPr>
              <a:t>Silos départementaux → vues incohérentes ou incomplètes, angles morts décisionnels.</a:t>
            </a:r>
          </a:p>
        </p:txBody>
      </p:sp>
      <p:sp>
        <p:nvSpPr>
          <p:cNvPr id="10" name="Rounded Rectangle 9"/>
          <p:cNvSpPr/>
          <p:nvPr/>
        </p:nvSpPr>
        <p:spPr>
          <a:xfrm>
            <a:off x="6217919" y="1691640"/>
            <a:ext cx="5349240" cy="1371600"/>
          </a:xfrm>
          <a:prstGeom prst="roundRect">
            <a:avLst>
              <a:gd name="adj" fmla="val 8000"/>
            </a:avLst>
          </a:prstGeom>
          <a:solidFill>
            <a:srgbClr val="FFFFFF"/>
          </a:solidFill>
          <a:ln w="9525">
            <a:solidFill>
              <a:srgbClr val="D8DEE6"/>
            </a:solidFill>
          </a:ln>
          <a:effectLst>
            <a:outerShdw blurRad="63500" dist="19050" dir="5400000" rotWithShape="0">
              <a:srgbClr val="1B2A4A">
                <a:alpha val="12000"/>
              </a:srgbClr>
            </a:outerShdw>
          </a:effectLst>
        </p:spPr>
        <p:txBody>
          <a:bodyPr rtlCol="0" anchor="ctr"/>
          <a:lstStyle/>
          <a:p>
            <a:pPr algn="ctr"/>
          </a:p>
        </p:txBody>
      </p:sp>
      <p:sp>
        <p:nvSpPr>
          <p:cNvPr id="11" name="Oval 10"/>
          <p:cNvSpPr/>
          <p:nvPr/>
        </p:nvSpPr>
        <p:spPr>
          <a:xfrm>
            <a:off x="6419087" y="1892808"/>
            <a:ext cx="566928" cy="566928"/>
          </a:xfrm>
          <a:prstGeom prst="ellipse">
            <a:avLst/>
          </a:prstGeom>
          <a:solidFill>
            <a:srgbClr val="B8574A"/>
          </a:solidFill>
          <a:ln>
            <a:noFill/>
          </a:ln>
          <a:effectLst/>
        </p:spPr>
        <p:txBody>
          <a:bodyPr rtlCol="0" anchor="ctr"/>
          <a:lstStyle/>
          <a:p>
            <a:pPr algn="ctr"/>
          </a:p>
        </p:txBody>
      </p:sp>
      <p:sp>
        <p:nvSpPr>
          <p:cNvPr id="12" name="TextBox 11"/>
          <p:cNvSpPr txBox="1"/>
          <p:nvPr/>
        </p:nvSpPr>
        <p:spPr>
          <a:xfrm>
            <a:off x="6419087" y="1892808"/>
            <a:ext cx="566928" cy="566928"/>
          </a:xfrm>
          <a:prstGeom prst="rect">
            <a:avLst/>
          </a:prstGeom>
          <a:noFill/>
        </p:spPr>
        <p:txBody>
          <a:bodyPr wrap="square" lIns="0" rIns="0" tIns="0" bIns="0" anchor="ctr">
            <a:noAutofit/>
          </a:bodyPr>
          <a:lstStyle/>
          <a:p>
            <a:pPr algn="ctr"/>
            <a:r>
              <a:rPr sz="1400" b="1" i="0">
                <a:solidFill>
                  <a:srgbClr val="FFFFFF"/>
                </a:solidFill>
                <a:latin typeface="Calibri"/>
              </a:rPr>
              <a:t>E2</a:t>
            </a:r>
          </a:p>
        </p:txBody>
      </p:sp>
      <p:sp>
        <p:nvSpPr>
          <p:cNvPr id="13" name="TextBox 12"/>
          <p:cNvSpPr txBox="1"/>
          <p:nvPr/>
        </p:nvSpPr>
        <p:spPr>
          <a:xfrm>
            <a:off x="7132319" y="1837944"/>
            <a:ext cx="4251959" cy="384048"/>
          </a:xfrm>
          <a:prstGeom prst="rect">
            <a:avLst/>
          </a:prstGeom>
          <a:noFill/>
        </p:spPr>
        <p:txBody>
          <a:bodyPr wrap="square" lIns="0" rIns="0" tIns="0" bIns="0">
            <a:noAutofit/>
          </a:bodyPr>
          <a:lstStyle/>
          <a:p>
            <a:r>
              <a:rPr sz="1450" b="1" i="0">
                <a:solidFill>
                  <a:srgbClr val="1B2A4A"/>
                </a:solidFill>
                <a:latin typeface="Calibri"/>
              </a:rPr>
              <a:t>Maîtriser la qualité des données</a:t>
            </a:r>
          </a:p>
        </p:txBody>
      </p:sp>
      <p:sp>
        <p:nvSpPr>
          <p:cNvPr id="14" name="TextBox 13"/>
          <p:cNvSpPr txBox="1"/>
          <p:nvPr/>
        </p:nvSpPr>
        <p:spPr>
          <a:xfrm>
            <a:off x="7132319" y="2221992"/>
            <a:ext cx="4251959" cy="777240"/>
          </a:xfrm>
          <a:prstGeom prst="rect">
            <a:avLst/>
          </a:prstGeom>
          <a:noFill/>
        </p:spPr>
        <p:txBody>
          <a:bodyPr wrap="square" lIns="0" rIns="0" tIns="0" bIns="0" anchor="t">
            <a:noAutofit/>
          </a:bodyPr>
          <a:lstStyle/>
          <a:p>
            <a:r>
              <a:rPr sz="1100" b="0" i="0">
                <a:solidFill>
                  <a:srgbClr val="5B6B84"/>
                </a:solidFill>
                <a:latin typeface="Calibri"/>
              </a:rPr>
              <a:t>Données et métadonnées inexactes : recommandations dégradées, règles de qualité à définir.</a:t>
            </a:r>
          </a:p>
        </p:txBody>
      </p:sp>
      <p:sp>
        <p:nvSpPr>
          <p:cNvPr id="15" name="Rounded Rectangle 14"/>
          <p:cNvSpPr/>
          <p:nvPr/>
        </p:nvSpPr>
        <p:spPr>
          <a:xfrm>
            <a:off x="548640" y="3319272"/>
            <a:ext cx="5349240" cy="1371600"/>
          </a:xfrm>
          <a:prstGeom prst="roundRect">
            <a:avLst>
              <a:gd name="adj" fmla="val 8000"/>
            </a:avLst>
          </a:prstGeom>
          <a:solidFill>
            <a:srgbClr val="FFFFFF"/>
          </a:solidFill>
          <a:ln w="9525">
            <a:solidFill>
              <a:srgbClr val="D8DEE6"/>
            </a:solidFill>
          </a:ln>
          <a:effectLst>
            <a:outerShdw blurRad="63500" dist="19050" dir="5400000" rotWithShape="0">
              <a:srgbClr val="1B2A4A">
                <a:alpha val="12000"/>
              </a:srgbClr>
            </a:outerShdw>
          </a:effectLst>
        </p:spPr>
        <p:txBody>
          <a:bodyPr rtlCol="0" anchor="ctr"/>
          <a:lstStyle/>
          <a:p>
            <a:pPr algn="ctr"/>
          </a:p>
        </p:txBody>
      </p:sp>
      <p:sp>
        <p:nvSpPr>
          <p:cNvPr id="16" name="Oval 15"/>
          <p:cNvSpPr/>
          <p:nvPr/>
        </p:nvSpPr>
        <p:spPr>
          <a:xfrm>
            <a:off x="749808" y="3520440"/>
            <a:ext cx="566928" cy="566928"/>
          </a:xfrm>
          <a:prstGeom prst="ellipse">
            <a:avLst/>
          </a:prstGeom>
          <a:solidFill>
            <a:srgbClr val="B8574A"/>
          </a:solidFill>
          <a:ln>
            <a:noFill/>
          </a:ln>
          <a:effectLst/>
        </p:spPr>
        <p:txBody>
          <a:bodyPr rtlCol="0" anchor="ctr"/>
          <a:lstStyle/>
          <a:p>
            <a:pPr algn="ctr"/>
          </a:p>
        </p:txBody>
      </p:sp>
      <p:sp>
        <p:nvSpPr>
          <p:cNvPr id="17" name="TextBox 16"/>
          <p:cNvSpPr txBox="1"/>
          <p:nvPr/>
        </p:nvSpPr>
        <p:spPr>
          <a:xfrm>
            <a:off x="749808" y="3520440"/>
            <a:ext cx="566928" cy="566928"/>
          </a:xfrm>
          <a:prstGeom prst="rect">
            <a:avLst/>
          </a:prstGeom>
          <a:noFill/>
        </p:spPr>
        <p:txBody>
          <a:bodyPr wrap="square" lIns="0" rIns="0" tIns="0" bIns="0" anchor="ctr">
            <a:noAutofit/>
          </a:bodyPr>
          <a:lstStyle/>
          <a:p>
            <a:pPr algn="ctr"/>
            <a:r>
              <a:rPr sz="1400" b="1" i="0">
                <a:solidFill>
                  <a:srgbClr val="FFFFFF"/>
                </a:solidFill>
                <a:latin typeface="Calibri"/>
              </a:rPr>
              <a:t>E3</a:t>
            </a:r>
          </a:p>
        </p:txBody>
      </p:sp>
      <p:sp>
        <p:nvSpPr>
          <p:cNvPr id="18" name="TextBox 17"/>
          <p:cNvSpPr txBox="1"/>
          <p:nvPr/>
        </p:nvSpPr>
        <p:spPr>
          <a:xfrm>
            <a:off x="1463040" y="3465576"/>
            <a:ext cx="4251959" cy="384048"/>
          </a:xfrm>
          <a:prstGeom prst="rect">
            <a:avLst/>
          </a:prstGeom>
          <a:noFill/>
        </p:spPr>
        <p:txBody>
          <a:bodyPr wrap="square" lIns="0" rIns="0" tIns="0" bIns="0">
            <a:noAutofit/>
          </a:bodyPr>
          <a:lstStyle/>
          <a:p>
            <a:r>
              <a:rPr sz="1450" b="1" i="0">
                <a:solidFill>
                  <a:srgbClr val="1B2A4A"/>
                </a:solidFill>
                <a:latin typeface="Calibri"/>
              </a:rPr>
              <a:t>Conformité multi-juridictionnelle</a:t>
            </a:r>
          </a:p>
        </p:txBody>
      </p:sp>
      <p:sp>
        <p:nvSpPr>
          <p:cNvPr id="19" name="TextBox 18"/>
          <p:cNvSpPr txBox="1"/>
          <p:nvPr/>
        </p:nvSpPr>
        <p:spPr>
          <a:xfrm>
            <a:off x="1463040" y="3849624"/>
            <a:ext cx="4251959" cy="777240"/>
          </a:xfrm>
          <a:prstGeom prst="rect">
            <a:avLst/>
          </a:prstGeom>
          <a:noFill/>
        </p:spPr>
        <p:txBody>
          <a:bodyPr wrap="square" lIns="0" rIns="0" tIns="0" bIns="0" anchor="t">
            <a:noAutofit/>
          </a:bodyPr>
          <a:lstStyle/>
          <a:p>
            <a:r>
              <a:rPr sz="1100" b="0" i="0">
                <a:solidFill>
                  <a:srgbClr val="5B6B84"/>
                </a:solidFill>
                <a:latin typeface="Calibri"/>
              </a:rPr>
              <a:t>GDPR, CCPA, PDPA + réglementations IA à concilier sans perdre en cohérence globale.</a:t>
            </a:r>
          </a:p>
        </p:txBody>
      </p:sp>
      <p:sp>
        <p:nvSpPr>
          <p:cNvPr id="20" name="Rounded Rectangle 19"/>
          <p:cNvSpPr/>
          <p:nvPr/>
        </p:nvSpPr>
        <p:spPr>
          <a:xfrm>
            <a:off x="6217919" y="3319272"/>
            <a:ext cx="5349240" cy="1371600"/>
          </a:xfrm>
          <a:prstGeom prst="roundRect">
            <a:avLst>
              <a:gd name="adj" fmla="val 8000"/>
            </a:avLst>
          </a:prstGeom>
          <a:solidFill>
            <a:srgbClr val="FFFFFF"/>
          </a:solidFill>
          <a:ln w="9525">
            <a:solidFill>
              <a:srgbClr val="D8DEE6"/>
            </a:solidFill>
          </a:ln>
          <a:effectLst>
            <a:outerShdw blurRad="63500" dist="19050" dir="5400000" rotWithShape="0">
              <a:srgbClr val="1B2A4A">
                <a:alpha val="12000"/>
              </a:srgbClr>
            </a:outerShdw>
          </a:effectLst>
        </p:spPr>
        <p:txBody>
          <a:bodyPr rtlCol="0" anchor="ctr"/>
          <a:lstStyle/>
          <a:p>
            <a:pPr algn="ctr"/>
          </a:p>
        </p:txBody>
      </p:sp>
      <p:sp>
        <p:nvSpPr>
          <p:cNvPr id="21" name="Oval 20"/>
          <p:cNvSpPr/>
          <p:nvPr/>
        </p:nvSpPr>
        <p:spPr>
          <a:xfrm>
            <a:off x="6419087" y="3520440"/>
            <a:ext cx="566928" cy="566928"/>
          </a:xfrm>
          <a:prstGeom prst="ellipse">
            <a:avLst/>
          </a:prstGeom>
          <a:solidFill>
            <a:srgbClr val="B8574A"/>
          </a:solidFill>
          <a:ln>
            <a:noFill/>
          </a:ln>
          <a:effectLst/>
        </p:spPr>
        <p:txBody>
          <a:bodyPr rtlCol="0" anchor="ctr"/>
          <a:lstStyle/>
          <a:p>
            <a:pPr algn="ctr"/>
          </a:p>
        </p:txBody>
      </p:sp>
      <p:sp>
        <p:nvSpPr>
          <p:cNvPr id="22" name="TextBox 21"/>
          <p:cNvSpPr txBox="1"/>
          <p:nvPr/>
        </p:nvSpPr>
        <p:spPr>
          <a:xfrm>
            <a:off x="6419087" y="3520440"/>
            <a:ext cx="566928" cy="566928"/>
          </a:xfrm>
          <a:prstGeom prst="rect">
            <a:avLst/>
          </a:prstGeom>
          <a:noFill/>
        </p:spPr>
        <p:txBody>
          <a:bodyPr wrap="square" lIns="0" rIns="0" tIns="0" bIns="0" anchor="ctr">
            <a:noAutofit/>
          </a:bodyPr>
          <a:lstStyle/>
          <a:p>
            <a:pPr algn="ctr"/>
            <a:r>
              <a:rPr sz="1400" b="1" i="0">
                <a:solidFill>
                  <a:srgbClr val="FFFFFF"/>
                </a:solidFill>
                <a:latin typeface="Calibri"/>
              </a:rPr>
              <a:t>E4</a:t>
            </a:r>
          </a:p>
        </p:txBody>
      </p:sp>
      <p:sp>
        <p:nvSpPr>
          <p:cNvPr id="23" name="TextBox 22"/>
          <p:cNvSpPr txBox="1"/>
          <p:nvPr/>
        </p:nvSpPr>
        <p:spPr>
          <a:xfrm>
            <a:off x="7132319" y="3465576"/>
            <a:ext cx="4251959" cy="384048"/>
          </a:xfrm>
          <a:prstGeom prst="rect">
            <a:avLst/>
          </a:prstGeom>
          <a:noFill/>
        </p:spPr>
        <p:txBody>
          <a:bodyPr wrap="square" lIns="0" rIns="0" tIns="0" bIns="0">
            <a:noAutofit/>
          </a:bodyPr>
          <a:lstStyle/>
          <a:p>
            <a:r>
              <a:rPr sz="1450" b="1" i="0">
                <a:solidFill>
                  <a:srgbClr val="1B2A4A"/>
                </a:solidFill>
                <a:latin typeface="Calibri"/>
              </a:rPr>
              <a:t>Vie privée &amp; usage éthique</a:t>
            </a:r>
          </a:p>
        </p:txBody>
      </p:sp>
      <p:sp>
        <p:nvSpPr>
          <p:cNvPr id="24" name="TextBox 23"/>
          <p:cNvSpPr txBox="1"/>
          <p:nvPr/>
        </p:nvSpPr>
        <p:spPr>
          <a:xfrm>
            <a:off x="7132319" y="3849624"/>
            <a:ext cx="4251959" cy="777240"/>
          </a:xfrm>
          <a:prstGeom prst="rect">
            <a:avLst/>
          </a:prstGeom>
          <a:noFill/>
        </p:spPr>
        <p:txBody>
          <a:bodyPr wrap="square" lIns="0" rIns="0" tIns="0" bIns="0" anchor="t">
            <a:noAutofit/>
          </a:bodyPr>
          <a:lstStyle/>
          <a:p>
            <a:r>
              <a:rPr sz="1100" b="0" i="0">
                <a:solidFill>
                  <a:srgbClr val="5B6B84"/>
                </a:solidFill>
                <a:latin typeface="Calibri"/>
              </a:rPr>
              <a:t>Transparence, contrôle utilisateur, anonymisation - au-delà de la seule conformité légale.</a:t>
            </a:r>
          </a:p>
        </p:txBody>
      </p:sp>
      <p:sp>
        <p:nvSpPr>
          <p:cNvPr id="25" name="Rounded Rectangle 24"/>
          <p:cNvSpPr/>
          <p:nvPr/>
        </p:nvSpPr>
        <p:spPr>
          <a:xfrm>
            <a:off x="548640" y="4946904"/>
            <a:ext cx="5349240" cy="1371600"/>
          </a:xfrm>
          <a:prstGeom prst="roundRect">
            <a:avLst>
              <a:gd name="adj" fmla="val 8000"/>
            </a:avLst>
          </a:prstGeom>
          <a:solidFill>
            <a:srgbClr val="FFFFFF"/>
          </a:solidFill>
          <a:ln w="9525">
            <a:solidFill>
              <a:srgbClr val="D8DEE6"/>
            </a:solidFill>
          </a:ln>
          <a:effectLst>
            <a:outerShdw blurRad="63500" dist="19050" dir="5400000" rotWithShape="0">
              <a:srgbClr val="1B2A4A">
                <a:alpha val="12000"/>
              </a:srgbClr>
            </a:outerShdw>
          </a:effectLst>
        </p:spPr>
        <p:txBody>
          <a:bodyPr rtlCol="0" anchor="ctr"/>
          <a:lstStyle/>
          <a:p>
            <a:pPr algn="ctr"/>
          </a:p>
        </p:txBody>
      </p:sp>
      <p:sp>
        <p:nvSpPr>
          <p:cNvPr id="26" name="Oval 25"/>
          <p:cNvSpPr/>
          <p:nvPr/>
        </p:nvSpPr>
        <p:spPr>
          <a:xfrm>
            <a:off x="749808" y="5148072"/>
            <a:ext cx="566928" cy="566928"/>
          </a:xfrm>
          <a:prstGeom prst="ellipse">
            <a:avLst/>
          </a:prstGeom>
          <a:solidFill>
            <a:srgbClr val="B8574A"/>
          </a:solidFill>
          <a:ln>
            <a:noFill/>
          </a:ln>
          <a:effectLst/>
        </p:spPr>
        <p:txBody>
          <a:bodyPr rtlCol="0" anchor="ctr"/>
          <a:lstStyle/>
          <a:p>
            <a:pPr algn="ctr"/>
          </a:p>
        </p:txBody>
      </p:sp>
      <p:sp>
        <p:nvSpPr>
          <p:cNvPr id="27" name="TextBox 26"/>
          <p:cNvSpPr txBox="1"/>
          <p:nvPr/>
        </p:nvSpPr>
        <p:spPr>
          <a:xfrm>
            <a:off x="749808" y="5148072"/>
            <a:ext cx="566928" cy="566928"/>
          </a:xfrm>
          <a:prstGeom prst="rect">
            <a:avLst/>
          </a:prstGeom>
          <a:noFill/>
        </p:spPr>
        <p:txBody>
          <a:bodyPr wrap="square" lIns="0" rIns="0" tIns="0" bIns="0" anchor="ctr">
            <a:noAutofit/>
          </a:bodyPr>
          <a:lstStyle/>
          <a:p>
            <a:pPr algn="ctr"/>
            <a:r>
              <a:rPr sz="1400" b="1" i="0">
                <a:solidFill>
                  <a:srgbClr val="FFFFFF"/>
                </a:solidFill>
                <a:latin typeface="Calibri"/>
              </a:rPr>
              <a:t>E5</a:t>
            </a:r>
          </a:p>
        </p:txBody>
      </p:sp>
      <p:sp>
        <p:nvSpPr>
          <p:cNvPr id="28" name="TextBox 27"/>
          <p:cNvSpPr txBox="1"/>
          <p:nvPr/>
        </p:nvSpPr>
        <p:spPr>
          <a:xfrm>
            <a:off x="1463040" y="5093208"/>
            <a:ext cx="4251959" cy="384048"/>
          </a:xfrm>
          <a:prstGeom prst="rect">
            <a:avLst/>
          </a:prstGeom>
          <a:noFill/>
        </p:spPr>
        <p:txBody>
          <a:bodyPr wrap="square" lIns="0" rIns="0" tIns="0" bIns="0">
            <a:noAutofit/>
          </a:bodyPr>
          <a:lstStyle/>
          <a:p>
            <a:r>
              <a:rPr sz="1450" b="1" i="0">
                <a:solidFill>
                  <a:srgbClr val="1B2A4A"/>
                </a:solidFill>
                <a:latin typeface="Calibri"/>
              </a:rPr>
              <a:t>Gouverner les données IA</a:t>
            </a:r>
          </a:p>
        </p:txBody>
      </p:sp>
      <p:sp>
        <p:nvSpPr>
          <p:cNvPr id="29" name="TextBox 28"/>
          <p:cNvSpPr txBox="1"/>
          <p:nvPr/>
        </p:nvSpPr>
        <p:spPr>
          <a:xfrm>
            <a:off x="1463040" y="5477256"/>
            <a:ext cx="4251959" cy="777240"/>
          </a:xfrm>
          <a:prstGeom prst="rect">
            <a:avLst/>
          </a:prstGeom>
          <a:noFill/>
        </p:spPr>
        <p:txBody>
          <a:bodyPr wrap="square" lIns="0" rIns="0" tIns="0" bIns="0" anchor="t">
            <a:noAutofit/>
          </a:bodyPr>
          <a:lstStyle/>
          <a:p>
            <a:r>
              <a:rPr sz="1100" b="0" i="0">
                <a:solidFill>
                  <a:srgbClr val="5B6B84"/>
                </a:solidFill>
                <a:latin typeface="Calibri"/>
              </a:rPr>
              <a:t>Traçabilité, biais, responsabilité des modèles du moteur de recommandation en production.</a:t>
            </a:r>
          </a:p>
        </p:txBody>
      </p:sp>
      <p:sp>
        <p:nvSpPr>
          <p:cNvPr id="30" name="Rounded Rectangle 29"/>
          <p:cNvSpPr/>
          <p:nvPr/>
        </p:nvSpPr>
        <p:spPr>
          <a:xfrm>
            <a:off x="6217919" y="4946904"/>
            <a:ext cx="5349240" cy="1371600"/>
          </a:xfrm>
          <a:prstGeom prst="roundRect">
            <a:avLst>
              <a:gd name="adj" fmla="val 8000"/>
            </a:avLst>
          </a:prstGeom>
          <a:solidFill>
            <a:srgbClr val="FFFFFF"/>
          </a:solidFill>
          <a:ln w="9525">
            <a:solidFill>
              <a:srgbClr val="D8DEE6"/>
            </a:solidFill>
          </a:ln>
          <a:effectLst>
            <a:outerShdw blurRad="63500" dist="19050" dir="5400000" rotWithShape="0">
              <a:srgbClr val="1B2A4A">
                <a:alpha val="12000"/>
              </a:srgbClr>
            </a:outerShdw>
          </a:effectLst>
        </p:spPr>
        <p:txBody>
          <a:bodyPr rtlCol="0" anchor="ctr"/>
          <a:lstStyle/>
          <a:p>
            <a:pPr algn="ctr"/>
          </a:p>
        </p:txBody>
      </p:sp>
      <p:sp>
        <p:nvSpPr>
          <p:cNvPr id="31" name="Oval 30"/>
          <p:cNvSpPr/>
          <p:nvPr/>
        </p:nvSpPr>
        <p:spPr>
          <a:xfrm>
            <a:off x="6419087" y="5148072"/>
            <a:ext cx="566928" cy="566928"/>
          </a:xfrm>
          <a:prstGeom prst="ellipse">
            <a:avLst/>
          </a:prstGeom>
          <a:solidFill>
            <a:srgbClr val="B8574A"/>
          </a:solidFill>
          <a:ln>
            <a:noFill/>
          </a:ln>
          <a:effectLst/>
        </p:spPr>
        <p:txBody>
          <a:bodyPr rtlCol="0" anchor="ctr"/>
          <a:lstStyle/>
          <a:p>
            <a:pPr algn="ctr"/>
          </a:p>
        </p:txBody>
      </p:sp>
      <p:sp>
        <p:nvSpPr>
          <p:cNvPr id="32" name="TextBox 31"/>
          <p:cNvSpPr txBox="1"/>
          <p:nvPr/>
        </p:nvSpPr>
        <p:spPr>
          <a:xfrm>
            <a:off x="6419087" y="5148072"/>
            <a:ext cx="566928" cy="566928"/>
          </a:xfrm>
          <a:prstGeom prst="rect">
            <a:avLst/>
          </a:prstGeom>
          <a:noFill/>
        </p:spPr>
        <p:txBody>
          <a:bodyPr wrap="square" lIns="0" rIns="0" tIns="0" bIns="0" anchor="ctr">
            <a:noAutofit/>
          </a:bodyPr>
          <a:lstStyle/>
          <a:p>
            <a:pPr algn="ctr"/>
            <a:r>
              <a:rPr sz="1400" b="1" i="0">
                <a:solidFill>
                  <a:srgbClr val="FFFFFF"/>
                </a:solidFill>
                <a:latin typeface="Calibri"/>
              </a:rPr>
              <a:t>E6</a:t>
            </a:r>
          </a:p>
        </p:txBody>
      </p:sp>
      <p:sp>
        <p:nvSpPr>
          <p:cNvPr id="33" name="TextBox 32"/>
          <p:cNvSpPr txBox="1"/>
          <p:nvPr/>
        </p:nvSpPr>
        <p:spPr>
          <a:xfrm>
            <a:off x="7132319" y="5093208"/>
            <a:ext cx="4251959" cy="384048"/>
          </a:xfrm>
          <a:prstGeom prst="rect">
            <a:avLst/>
          </a:prstGeom>
          <a:noFill/>
        </p:spPr>
        <p:txBody>
          <a:bodyPr wrap="square" lIns="0" rIns="0" tIns="0" bIns="0">
            <a:noAutofit/>
          </a:bodyPr>
          <a:lstStyle/>
          <a:p>
            <a:r>
              <a:rPr sz="1450" b="1" i="0">
                <a:solidFill>
                  <a:srgbClr val="1B2A4A"/>
                </a:solidFill>
                <a:latin typeface="Calibri"/>
              </a:rPr>
              <a:t>Monter en compétences data</a:t>
            </a:r>
          </a:p>
        </p:txBody>
      </p:sp>
      <p:sp>
        <p:nvSpPr>
          <p:cNvPr id="34" name="TextBox 33"/>
          <p:cNvSpPr txBox="1"/>
          <p:nvPr/>
        </p:nvSpPr>
        <p:spPr>
          <a:xfrm>
            <a:off x="7132319" y="5477256"/>
            <a:ext cx="4251959" cy="777240"/>
          </a:xfrm>
          <a:prstGeom prst="rect">
            <a:avLst/>
          </a:prstGeom>
          <a:noFill/>
        </p:spPr>
        <p:txBody>
          <a:bodyPr wrap="square" lIns="0" rIns="0" tIns="0" bIns="0" anchor="t">
            <a:noAutofit/>
          </a:bodyPr>
          <a:lstStyle/>
          <a:p>
            <a:r>
              <a:rPr sz="1100" b="0" i="0">
                <a:solidFill>
                  <a:srgbClr val="5B6B84"/>
                </a:solidFill>
                <a:latin typeface="Calibri"/>
              </a:rPr>
              <a:t>Culture de gouvernance partagée encore à construire ; risque de résistance au changement.</a:t>
            </a:r>
          </a:p>
        </p:txBody>
      </p:sp>
      <p:sp>
        <p:nvSpPr>
          <p:cNvPr id="35" name="TextBox 34"/>
          <p:cNvSpPr txBox="1"/>
          <p:nvPr/>
        </p:nvSpPr>
        <p:spPr>
          <a:xfrm>
            <a:off x="548640" y="6473952"/>
            <a:ext cx="8686800" cy="274320"/>
          </a:xfrm>
          <a:prstGeom prst="rect">
            <a:avLst/>
          </a:prstGeom>
          <a:noFill/>
        </p:spPr>
        <p:txBody>
          <a:bodyPr wrap="square" lIns="0" rIns="0" tIns="0" bIns="0">
            <a:noAutofit/>
          </a:bodyPr>
          <a:lstStyle/>
          <a:p>
            <a:r>
              <a:rPr sz="950" b="0" i="1">
                <a:solidFill>
                  <a:srgbClr val="8493A8"/>
                </a:solidFill>
                <a:latin typeface="Calibri"/>
              </a:rPr>
              <a:t>Source : [D1] §1.2 - enjeux dérivés de [R2], à l'exception de E5</a:t>
            </a:r>
          </a:p>
        </p:txBody>
      </p:sp>
      <p:sp>
        <p:nvSpPr>
          <p:cNvPr id="36" name="TextBox 35"/>
          <p:cNvSpPr txBox="1"/>
          <p:nvPr/>
        </p:nvSpPr>
        <p:spPr>
          <a:xfrm>
            <a:off x="11002975" y="6473952"/>
            <a:ext cx="822960" cy="274320"/>
          </a:xfrm>
          <a:prstGeom prst="rect">
            <a:avLst/>
          </a:prstGeom>
          <a:noFill/>
        </p:spPr>
        <p:txBody>
          <a:bodyPr wrap="square" lIns="0" rIns="0" tIns="0" bIns="0">
            <a:noAutofit/>
          </a:bodyPr>
          <a:lstStyle/>
          <a:p>
            <a:pPr algn="r"/>
            <a:r>
              <a:rPr sz="950" b="0" i="0">
                <a:solidFill>
                  <a:srgbClr val="8493A8"/>
                </a:solidFill>
                <a:latin typeface="Calibri"/>
              </a:rPr>
              <a:t>3 / 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2F4F7"/>
        </a:solidFill>
        <a:effectLst/>
      </p:bgPr>
    </p:bg>
    <p:spTree>
      <p:nvGrpSpPr>
        <p:cNvPr id="1" name=""/>
        <p:cNvGrpSpPr/>
        <p:nvPr/>
      </p:nvGrpSpPr>
      <p:grpSpPr/>
      <p:sp>
        <p:nvSpPr>
          <p:cNvPr id="2" name="TextBox 1"/>
          <p:cNvSpPr txBox="1"/>
          <p:nvPr/>
        </p:nvSpPr>
        <p:spPr>
          <a:xfrm>
            <a:off x="548640" y="384048"/>
            <a:ext cx="7315200" cy="292608"/>
          </a:xfrm>
          <a:prstGeom prst="rect">
            <a:avLst/>
          </a:prstGeom>
          <a:noFill/>
        </p:spPr>
        <p:txBody>
          <a:bodyPr wrap="square" lIns="0" rIns="0" tIns="0" bIns="0">
            <a:noAutofit/>
          </a:bodyPr>
          <a:lstStyle/>
          <a:p>
            <a:r>
              <a:rPr sz="1200" b="1" i="0" spc="200">
                <a:solidFill>
                  <a:srgbClr val="1C8C68"/>
                </a:solidFill>
                <a:latin typeface="Calibri"/>
              </a:rPr>
              <a:t>POLITIQUE DE GOUVERNANCE</a:t>
            </a:r>
          </a:p>
        </p:txBody>
      </p:sp>
      <p:sp>
        <p:nvSpPr>
          <p:cNvPr id="3" name="TextBox 2"/>
          <p:cNvSpPr txBox="1"/>
          <p:nvPr/>
        </p:nvSpPr>
        <p:spPr>
          <a:xfrm>
            <a:off x="548640" y="658368"/>
            <a:ext cx="9692640" cy="868680"/>
          </a:xfrm>
          <a:prstGeom prst="rect">
            <a:avLst/>
          </a:prstGeom>
          <a:noFill/>
        </p:spPr>
        <p:txBody>
          <a:bodyPr wrap="square" lIns="0" rIns="0" tIns="0" bIns="0" anchor="t">
            <a:noAutofit/>
          </a:bodyPr>
          <a:lstStyle/>
          <a:p>
            <a:pPr>
              <a:lnSpc>
                <a:spcPct val="102000"/>
              </a:lnSpc>
            </a:pPr>
            <a:r>
              <a:rPr sz="2800" b="1" i="0">
                <a:solidFill>
                  <a:srgbClr val="1B2A4A"/>
                </a:solidFill>
                <a:latin typeface="Cambria"/>
              </a:rPr>
              <a:t>Neuf principes structurent le cadre de gouvernance</a:t>
            </a:r>
          </a:p>
        </p:txBody>
      </p:sp>
      <p:pic>
        <p:nvPicPr>
          <p:cNvPr id="4" name="Picture 3" descr="icon_shield.png"/>
          <p:cNvPicPr>
            <a:picLocks noChangeAspect="1"/>
          </p:cNvPicPr>
          <p:nvPr/>
        </p:nvPicPr>
        <p:blipFill>
          <a:blip r:embed="rId2"/>
          <a:stretch>
            <a:fillRect/>
          </a:stretch>
        </p:blipFill>
        <p:spPr>
          <a:xfrm>
            <a:off x="11140135" y="365760"/>
            <a:ext cx="658368" cy="658368"/>
          </a:xfrm>
          <a:prstGeom prst="rect">
            <a:avLst/>
          </a:prstGeom>
        </p:spPr>
      </p:pic>
      <p:sp>
        <p:nvSpPr>
          <p:cNvPr id="5" name="Rounded Rectangle 4"/>
          <p:cNvSpPr/>
          <p:nvPr/>
        </p:nvSpPr>
        <p:spPr>
          <a:xfrm>
            <a:off x="548640" y="1645920"/>
            <a:ext cx="5349240" cy="2148840"/>
          </a:xfrm>
          <a:prstGeom prst="roundRect">
            <a:avLst>
              <a:gd name="adj" fmla="val 8000"/>
            </a:avLst>
          </a:prstGeom>
          <a:solidFill>
            <a:srgbClr val="FFFFFF"/>
          </a:solidFill>
          <a:ln w="9525">
            <a:solidFill>
              <a:srgbClr val="D8DEE6"/>
            </a:solidFill>
          </a:ln>
          <a:effectLst>
            <a:outerShdw blurRad="63500" dist="19050" dir="5400000" rotWithShape="0">
              <a:srgbClr val="1B2A4A">
                <a:alpha val="12000"/>
              </a:srgbClr>
            </a:outerShdw>
          </a:effectLst>
        </p:spPr>
        <p:txBody>
          <a:bodyPr rtlCol="0" anchor="ctr"/>
          <a:lstStyle/>
          <a:p>
            <a:pPr algn="ctr"/>
          </a:p>
        </p:txBody>
      </p:sp>
      <p:sp>
        <p:nvSpPr>
          <p:cNvPr id="6" name="TextBox 5"/>
          <p:cNvSpPr txBox="1"/>
          <p:nvPr/>
        </p:nvSpPr>
        <p:spPr>
          <a:xfrm>
            <a:off x="822959" y="1810512"/>
            <a:ext cx="4800600" cy="329184"/>
          </a:xfrm>
          <a:prstGeom prst="rect">
            <a:avLst/>
          </a:prstGeom>
          <a:noFill/>
        </p:spPr>
        <p:txBody>
          <a:bodyPr wrap="square" lIns="0" rIns="0" tIns="0" bIns="0">
            <a:noAutofit/>
          </a:bodyPr>
          <a:lstStyle/>
          <a:p>
            <a:r>
              <a:rPr sz="1400" b="1" i="0">
                <a:solidFill>
                  <a:srgbClr val="1C8C68"/>
                </a:solidFill>
                <a:latin typeface="Calibri"/>
              </a:rPr>
              <a:t>Responsabilité &amp; qualité</a:t>
            </a:r>
          </a:p>
        </p:txBody>
      </p:sp>
      <p:sp>
        <p:nvSpPr>
          <p:cNvPr id="7" name="Oval 6"/>
          <p:cNvSpPr/>
          <p:nvPr/>
        </p:nvSpPr>
        <p:spPr>
          <a:xfrm>
            <a:off x="822959" y="2212848"/>
            <a:ext cx="384048" cy="384048"/>
          </a:xfrm>
          <a:prstGeom prst="ellipse">
            <a:avLst/>
          </a:prstGeom>
          <a:solidFill>
            <a:srgbClr val="1B2A4A"/>
          </a:solidFill>
          <a:ln>
            <a:noFill/>
          </a:ln>
          <a:effectLst/>
        </p:spPr>
        <p:txBody>
          <a:bodyPr rtlCol="0" anchor="ctr"/>
          <a:lstStyle/>
          <a:p>
            <a:pPr algn="ctr"/>
          </a:p>
        </p:txBody>
      </p:sp>
      <p:sp>
        <p:nvSpPr>
          <p:cNvPr id="8" name="TextBox 7"/>
          <p:cNvSpPr txBox="1"/>
          <p:nvPr/>
        </p:nvSpPr>
        <p:spPr>
          <a:xfrm>
            <a:off x="822959" y="2212848"/>
            <a:ext cx="384048" cy="384048"/>
          </a:xfrm>
          <a:prstGeom prst="rect">
            <a:avLst/>
          </a:prstGeom>
          <a:noFill/>
        </p:spPr>
        <p:txBody>
          <a:bodyPr wrap="square" lIns="0" rIns="0" tIns="0" bIns="0" anchor="ctr">
            <a:noAutofit/>
          </a:bodyPr>
          <a:lstStyle/>
          <a:p>
            <a:pPr algn="ctr"/>
            <a:r>
              <a:rPr sz="1050" b="1" i="0">
                <a:solidFill>
                  <a:srgbClr val="FFFFFF"/>
                </a:solidFill>
                <a:latin typeface="Calibri"/>
              </a:rPr>
              <a:t>P1</a:t>
            </a:r>
          </a:p>
        </p:txBody>
      </p:sp>
      <p:sp>
        <p:nvSpPr>
          <p:cNvPr id="9" name="TextBox 8"/>
          <p:cNvSpPr txBox="1"/>
          <p:nvPr/>
        </p:nvSpPr>
        <p:spPr>
          <a:xfrm>
            <a:off x="1325880" y="2185416"/>
            <a:ext cx="4297679" cy="566928"/>
          </a:xfrm>
          <a:prstGeom prst="rect">
            <a:avLst/>
          </a:prstGeom>
          <a:noFill/>
        </p:spPr>
        <p:txBody>
          <a:bodyPr wrap="square" lIns="0" rIns="0" tIns="0" bIns="0" anchor="t">
            <a:noAutofit/>
          </a:bodyPr>
          <a:lstStyle/>
          <a:p>
            <a:r>
              <a:rPr sz="1080" b="0" i="0">
                <a:solidFill>
                  <a:srgbClr val="1B2A4A"/>
                </a:solidFill>
                <a:latin typeface="Calibri"/>
              </a:rPr>
              <a:t>Responsabilité - un responsable identifié par actif de données et par modèle</a:t>
            </a:r>
          </a:p>
        </p:txBody>
      </p:sp>
      <p:sp>
        <p:nvSpPr>
          <p:cNvPr id="10" name="Oval 9"/>
          <p:cNvSpPr/>
          <p:nvPr/>
        </p:nvSpPr>
        <p:spPr>
          <a:xfrm>
            <a:off x="822959" y="2779776"/>
            <a:ext cx="384048" cy="384048"/>
          </a:xfrm>
          <a:prstGeom prst="ellipse">
            <a:avLst/>
          </a:prstGeom>
          <a:solidFill>
            <a:srgbClr val="1B2A4A"/>
          </a:solidFill>
          <a:ln>
            <a:noFill/>
          </a:ln>
          <a:effectLst/>
        </p:spPr>
        <p:txBody>
          <a:bodyPr rtlCol="0" anchor="ctr"/>
          <a:lstStyle/>
          <a:p>
            <a:pPr algn="ctr"/>
          </a:p>
        </p:txBody>
      </p:sp>
      <p:sp>
        <p:nvSpPr>
          <p:cNvPr id="11" name="TextBox 10"/>
          <p:cNvSpPr txBox="1"/>
          <p:nvPr/>
        </p:nvSpPr>
        <p:spPr>
          <a:xfrm>
            <a:off x="822959" y="2779776"/>
            <a:ext cx="384048" cy="384048"/>
          </a:xfrm>
          <a:prstGeom prst="rect">
            <a:avLst/>
          </a:prstGeom>
          <a:noFill/>
        </p:spPr>
        <p:txBody>
          <a:bodyPr wrap="square" lIns="0" rIns="0" tIns="0" bIns="0" anchor="ctr">
            <a:noAutofit/>
          </a:bodyPr>
          <a:lstStyle/>
          <a:p>
            <a:pPr algn="ctr"/>
            <a:r>
              <a:rPr sz="1050" b="1" i="0">
                <a:solidFill>
                  <a:srgbClr val="FFFFFF"/>
                </a:solidFill>
                <a:latin typeface="Calibri"/>
              </a:rPr>
              <a:t>P4</a:t>
            </a:r>
          </a:p>
        </p:txBody>
      </p:sp>
      <p:sp>
        <p:nvSpPr>
          <p:cNvPr id="12" name="TextBox 11"/>
          <p:cNvSpPr txBox="1"/>
          <p:nvPr/>
        </p:nvSpPr>
        <p:spPr>
          <a:xfrm>
            <a:off x="1325880" y="2752344"/>
            <a:ext cx="4297679" cy="566928"/>
          </a:xfrm>
          <a:prstGeom prst="rect">
            <a:avLst/>
          </a:prstGeom>
          <a:noFill/>
        </p:spPr>
        <p:txBody>
          <a:bodyPr wrap="square" lIns="0" rIns="0" tIns="0" bIns="0" anchor="t">
            <a:noAutofit/>
          </a:bodyPr>
          <a:lstStyle/>
          <a:p>
            <a:r>
              <a:rPr sz="1080" b="0" i="0">
                <a:solidFill>
                  <a:srgbClr val="1B2A4A"/>
                </a:solidFill>
                <a:latin typeface="Calibri"/>
              </a:rPr>
              <a:t>Qualité - règles mesurables (exactitude, complétude, fraîcheur), auditées régulièrement</a:t>
            </a:r>
          </a:p>
        </p:txBody>
      </p:sp>
      <p:sp>
        <p:nvSpPr>
          <p:cNvPr id="13" name="Rounded Rectangle 12"/>
          <p:cNvSpPr/>
          <p:nvPr/>
        </p:nvSpPr>
        <p:spPr>
          <a:xfrm>
            <a:off x="6217919" y="1645920"/>
            <a:ext cx="5349240" cy="2148840"/>
          </a:xfrm>
          <a:prstGeom prst="roundRect">
            <a:avLst>
              <a:gd name="adj" fmla="val 8000"/>
            </a:avLst>
          </a:prstGeom>
          <a:solidFill>
            <a:srgbClr val="FFFFFF"/>
          </a:solidFill>
          <a:ln w="9525">
            <a:solidFill>
              <a:srgbClr val="D8DEE6"/>
            </a:solidFill>
          </a:ln>
          <a:effectLst>
            <a:outerShdw blurRad="63500" dist="19050" dir="5400000" rotWithShape="0">
              <a:srgbClr val="1B2A4A">
                <a:alpha val="12000"/>
              </a:srgbClr>
            </a:outerShdw>
          </a:effectLst>
        </p:spPr>
        <p:txBody>
          <a:bodyPr rtlCol="0" anchor="ctr"/>
          <a:lstStyle/>
          <a:p>
            <a:pPr algn="ctr"/>
          </a:p>
        </p:txBody>
      </p:sp>
      <p:sp>
        <p:nvSpPr>
          <p:cNvPr id="14" name="TextBox 13"/>
          <p:cNvSpPr txBox="1"/>
          <p:nvPr/>
        </p:nvSpPr>
        <p:spPr>
          <a:xfrm>
            <a:off x="6492239" y="1810512"/>
            <a:ext cx="4800600" cy="329184"/>
          </a:xfrm>
          <a:prstGeom prst="rect">
            <a:avLst/>
          </a:prstGeom>
          <a:noFill/>
        </p:spPr>
        <p:txBody>
          <a:bodyPr wrap="square" lIns="0" rIns="0" tIns="0" bIns="0">
            <a:noAutofit/>
          </a:bodyPr>
          <a:lstStyle/>
          <a:p>
            <a:r>
              <a:rPr sz="1400" b="1" i="0">
                <a:solidFill>
                  <a:srgbClr val="1C8C68"/>
                </a:solidFill>
                <a:latin typeface="Calibri"/>
              </a:rPr>
              <a:t>Confiance utilisateur</a:t>
            </a:r>
          </a:p>
        </p:txBody>
      </p:sp>
      <p:sp>
        <p:nvSpPr>
          <p:cNvPr id="15" name="Oval 14"/>
          <p:cNvSpPr/>
          <p:nvPr/>
        </p:nvSpPr>
        <p:spPr>
          <a:xfrm>
            <a:off x="6492239" y="2212848"/>
            <a:ext cx="384048" cy="384048"/>
          </a:xfrm>
          <a:prstGeom prst="ellipse">
            <a:avLst/>
          </a:prstGeom>
          <a:solidFill>
            <a:srgbClr val="1B2A4A"/>
          </a:solidFill>
          <a:ln>
            <a:noFill/>
          </a:ln>
          <a:effectLst/>
        </p:spPr>
        <p:txBody>
          <a:bodyPr rtlCol="0" anchor="ctr"/>
          <a:lstStyle/>
          <a:p>
            <a:pPr algn="ctr"/>
          </a:p>
        </p:txBody>
      </p:sp>
      <p:sp>
        <p:nvSpPr>
          <p:cNvPr id="16" name="TextBox 15"/>
          <p:cNvSpPr txBox="1"/>
          <p:nvPr/>
        </p:nvSpPr>
        <p:spPr>
          <a:xfrm>
            <a:off x="6492239" y="2212848"/>
            <a:ext cx="384048" cy="384048"/>
          </a:xfrm>
          <a:prstGeom prst="rect">
            <a:avLst/>
          </a:prstGeom>
          <a:noFill/>
        </p:spPr>
        <p:txBody>
          <a:bodyPr wrap="square" lIns="0" rIns="0" tIns="0" bIns="0" anchor="ctr">
            <a:noAutofit/>
          </a:bodyPr>
          <a:lstStyle/>
          <a:p>
            <a:pPr algn="ctr"/>
            <a:r>
              <a:rPr sz="1050" b="1" i="0">
                <a:solidFill>
                  <a:srgbClr val="FFFFFF"/>
                </a:solidFill>
                <a:latin typeface="Calibri"/>
              </a:rPr>
              <a:t>P2</a:t>
            </a:r>
          </a:p>
        </p:txBody>
      </p:sp>
      <p:sp>
        <p:nvSpPr>
          <p:cNvPr id="17" name="TextBox 16"/>
          <p:cNvSpPr txBox="1"/>
          <p:nvPr/>
        </p:nvSpPr>
        <p:spPr>
          <a:xfrm>
            <a:off x="6995159" y="2185416"/>
            <a:ext cx="4297679" cy="566928"/>
          </a:xfrm>
          <a:prstGeom prst="rect">
            <a:avLst/>
          </a:prstGeom>
          <a:noFill/>
        </p:spPr>
        <p:txBody>
          <a:bodyPr wrap="square" lIns="0" rIns="0" tIns="0" bIns="0" anchor="t">
            <a:noAutofit/>
          </a:bodyPr>
          <a:lstStyle/>
          <a:p>
            <a:r>
              <a:rPr sz="1080" b="0" i="0">
                <a:solidFill>
                  <a:srgbClr val="1B2A4A"/>
                </a:solidFill>
                <a:latin typeface="Calibri"/>
              </a:rPr>
              <a:t>Transparence - information claire et gestion du consentement</a:t>
            </a:r>
          </a:p>
        </p:txBody>
      </p:sp>
      <p:sp>
        <p:nvSpPr>
          <p:cNvPr id="18" name="Oval 17"/>
          <p:cNvSpPr/>
          <p:nvPr/>
        </p:nvSpPr>
        <p:spPr>
          <a:xfrm>
            <a:off x="6492239" y="2779776"/>
            <a:ext cx="384048" cy="384048"/>
          </a:xfrm>
          <a:prstGeom prst="ellipse">
            <a:avLst/>
          </a:prstGeom>
          <a:solidFill>
            <a:srgbClr val="1B2A4A"/>
          </a:solidFill>
          <a:ln>
            <a:noFill/>
          </a:ln>
          <a:effectLst/>
        </p:spPr>
        <p:txBody>
          <a:bodyPr rtlCol="0" anchor="ctr"/>
          <a:lstStyle/>
          <a:p>
            <a:pPr algn="ctr"/>
          </a:p>
        </p:txBody>
      </p:sp>
      <p:sp>
        <p:nvSpPr>
          <p:cNvPr id="19" name="TextBox 18"/>
          <p:cNvSpPr txBox="1"/>
          <p:nvPr/>
        </p:nvSpPr>
        <p:spPr>
          <a:xfrm>
            <a:off x="6492239" y="2779776"/>
            <a:ext cx="384048" cy="384048"/>
          </a:xfrm>
          <a:prstGeom prst="rect">
            <a:avLst/>
          </a:prstGeom>
          <a:noFill/>
        </p:spPr>
        <p:txBody>
          <a:bodyPr wrap="square" lIns="0" rIns="0" tIns="0" bIns="0" anchor="ctr">
            <a:noAutofit/>
          </a:bodyPr>
          <a:lstStyle/>
          <a:p>
            <a:pPr algn="ctr"/>
            <a:r>
              <a:rPr sz="1050" b="1" i="0">
                <a:solidFill>
                  <a:srgbClr val="FFFFFF"/>
                </a:solidFill>
                <a:latin typeface="Calibri"/>
              </a:rPr>
              <a:t>P6</a:t>
            </a:r>
          </a:p>
        </p:txBody>
      </p:sp>
      <p:sp>
        <p:nvSpPr>
          <p:cNvPr id="20" name="TextBox 19"/>
          <p:cNvSpPr txBox="1"/>
          <p:nvPr/>
        </p:nvSpPr>
        <p:spPr>
          <a:xfrm>
            <a:off x="6995159" y="2752344"/>
            <a:ext cx="4297679" cy="566928"/>
          </a:xfrm>
          <a:prstGeom prst="rect">
            <a:avLst/>
          </a:prstGeom>
          <a:noFill/>
        </p:spPr>
        <p:txBody>
          <a:bodyPr wrap="square" lIns="0" rIns="0" tIns="0" bIns="0" anchor="t">
            <a:noAutofit/>
          </a:bodyPr>
          <a:lstStyle/>
          <a:p>
            <a:r>
              <a:rPr sz="1080" b="0" i="0">
                <a:solidFill>
                  <a:srgbClr val="1B2A4A"/>
                </a:solidFill>
                <a:latin typeface="Calibri"/>
              </a:rPr>
              <a:t>Minimisation - collecte limitée aux finalités métier</a:t>
            </a:r>
          </a:p>
        </p:txBody>
      </p:sp>
      <p:sp>
        <p:nvSpPr>
          <p:cNvPr id="21" name="Oval 20"/>
          <p:cNvSpPr/>
          <p:nvPr/>
        </p:nvSpPr>
        <p:spPr>
          <a:xfrm>
            <a:off x="6492239" y="3346704"/>
            <a:ext cx="384048" cy="384048"/>
          </a:xfrm>
          <a:prstGeom prst="ellipse">
            <a:avLst/>
          </a:prstGeom>
          <a:solidFill>
            <a:srgbClr val="1B2A4A"/>
          </a:solidFill>
          <a:ln>
            <a:noFill/>
          </a:ln>
          <a:effectLst/>
        </p:spPr>
        <p:txBody>
          <a:bodyPr rtlCol="0" anchor="ctr"/>
          <a:lstStyle/>
          <a:p>
            <a:pPr algn="ctr"/>
          </a:p>
        </p:txBody>
      </p:sp>
      <p:sp>
        <p:nvSpPr>
          <p:cNvPr id="22" name="TextBox 21"/>
          <p:cNvSpPr txBox="1"/>
          <p:nvPr/>
        </p:nvSpPr>
        <p:spPr>
          <a:xfrm>
            <a:off x="6492239" y="3346704"/>
            <a:ext cx="384048" cy="384048"/>
          </a:xfrm>
          <a:prstGeom prst="rect">
            <a:avLst/>
          </a:prstGeom>
          <a:noFill/>
        </p:spPr>
        <p:txBody>
          <a:bodyPr wrap="square" lIns="0" rIns="0" tIns="0" bIns="0" anchor="ctr">
            <a:noAutofit/>
          </a:bodyPr>
          <a:lstStyle/>
          <a:p>
            <a:pPr algn="ctr"/>
            <a:r>
              <a:rPr sz="1050" b="1" i="0">
                <a:solidFill>
                  <a:srgbClr val="FFFFFF"/>
                </a:solidFill>
                <a:latin typeface="Calibri"/>
              </a:rPr>
              <a:t>P7</a:t>
            </a:r>
          </a:p>
        </p:txBody>
      </p:sp>
      <p:sp>
        <p:nvSpPr>
          <p:cNvPr id="23" name="TextBox 22"/>
          <p:cNvSpPr txBox="1"/>
          <p:nvPr/>
        </p:nvSpPr>
        <p:spPr>
          <a:xfrm>
            <a:off x="6995159" y="3319272"/>
            <a:ext cx="4297679" cy="566928"/>
          </a:xfrm>
          <a:prstGeom prst="rect">
            <a:avLst/>
          </a:prstGeom>
          <a:noFill/>
        </p:spPr>
        <p:txBody>
          <a:bodyPr wrap="square" lIns="0" rIns="0" tIns="0" bIns="0" anchor="t">
            <a:noAutofit/>
          </a:bodyPr>
          <a:lstStyle/>
          <a:p>
            <a:r>
              <a:rPr sz="1080" b="0" i="0">
                <a:solidFill>
                  <a:srgbClr val="1B2A4A"/>
                </a:solidFill>
                <a:latin typeface="Calibri"/>
              </a:rPr>
              <a:t>Droits des utilisateurs - accès, modification, suppression, opposition</a:t>
            </a:r>
          </a:p>
        </p:txBody>
      </p:sp>
      <p:sp>
        <p:nvSpPr>
          <p:cNvPr id="24" name="Rounded Rectangle 23"/>
          <p:cNvSpPr/>
          <p:nvPr/>
        </p:nvSpPr>
        <p:spPr>
          <a:xfrm>
            <a:off x="548640" y="4023360"/>
            <a:ext cx="5349240" cy="2148840"/>
          </a:xfrm>
          <a:prstGeom prst="roundRect">
            <a:avLst>
              <a:gd name="adj" fmla="val 8000"/>
            </a:avLst>
          </a:prstGeom>
          <a:solidFill>
            <a:srgbClr val="FFFFFF"/>
          </a:solidFill>
          <a:ln w="9525">
            <a:solidFill>
              <a:srgbClr val="D8DEE6"/>
            </a:solidFill>
          </a:ln>
          <a:effectLst>
            <a:outerShdw blurRad="63500" dist="19050" dir="5400000" rotWithShape="0">
              <a:srgbClr val="1B2A4A">
                <a:alpha val="12000"/>
              </a:srgbClr>
            </a:outerShdw>
          </a:effectLst>
        </p:spPr>
        <p:txBody>
          <a:bodyPr rtlCol="0" anchor="ctr"/>
          <a:lstStyle/>
          <a:p>
            <a:pPr algn="ctr"/>
          </a:p>
        </p:txBody>
      </p:sp>
      <p:sp>
        <p:nvSpPr>
          <p:cNvPr id="25" name="TextBox 24"/>
          <p:cNvSpPr txBox="1"/>
          <p:nvPr/>
        </p:nvSpPr>
        <p:spPr>
          <a:xfrm>
            <a:off x="822959" y="4187952"/>
            <a:ext cx="4800600" cy="329184"/>
          </a:xfrm>
          <a:prstGeom prst="rect">
            <a:avLst/>
          </a:prstGeom>
          <a:noFill/>
        </p:spPr>
        <p:txBody>
          <a:bodyPr wrap="square" lIns="0" rIns="0" tIns="0" bIns="0">
            <a:noAutofit/>
          </a:bodyPr>
          <a:lstStyle/>
          <a:p>
            <a:r>
              <a:rPr sz="1400" b="1" i="0">
                <a:solidFill>
                  <a:srgbClr val="1C8C68"/>
                </a:solidFill>
                <a:latin typeface="Calibri"/>
              </a:rPr>
              <a:t>Sécurité &amp; conformité</a:t>
            </a:r>
          </a:p>
        </p:txBody>
      </p:sp>
      <p:sp>
        <p:nvSpPr>
          <p:cNvPr id="26" name="Oval 25"/>
          <p:cNvSpPr/>
          <p:nvPr/>
        </p:nvSpPr>
        <p:spPr>
          <a:xfrm>
            <a:off x="822959" y="4590288"/>
            <a:ext cx="384048" cy="384048"/>
          </a:xfrm>
          <a:prstGeom prst="ellipse">
            <a:avLst/>
          </a:prstGeom>
          <a:solidFill>
            <a:srgbClr val="1B2A4A"/>
          </a:solidFill>
          <a:ln>
            <a:noFill/>
          </a:ln>
          <a:effectLst/>
        </p:spPr>
        <p:txBody>
          <a:bodyPr rtlCol="0" anchor="ctr"/>
          <a:lstStyle/>
          <a:p>
            <a:pPr algn="ctr"/>
          </a:p>
        </p:txBody>
      </p:sp>
      <p:sp>
        <p:nvSpPr>
          <p:cNvPr id="27" name="TextBox 26"/>
          <p:cNvSpPr txBox="1"/>
          <p:nvPr/>
        </p:nvSpPr>
        <p:spPr>
          <a:xfrm>
            <a:off x="822959" y="4590288"/>
            <a:ext cx="384048" cy="384048"/>
          </a:xfrm>
          <a:prstGeom prst="rect">
            <a:avLst/>
          </a:prstGeom>
          <a:noFill/>
        </p:spPr>
        <p:txBody>
          <a:bodyPr wrap="square" lIns="0" rIns="0" tIns="0" bIns="0" anchor="ctr">
            <a:noAutofit/>
          </a:bodyPr>
          <a:lstStyle/>
          <a:p>
            <a:pPr algn="ctr"/>
            <a:r>
              <a:rPr sz="1050" b="1" i="0">
                <a:solidFill>
                  <a:srgbClr val="FFFFFF"/>
                </a:solidFill>
                <a:latin typeface="Calibri"/>
              </a:rPr>
              <a:t>P3</a:t>
            </a:r>
          </a:p>
        </p:txBody>
      </p:sp>
      <p:sp>
        <p:nvSpPr>
          <p:cNvPr id="28" name="TextBox 27"/>
          <p:cNvSpPr txBox="1"/>
          <p:nvPr/>
        </p:nvSpPr>
        <p:spPr>
          <a:xfrm>
            <a:off x="1325880" y="4562856"/>
            <a:ext cx="4297679" cy="566928"/>
          </a:xfrm>
          <a:prstGeom prst="rect">
            <a:avLst/>
          </a:prstGeom>
          <a:noFill/>
        </p:spPr>
        <p:txBody>
          <a:bodyPr wrap="square" lIns="0" rIns="0" tIns="0" bIns="0" anchor="t">
            <a:noAutofit/>
          </a:bodyPr>
          <a:lstStyle/>
          <a:p>
            <a:r>
              <a:rPr sz="1080" b="0" i="0">
                <a:solidFill>
                  <a:srgbClr val="1B2A4A"/>
                </a:solidFill>
                <a:latin typeface="Calibri"/>
              </a:rPr>
              <a:t>Sécurité - chiffrement, contrôle d'accès par rôle, protocoles PCI-DSS</a:t>
            </a:r>
          </a:p>
        </p:txBody>
      </p:sp>
      <p:sp>
        <p:nvSpPr>
          <p:cNvPr id="29" name="Oval 28"/>
          <p:cNvSpPr/>
          <p:nvPr/>
        </p:nvSpPr>
        <p:spPr>
          <a:xfrm>
            <a:off x="822959" y="5157216"/>
            <a:ext cx="384048" cy="384048"/>
          </a:xfrm>
          <a:prstGeom prst="ellipse">
            <a:avLst/>
          </a:prstGeom>
          <a:solidFill>
            <a:srgbClr val="1B2A4A"/>
          </a:solidFill>
          <a:ln>
            <a:noFill/>
          </a:ln>
          <a:effectLst/>
        </p:spPr>
        <p:txBody>
          <a:bodyPr rtlCol="0" anchor="ctr"/>
          <a:lstStyle/>
          <a:p>
            <a:pPr algn="ctr"/>
          </a:p>
        </p:txBody>
      </p:sp>
      <p:sp>
        <p:nvSpPr>
          <p:cNvPr id="30" name="TextBox 29"/>
          <p:cNvSpPr txBox="1"/>
          <p:nvPr/>
        </p:nvSpPr>
        <p:spPr>
          <a:xfrm>
            <a:off x="822959" y="5157216"/>
            <a:ext cx="384048" cy="384048"/>
          </a:xfrm>
          <a:prstGeom prst="rect">
            <a:avLst/>
          </a:prstGeom>
          <a:noFill/>
        </p:spPr>
        <p:txBody>
          <a:bodyPr wrap="square" lIns="0" rIns="0" tIns="0" bIns="0" anchor="ctr">
            <a:noAutofit/>
          </a:bodyPr>
          <a:lstStyle/>
          <a:p>
            <a:pPr algn="ctr"/>
            <a:r>
              <a:rPr sz="1050" b="1" i="0">
                <a:solidFill>
                  <a:srgbClr val="FFFFFF"/>
                </a:solidFill>
                <a:latin typeface="Calibri"/>
              </a:rPr>
              <a:t>P5</a:t>
            </a:r>
          </a:p>
        </p:txBody>
      </p:sp>
      <p:sp>
        <p:nvSpPr>
          <p:cNvPr id="31" name="TextBox 30"/>
          <p:cNvSpPr txBox="1"/>
          <p:nvPr/>
        </p:nvSpPr>
        <p:spPr>
          <a:xfrm>
            <a:off x="1325880" y="5129784"/>
            <a:ext cx="4297679" cy="566928"/>
          </a:xfrm>
          <a:prstGeom prst="rect">
            <a:avLst/>
          </a:prstGeom>
          <a:noFill/>
        </p:spPr>
        <p:txBody>
          <a:bodyPr wrap="square" lIns="0" rIns="0" tIns="0" bIns="0" anchor="t">
            <a:noAutofit/>
          </a:bodyPr>
          <a:lstStyle/>
          <a:p>
            <a:r>
              <a:rPr sz="1080" b="0" i="0">
                <a:solidFill>
                  <a:srgbClr val="1B2A4A"/>
                </a:solidFill>
                <a:latin typeface="Calibri"/>
              </a:rPr>
              <a:t>Conformité - GDPR, CCPA, PCI-DSS et réglementations locales, veille continue</a:t>
            </a:r>
          </a:p>
        </p:txBody>
      </p:sp>
      <p:sp>
        <p:nvSpPr>
          <p:cNvPr id="32" name="Rounded Rectangle 31"/>
          <p:cNvSpPr/>
          <p:nvPr/>
        </p:nvSpPr>
        <p:spPr>
          <a:xfrm>
            <a:off x="6217919" y="4023360"/>
            <a:ext cx="5349240" cy="2148840"/>
          </a:xfrm>
          <a:prstGeom prst="roundRect">
            <a:avLst>
              <a:gd name="adj" fmla="val 8000"/>
            </a:avLst>
          </a:prstGeom>
          <a:solidFill>
            <a:srgbClr val="FFFFFF"/>
          </a:solidFill>
          <a:ln w="9525">
            <a:solidFill>
              <a:srgbClr val="D8DEE6"/>
            </a:solidFill>
          </a:ln>
          <a:effectLst>
            <a:outerShdw blurRad="63500" dist="19050" dir="5400000" rotWithShape="0">
              <a:srgbClr val="1B2A4A">
                <a:alpha val="12000"/>
              </a:srgbClr>
            </a:outerShdw>
          </a:effectLst>
        </p:spPr>
        <p:txBody>
          <a:bodyPr rtlCol="0" anchor="ctr"/>
          <a:lstStyle/>
          <a:p>
            <a:pPr algn="ctr"/>
          </a:p>
        </p:txBody>
      </p:sp>
      <p:sp>
        <p:nvSpPr>
          <p:cNvPr id="33" name="TextBox 32"/>
          <p:cNvSpPr txBox="1"/>
          <p:nvPr/>
        </p:nvSpPr>
        <p:spPr>
          <a:xfrm>
            <a:off x="6492239" y="4187952"/>
            <a:ext cx="4800600" cy="329184"/>
          </a:xfrm>
          <a:prstGeom prst="rect">
            <a:avLst/>
          </a:prstGeom>
          <a:noFill/>
        </p:spPr>
        <p:txBody>
          <a:bodyPr wrap="square" lIns="0" rIns="0" tIns="0" bIns="0">
            <a:noAutofit/>
          </a:bodyPr>
          <a:lstStyle/>
          <a:p>
            <a:r>
              <a:rPr sz="1400" b="1" i="0">
                <a:solidFill>
                  <a:srgbClr val="1C8C68"/>
                </a:solidFill>
                <a:latin typeface="Calibri"/>
              </a:rPr>
              <a:t>IA responsable &amp; amélioration continue</a:t>
            </a:r>
          </a:p>
        </p:txBody>
      </p:sp>
      <p:sp>
        <p:nvSpPr>
          <p:cNvPr id="34" name="Oval 33"/>
          <p:cNvSpPr/>
          <p:nvPr/>
        </p:nvSpPr>
        <p:spPr>
          <a:xfrm>
            <a:off x="6492239" y="4590288"/>
            <a:ext cx="384048" cy="384048"/>
          </a:xfrm>
          <a:prstGeom prst="ellipse">
            <a:avLst/>
          </a:prstGeom>
          <a:solidFill>
            <a:srgbClr val="1B2A4A"/>
          </a:solidFill>
          <a:ln>
            <a:noFill/>
          </a:ln>
          <a:effectLst/>
        </p:spPr>
        <p:txBody>
          <a:bodyPr rtlCol="0" anchor="ctr"/>
          <a:lstStyle/>
          <a:p>
            <a:pPr algn="ctr"/>
          </a:p>
        </p:txBody>
      </p:sp>
      <p:sp>
        <p:nvSpPr>
          <p:cNvPr id="35" name="TextBox 34"/>
          <p:cNvSpPr txBox="1"/>
          <p:nvPr/>
        </p:nvSpPr>
        <p:spPr>
          <a:xfrm>
            <a:off x="6492239" y="4590288"/>
            <a:ext cx="384048" cy="384048"/>
          </a:xfrm>
          <a:prstGeom prst="rect">
            <a:avLst/>
          </a:prstGeom>
          <a:noFill/>
        </p:spPr>
        <p:txBody>
          <a:bodyPr wrap="square" lIns="0" rIns="0" tIns="0" bIns="0" anchor="ctr">
            <a:noAutofit/>
          </a:bodyPr>
          <a:lstStyle/>
          <a:p>
            <a:pPr algn="ctr"/>
            <a:r>
              <a:rPr sz="1050" b="1" i="0">
                <a:solidFill>
                  <a:srgbClr val="FFFFFF"/>
                </a:solidFill>
                <a:latin typeface="Calibri"/>
              </a:rPr>
              <a:t>P8</a:t>
            </a:r>
          </a:p>
        </p:txBody>
      </p:sp>
      <p:sp>
        <p:nvSpPr>
          <p:cNvPr id="36" name="TextBox 35"/>
          <p:cNvSpPr txBox="1"/>
          <p:nvPr/>
        </p:nvSpPr>
        <p:spPr>
          <a:xfrm>
            <a:off x="6995159" y="4562856"/>
            <a:ext cx="4297679" cy="566928"/>
          </a:xfrm>
          <a:prstGeom prst="rect">
            <a:avLst/>
          </a:prstGeom>
          <a:noFill/>
        </p:spPr>
        <p:txBody>
          <a:bodyPr wrap="square" lIns="0" rIns="0" tIns="0" bIns="0" anchor="t">
            <a:noAutofit/>
          </a:bodyPr>
          <a:lstStyle/>
          <a:p>
            <a:r>
              <a:rPr sz="1080" b="0" i="0">
                <a:solidFill>
                  <a:srgbClr val="1B2A4A"/>
                </a:solidFill>
                <a:latin typeface="Calibri"/>
              </a:rPr>
              <a:t>Éthique &amp; gouvernance IA - traçabilité, biais, explicabilité</a:t>
            </a:r>
          </a:p>
        </p:txBody>
      </p:sp>
      <p:sp>
        <p:nvSpPr>
          <p:cNvPr id="37" name="Oval 36"/>
          <p:cNvSpPr/>
          <p:nvPr/>
        </p:nvSpPr>
        <p:spPr>
          <a:xfrm>
            <a:off x="6492239" y="5157216"/>
            <a:ext cx="384048" cy="384048"/>
          </a:xfrm>
          <a:prstGeom prst="ellipse">
            <a:avLst/>
          </a:prstGeom>
          <a:solidFill>
            <a:srgbClr val="1B2A4A"/>
          </a:solidFill>
          <a:ln>
            <a:noFill/>
          </a:ln>
          <a:effectLst/>
        </p:spPr>
        <p:txBody>
          <a:bodyPr rtlCol="0" anchor="ctr"/>
          <a:lstStyle/>
          <a:p>
            <a:pPr algn="ctr"/>
          </a:p>
        </p:txBody>
      </p:sp>
      <p:sp>
        <p:nvSpPr>
          <p:cNvPr id="38" name="TextBox 37"/>
          <p:cNvSpPr txBox="1"/>
          <p:nvPr/>
        </p:nvSpPr>
        <p:spPr>
          <a:xfrm>
            <a:off x="6492239" y="5157216"/>
            <a:ext cx="384048" cy="384048"/>
          </a:xfrm>
          <a:prstGeom prst="rect">
            <a:avLst/>
          </a:prstGeom>
          <a:noFill/>
        </p:spPr>
        <p:txBody>
          <a:bodyPr wrap="square" lIns="0" rIns="0" tIns="0" bIns="0" anchor="ctr">
            <a:noAutofit/>
          </a:bodyPr>
          <a:lstStyle/>
          <a:p>
            <a:pPr algn="ctr"/>
            <a:r>
              <a:rPr sz="1050" b="1" i="0">
                <a:solidFill>
                  <a:srgbClr val="FFFFFF"/>
                </a:solidFill>
                <a:latin typeface="Calibri"/>
              </a:rPr>
              <a:t>P9</a:t>
            </a:r>
          </a:p>
        </p:txBody>
      </p:sp>
      <p:sp>
        <p:nvSpPr>
          <p:cNvPr id="39" name="TextBox 38"/>
          <p:cNvSpPr txBox="1"/>
          <p:nvPr/>
        </p:nvSpPr>
        <p:spPr>
          <a:xfrm>
            <a:off x="6995159" y="5129784"/>
            <a:ext cx="4297679" cy="566928"/>
          </a:xfrm>
          <a:prstGeom prst="rect">
            <a:avLst/>
          </a:prstGeom>
          <a:noFill/>
        </p:spPr>
        <p:txBody>
          <a:bodyPr wrap="square" lIns="0" rIns="0" tIns="0" bIns="0" anchor="t">
            <a:noAutofit/>
          </a:bodyPr>
          <a:lstStyle/>
          <a:p>
            <a:r>
              <a:rPr sz="1080" b="0" i="0">
                <a:solidFill>
                  <a:srgbClr val="1B2A4A"/>
                </a:solidFill>
                <a:latin typeface="Calibri"/>
              </a:rPr>
              <a:t>Amélioration continue - revues périodiques alignées sur la méthodologie DMAT</a:t>
            </a:r>
          </a:p>
        </p:txBody>
      </p:sp>
      <p:sp>
        <p:nvSpPr>
          <p:cNvPr id="40" name="TextBox 39"/>
          <p:cNvSpPr txBox="1"/>
          <p:nvPr/>
        </p:nvSpPr>
        <p:spPr>
          <a:xfrm>
            <a:off x="548640" y="6473952"/>
            <a:ext cx="8686800" cy="274320"/>
          </a:xfrm>
          <a:prstGeom prst="rect">
            <a:avLst/>
          </a:prstGeom>
          <a:noFill/>
        </p:spPr>
        <p:txBody>
          <a:bodyPr wrap="square" lIns="0" rIns="0" tIns="0" bIns="0">
            <a:noAutofit/>
          </a:bodyPr>
          <a:lstStyle/>
          <a:p>
            <a:r>
              <a:rPr sz="950" b="0" i="1">
                <a:solidFill>
                  <a:srgbClr val="8493A8"/>
                </a:solidFill>
                <a:latin typeface="Calibri"/>
              </a:rPr>
              <a:t>Source : [D21] §2.1.3 - principes issus de [R4]</a:t>
            </a:r>
          </a:p>
        </p:txBody>
      </p:sp>
      <p:sp>
        <p:nvSpPr>
          <p:cNvPr id="41" name="TextBox 40"/>
          <p:cNvSpPr txBox="1"/>
          <p:nvPr/>
        </p:nvSpPr>
        <p:spPr>
          <a:xfrm>
            <a:off x="11002975" y="6473952"/>
            <a:ext cx="822960" cy="274320"/>
          </a:xfrm>
          <a:prstGeom prst="rect">
            <a:avLst/>
          </a:prstGeom>
          <a:noFill/>
        </p:spPr>
        <p:txBody>
          <a:bodyPr wrap="square" lIns="0" rIns="0" tIns="0" bIns="0">
            <a:noAutofit/>
          </a:bodyPr>
          <a:lstStyle/>
          <a:p>
            <a:pPr algn="r"/>
            <a:r>
              <a:rPr sz="950" b="0" i="0">
                <a:solidFill>
                  <a:srgbClr val="8493A8"/>
                </a:solidFill>
                <a:latin typeface="Calibri"/>
              </a:rPr>
              <a:t>4 / 10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2F4F7"/>
        </a:solidFill>
        <a:effectLst/>
      </p:bgPr>
    </p:bg>
    <p:spTree>
      <p:nvGrpSpPr>
        <p:cNvPr id="1" name=""/>
        <p:cNvGrpSpPr/>
        <p:nvPr/>
      </p:nvGrpSpPr>
      <p:grpSpPr/>
      <p:sp>
        <p:nvSpPr>
          <p:cNvPr id="2" name="TextBox 1"/>
          <p:cNvSpPr txBox="1"/>
          <p:nvPr/>
        </p:nvSpPr>
        <p:spPr>
          <a:xfrm>
            <a:off x="548640" y="384048"/>
            <a:ext cx="7315200" cy="292608"/>
          </a:xfrm>
          <a:prstGeom prst="rect">
            <a:avLst/>
          </a:prstGeom>
          <a:noFill/>
        </p:spPr>
        <p:txBody>
          <a:bodyPr wrap="square" lIns="0" rIns="0" tIns="0" bIns="0">
            <a:noAutofit/>
          </a:bodyPr>
          <a:lstStyle/>
          <a:p>
            <a:r>
              <a:rPr sz="1200" b="1" i="0" spc="200">
                <a:solidFill>
                  <a:srgbClr val="1C8C68"/>
                </a:solidFill>
                <a:latin typeface="Calibri"/>
              </a:rPr>
              <a:t>ORGANISATION</a:t>
            </a:r>
          </a:p>
        </p:txBody>
      </p:sp>
      <p:sp>
        <p:nvSpPr>
          <p:cNvPr id="3" name="TextBox 2"/>
          <p:cNvSpPr txBox="1"/>
          <p:nvPr/>
        </p:nvSpPr>
        <p:spPr>
          <a:xfrm>
            <a:off x="548640" y="658368"/>
            <a:ext cx="9509760" cy="868680"/>
          </a:xfrm>
          <a:prstGeom prst="rect">
            <a:avLst/>
          </a:prstGeom>
          <a:noFill/>
        </p:spPr>
        <p:txBody>
          <a:bodyPr wrap="square" lIns="0" rIns="0" tIns="0" bIns="0" anchor="t">
            <a:noAutofit/>
          </a:bodyPr>
          <a:lstStyle/>
          <a:p>
            <a:pPr>
              <a:lnSpc>
                <a:spcPct val="102000"/>
              </a:lnSpc>
            </a:pPr>
            <a:r>
              <a:rPr sz="2800" b="1" i="0">
                <a:solidFill>
                  <a:srgbClr val="1B2A4A"/>
                </a:solidFill>
                <a:latin typeface="Cambria"/>
              </a:rPr>
              <a:t>Un modèle Center of Excellence, adapté à Spotify</a:t>
            </a:r>
          </a:p>
        </p:txBody>
      </p:sp>
      <p:pic>
        <p:nvPicPr>
          <p:cNvPr id="4" name="Picture 3" descr="icon_users.png"/>
          <p:cNvPicPr>
            <a:picLocks noChangeAspect="1"/>
          </p:cNvPicPr>
          <p:nvPr/>
        </p:nvPicPr>
        <p:blipFill>
          <a:blip r:embed="rId2"/>
          <a:stretch>
            <a:fillRect/>
          </a:stretch>
        </p:blipFill>
        <p:spPr>
          <a:xfrm>
            <a:off x="11140135" y="365760"/>
            <a:ext cx="658368" cy="658368"/>
          </a:xfrm>
          <a:prstGeom prst="rect">
            <a:avLst/>
          </a:prstGeom>
        </p:spPr>
      </p:pic>
      <p:sp>
        <p:nvSpPr>
          <p:cNvPr id="5" name="Rounded Rectangle 4"/>
          <p:cNvSpPr/>
          <p:nvPr/>
        </p:nvSpPr>
        <p:spPr>
          <a:xfrm>
            <a:off x="548640" y="1691640"/>
            <a:ext cx="4114800" cy="4572000"/>
          </a:xfrm>
          <a:prstGeom prst="roundRect">
            <a:avLst>
              <a:gd name="adj" fmla="val 8000"/>
            </a:avLst>
          </a:prstGeom>
          <a:solidFill>
            <a:srgbClr val="FFFFFF"/>
          </a:solidFill>
          <a:ln w="9525">
            <a:solidFill>
              <a:srgbClr val="D8DEE6"/>
            </a:solidFill>
          </a:ln>
          <a:effectLst>
            <a:outerShdw blurRad="63500" dist="19050" dir="5400000" rotWithShape="0">
              <a:srgbClr val="1B2A4A">
                <a:alpha val="12000"/>
              </a:srgbClr>
            </a:outerShdw>
          </a:effectLst>
        </p:spPr>
        <p:txBody>
          <a:bodyPr rtlCol="0" anchor="ctr"/>
          <a:lstStyle/>
          <a:p>
            <a:pPr algn="ctr"/>
          </a:p>
        </p:txBody>
      </p:sp>
      <p:sp>
        <p:nvSpPr>
          <p:cNvPr id="6" name="TextBox 5"/>
          <p:cNvSpPr txBox="1"/>
          <p:nvPr/>
        </p:nvSpPr>
        <p:spPr>
          <a:xfrm>
            <a:off x="822959" y="1920240"/>
            <a:ext cx="3566160" cy="292608"/>
          </a:xfrm>
          <a:prstGeom prst="rect">
            <a:avLst/>
          </a:prstGeom>
          <a:noFill/>
        </p:spPr>
        <p:txBody>
          <a:bodyPr wrap="square" lIns="0" rIns="0" tIns="0" bIns="0">
            <a:noAutofit/>
          </a:bodyPr>
          <a:lstStyle/>
          <a:p>
            <a:r>
              <a:rPr sz="1300" b="1" i="0">
                <a:solidFill>
                  <a:srgbClr val="1C8C68"/>
                </a:solidFill>
                <a:latin typeface="Calibri"/>
              </a:rPr>
              <a:t>Le modèle</a:t>
            </a:r>
          </a:p>
        </p:txBody>
      </p:sp>
      <p:sp>
        <p:nvSpPr>
          <p:cNvPr id="7" name="TextBox 6"/>
          <p:cNvSpPr txBox="1"/>
          <p:nvPr/>
        </p:nvSpPr>
        <p:spPr>
          <a:xfrm>
            <a:off x="822959" y="2249424"/>
            <a:ext cx="3566160" cy="1051560"/>
          </a:xfrm>
          <a:prstGeom prst="rect">
            <a:avLst/>
          </a:prstGeom>
          <a:noFill/>
        </p:spPr>
        <p:txBody>
          <a:bodyPr wrap="square" lIns="0" rIns="0" tIns="0" bIns="0" anchor="t">
            <a:noAutofit/>
          </a:bodyPr>
          <a:lstStyle/>
          <a:p>
            <a:r>
              <a:rPr sz="1150" b="0" i="0">
                <a:solidFill>
                  <a:srgbClr val="1B2A4A"/>
                </a:solidFill>
                <a:latin typeface="Calibri"/>
              </a:rPr>
              <a:t>Gouvernance centralisée (CDO, DGC) combinée à une autonomie départementale (Data Owners par métier).</a:t>
            </a:r>
          </a:p>
        </p:txBody>
      </p:sp>
      <p:sp>
        <p:nvSpPr>
          <p:cNvPr id="8" name="TextBox 7"/>
          <p:cNvSpPr txBox="1"/>
          <p:nvPr/>
        </p:nvSpPr>
        <p:spPr>
          <a:xfrm>
            <a:off x="822959" y="3401568"/>
            <a:ext cx="3566160" cy="292608"/>
          </a:xfrm>
          <a:prstGeom prst="rect">
            <a:avLst/>
          </a:prstGeom>
          <a:noFill/>
        </p:spPr>
        <p:txBody>
          <a:bodyPr wrap="square" lIns="0" rIns="0" tIns="0" bIns="0">
            <a:noAutofit/>
          </a:bodyPr>
          <a:lstStyle/>
          <a:p>
            <a:r>
              <a:rPr sz="1300" b="1" i="0">
                <a:solidFill>
                  <a:srgbClr val="1C8C68"/>
                </a:solidFill>
                <a:latin typeface="Calibri"/>
              </a:rPr>
              <a:t>Deux écarts assumés</a:t>
            </a:r>
          </a:p>
        </p:txBody>
      </p:sp>
      <p:sp>
        <p:nvSpPr>
          <p:cNvPr id="9" name="TextBox 8"/>
          <p:cNvSpPr txBox="1"/>
          <p:nvPr/>
        </p:nvSpPr>
        <p:spPr>
          <a:xfrm>
            <a:off x="822959" y="3730752"/>
            <a:ext cx="3566160" cy="1051560"/>
          </a:xfrm>
          <a:prstGeom prst="rect">
            <a:avLst/>
          </a:prstGeom>
          <a:noFill/>
        </p:spPr>
        <p:txBody>
          <a:bodyPr wrap="square" lIns="0" rIns="0" tIns="0" bIns="0" anchor="t">
            <a:noAutofit/>
          </a:bodyPr>
          <a:lstStyle/>
          <a:p>
            <a:r>
              <a:rPr sz="1150" b="0" i="0">
                <a:solidFill>
                  <a:srgbClr val="1B2A4A"/>
                </a:solidFill>
                <a:latin typeface="Calibri"/>
              </a:rPr>
              <a:t>Infrastructure technique maintenue dans Engineering ; autorité de conformité (DPO/Legal) séparée de l'autorité de gouvernance (CDO/DGC).</a:t>
            </a:r>
          </a:p>
        </p:txBody>
      </p:sp>
      <p:sp>
        <p:nvSpPr>
          <p:cNvPr id="10" name="TextBox 9"/>
          <p:cNvSpPr txBox="1"/>
          <p:nvPr/>
        </p:nvSpPr>
        <p:spPr>
          <a:xfrm>
            <a:off x="822959" y="4882896"/>
            <a:ext cx="3566160" cy="292608"/>
          </a:xfrm>
          <a:prstGeom prst="rect">
            <a:avLst/>
          </a:prstGeom>
          <a:noFill/>
        </p:spPr>
        <p:txBody>
          <a:bodyPr wrap="square" lIns="0" rIns="0" tIns="0" bIns="0">
            <a:noAutofit/>
          </a:bodyPr>
          <a:lstStyle/>
          <a:p>
            <a:r>
              <a:rPr sz="1300" b="1" i="0">
                <a:solidFill>
                  <a:srgbClr val="1C8C68"/>
                </a:solidFill>
                <a:latin typeface="Calibri"/>
              </a:rPr>
              <a:t>Le mécanisme clé</a:t>
            </a:r>
          </a:p>
        </p:txBody>
      </p:sp>
      <p:sp>
        <p:nvSpPr>
          <p:cNvPr id="11" name="TextBox 10"/>
          <p:cNvSpPr txBox="1"/>
          <p:nvPr/>
        </p:nvSpPr>
        <p:spPr>
          <a:xfrm>
            <a:off x="822959" y="5212080"/>
            <a:ext cx="3566160" cy="1051560"/>
          </a:xfrm>
          <a:prstGeom prst="rect">
            <a:avLst/>
          </a:prstGeom>
          <a:noFill/>
        </p:spPr>
        <p:txBody>
          <a:bodyPr wrap="square" lIns="0" rIns="0" tIns="0" bIns="0" anchor="t">
            <a:noAutofit/>
          </a:bodyPr>
          <a:lstStyle/>
          <a:p>
            <a:r>
              <a:rPr sz="1150" b="0" i="0">
                <a:solidFill>
                  <a:srgbClr val="1B2A4A"/>
                </a:solidFill>
                <a:latin typeface="Calibri"/>
              </a:rPr>
              <a:t>Double rattachement des Data Stewards - fonctionnel au CDO, organisationnel au département - principal levier contre le cloisonnement (E1).</a:t>
            </a:r>
          </a:p>
        </p:txBody>
      </p:sp>
      <p:pic>
        <p:nvPicPr>
          <p:cNvPr id="12" name="Picture 11" descr="spotify-step-2-2-organizational-chart--diagram.png"/>
          <p:cNvPicPr>
            <a:picLocks noChangeAspect="1"/>
          </p:cNvPicPr>
          <p:nvPr/>
        </p:nvPicPr>
        <p:blipFill>
          <a:blip r:embed="rId3"/>
          <a:stretch>
            <a:fillRect/>
          </a:stretch>
        </p:blipFill>
        <p:spPr>
          <a:xfrm>
            <a:off x="4892040" y="1691640"/>
            <a:ext cx="6766560" cy="4120019"/>
          </a:xfrm>
          <a:prstGeom prst="rect">
            <a:avLst/>
          </a:prstGeom>
        </p:spPr>
      </p:pic>
      <p:sp>
        <p:nvSpPr>
          <p:cNvPr id="13" name="TextBox 12"/>
          <p:cNvSpPr txBox="1"/>
          <p:nvPr/>
        </p:nvSpPr>
        <p:spPr>
          <a:xfrm>
            <a:off x="4892040" y="5884811"/>
            <a:ext cx="6766560" cy="320040"/>
          </a:xfrm>
          <a:prstGeom prst="rect">
            <a:avLst/>
          </a:prstGeom>
          <a:noFill/>
        </p:spPr>
        <p:txBody>
          <a:bodyPr wrap="square" lIns="0" rIns="0" tIns="0" bIns="0">
            <a:noAutofit/>
          </a:bodyPr>
          <a:lstStyle/>
          <a:p>
            <a:pPr algn="ctr"/>
            <a:r>
              <a:rPr sz="1000" b="0" i="1">
                <a:solidFill>
                  <a:srgbClr val="8493A8"/>
                </a:solidFill>
                <a:latin typeface="Calibri"/>
              </a:rPr>
              <a:t>Trait plein = rattachement hiérarchique - Trait pointillé = rattachement fonctionnel / transverse</a:t>
            </a:r>
          </a:p>
        </p:txBody>
      </p:sp>
      <p:sp>
        <p:nvSpPr>
          <p:cNvPr id="14" name="TextBox 13"/>
          <p:cNvSpPr txBox="1"/>
          <p:nvPr/>
        </p:nvSpPr>
        <p:spPr>
          <a:xfrm>
            <a:off x="548640" y="6473952"/>
            <a:ext cx="8686800" cy="274320"/>
          </a:xfrm>
          <a:prstGeom prst="rect">
            <a:avLst/>
          </a:prstGeom>
          <a:noFill/>
        </p:spPr>
        <p:txBody>
          <a:bodyPr wrap="square" lIns="0" rIns="0" tIns="0" bIns="0">
            <a:noAutofit/>
          </a:bodyPr>
          <a:lstStyle/>
          <a:p>
            <a:r>
              <a:rPr sz="950" b="0" i="1">
                <a:solidFill>
                  <a:srgbClr val="8493A8"/>
                </a:solidFill>
                <a:latin typeface="Calibri"/>
              </a:rPr>
              <a:t>Source : [D22] Roles and Responsibilities Organizational Chart</a:t>
            </a:r>
          </a:p>
        </p:txBody>
      </p:sp>
      <p:sp>
        <p:nvSpPr>
          <p:cNvPr id="15" name="TextBox 14"/>
          <p:cNvSpPr txBox="1"/>
          <p:nvPr/>
        </p:nvSpPr>
        <p:spPr>
          <a:xfrm>
            <a:off x="11002975" y="6473952"/>
            <a:ext cx="822960" cy="274320"/>
          </a:xfrm>
          <a:prstGeom prst="rect">
            <a:avLst/>
          </a:prstGeom>
          <a:noFill/>
        </p:spPr>
        <p:txBody>
          <a:bodyPr wrap="square" lIns="0" rIns="0" tIns="0" bIns="0">
            <a:noAutofit/>
          </a:bodyPr>
          <a:lstStyle/>
          <a:p>
            <a:pPr algn="r"/>
            <a:r>
              <a:rPr sz="950" b="0" i="0">
                <a:solidFill>
                  <a:srgbClr val="8493A8"/>
                </a:solidFill>
                <a:latin typeface="Calibri"/>
              </a:rPr>
              <a:t>5 / 10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2F4F7"/>
        </a:solidFill>
        <a:effectLst/>
      </p:bgPr>
    </p:bg>
    <p:spTree>
      <p:nvGrpSpPr>
        <p:cNvPr id="1" name=""/>
        <p:cNvGrpSpPr/>
        <p:nvPr/>
      </p:nvGrpSpPr>
      <p:grpSpPr/>
      <p:sp>
        <p:nvSpPr>
          <p:cNvPr id="2" name="TextBox 1"/>
          <p:cNvSpPr txBox="1"/>
          <p:nvPr/>
        </p:nvSpPr>
        <p:spPr>
          <a:xfrm>
            <a:off x="548640" y="384048"/>
            <a:ext cx="7315200" cy="292608"/>
          </a:xfrm>
          <a:prstGeom prst="rect">
            <a:avLst/>
          </a:prstGeom>
          <a:noFill/>
        </p:spPr>
        <p:txBody>
          <a:bodyPr wrap="square" lIns="0" rIns="0" tIns="0" bIns="0">
            <a:noAutofit/>
          </a:bodyPr>
          <a:lstStyle/>
          <a:p>
            <a:r>
              <a:rPr sz="1200" b="1" i="0" spc="200">
                <a:solidFill>
                  <a:srgbClr val="1C8C68"/>
                </a:solidFill>
                <a:latin typeface="Calibri"/>
              </a:rPr>
              <a:t>CONFORMITÉ</a:t>
            </a:r>
          </a:p>
        </p:txBody>
      </p:sp>
      <p:sp>
        <p:nvSpPr>
          <p:cNvPr id="3" name="TextBox 2"/>
          <p:cNvSpPr txBox="1"/>
          <p:nvPr/>
        </p:nvSpPr>
        <p:spPr>
          <a:xfrm>
            <a:off x="548640" y="658368"/>
            <a:ext cx="9509760" cy="868680"/>
          </a:xfrm>
          <a:prstGeom prst="rect">
            <a:avLst/>
          </a:prstGeom>
          <a:noFill/>
        </p:spPr>
        <p:txBody>
          <a:bodyPr wrap="square" lIns="0" rIns="0" tIns="0" bIns="0" anchor="t">
            <a:noAutofit/>
          </a:bodyPr>
          <a:lstStyle/>
          <a:p>
            <a:pPr>
              <a:lnSpc>
                <a:spcPct val="102000"/>
              </a:lnSpc>
            </a:pPr>
            <a:r>
              <a:rPr sz="2800" b="1" i="0">
                <a:solidFill>
                  <a:srgbClr val="1B2A4A"/>
                </a:solidFill>
                <a:latin typeface="Cambria"/>
              </a:rPr>
              <a:t>Un socle réglementaire structuré cadre par cadre</a:t>
            </a:r>
          </a:p>
        </p:txBody>
      </p:sp>
      <p:pic>
        <p:nvPicPr>
          <p:cNvPr id="4" name="Picture 3" descr="icon_lock.png"/>
          <p:cNvPicPr>
            <a:picLocks noChangeAspect="1"/>
          </p:cNvPicPr>
          <p:nvPr/>
        </p:nvPicPr>
        <p:blipFill>
          <a:blip r:embed="rId2"/>
          <a:stretch>
            <a:fillRect/>
          </a:stretch>
        </p:blipFill>
        <p:spPr>
          <a:xfrm>
            <a:off x="11140135" y="365760"/>
            <a:ext cx="658368" cy="658368"/>
          </a:xfrm>
          <a:prstGeom prst="rect">
            <a:avLst/>
          </a:prstGeom>
        </p:spPr>
      </p:pic>
      <p:sp>
        <p:nvSpPr>
          <p:cNvPr id="5" name="Rounded Rectangle 4"/>
          <p:cNvSpPr/>
          <p:nvPr/>
        </p:nvSpPr>
        <p:spPr>
          <a:xfrm>
            <a:off x="548640" y="1691640"/>
            <a:ext cx="3611880" cy="3703320"/>
          </a:xfrm>
          <a:prstGeom prst="roundRect">
            <a:avLst>
              <a:gd name="adj" fmla="val 8000"/>
            </a:avLst>
          </a:prstGeom>
          <a:solidFill>
            <a:srgbClr val="FFFFFF"/>
          </a:solidFill>
          <a:ln w="9525">
            <a:solidFill>
              <a:srgbClr val="D8DEE6"/>
            </a:solidFill>
          </a:ln>
          <a:effectLst>
            <a:outerShdw blurRad="63500" dist="19050" dir="5400000" rotWithShape="0">
              <a:srgbClr val="1B2A4A">
                <a:alpha val="12000"/>
              </a:srgbClr>
            </a:outerShdw>
          </a:effectLst>
        </p:spPr>
        <p:txBody>
          <a:bodyPr rtlCol="0" anchor="ctr"/>
          <a:lstStyle/>
          <a:p>
            <a:pPr algn="ctr"/>
          </a:p>
        </p:txBody>
      </p:sp>
      <p:sp>
        <p:nvSpPr>
          <p:cNvPr id="6" name="Rounded Rectangle 5"/>
          <p:cNvSpPr/>
          <p:nvPr/>
        </p:nvSpPr>
        <p:spPr>
          <a:xfrm>
            <a:off x="822959" y="1920240"/>
            <a:ext cx="3063240" cy="457200"/>
          </a:xfrm>
          <a:prstGeom prst="roundRect">
            <a:avLst>
              <a:gd name="adj" fmla="val 6000"/>
            </a:avLst>
          </a:prstGeom>
          <a:solidFill>
            <a:srgbClr val="1B2A4A"/>
          </a:solidFill>
          <a:ln>
            <a:noFill/>
          </a:ln>
          <a:effectLst/>
        </p:spPr>
        <p:txBody>
          <a:bodyPr rtlCol="0" anchor="ctr"/>
          <a:lstStyle/>
          <a:p>
            <a:pPr algn="ctr"/>
          </a:p>
        </p:txBody>
      </p:sp>
      <p:sp>
        <p:nvSpPr>
          <p:cNvPr id="7" name="TextBox 6"/>
          <p:cNvSpPr txBox="1"/>
          <p:nvPr/>
        </p:nvSpPr>
        <p:spPr>
          <a:xfrm>
            <a:off x="822959" y="1920240"/>
            <a:ext cx="3063240" cy="457200"/>
          </a:xfrm>
          <a:prstGeom prst="rect">
            <a:avLst/>
          </a:prstGeom>
          <a:noFill/>
        </p:spPr>
        <p:txBody>
          <a:bodyPr wrap="square" lIns="0" rIns="0" tIns="0" bIns="0" anchor="ctr">
            <a:noAutofit/>
          </a:bodyPr>
          <a:lstStyle/>
          <a:p>
            <a:pPr algn="ctr"/>
            <a:r>
              <a:rPr sz="1600" b="1" i="0">
                <a:solidFill>
                  <a:srgbClr val="FFFFFF"/>
                </a:solidFill>
                <a:latin typeface="Calibri"/>
              </a:rPr>
              <a:t>GDPR</a:t>
            </a:r>
          </a:p>
        </p:txBody>
      </p:sp>
      <p:sp>
        <p:nvSpPr>
          <p:cNvPr id="8" name="TextBox 7"/>
          <p:cNvSpPr txBox="1"/>
          <p:nvPr/>
        </p:nvSpPr>
        <p:spPr>
          <a:xfrm>
            <a:off x="822959" y="2560320"/>
            <a:ext cx="3063240" cy="2606039"/>
          </a:xfrm>
          <a:prstGeom prst="rect">
            <a:avLst/>
          </a:prstGeom>
          <a:noFill/>
        </p:spPr>
        <p:txBody>
          <a:bodyPr wrap="square" lIns="0" rIns="0" tIns="0" bIns="0" anchor="t">
            <a:noAutofit/>
          </a:bodyPr>
          <a:lstStyle/>
          <a:p>
            <a:pPr marL="182880" indent="-182880">
              <a:spcAft>
                <a:spcPts val="1000"/>
              </a:spcAft>
              <a:buFont typeface="Arial"/>
              <a:buChar char="•"/>
            </a:pPr>
            <a:r>
              <a:rPr sz="1150" b="0">
                <a:solidFill>
                  <a:srgbClr val="1B2A4A"/>
                </a:solidFill>
                <a:latin typeface="Calibri"/>
              </a:rPr>
              <a:t>Traitement licite, loyal et transparent</a:t>
            </a:r>
          </a:p>
          <a:p>
            <a:pPr marL="182880" indent="-182880">
              <a:spcAft>
                <a:spcPts val="1000"/>
              </a:spcAft>
              <a:buFont typeface="Arial"/>
              <a:buChar char="•"/>
            </a:pPr>
            <a:r>
              <a:rPr sz="1150" b="0">
                <a:solidFill>
                  <a:srgbClr val="1B2A4A"/>
                </a:solidFill>
                <a:latin typeface="Calibri"/>
              </a:rPr>
              <a:t>Droits d'accès, rectification, suppression</a:t>
            </a:r>
          </a:p>
          <a:p>
            <a:pPr marL="182880" indent="-182880">
              <a:spcAft>
                <a:spcPts val="1000"/>
              </a:spcAft>
              <a:buFont typeface="Arial"/>
              <a:buChar char="•"/>
            </a:pPr>
            <a:r>
              <a:rPr sz="1150" b="0">
                <a:solidFill>
                  <a:srgbClr val="1B2A4A"/>
                </a:solidFill>
                <a:latin typeface="Calibri"/>
              </a:rPr>
              <a:t>Consentement explicite préalable</a:t>
            </a:r>
          </a:p>
          <a:p>
            <a:pPr marL="182880" indent="-182880">
              <a:spcAft>
                <a:spcPts val="1000"/>
              </a:spcAft>
              <a:buFont typeface="Arial"/>
              <a:buChar char="•"/>
            </a:pPr>
            <a:r>
              <a:rPr sz="1150" b="0">
                <a:solidFill>
                  <a:srgbClr val="1B2A4A"/>
                </a:solidFill>
                <a:latin typeface="Calibri"/>
              </a:rPr>
              <a:t>Notification de violation sous 72h</a:t>
            </a:r>
          </a:p>
          <a:p>
            <a:pPr marL="182880" indent="-182880">
              <a:spcAft>
                <a:spcPts val="0"/>
              </a:spcAft>
              <a:buFont typeface="Arial"/>
              <a:buChar char="•"/>
            </a:pPr>
            <a:r>
              <a:rPr sz="1150" b="0">
                <a:solidFill>
                  <a:srgbClr val="1B2A4A"/>
                </a:solidFill>
                <a:latin typeface="Calibri"/>
              </a:rPr>
              <a:t>Data Protection Officer nommé</a:t>
            </a:r>
          </a:p>
        </p:txBody>
      </p:sp>
      <p:sp>
        <p:nvSpPr>
          <p:cNvPr id="9" name="Rounded Rectangle 8"/>
          <p:cNvSpPr/>
          <p:nvPr/>
        </p:nvSpPr>
        <p:spPr>
          <a:xfrm>
            <a:off x="4379976" y="1691640"/>
            <a:ext cx="3611880" cy="3703320"/>
          </a:xfrm>
          <a:prstGeom prst="roundRect">
            <a:avLst>
              <a:gd name="adj" fmla="val 8000"/>
            </a:avLst>
          </a:prstGeom>
          <a:solidFill>
            <a:srgbClr val="FFFFFF"/>
          </a:solidFill>
          <a:ln w="9525">
            <a:solidFill>
              <a:srgbClr val="D8DEE6"/>
            </a:solidFill>
          </a:ln>
          <a:effectLst>
            <a:outerShdw blurRad="63500" dist="19050" dir="5400000" rotWithShape="0">
              <a:srgbClr val="1B2A4A">
                <a:alpha val="12000"/>
              </a:srgbClr>
            </a:outerShdw>
          </a:effectLst>
        </p:spPr>
        <p:txBody>
          <a:bodyPr rtlCol="0" anchor="ctr"/>
          <a:lstStyle/>
          <a:p>
            <a:pPr algn="ctr"/>
          </a:p>
        </p:txBody>
      </p:sp>
      <p:sp>
        <p:nvSpPr>
          <p:cNvPr id="10" name="Rounded Rectangle 9"/>
          <p:cNvSpPr/>
          <p:nvPr/>
        </p:nvSpPr>
        <p:spPr>
          <a:xfrm>
            <a:off x="4654296" y="1920240"/>
            <a:ext cx="3063240" cy="457200"/>
          </a:xfrm>
          <a:prstGeom prst="roundRect">
            <a:avLst>
              <a:gd name="adj" fmla="val 6000"/>
            </a:avLst>
          </a:prstGeom>
          <a:solidFill>
            <a:srgbClr val="1B2A4A"/>
          </a:solidFill>
          <a:ln>
            <a:noFill/>
          </a:ln>
          <a:effectLst/>
        </p:spPr>
        <p:txBody>
          <a:bodyPr rtlCol="0" anchor="ctr"/>
          <a:lstStyle/>
          <a:p>
            <a:pPr algn="ctr"/>
          </a:p>
        </p:txBody>
      </p:sp>
      <p:sp>
        <p:nvSpPr>
          <p:cNvPr id="11" name="TextBox 10"/>
          <p:cNvSpPr txBox="1"/>
          <p:nvPr/>
        </p:nvSpPr>
        <p:spPr>
          <a:xfrm>
            <a:off x="4654296" y="1920240"/>
            <a:ext cx="3063240" cy="457200"/>
          </a:xfrm>
          <a:prstGeom prst="rect">
            <a:avLst/>
          </a:prstGeom>
          <a:noFill/>
        </p:spPr>
        <p:txBody>
          <a:bodyPr wrap="square" lIns="0" rIns="0" tIns="0" bIns="0" anchor="ctr">
            <a:noAutofit/>
          </a:bodyPr>
          <a:lstStyle/>
          <a:p>
            <a:pPr algn="ctr"/>
            <a:r>
              <a:rPr sz="1600" b="1" i="0">
                <a:solidFill>
                  <a:srgbClr val="FFFFFF"/>
                </a:solidFill>
                <a:latin typeface="Calibri"/>
              </a:rPr>
              <a:t>CCPA</a:t>
            </a:r>
          </a:p>
        </p:txBody>
      </p:sp>
      <p:sp>
        <p:nvSpPr>
          <p:cNvPr id="12" name="TextBox 11"/>
          <p:cNvSpPr txBox="1"/>
          <p:nvPr/>
        </p:nvSpPr>
        <p:spPr>
          <a:xfrm>
            <a:off x="4654296" y="2560320"/>
            <a:ext cx="3063240" cy="2606039"/>
          </a:xfrm>
          <a:prstGeom prst="rect">
            <a:avLst/>
          </a:prstGeom>
          <a:noFill/>
        </p:spPr>
        <p:txBody>
          <a:bodyPr wrap="square" lIns="0" rIns="0" tIns="0" bIns="0" anchor="t">
            <a:noAutofit/>
          </a:bodyPr>
          <a:lstStyle/>
          <a:p>
            <a:pPr marL="182880" indent="-182880">
              <a:spcAft>
                <a:spcPts val="1000"/>
              </a:spcAft>
              <a:buFont typeface="Arial"/>
              <a:buChar char="•"/>
            </a:pPr>
            <a:r>
              <a:rPr sz="1150" b="0">
                <a:solidFill>
                  <a:srgbClr val="1B2A4A"/>
                </a:solidFill>
                <a:latin typeface="Calibri"/>
              </a:rPr>
              <a:t>Opt-out sur la vente de données</a:t>
            </a:r>
          </a:p>
          <a:p>
            <a:pPr marL="182880" indent="-182880">
              <a:spcAft>
                <a:spcPts val="1000"/>
              </a:spcAft>
              <a:buFont typeface="Arial"/>
              <a:buChar char="•"/>
            </a:pPr>
            <a:r>
              <a:rPr sz="1150" b="0">
                <a:solidFill>
                  <a:srgbClr val="1B2A4A"/>
                </a:solidFill>
                <a:latin typeface="Calibri"/>
              </a:rPr>
              <a:t>Droit d'accès, modification, suppression</a:t>
            </a:r>
          </a:p>
          <a:p>
            <a:pPr marL="182880" indent="-182880">
              <a:spcAft>
                <a:spcPts val="0"/>
              </a:spcAft>
              <a:buFont typeface="Arial"/>
              <a:buChar char="•"/>
            </a:pPr>
            <a:r>
              <a:rPr sz="1150" b="0">
                <a:solidFill>
                  <a:srgbClr val="1B2A4A"/>
                </a:solidFill>
                <a:latin typeface="Calibri"/>
              </a:rPr>
              <a:t>Non-discrimination envers les utilisateurs exerçant leurs droits</a:t>
            </a:r>
          </a:p>
        </p:txBody>
      </p:sp>
      <p:sp>
        <p:nvSpPr>
          <p:cNvPr id="13" name="Rounded Rectangle 12"/>
          <p:cNvSpPr/>
          <p:nvPr/>
        </p:nvSpPr>
        <p:spPr>
          <a:xfrm>
            <a:off x="8211312" y="1691640"/>
            <a:ext cx="3611880" cy="3703320"/>
          </a:xfrm>
          <a:prstGeom prst="roundRect">
            <a:avLst>
              <a:gd name="adj" fmla="val 8000"/>
            </a:avLst>
          </a:prstGeom>
          <a:solidFill>
            <a:srgbClr val="FFFFFF"/>
          </a:solidFill>
          <a:ln w="9525">
            <a:solidFill>
              <a:srgbClr val="D8DEE6"/>
            </a:solidFill>
          </a:ln>
          <a:effectLst>
            <a:outerShdw blurRad="63500" dist="19050" dir="5400000" rotWithShape="0">
              <a:srgbClr val="1B2A4A">
                <a:alpha val="12000"/>
              </a:srgbClr>
            </a:outerShdw>
          </a:effectLst>
        </p:spPr>
        <p:txBody>
          <a:bodyPr rtlCol="0" anchor="ctr"/>
          <a:lstStyle/>
          <a:p>
            <a:pPr algn="ctr"/>
          </a:p>
        </p:txBody>
      </p:sp>
      <p:sp>
        <p:nvSpPr>
          <p:cNvPr id="14" name="Rounded Rectangle 13"/>
          <p:cNvSpPr/>
          <p:nvPr/>
        </p:nvSpPr>
        <p:spPr>
          <a:xfrm>
            <a:off x="8485632" y="1920240"/>
            <a:ext cx="3063240" cy="457200"/>
          </a:xfrm>
          <a:prstGeom prst="roundRect">
            <a:avLst>
              <a:gd name="adj" fmla="val 6000"/>
            </a:avLst>
          </a:prstGeom>
          <a:solidFill>
            <a:srgbClr val="1B2A4A"/>
          </a:solidFill>
          <a:ln>
            <a:noFill/>
          </a:ln>
          <a:effectLst/>
        </p:spPr>
        <p:txBody>
          <a:bodyPr rtlCol="0" anchor="ctr"/>
          <a:lstStyle/>
          <a:p>
            <a:pPr algn="ctr"/>
          </a:p>
        </p:txBody>
      </p:sp>
      <p:sp>
        <p:nvSpPr>
          <p:cNvPr id="15" name="TextBox 14"/>
          <p:cNvSpPr txBox="1"/>
          <p:nvPr/>
        </p:nvSpPr>
        <p:spPr>
          <a:xfrm>
            <a:off x="8485632" y="1920240"/>
            <a:ext cx="3063240" cy="457200"/>
          </a:xfrm>
          <a:prstGeom prst="rect">
            <a:avLst/>
          </a:prstGeom>
          <a:noFill/>
        </p:spPr>
        <p:txBody>
          <a:bodyPr wrap="square" lIns="0" rIns="0" tIns="0" bIns="0" anchor="ctr">
            <a:noAutofit/>
          </a:bodyPr>
          <a:lstStyle/>
          <a:p>
            <a:pPr algn="ctr"/>
            <a:r>
              <a:rPr sz="1600" b="1" i="0">
                <a:solidFill>
                  <a:srgbClr val="FFFFFF"/>
                </a:solidFill>
                <a:latin typeface="Calibri"/>
              </a:rPr>
              <a:t>PCI-DSS</a:t>
            </a:r>
          </a:p>
        </p:txBody>
      </p:sp>
      <p:sp>
        <p:nvSpPr>
          <p:cNvPr id="16" name="TextBox 15"/>
          <p:cNvSpPr txBox="1"/>
          <p:nvPr/>
        </p:nvSpPr>
        <p:spPr>
          <a:xfrm>
            <a:off x="8485632" y="2560320"/>
            <a:ext cx="3063240" cy="2606039"/>
          </a:xfrm>
          <a:prstGeom prst="rect">
            <a:avLst/>
          </a:prstGeom>
          <a:noFill/>
        </p:spPr>
        <p:txBody>
          <a:bodyPr wrap="square" lIns="0" rIns="0" tIns="0" bIns="0" anchor="t">
            <a:noAutofit/>
          </a:bodyPr>
          <a:lstStyle/>
          <a:p>
            <a:pPr marL="182880" indent="-182880">
              <a:spcAft>
                <a:spcPts val="1000"/>
              </a:spcAft>
              <a:buFont typeface="Arial"/>
              <a:buChar char="•"/>
            </a:pPr>
            <a:r>
              <a:rPr sz="1150" b="0">
                <a:solidFill>
                  <a:srgbClr val="1B2A4A"/>
                </a:solidFill>
                <a:latin typeface="Calibri"/>
              </a:rPr>
              <a:t>Sécurisation de l'infrastructure réseau</a:t>
            </a:r>
          </a:p>
          <a:p>
            <a:pPr marL="182880" indent="-182880">
              <a:spcAft>
                <a:spcPts val="1000"/>
              </a:spcAft>
              <a:buFont typeface="Arial"/>
              <a:buChar char="•"/>
            </a:pPr>
            <a:r>
              <a:rPr sz="1150" b="0">
                <a:solidFill>
                  <a:srgbClr val="1B2A4A"/>
                </a:solidFill>
                <a:latin typeface="Calibri"/>
              </a:rPr>
              <a:t>Chiffrement des données de carte bancaire</a:t>
            </a:r>
          </a:p>
          <a:p>
            <a:pPr marL="182880" indent="-182880">
              <a:spcAft>
                <a:spcPts val="1000"/>
              </a:spcAft>
              <a:buFont typeface="Arial"/>
              <a:buChar char="•"/>
            </a:pPr>
            <a:r>
              <a:rPr sz="1150" b="0">
                <a:solidFill>
                  <a:srgbClr val="1B2A4A"/>
                </a:solidFill>
                <a:latin typeface="Calibri"/>
              </a:rPr>
              <a:t>Gestion des vulnérabilités</a:t>
            </a:r>
          </a:p>
          <a:p>
            <a:pPr marL="182880" indent="-182880">
              <a:spcAft>
                <a:spcPts val="1000"/>
              </a:spcAft>
              <a:buFont typeface="Arial"/>
              <a:buChar char="•"/>
            </a:pPr>
            <a:r>
              <a:rPr sz="1150" b="0">
                <a:solidFill>
                  <a:srgbClr val="1B2A4A"/>
                </a:solidFill>
                <a:latin typeface="Calibri"/>
              </a:rPr>
              <a:t>Contrôle d'accès strict aux données de paiement</a:t>
            </a:r>
          </a:p>
          <a:p>
            <a:pPr marL="182880" indent="-182880">
              <a:spcAft>
                <a:spcPts val="0"/>
              </a:spcAft>
              <a:buFont typeface="Arial"/>
              <a:buChar char="•"/>
            </a:pPr>
            <a:r>
              <a:rPr sz="1150" b="0">
                <a:solidFill>
                  <a:srgbClr val="1B2A4A"/>
                </a:solidFill>
                <a:latin typeface="Calibri"/>
              </a:rPr>
              <a:t>Tests réguliers des dispositifs de sécurité</a:t>
            </a:r>
          </a:p>
        </p:txBody>
      </p:sp>
      <p:sp>
        <p:nvSpPr>
          <p:cNvPr id="17" name="Rounded Rectangle 16"/>
          <p:cNvSpPr/>
          <p:nvPr/>
        </p:nvSpPr>
        <p:spPr>
          <a:xfrm>
            <a:off x="548640" y="5532120"/>
            <a:ext cx="11091672" cy="658368"/>
          </a:xfrm>
          <a:prstGeom prst="roundRect">
            <a:avLst>
              <a:gd name="adj" fmla="val 8000"/>
            </a:avLst>
          </a:prstGeom>
          <a:solidFill>
            <a:srgbClr val="EAF7F1"/>
          </a:solidFill>
          <a:ln w="9525">
            <a:solidFill>
              <a:srgbClr val="D8DEE6"/>
            </a:solidFill>
          </a:ln>
          <a:effectLst/>
        </p:spPr>
        <p:txBody>
          <a:bodyPr rtlCol="0" anchor="ctr"/>
          <a:lstStyle/>
          <a:p>
            <a:pPr algn="ctr"/>
          </a:p>
        </p:txBody>
      </p:sp>
      <p:sp>
        <p:nvSpPr>
          <p:cNvPr id="18" name="TextBox 17"/>
          <p:cNvSpPr txBox="1"/>
          <p:nvPr/>
        </p:nvSpPr>
        <p:spPr>
          <a:xfrm>
            <a:off x="822960" y="5532120"/>
            <a:ext cx="10515600" cy="658368"/>
          </a:xfrm>
          <a:prstGeom prst="rect">
            <a:avLst/>
          </a:prstGeom>
          <a:noFill/>
        </p:spPr>
        <p:txBody>
          <a:bodyPr wrap="square" lIns="0" rIns="0" tIns="0" bIns="0" anchor="ctr">
            <a:noAutofit/>
          </a:bodyPr>
          <a:lstStyle/>
          <a:p>
            <a:r>
              <a:rPr sz="1200" b="1" i="0">
                <a:solidFill>
                  <a:srgbClr val="1C8C68"/>
                </a:solidFill>
                <a:latin typeface="Calibri"/>
              </a:rPr>
              <a:t>Complété par une cartographie réglementaire marché par marché (PDPA à Singapour, etc.), pilotée par Legal Team en lien avec le DPO.</a:t>
            </a:r>
          </a:p>
        </p:txBody>
      </p:sp>
      <p:sp>
        <p:nvSpPr>
          <p:cNvPr id="19" name="TextBox 18"/>
          <p:cNvSpPr txBox="1"/>
          <p:nvPr/>
        </p:nvSpPr>
        <p:spPr>
          <a:xfrm>
            <a:off x="548640" y="6473952"/>
            <a:ext cx="8686800" cy="274320"/>
          </a:xfrm>
          <a:prstGeom prst="rect">
            <a:avLst/>
          </a:prstGeom>
          <a:noFill/>
        </p:spPr>
        <p:txBody>
          <a:bodyPr wrap="square" lIns="0" rIns="0" tIns="0" bIns="0">
            <a:noAutofit/>
          </a:bodyPr>
          <a:lstStyle/>
          <a:p>
            <a:r>
              <a:rPr sz="950" b="0" i="1">
                <a:solidFill>
                  <a:srgbClr val="8493A8"/>
                </a:solidFill>
                <a:latin typeface="Calibri"/>
              </a:rPr>
              <a:t>Source : [D21] §2.1.4 - Référentiel [R5]</a:t>
            </a:r>
          </a:p>
        </p:txBody>
      </p:sp>
      <p:sp>
        <p:nvSpPr>
          <p:cNvPr id="20" name="TextBox 19"/>
          <p:cNvSpPr txBox="1"/>
          <p:nvPr/>
        </p:nvSpPr>
        <p:spPr>
          <a:xfrm>
            <a:off x="11002975" y="6473952"/>
            <a:ext cx="822960" cy="274320"/>
          </a:xfrm>
          <a:prstGeom prst="rect">
            <a:avLst/>
          </a:prstGeom>
          <a:noFill/>
        </p:spPr>
        <p:txBody>
          <a:bodyPr wrap="square" lIns="0" rIns="0" tIns="0" bIns="0">
            <a:noAutofit/>
          </a:bodyPr>
          <a:lstStyle/>
          <a:p>
            <a:pPr algn="r"/>
            <a:r>
              <a:rPr sz="950" b="0" i="0">
                <a:solidFill>
                  <a:srgbClr val="8493A8"/>
                </a:solidFill>
                <a:latin typeface="Calibri"/>
              </a:rPr>
              <a:t>6 / 10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2F4F7"/>
        </a:solidFill>
        <a:effectLst/>
      </p:bgPr>
    </p:bg>
    <p:spTree>
      <p:nvGrpSpPr>
        <p:cNvPr id="1" name=""/>
        <p:cNvGrpSpPr/>
        <p:nvPr/>
      </p:nvGrpSpPr>
      <p:grpSpPr/>
      <p:sp>
        <p:nvSpPr>
          <p:cNvPr id="2" name="TextBox 1"/>
          <p:cNvSpPr txBox="1"/>
          <p:nvPr/>
        </p:nvSpPr>
        <p:spPr>
          <a:xfrm>
            <a:off x="548640" y="384048"/>
            <a:ext cx="7315200" cy="292608"/>
          </a:xfrm>
          <a:prstGeom prst="rect">
            <a:avLst/>
          </a:prstGeom>
          <a:noFill/>
        </p:spPr>
        <p:txBody>
          <a:bodyPr wrap="square" lIns="0" rIns="0" tIns="0" bIns="0">
            <a:noAutofit/>
          </a:bodyPr>
          <a:lstStyle/>
          <a:p>
            <a:r>
              <a:rPr sz="1200" b="1" i="0" spc="200">
                <a:solidFill>
                  <a:srgbClr val="1C8C68"/>
                </a:solidFill>
                <a:latin typeface="Calibri"/>
              </a:rPr>
              <a:t>GOUVERNANCE DE L'IA</a:t>
            </a:r>
          </a:p>
        </p:txBody>
      </p:sp>
      <p:sp>
        <p:nvSpPr>
          <p:cNvPr id="3" name="TextBox 2"/>
          <p:cNvSpPr txBox="1"/>
          <p:nvPr/>
        </p:nvSpPr>
        <p:spPr>
          <a:xfrm>
            <a:off x="548640" y="658368"/>
            <a:ext cx="9692640" cy="868680"/>
          </a:xfrm>
          <a:prstGeom prst="rect">
            <a:avLst/>
          </a:prstGeom>
          <a:noFill/>
        </p:spPr>
        <p:txBody>
          <a:bodyPr wrap="square" lIns="0" rIns="0" tIns="0" bIns="0" anchor="t">
            <a:noAutofit/>
          </a:bodyPr>
          <a:lstStyle/>
          <a:p>
            <a:pPr>
              <a:lnSpc>
                <a:spcPct val="102000"/>
              </a:lnSpc>
            </a:pPr>
            <a:r>
              <a:rPr sz="2800" b="1" i="0">
                <a:solidFill>
                  <a:srgbClr val="1B2A4A"/>
                </a:solidFill>
                <a:latin typeface="Cambria"/>
              </a:rPr>
              <a:t>Une responsabilité proportionnée au niveau d'impact du modèle</a:t>
            </a:r>
          </a:p>
        </p:txBody>
      </p:sp>
      <p:pic>
        <p:nvPicPr>
          <p:cNvPr id="4" name="Picture 3" descr="icon_cpu.png"/>
          <p:cNvPicPr>
            <a:picLocks noChangeAspect="1"/>
          </p:cNvPicPr>
          <p:nvPr/>
        </p:nvPicPr>
        <p:blipFill>
          <a:blip r:embed="rId2"/>
          <a:stretch>
            <a:fillRect/>
          </a:stretch>
        </p:blipFill>
        <p:spPr>
          <a:xfrm>
            <a:off x="11140135" y="365760"/>
            <a:ext cx="658368" cy="658368"/>
          </a:xfrm>
          <a:prstGeom prst="rect">
            <a:avLst/>
          </a:prstGeom>
        </p:spPr>
      </p:pic>
      <p:sp>
        <p:nvSpPr>
          <p:cNvPr id="5" name="Rounded Rectangle 4"/>
          <p:cNvSpPr/>
          <p:nvPr/>
        </p:nvSpPr>
        <p:spPr>
          <a:xfrm>
            <a:off x="548640" y="1783080"/>
            <a:ext cx="2651760" cy="1051560"/>
          </a:xfrm>
          <a:prstGeom prst="roundRect">
            <a:avLst>
              <a:gd name="adj" fmla="val 8000"/>
            </a:avLst>
          </a:prstGeom>
          <a:solidFill>
            <a:srgbClr val="FFFFFF"/>
          </a:solidFill>
          <a:ln w="9525">
            <a:solidFill>
              <a:srgbClr val="D8DEE6"/>
            </a:solidFill>
          </a:ln>
          <a:effectLst>
            <a:outerShdw blurRad="63500" dist="19050" dir="5400000" rotWithShape="0">
              <a:srgbClr val="1B2A4A">
                <a:alpha val="12000"/>
              </a:srgbClr>
            </a:outerShdw>
          </a:effectLst>
        </p:spPr>
        <p:txBody>
          <a:bodyPr rtlCol="0" anchor="ctr"/>
          <a:lstStyle/>
          <a:p>
            <a:pPr algn="ctr"/>
          </a:p>
        </p:txBody>
      </p:sp>
      <p:sp>
        <p:nvSpPr>
          <p:cNvPr id="6" name="TextBox 5"/>
          <p:cNvSpPr txBox="1"/>
          <p:nvPr/>
        </p:nvSpPr>
        <p:spPr>
          <a:xfrm>
            <a:off x="731520" y="1892807"/>
            <a:ext cx="2286000" cy="274320"/>
          </a:xfrm>
          <a:prstGeom prst="rect">
            <a:avLst/>
          </a:prstGeom>
          <a:noFill/>
        </p:spPr>
        <p:txBody>
          <a:bodyPr wrap="square" lIns="0" rIns="0" tIns="0" bIns="0">
            <a:noAutofit/>
          </a:bodyPr>
          <a:lstStyle/>
          <a:p>
            <a:r>
              <a:rPr sz="1250" b="1" i="0">
                <a:solidFill>
                  <a:srgbClr val="1C8C68"/>
                </a:solidFill>
                <a:latin typeface="Calibri"/>
              </a:rPr>
              <a:t>Traçabilité</a:t>
            </a:r>
          </a:p>
        </p:txBody>
      </p:sp>
      <p:sp>
        <p:nvSpPr>
          <p:cNvPr id="7" name="TextBox 6"/>
          <p:cNvSpPr txBox="1"/>
          <p:nvPr/>
        </p:nvSpPr>
        <p:spPr>
          <a:xfrm>
            <a:off x="731520" y="2185416"/>
            <a:ext cx="2286000" cy="594360"/>
          </a:xfrm>
          <a:prstGeom prst="rect">
            <a:avLst/>
          </a:prstGeom>
          <a:noFill/>
        </p:spPr>
        <p:txBody>
          <a:bodyPr wrap="square" lIns="0" rIns="0" tIns="0" bIns="0" anchor="t">
            <a:noAutofit/>
          </a:bodyPr>
          <a:lstStyle/>
          <a:p>
            <a:r>
              <a:rPr sz="980" b="0" i="0">
                <a:solidFill>
                  <a:srgbClr val="1B2A4A"/>
                </a:solidFill>
                <a:latin typeface="Calibri"/>
              </a:rPr>
              <a:t>Chaque jeu d'entraînement documenté : source, période, transformations, lineage.</a:t>
            </a:r>
          </a:p>
        </p:txBody>
      </p:sp>
      <p:sp>
        <p:nvSpPr>
          <p:cNvPr id="8" name="Rounded Rectangle 7"/>
          <p:cNvSpPr/>
          <p:nvPr/>
        </p:nvSpPr>
        <p:spPr>
          <a:xfrm>
            <a:off x="3401568" y="1783080"/>
            <a:ext cx="2651760" cy="1051560"/>
          </a:xfrm>
          <a:prstGeom prst="roundRect">
            <a:avLst>
              <a:gd name="adj" fmla="val 8000"/>
            </a:avLst>
          </a:prstGeom>
          <a:solidFill>
            <a:srgbClr val="FFFFFF"/>
          </a:solidFill>
          <a:ln w="9525">
            <a:solidFill>
              <a:srgbClr val="D8DEE6"/>
            </a:solidFill>
          </a:ln>
          <a:effectLst>
            <a:outerShdw blurRad="63500" dist="19050" dir="5400000" rotWithShape="0">
              <a:srgbClr val="1B2A4A">
                <a:alpha val="12000"/>
              </a:srgbClr>
            </a:outerShdw>
          </a:effectLst>
        </p:spPr>
        <p:txBody>
          <a:bodyPr rtlCol="0" anchor="ctr"/>
          <a:lstStyle/>
          <a:p>
            <a:pPr algn="ctr"/>
          </a:p>
        </p:txBody>
      </p:sp>
      <p:sp>
        <p:nvSpPr>
          <p:cNvPr id="9" name="TextBox 8"/>
          <p:cNvSpPr txBox="1"/>
          <p:nvPr/>
        </p:nvSpPr>
        <p:spPr>
          <a:xfrm>
            <a:off x="3584448" y="1892807"/>
            <a:ext cx="2286000" cy="274320"/>
          </a:xfrm>
          <a:prstGeom prst="rect">
            <a:avLst/>
          </a:prstGeom>
          <a:noFill/>
        </p:spPr>
        <p:txBody>
          <a:bodyPr wrap="square" lIns="0" rIns="0" tIns="0" bIns="0">
            <a:noAutofit/>
          </a:bodyPr>
          <a:lstStyle/>
          <a:p>
            <a:r>
              <a:rPr sz="1250" b="1" i="0">
                <a:solidFill>
                  <a:srgbClr val="1C8C68"/>
                </a:solidFill>
                <a:latin typeface="Calibri"/>
              </a:rPr>
              <a:t>Biais</a:t>
            </a:r>
          </a:p>
        </p:txBody>
      </p:sp>
      <p:sp>
        <p:nvSpPr>
          <p:cNvPr id="10" name="TextBox 9"/>
          <p:cNvSpPr txBox="1"/>
          <p:nvPr/>
        </p:nvSpPr>
        <p:spPr>
          <a:xfrm>
            <a:off x="3584448" y="2185416"/>
            <a:ext cx="2286000" cy="594360"/>
          </a:xfrm>
          <a:prstGeom prst="rect">
            <a:avLst/>
          </a:prstGeom>
          <a:noFill/>
        </p:spPr>
        <p:txBody>
          <a:bodyPr wrap="square" lIns="0" rIns="0" tIns="0" bIns="0" anchor="t">
            <a:noAutofit/>
          </a:bodyPr>
          <a:lstStyle/>
          <a:p>
            <a:r>
              <a:rPr sz="980" b="0" i="0">
                <a:solidFill>
                  <a:srgbClr val="1B2A4A"/>
                </a:solidFill>
                <a:latin typeface="Calibri"/>
              </a:rPr>
              <a:t>Évaluation périodique des biais algorithmiques pour les modèles à fort impact.</a:t>
            </a:r>
          </a:p>
        </p:txBody>
      </p:sp>
      <p:sp>
        <p:nvSpPr>
          <p:cNvPr id="11" name="Rounded Rectangle 10"/>
          <p:cNvSpPr/>
          <p:nvPr/>
        </p:nvSpPr>
        <p:spPr>
          <a:xfrm>
            <a:off x="6254496" y="1783080"/>
            <a:ext cx="2651760" cy="1051560"/>
          </a:xfrm>
          <a:prstGeom prst="roundRect">
            <a:avLst>
              <a:gd name="adj" fmla="val 8000"/>
            </a:avLst>
          </a:prstGeom>
          <a:solidFill>
            <a:srgbClr val="FFFFFF"/>
          </a:solidFill>
          <a:ln w="9525">
            <a:solidFill>
              <a:srgbClr val="D8DEE6"/>
            </a:solidFill>
          </a:ln>
          <a:effectLst>
            <a:outerShdw blurRad="63500" dist="19050" dir="5400000" rotWithShape="0">
              <a:srgbClr val="1B2A4A">
                <a:alpha val="12000"/>
              </a:srgbClr>
            </a:outerShdw>
          </a:effectLst>
        </p:spPr>
        <p:txBody>
          <a:bodyPr rtlCol="0" anchor="ctr"/>
          <a:lstStyle/>
          <a:p>
            <a:pPr algn="ctr"/>
          </a:p>
        </p:txBody>
      </p:sp>
      <p:sp>
        <p:nvSpPr>
          <p:cNvPr id="12" name="TextBox 11"/>
          <p:cNvSpPr txBox="1"/>
          <p:nvPr/>
        </p:nvSpPr>
        <p:spPr>
          <a:xfrm>
            <a:off x="6437376" y="1892807"/>
            <a:ext cx="2286000" cy="274320"/>
          </a:xfrm>
          <a:prstGeom prst="rect">
            <a:avLst/>
          </a:prstGeom>
          <a:noFill/>
        </p:spPr>
        <p:txBody>
          <a:bodyPr wrap="square" lIns="0" rIns="0" tIns="0" bIns="0">
            <a:noAutofit/>
          </a:bodyPr>
          <a:lstStyle/>
          <a:p>
            <a:r>
              <a:rPr sz="1250" b="1" i="0">
                <a:solidFill>
                  <a:srgbClr val="1C8C68"/>
                </a:solidFill>
                <a:latin typeface="Calibri"/>
              </a:rPr>
              <a:t>Approbation</a:t>
            </a:r>
          </a:p>
        </p:txBody>
      </p:sp>
      <p:sp>
        <p:nvSpPr>
          <p:cNvPr id="13" name="TextBox 12"/>
          <p:cNvSpPr txBox="1"/>
          <p:nvPr/>
        </p:nvSpPr>
        <p:spPr>
          <a:xfrm>
            <a:off x="6437376" y="2185416"/>
            <a:ext cx="2286000" cy="594360"/>
          </a:xfrm>
          <a:prstGeom prst="rect">
            <a:avLst/>
          </a:prstGeom>
          <a:noFill/>
        </p:spPr>
        <p:txBody>
          <a:bodyPr wrap="square" lIns="0" rIns="0" tIns="0" bIns="0" anchor="t">
            <a:noAutofit/>
          </a:bodyPr>
          <a:lstStyle/>
          <a:p>
            <a:r>
              <a:rPr sz="980" b="0" i="0">
                <a:solidFill>
                  <a:srgbClr val="1B2A4A"/>
                </a:solidFill>
                <a:latin typeface="Calibri"/>
              </a:rPr>
              <a:t>Responsabilité confiée à un Model Owner ; circuit proportionné au niveau d'impact.</a:t>
            </a:r>
          </a:p>
        </p:txBody>
      </p:sp>
      <p:sp>
        <p:nvSpPr>
          <p:cNvPr id="14" name="Rounded Rectangle 13"/>
          <p:cNvSpPr/>
          <p:nvPr/>
        </p:nvSpPr>
        <p:spPr>
          <a:xfrm>
            <a:off x="9107424" y="1783080"/>
            <a:ext cx="2651760" cy="1051560"/>
          </a:xfrm>
          <a:prstGeom prst="roundRect">
            <a:avLst>
              <a:gd name="adj" fmla="val 8000"/>
            </a:avLst>
          </a:prstGeom>
          <a:solidFill>
            <a:srgbClr val="FFFFFF"/>
          </a:solidFill>
          <a:ln w="9525">
            <a:solidFill>
              <a:srgbClr val="D8DEE6"/>
            </a:solidFill>
          </a:ln>
          <a:effectLst>
            <a:outerShdw blurRad="63500" dist="19050" dir="5400000" rotWithShape="0">
              <a:srgbClr val="1B2A4A">
                <a:alpha val="12000"/>
              </a:srgbClr>
            </a:outerShdw>
          </a:effectLst>
        </p:spPr>
        <p:txBody>
          <a:bodyPr rtlCol="0" anchor="ctr"/>
          <a:lstStyle/>
          <a:p>
            <a:pPr algn="ctr"/>
          </a:p>
        </p:txBody>
      </p:sp>
      <p:sp>
        <p:nvSpPr>
          <p:cNvPr id="15" name="TextBox 14"/>
          <p:cNvSpPr txBox="1"/>
          <p:nvPr/>
        </p:nvSpPr>
        <p:spPr>
          <a:xfrm>
            <a:off x="9290303" y="1892807"/>
            <a:ext cx="2286000" cy="274320"/>
          </a:xfrm>
          <a:prstGeom prst="rect">
            <a:avLst/>
          </a:prstGeom>
          <a:noFill/>
        </p:spPr>
        <p:txBody>
          <a:bodyPr wrap="square" lIns="0" rIns="0" tIns="0" bIns="0">
            <a:noAutofit/>
          </a:bodyPr>
          <a:lstStyle/>
          <a:p>
            <a:r>
              <a:rPr sz="1250" b="1" i="0">
                <a:solidFill>
                  <a:srgbClr val="1C8C68"/>
                </a:solidFill>
                <a:latin typeface="Calibri"/>
              </a:rPr>
              <a:t>Explicabilité</a:t>
            </a:r>
          </a:p>
        </p:txBody>
      </p:sp>
      <p:sp>
        <p:nvSpPr>
          <p:cNvPr id="16" name="TextBox 15"/>
          <p:cNvSpPr txBox="1"/>
          <p:nvPr/>
        </p:nvSpPr>
        <p:spPr>
          <a:xfrm>
            <a:off x="9290303" y="2185416"/>
            <a:ext cx="2286000" cy="594360"/>
          </a:xfrm>
          <a:prstGeom prst="rect">
            <a:avLst/>
          </a:prstGeom>
          <a:noFill/>
        </p:spPr>
        <p:txBody>
          <a:bodyPr wrap="square" lIns="0" rIns="0" tIns="0" bIns="0" anchor="t">
            <a:noAutofit/>
          </a:bodyPr>
          <a:lstStyle/>
          <a:p>
            <a:r>
              <a:rPr sz="980" b="0" i="0">
                <a:solidFill>
                  <a:srgbClr val="1B2A4A"/>
                </a:solidFill>
                <a:latin typeface="Calibri"/>
              </a:rPr>
              <a:t>Décisions automatisées à impact significatif explicables de manière intelligible.</a:t>
            </a:r>
          </a:p>
        </p:txBody>
      </p:sp>
      <p:graphicFrame>
        <p:nvGraphicFramePr>
          <p:cNvPr id="17" name="Table 16"/>
          <p:cNvGraphicFramePr>
            <a:graphicFrameLocks noGrp="1"/>
          </p:cNvGraphicFramePr>
          <p:nvPr/>
        </p:nvGraphicFramePr>
        <p:xfrm>
          <a:off x="548640" y="3154680"/>
          <a:ext cx="11091672" cy="2788920"/>
        </p:xfrm>
        <a:graphic>
          <a:graphicData uri="http://schemas.openxmlformats.org/drawingml/2006/table">
            <a:tbl>
              <a:tblPr>
                <a:tableStyleId>{5C22544A-7EE6-4342-B048-85BDC9FD1C3A}</a:tableStyleId>
              </a:tblPr>
              <a:tblGrid>
                <a:gridCol w="1371600"/>
                <a:gridCol w="6245352"/>
                <a:gridCol w="3474720"/>
              </a:tblGrid>
              <a:tr h="457200">
                <a:tc>
                  <a:txBody>
                    <a:bodyPr wrap="square"/>
                    <a:lstStyle/>
                    <a:p>
                      <a:pPr algn="ctr"/>
                      <a:r>
                        <a:rPr sz="1250" b="1">
                          <a:solidFill>
                            <a:srgbClr val="FFFFFF"/>
                          </a:solidFill>
                          <a:latin typeface="Calibri"/>
                        </a:rPr>
                        <a:t>Niveau d'impact</a:t>
                      </a:r>
                    </a:p>
                  </a:txBody>
                  <a:tcPr anchor="ctr" marL="109728" marR="109728" marT="45720" marB="45720">
                    <a:solidFill>
                      <a:srgbClr val="1B2A4A"/>
                    </a:solidFill>
                  </a:tcPr>
                </a:tc>
                <a:tc>
                  <a:txBody>
                    <a:bodyPr wrap="square"/>
                    <a:lstStyle/>
                    <a:p>
                      <a:pPr algn="l"/>
                      <a:r>
                        <a:rPr sz="1250" b="1">
                          <a:solidFill>
                            <a:srgbClr val="FFFFFF"/>
                          </a:solidFill>
                          <a:latin typeface="Calibri"/>
                        </a:rPr>
                        <a:t>Critères (extraits)</a:t>
                      </a:r>
                    </a:p>
                  </a:txBody>
                  <a:tcPr anchor="ctr" marL="109728" marR="109728" marT="45720" marB="45720">
                    <a:solidFill>
                      <a:srgbClr val="1B2A4A"/>
                    </a:solidFill>
                  </a:tcPr>
                </a:tc>
                <a:tc>
                  <a:txBody>
                    <a:bodyPr wrap="square"/>
                    <a:lstStyle/>
                    <a:p>
                      <a:pPr algn="l"/>
                      <a:r>
                        <a:rPr sz="1250" b="1">
                          <a:solidFill>
                            <a:srgbClr val="FFFFFF"/>
                          </a:solidFill>
                          <a:latin typeface="Calibri"/>
                        </a:rPr>
                        <a:t>Circuit de validation</a:t>
                      </a:r>
                    </a:p>
                  </a:txBody>
                  <a:tcPr anchor="ctr" marL="109728" marR="109728" marT="45720" marB="45720">
                    <a:solidFill>
                      <a:srgbClr val="1B2A4A"/>
                    </a:solidFill>
                  </a:tcPr>
                </a:tc>
              </a:tr>
              <a:tr h="777240">
                <a:tc>
                  <a:txBody>
                    <a:bodyPr wrap="square"/>
                    <a:lstStyle/>
                    <a:p>
                      <a:pPr algn="ctr"/>
                      <a:r>
                        <a:rPr sz="1200" b="1">
                          <a:solidFill>
                            <a:srgbClr val="B8574A"/>
                          </a:solidFill>
                          <a:latin typeface="Calibri"/>
                        </a:rPr>
                        <a:t>Fort</a:t>
                      </a:r>
                    </a:p>
                  </a:txBody>
                  <a:tcPr anchor="ctr" marL="109728" marR="109728" marT="45720" marB="45720">
                    <a:solidFill>
                      <a:srgbClr val="FBEDEA"/>
                    </a:solidFill>
                  </a:tcPr>
                </a:tc>
                <a:tc>
                  <a:txBody>
                    <a:bodyPr wrap="square"/>
                    <a:lstStyle/>
                    <a:p>
                      <a:pPr algn="l"/>
                      <a:r>
                        <a:rPr sz="1100" b="0">
                          <a:solidFill>
                            <a:srgbClr val="1B2A4A"/>
                          </a:solidFill>
                          <a:latin typeface="Calibri"/>
                        </a:rPr>
                        <a:t>Majorité des utilisateurs actifs - décision peu réversible - art. 22 GDPR - fonctionnalité principale</a:t>
                      </a:r>
                    </a:p>
                  </a:txBody>
                  <a:tcPr anchor="ctr" marL="109728" marR="109728" marT="45720" marB="45720">
                    <a:solidFill>
                      <a:srgbClr val="FBEDEA"/>
                    </a:solidFill>
                  </a:tcPr>
                </a:tc>
                <a:tc>
                  <a:txBody>
                    <a:bodyPr wrap="square"/>
                    <a:lstStyle/>
                    <a:p>
                      <a:pPr algn="l"/>
                      <a:r>
                        <a:rPr sz="1100" b="1">
                          <a:solidFill>
                            <a:srgbClr val="1B2A4A"/>
                          </a:solidFill>
                          <a:latin typeface="Calibri"/>
                        </a:rPr>
                        <a:t>MO (C) → MRM (R) → DGC (A)</a:t>
                      </a:r>
                    </a:p>
                  </a:txBody>
                  <a:tcPr anchor="ctr" marL="109728" marR="109728" marT="45720" marB="45720">
                    <a:solidFill>
                      <a:srgbClr val="FBEDEA"/>
                    </a:solidFill>
                  </a:tcPr>
                </a:tc>
              </a:tr>
              <a:tr h="777240">
                <a:tc>
                  <a:txBody>
                    <a:bodyPr wrap="square"/>
                    <a:lstStyle/>
                    <a:p>
                      <a:pPr algn="ctr"/>
                      <a:r>
                        <a:rPr sz="1200" b="1">
                          <a:solidFill>
                            <a:srgbClr val="C99A3C"/>
                          </a:solidFill>
                          <a:latin typeface="Calibri"/>
                        </a:rPr>
                        <a:t>Modéré</a:t>
                      </a:r>
                    </a:p>
                  </a:txBody>
                  <a:tcPr anchor="ctr" marL="109728" marR="109728" marT="45720" marB="45720">
                    <a:solidFill>
                      <a:srgbClr val="FBF3E2"/>
                    </a:solidFill>
                  </a:tcPr>
                </a:tc>
                <a:tc>
                  <a:txBody>
                    <a:bodyPr wrap="square"/>
                    <a:lstStyle/>
                    <a:p>
                      <a:pPr algn="l"/>
                      <a:r>
                        <a:rPr sz="1100" b="0">
                          <a:solidFill>
                            <a:srgbClr val="1B2A4A"/>
                          </a:solidFill>
                          <a:latin typeface="Calibri"/>
                        </a:rPr>
                        <a:t>Utilisateurs ciblés (cohorte, marché, A/B test) - décision réversible sous délai court</a:t>
                      </a:r>
                    </a:p>
                  </a:txBody>
                  <a:tcPr anchor="ctr" marL="109728" marR="109728" marT="45720" marB="45720">
                    <a:solidFill>
                      <a:srgbClr val="FBF3E2"/>
                    </a:solidFill>
                  </a:tcPr>
                </a:tc>
                <a:tc>
                  <a:txBody>
                    <a:bodyPr wrap="square"/>
                    <a:lstStyle/>
                    <a:p>
                      <a:pPr algn="l"/>
                      <a:r>
                        <a:rPr sz="1100" b="1">
                          <a:solidFill>
                            <a:srgbClr val="1B2A4A"/>
                          </a:solidFill>
                          <a:latin typeface="Calibri"/>
                        </a:rPr>
                        <a:t>MO (R) → MRM (A)</a:t>
                      </a:r>
                    </a:p>
                  </a:txBody>
                  <a:tcPr anchor="ctr" marL="109728" marR="109728" marT="45720" marB="45720">
                    <a:solidFill>
                      <a:srgbClr val="FBF3E2"/>
                    </a:solidFill>
                  </a:tcPr>
                </a:tc>
              </a:tr>
              <a:tr h="777240">
                <a:tc>
                  <a:txBody>
                    <a:bodyPr wrap="square"/>
                    <a:lstStyle/>
                    <a:p>
                      <a:pPr algn="ctr"/>
                      <a:r>
                        <a:rPr sz="1200" b="1">
                          <a:solidFill>
                            <a:srgbClr val="1C8C68"/>
                          </a:solidFill>
                          <a:latin typeface="Calibri"/>
                        </a:rPr>
                        <a:t>Faible</a:t>
                      </a:r>
                    </a:p>
                  </a:txBody>
                  <a:tcPr anchor="ctr" marL="109728" marR="109728" marT="45720" marB="45720">
                    <a:solidFill>
                      <a:srgbClr val="EAF7F1"/>
                    </a:solidFill>
                  </a:tcPr>
                </a:tc>
                <a:tc>
                  <a:txBody>
                    <a:bodyPr wrap="square"/>
                    <a:lstStyle/>
                    <a:p>
                      <a:pPr algn="l"/>
                      <a:r>
                        <a:rPr sz="1100" b="0">
                          <a:solidFill>
                            <a:srgbClr val="1B2A4A"/>
                          </a:solidFill>
                          <a:latin typeface="Calibri"/>
                        </a:rPr>
                        <a:t>Fonction auxiliaire, sans exposition directe à l'utilisateur final</a:t>
                      </a:r>
                    </a:p>
                  </a:txBody>
                  <a:tcPr anchor="ctr" marL="109728" marR="109728" marT="45720" marB="45720">
                    <a:solidFill>
                      <a:srgbClr val="EAF7F1"/>
                    </a:solidFill>
                  </a:tcPr>
                </a:tc>
                <a:tc>
                  <a:txBody>
                    <a:bodyPr wrap="square"/>
                    <a:lstStyle/>
                    <a:p>
                      <a:pPr algn="l"/>
                      <a:r>
                        <a:rPr sz="1100" b="1">
                          <a:solidFill>
                            <a:srgbClr val="1B2A4A"/>
                          </a:solidFill>
                          <a:latin typeface="Calibri"/>
                        </a:rPr>
                        <a:t>MO (RA) - contrôle a posteriori par MRM (échantillonnage)</a:t>
                      </a:r>
                    </a:p>
                  </a:txBody>
                  <a:tcPr anchor="ctr" marL="109728" marR="109728" marT="45720" marB="45720">
                    <a:solidFill>
                      <a:srgbClr val="EAF7F1"/>
                    </a:solidFill>
                  </a:tcPr>
                </a:tc>
              </a:tr>
            </a:tbl>
          </a:graphicData>
        </a:graphic>
      </p:graphicFrame>
      <p:sp>
        <p:nvSpPr>
          <p:cNvPr id="18" name="TextBox 17"/>
          <p:cNvSpPr txBox="1"/>
          <p:nvPr/>
        </p:nvSpPr>
        <p:spPr>
          <a:xfrm>
            <a:off x="548640" y="6035040"/>
            <a:ext cx="11091672" cy="320040"/>
          </a:xfrm>
          <a:prstGeom prst="rect">
            <a:avLst/>
          </a:prstGeom>
          <a:noFill/>
        </p:spPr>
        <p:txBody>
          <a:bodyPr wrap="square" lIns="0" rIns="0" tIns="0" bIns="0">
            <a:noAutofit/>
          </a:bodyPr>
          <a:lstStyle/>
          <a:p>
            <a:r>
              <a:rPr sz="950" b="0" i="1">
                <a:solidFill>
                  <a:srgbClr val="8493A8"/>
                </a:solidFill>
                <a:latin typeface="Calibri"/>
              </a:rPr>
              <a:t>MO = Model Owner - MRM = Model Risk Manager - DGC = Data Governance Committee - R = Responsible, A = Accountable, C = Consulted</a:t>
            </a:r>
          </a:p>
        </p:txBody>
      </p:sp>
      <p:sp>
        <p:nvSpPr>
          <p:cNvPr id="19" name="TextBox 18"/>
          <p:cNvSpPr txBox="1"/>
          <p:nvPr/>
        </p:nvSpPr>
        <p:spPr>
          <a:xfrm>
            <a:off x="548640" y="6473952"/>
            <a:ext cx="8686800" cy="274320"/>
          </a:xfrm>
          <a:prstGeom prst="rect">
            <a:avLst/>
          </a:prstGeom>
          <a:noFill/>
        </p:spPr>
        <p:txBody>
          <a:bodyPr wrap="square" lIns="0" rIns="0" tIns="0" bIns="0">
            <a:noAutofit/>
          </a:bodyPr>
          <a:lstStyle/>
          <a:p>
            <a:r>
              <a:rPr sz="950" b="0" i="1">
                <a:solidFill>
                  <a:srgbClr val="8493A8"/>
                </a:solidFill>
                <a:latin typeface="Calibri"/>
              </a:rPr>
              <a:t>Source : [D21] §2.1.5</a:t>
            </a:r>
          </a:p>
        </p:txBody>
      </p:sp>
      <p:sp>
        <p:nvSpPr>
          <p:cNvPr id="20" name="TextBox 19"/>
          <p:cNvSpPr txBox="1"/>
          <p:nvPr/>
        </p:nvSpPr>
        <p:spPr>
          <a:xfrm>
            <a:off x="11002975" y="6473952"/>
            <a:ext cx="822960" cy="274320"/>
          </a:xfrm>
          <a:prstGeom prst="rect">
            <a:avLst/>
          </a:prstGeom>
          <a:noFill/>
        </p:spPr>
        <p:txBody>
          <a:bodyPr wrap="square" lIns="0" rIns="0" tIns="0" bIns="0">
            <a:noAutofit/>
          </a:bodyPr>
          <a:lstStyle/>
          <a:p>
            <a:pPr algn="r"/>
            <a:r>
              <a:rPr sz="950" b="0" i="0">
                <a:solidFill>
                  <a:srgbClr val="8493A8"/>
                </a:solidFill>
                <a:latin typeface="Calibri"/>
              </a:rPr>
              <a:t>7 / 10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2F4F7"/>
        </a:solidFill>
        <a:effectLst/>
      </p:bgPr>
    </p:bg>
    <p:spTree>
      <p:nvGrpSpPr>
        <p:cNvPr id="1" name=""/>
        <p:cNvGrpSpPr/>
        <p:nvPr/>
      </p:nvGrpSpPr>
      <p:grpSpPr/>
      <p:sp>
        <p:nvSpPr>
          <p:cNvPr id="2" name="TextBox 1"/>
          <p:cNvSpPr txBox="1"/>
          <p:nvPr/>
        </p:nvSpPr>
        <p:spPr>
          <a:xfrm>
            <a:off x="548640" y="384048"/>
            <a:ext cx="7315200" cy="292608"/>
          </a:xfrm>
          <a:prstGeom prst="rect">
            <a:avLst/>
          </a:prstGeom>
          <a:noFill/>
        </p:spPr>
        <p:txBody>
          <a:bodyPr wrap="square" lIns="0" rIns="0" tIns="0" bIns="0">
            <a:noAutofit/>
          </a:bodyPr>
          <a:lstStyle/>
          <a:p>
            <a:r>
              <a:rPr sz="1200" b="1" i="0" spc="200">
                <a:solidFill>
                  <a:srgbClr val="1C8C68"/>
                </a:solidFill>
                <a:latin typeface="Calibri"/>
              </a:rPr>
              <a:t>MISE EN ŒUVRE</a:t>
            </a:r>
          </a:p>
        </p:txBody>
      </p:sp>
      <p:sp>
        <p:nvSpPr>
          <p:cNvPr id="3" name="TextBox 2"/>
          <p:cNvSpPr txBox="1"/>
          <p:nvPr/>
        </p:nvSpPr>
        <p:spPr>
          <a:xfrm>
            <a:off x="548640" y="658368"/>
            <a:ext cx="9692640" cy="868680"/>
          </a:xfrm>
          <a:prstGeom prst="rect">
            <a:avLst/>
          </a:prstGeom>
          <a:noFill/>
        </p:spPr>
        <p:txBody>
          <a:bodyPr wrap="square" lIns="0" rIns="0" tIns="0" bIns="0" anchor="t">
            <a:noAutofit/>
          </a:bodyPr>
          <a:lstStyle/>
          <a:p>
            <a:pPr>
              <a:lnSpc>
                <a:spcPct val="102000"/>
              </a:lnSpc>
            </a:pPr>
            <a:r>
              <a:rPr sz="2800" b="1" i="0">
                <a:solidFill>
                  <a:srgbClr val="1B2A4A"/>
                </a:solidFill>
                <a:latin typeface="Cambria"/>
              </a:rPr>
              <a:t>Un outillage ciblé, testé sur un pilote de 21 semaines</a:t>
            </a:r>
          </a:p>
        </p:txBody>
      </p:sp>
      <p:pic>
        <p:nvPicPr>
          <p:cNvPr id="4" name="Picture 3" descr="icon_tool.png"/>
          <p:cNvPicPr>
            <a:picLocks noChangeAspect="1"/>
          </p:cNvPicPr>
          <p:nvPr/>
        </p:nvPicPr>
        <p:blipFill>
          <a:blip r:embed="rId2"/>
          <a:stretch>
            <a:fillRect/>
          </a:stretch>
        </p:blipFill>
        <p:spPr>
          <a:xfrm>
            <a:off x="11140135" y="365760"/>
            <a:ext cx="658368" cy="658368"/>
          </a:xfrm>
          <a:prstGeom prst="rect">
            <a:avLst/>
          </a:prstGeom>
        </p:spPr>
      </p:pic>
      <p:sp>
        <p:nvSpPr>
          <p:cNvPr id="5" name="TextBox 4"/>
          <p:cNvSpPr txBox="1"/>
          <p:nvPr/>
        </p:nvSpPr>
        <p:spPr>
          <a:xfrm>
            <a:off x="548640" y="1600200"/>
            <a:ext cx="5760720" cy="320040"/>
          </a:xfrm>
          <a:prstGeom prst="rect">
            <a:avLst/>
          </a:prstGeom>
          <a:noFill/>
        </p:spPr>
        <p:txBody>
          <a:bodyPr wrap="square" lIns="0" rIns="0" tIns="0" bIns="0">
            <a:noAutofit/>
          </a:bodyPr>
          <a:lstStyle/>
          <a:p>
            <a:r>
              <a:rPr sz="1400" b="1" i="0">
                <a:solidFill>
                  <a:srgbClr val="1B2A4A"/>
                </a:solidFill>
                <a:latin typeface="Calibri"/>
              </a:rPr>
              <a:t>Outillage par catégorie</a:t>
            </a:r>
          </a:p>
        </p:txBody>
      </p:sp>
      <p:sp>
        <p:nvSpPr>
          <p:cNvPr id="6" name="Rounded Rectangle 5"/>
          <p:cNvSpPr/>
          <p:nvPr/>
        </p:nvSpPr>
        <p:spPr>
          <a:xfrm>
            <a:off x="548640" y="2011680"/>
            <a:ext cx="5760720" cy="694944"/>
          </a:xfrm>
          <a:prstGeom prst="roundRect">
            <a:avLst>
              <a:gd name="adj" fmla="val 8000"/>
            </a:avLst>
          </a:prstGeom>
          <a:solidFill>
            <a:srgbClr val="FFFFFF"/>
          </a:solidFill>
          <a:ln w="9525">
            <a:solidFill>
              <a:srgbClr val="D8DEE6"/>
            </a:solidFill>
          </a:ln>
          <a:effectLst>
            <a:outerShdw blurRad="63500" dist="19050" dir="5400000" rotWithShape="0">
              <a:srgbClr val="1B2A4A">
                <a:alpha val="12000"/>
              </a:srgbClr>
            </a:outerShdw>
          </a:effectLst>
        </p:spPr>
        <p:txBody>
          <a:bodyPr rtlCol="0" anchor="ctr"/>
          <a:lstStyle/>
          <a:p>
            <a:pPr algn="ctr"/>
          </a:p>
        </p:txBody>
      </p:sp>
      <p:sp>
        <p:nvSpPr>
          <p:cNvPr id="7" name="Oval 6"/>
          <p:cNvSpPr/>
          <p:nvPr/>
        </p:nvSpPr>
        <p:spPr>
          <a:xfrm>
            <a:off x="713232" y="2139696"/>
            <a:ext cx="438912" cy="438912"/>
          </a:xfrm>
          <a:prstGeom prst="ellipse">
            <a:avLst/>
          </a:prstGeom>
          <a:solidFill>
            <a:srgbClr val="2DBE8C"/>
          </a:solidFill>
          <a:ln>
            <a:noFill/>
          </a:ln>
          <a:effectLst/>
        </p:spPr>
        <p:txBody>
          <a:bodyPr rtlCol="0" anchor="ctr"/>
          <a:lstStyle/>
          <a:p>
            <a:pPr algn="ctr"/>
          </a:p>
        </p:txBody>
      </p:sp>
      <p:sp>
        <p:nvSpPr>
          <p:cNvPr id="8" name="TextBox 7"/>
          <p:cNvSpPr txBox="1"/>
          <p:nvPr/>
        </p:nvSpPr>
        <p:spPr>
          <a:xfrm>
            <a:off x="713232" y="2139696"/>
            <a:ext cx="438912" cy="438912"/>
          </a:xfrm>
          <a:prstGeom prst="rect">
            <a:avLst/>
          </a:prstGeom>
          <a:noFill/>
        </p:spPr>
        <p:txBody>
          <a:bodyPr wrap="square" lIns="0" rIns="0" tIns="0" bIns="0" anchor="ctr">
            <a:noAutofit/>
          </a:bodyPr>
          <a:lstStyle/>
          <a:p>
            <a:pPr algn="ctr"/>
            <a:r>
              <a:rPr sz="950" b="1" i="0">
                <a:solidFill>
                  <a:srgbClr val="1B2A4A"/>
                </a:solidFill>
                <a:latin typeface="Calibri"/>
              </a:rPr>
              <a:t>E1</a:t>
            </a:r>
          </a:p>
        </p:txBody>
      </p:sp>
      <p:sp>
        <p:nvSpPr>
          <p:cNvPr id="9" name="TextBox 8"/>
          <p:cNvSpPr txBox="1"/>
          <p:nvPr/>
        </p:nvSpPr>
        <p:spPr>
          <a:xfrm>
            <a:off x="1325880" y="2084832"/>
            <a:ext cx="4754879" cy="274320"/>
          </a:xfrm>
          <a:prstGeom prst="rect">
            <a:avLst/>
          </a:prstGeom>
          <a:noFill/>
        </p:spPr>
        <p:txBody>
          <a:bodyPr wrap="square" lIns="0" rIns="0" tIns="0" bIns="0">
            <a:noAutofit/>
          </a:bodyPr>
          <a:lstStyle/>
          <a:p>
            <a:r>
              <a:rPr sz="1250" b="1" i="0">
                <a:solidFill>
                  <a:srgbClr val="1B2A4A"/>
                </a:solidFill>
                <a:latin typeface="Calibri"/>
              </a:rPr>
              <a:t>Catalogage</a:t>
            </a:r>
          </a:p>
        </p:txBody>
      </p:sp>
      <p:sp>
        <p:nvSpPr>
          <p:cNvPr id="10" name="TextBox 9"/>
          <p:cNvSpPr txBox="1"/>
          <p:nvPr/>
        </p:nvSpPr>
        <p:spPr>
          <a:xfrm>
            <a:off x="1325880" y="2359152"/>
            <a:ext cx="4754879" cy="292608"/>
          </a:xfrm>
          <a:prstGeom prst="rect">
            <a:avLst/>
          </a:prstGeom>
          <a:noFill/>
        </p:spPr>
        <p:txBody>
          <a:bodyPr wrap="square" lIns="0" rIns="0" tIns="0" bIns="0">
            <a:noAutofit/>
          </a:bodyPr>
          <a:lstStyle/>
          <a:p>
            <a:r>
              <a:rPr sz="1100" b="0" i="0">
                <a:solidFill>
                  <a:srgbClr val="5B6B84"/>
                </a:solidFill>
                <a:latin typeface="Calibri"/>
              </a:rPr>
              <a:t>Collibra - OpenMetadata</a:t>
            </a:r>
          </a:p>
        </p:txBody>
      </p:sp>
      <p:sp>
        <p:nvSpPr>
          <p:cNvPr id="11" name="Rounded Rectangle 10"/>
          <p:cNvSpPr/>
          <p:nvPr/>
        </p:nvSpPr>
        <p:spPr>
          <a:xfrm>
            <a:off x="548640" y="2798064"/>
            <a:ext cx="5760720" cy="694944"/>
          </a:xfrm>
          <a:prstGeom prst="roundRect">
            <a:avLst>
              <a:gd name="adj" fmla="val 8000"/>
            </a:avLst>
          </a:prstGeom>
          <a:solidFill>
            <a:srgbClr val="FFFFFF"/>
          </a:solidFill>
          <a:ln w="9525">
            <a:solidFill>
              <a:srgbClr val="D8DEE6"/>
            </a:solidFill>
          </a:ln>
          <a:effectLst>
            <a:outerShdw blurRad="63500" dist="19050" dir="5400000" rotWithShape="0">
              <a:srgbClr val="1B2A4A">
                <a:alpha val="12000"/>
              </a:srgbClr>
            </a:outerShdw>
          </a:effectLst>
        </p:spPr>
        <p:txBody>
          <a:bodyPr rtlCol="0" anchor="ctr"/>
          <a:lstStyle/>
          <a:p>
            <a:pPr algn="ctr"/>
          </a:p>
        </p:txBody>
      </p:sp>
      <p:sp>
        <p:nvSpPr>
          <p:cNvPr id="12" name="Oval 11"/>
          <p:cNvSpPr/>
          <p:nvPr/>
        </p:nvSpPr>
        <p:spPr>
          <a:xfrm>
            <a:off x="713232" y="2926080"/>
            <a:ext cx="438912" cy="438912"/>
          </a:xfrm>
          <a:prstGeom prst="ellipse">
            <a:avLst/>
          </a:prstGeom>
          <a:solidFill>
            <a:srgbClr val="2DBE8C"/>
          </a:solidFill>
          <a:ln>
            <a:noFill/>
          </a:ln>
          <a:effectLst/>
        </p:spPr>
        <p:txBody>
          <a:bodyPr rtlCol="0" anchor="ctr"/>
          <a:lstStyle/>
          <a:p>
            <a:pPr algn="ctr"/>
          </a:p>
        </p:txBody>
      </p:sp>
      <p:sp>
        <p:nvSpPr>
          <p:cNvPr id="13" name="TextBox 12"/>
          <p:cNvSpPr txBox="1"/>
          <p:nvPr/>
        </p:nvSpPr>
        <p:spPr>
          <a:xfrm>
            <a:off x="713232" y="2926080"/>
            <a:ext cx="438912" cy="438912"/>
          </a:xfrm>
          <a:prstGeom prst="rect">
            <a:avLst/>
          </a:prstGeom>
          <a:noFill/>
        </p:spPr>
        <p:txBody>
          <a:bodyPr wrap="square" lIns="0" rIns="0" tIns="0" bIns="0" anchor="ctr">
            <a:noAutofit/>
          </a:bodyPr>
          <a:lstStyle/>
          <a:p>
            <a:pPr algn="ctr"/>
            <a:r>
              <a:rPr sz="950" b="1" i="0">
                <a:solidFill>
                  <a:srgbClr val="1B2A4A"/>
                </a:solidFill>
                <a:latin typeface="Calibri"/>
              </a:rPr>
              <a:t>E2, E5</a:t>
            </a:r>
          </a:p>
        </p:txBody>
      </p:sp>
      <p:sp>
        <p:nvSpPr>
          <p:cNvPr id="14" name="TextBox 13"/>
          <p:cNvSpPr txBox="1"/>
          <p:nvPr/>
        </p:nvSpPr>
        <p:spPr>
          <a:xfrm>
            <a:off x="1325880" y="2871216"/>
            <a:ext cx="4754879" cy="274320"/>
          </a:xfrm>
          <a:prstGeom prst="rect">
            <a:avLst/>
          </a:prstGeom>
          <a:noFill/>
        </p:spPr>
        <p:txBody>
          <a:bodyPr wrap="square" lIns="0" rIns="0" tIns="0" bIns="0">
            <a:noAutofit/>
          </a:bodyPr>
          <a:lstStyle/>
          <a:p>
            <a:r>
              <a:rPr sz="1250" b="1" i="0">
                <a:solidFill>
                  <a:srgbClr val="1B2A4A"/>
                </a:solidFill>
                <a:latin typeface="Calibri"/>
              </a:rPr>
              <a:t>Qualité</a:t>
            </a:r>
          </a:p>
        </p:txBody>
      </p:sp>
      <p:sp>
        <p:nvSpPr>
          <p:cNvPr id="15" name="TextBox 14"/>
          <p:cNvSpPr txBox="1"/>
          <p:nvPr/>
        </p:nvSpPr>
        <p:spPr>
          <a:xfrm>
            <a:off x="1325880" y="3145536"/>
            <a:ext cx="4754879" cy="292608"/>
          </a:xfrm>
          <a:prstGeom prst="rect">
            <a:avLst/>
          </a:prstGeom>
          <a:noFill/>
        </p:spPr>
        <p:txBody>
          <a:bodyPr wrap="square" lIns="0" rIns="0" tIns="0" bIns="0">
            <a:noAutofit/>
          </a:bodyPr>
          <a:lstStyle/>
          <a:p>
            <a:r>
              <a:rPr sz="1100" b="0" i="0">
                <a:solidFill>
                  <a:srgbClr val="5B6B84"/>
                </a:solidFill>
                <a:latin typeface="Calibri"/>
              </a:rPr>
              <a:t>Soda Core</a:t>
            </a:r>
          </a:p>
        </p:txBody>
      </p:sp>
      <p:sp>
        <p:nvSpPr>
          <p:cNvPr id="16" name="Rounded Rectangle 15"/>
          <p:cNvSpPr/>
          <p:nvPr/>
        </p:nvSpPr>
        <p:spPr>
          <a:xfrm>
            <a:off x="548640" y="3584448"/>
            <a:ext cx="5760720" cy="694944"/>
          </a:xfrm>
          <a:prstGeom prst="roundRect">
            <a:avLst>
              <a:gd name="adj" fmla="val 8000"/>
            </a:avLst>
          </a:prstGeom>
          <a:solidFill>
            <a:srgbClr val="FFFFFF"/>
          </a:solidFill>
          <a:ln w="9525">
            <a:solidFill>
              <a:srgbClr val="D8DEE6"/>
            </a:solidFill>
          </a:ln>
          <a:effectLst>
            <a:outerShdw blurRad="63500" dist="19050" dir="5400000" rotWithShape="0">
              <a:srgbClr val="1B2A4A">
                <a:alpha val="12000"/>
              </a:srgbClr>
            </a:outerShdw>
          </a:effectLst>
        </p:spPr>
        <p:txBody>
          <a:bodyPr rtlCol="0" anchor="ctr"/>
          <a:lstStyle/>
          <a:p>
            <a:pPr algn="ctr"/>
          </a:p>
        </p:txBody>
      </p:sp>
      <p:sp>
        <p:nvSpPr>
          <p:cNvPr id="17" name="Oval 16"/>
          <p:cNvSpPr/>
          <p:nvPr/>
        </p:nvSpPr>
        <p:spPr>
          <a:xfrm>
            <a:off x="713232" y="3712463"/>
            <a:ext cx="438912" cy="438912"/>
          </a:xfrm>
          <a:prstGeom prst="ellipse">
            <a:avLst/>
          </a:prstGeom>
          <a:solidFill>
            <a:srgbClr val="2DBE8C"/>
          </a:solidFill>
          <a:ln>
            <a:noFill/>
          </a:ln>
          <a:effectLst/>
        </p:spPr>
        <p:txBody>
          <a:bodyPr rtlCol="0" anchor="ctr"/>
          <a:lstStyle/>
          <a:p>
            <a:pPr algn="ctr"/>
          </a:p>
        </p:txBody>
      </p:sp>
      <p:sp>
        <p:nvSpPr>
          <p:cNvPr id="18" name="TextBox 17"/>
          <p:cNvSpPr txBox="1"/>
          <p:nvPr/>
        </p:nvSpPr>
        <p:spPr>
          <a:xfrm>
            <a:off x="713232" y="3712463"/>
            <a:ext cx="438912" cy="438912"/>
          </a:xfrm>
          <a:prstGeom prst="rect">
            <a:avLst/>
          </a:prstGeom>
          <a:noFill/>
        </p:spPr>
        <p:txBody>
          <a:bodyPr wrap="square" lIns="0" rIns="0" tIns="0" bIns="0" anchor="ctr">
            <a:noAutofit/>
          </a:bodyPr>
          <a:lstStyle/>
          <a:p>
            <a:pPr algn="ctr"/>
            <a:r>
              <a:rPr sz="950" b="1" i="0">
                <a:solidFill>
                  <a:srgbClr val="1B2A4A"/>
                </a:solidFill>
                <a:latin typeface="Calibri"/>
              </a:rPr>
              <a:t>E3, E4</a:t>
            </a:r>
          </a:p>
        </p:txBody>
      </p:sp>
      <p:sp>
        <p:nvSpPr>
          <p:cNvPr id="19" name="TextBox 18"/>
          <p:cNvSpPr txBox="1"/>
          <p:nvPr/>
        </p:nvSpPr>
        <p:spPr>
          <a:xfrm>
            <a:off x="1325880" y="3657600"/>
            <a:ext cx="4754879" cy="274320"/>
          </a:xfrm>
          <a:prstGeom prst="rect">
            <a:avLst/>
          </a:prstGeom>
          <a:noFill/>
        </p:spPr>
        <p:txBody>
          <a:bodyPr wrap="square" lIns="0" rIns="0" tIns="0" bIns="0">
            <a:noAutofit/>
          </a:bodyPr>
          <a:lstStyle/>
          <a:p>
            <a:r>
              <a:rPr sz="1250" b="1" i="0">
                <a:solidFill>
                  <a:srgbClr val="1B2A4A"/>
                </a:solidFill>
                <a:latin typeface="Calibri"/>
              </a:rPr>
              <a:t>Conformité</a:t>
            </a:r>
          </a:p>
        </p:txBody>
      </p:sp>
      <p:sp>
        <p:nvSpPr>
          <p:cNvPr id="20" name="TextBox 19"/>
          <p:cNvSpPr txBox="1"/>
          <p:nvPr/>
        </p:nvSpPr>
        <p:spPr>
          <a:xfrm>
            <a:off x="1325880" y="3931920"/>
            <a:ext cx="4754879" cy="292608"/>
          </a:xfrm>
          <a:prstGeom prst="rect">
            <a:avLst/>
          </a:prstGeom>
          <a:noFill/>
        </p:spPr>
        <p:txBody>
          <a:bodyPr wrap="square" lIns="0" rIns="0" tIns="0" bIns="0">
            <a:noAutofit/>
          </a:bodyPr>
          <a:lstStyle/>
          <a:p>
            <a:r>
              <a:rPr sz="1100" b="0" i="0">
                <a:solidFill>
                  <a:srgbClr val="5B6B84"/>
                </a:solidFill>
                <a:latin typeface="Calibri"/>
              </a:rPr>
              <a:t>TrustArc</a:t>
            </a:r>
          </a:p>
        </p:txBody>
      </p:sp>
      <p:sp>
        <p:nvSpPr>
          <p:cNvPr id="21" name="Rounded Rectangle 20"/>
          <p:cNvSpPr/>
          <p:nvPr/>
        </p:nvSpPr>
        <p:spPr>
          <a:xfrm>
            <a:off x="548640" y="4370832"/>
            <a:ext cx="5760720" cy="694944"/>
          </a:xfrm>
          <a:prstGeom prst="roundRect">
            <a:avLst>
              <a:gd name="adj" fmla="val 8000"/>
            </a:avLst>
          </a:prstGeom>
          <a:solidFill>
            <a:srgbClr val="FFFFFF"/>
          </a:solidFill>
          <a:ln w="9525">
            <a:solidFill>
              <a:srgbClr val="D8DEE6"/>
            </a:solidFill>
          </a:ln>
          <a:effectLst>
            <a:outerShdw blurRad="63500" dist="19050" dir="5400000" rotWithShape="0">
              <a:srgbClr val="1B2A4A">
                <a:alpha val="12000"/>
              </a:srgbClr>
            </a:outerShdw>
          </a:effectLst>
        </p:spPr>
        <p:txBody>
          <a:bodyPr rtlCol="0" anchor="ctr"/>
          <a:lstStyle/>
          <a:p>
            <a:pPr algn="ctr"/>
          </a:p>
        </p:txBody>
      </p:sp>
      <p:sp>
        <p:nvSpPr>
          <p:cNvPr id="22" name="Oval 21"/>
          <p:cNvSpPr/>
          <p:nvPr/>
        </p:nvSpPr>
        <p:spPr>
          <a:xfrm>
            <a:off x="713232" y="4498848"/>
            <a:ext cx="438912" cy="438912"/>
          </a:xfrm>
          <a:prstGeom prst="ellipse">
            <a:avLst/>
          </a:prstGeom>
          <a:solidFill>
            <a:srgbClr val="2DBE8C"/>
          </a:solidFill>
          <a:ln>
            <a:noFill/>
          </a:ln>
          <a:effectLst/>
        </p:spPr>
        <p:txBody>
          <a:bodyPr rtlCol="0" anchor="ctr"/>
          <a:lstStyle/>
          <a:p>
            <a:pPr algn="ctr"/>
          </a:p>
        </p:txBody>
      </p:sp>
      <p:sp>
        <p:nvSpPr>
          <p:cNvPr id="23" name="TextBox 22"/>
          <p:cNvSpPr txBox="1"/>
          <p:nvPr/>
        </p:nvSpPr>
        <p:spPr>
          <a:xfrm>
            <a:off x="713232" y="4498848"/>
            <a:ext cx="438912" cy="438912"/>
          </a:xfrm>
          <a:prstGeom prst="rect">
            <a:avLst/>
          </a:prstGeom>
          <a:noFill/>
        </p:spPr>
        <p:txBody>
          <a:bodyPr wrap="square" lIns="0" rIns="0" tIns="0" bIns="0" anchor="ctr">
            <a:noAutofit/>
          </a:bodyPr>
          <a:lstStyle/>
          <a:p>
            <a:pPr algn="ctr"/>
            <a:r>
              <a:rPr sz="950" b="1" i="0">
                <a:solidFill>
                  <a:srgbClr val="1B2A4A"/>
                </a:solidFill>
                <a:latin typeface="Calibri"/>
              </a:rPr>
              <a:t>P3</a:t>
            </a:r>
          </a:p>
        </p:txBody>
      </p:sp>
      <p:sp>
        <p:nvSpPr>
          <p:cNvPr id="24" name="TextBox 23"/>
          <p:cNvSpPr txBox="1"/>
          <p:nvPr/>
        </p:nvSpPr>
        <p:spPr>
          <a:xfrm>
            <a:off x="1325880" y="4443984"/>
            <a:ext cx="4754879" cy="274320"/>
          </a:xfrm>
          <a:prstGeom prst="rect">
            <a:avLst/>
          </a:prstGeom>
          <a:noFill/>
        </p:spPr>
        <p:txBody>
          <a:bodyPr wrap="square" lIns="0" rIns="0" tIns="0" bIns="0">
            <a:noAutofit/>
          </a:bodyPr>
          <a:lstStyle/>
          <a:p>
            <a:r>
              <a:rPr sz="1250" b="1" i="0">
                <a:solidFill>
                  <a:srgbClr val="1B2A4A"/>
                </a:solidFill>
                <a:latin typeface="Calibri"/>
              </a:rPr>
              <a:t>Sécurité</a:t>
            </a:r>
          </a:p>
        </p:txBody>
      </p:sp>
      <p:sp>
        <p:nvSpPr>
          <p:cNvPr id="25" name="TextBox 24"/>
          <p:cNvSpPr txBox="1"/>
          <p:nvPr/>
        </p:nvSpPr>
        <p:spPr>
          <a:xfrm>
            <a:off x="1325880" y="4718304"/>
            <a:ext cx="4754879" cy="292608"/>
          </a:xfrm>
          <a:prstGeom prst="rect">
            <a:avLst/>
          </a:prstGeom>
          <a:noFill/>
        </p:spPr>
        <p:txBody>
          <a:bodyPr wrap="square" lIns="0" rIns="0" tIns="0" bIns="0">
            <a:noAutofit/>
          </a:bodyPr>
          <a:lstStyle/>
          <a:p>
            <a:r>
              <a:rPr sz="1100" b="0" i="0">
                <a:solidFill>
                  <a:srgbClr val="5B6B84"/>
                </a:solidFill>
                <a:latin typeface="Calibri"/>
              </a:rPr>
              <a:t>Wazuh - OpenBao</a:t>
            </a:r>
          </a:p>
        </p:txBody>
      </p:sp>
      <p:sp>
        <p:nvSpPr>
          <p:cNvPr id="26" name="Rounded Rectangle 25"/>
          <p:cNvSpPr/>
          <p:nvPr/>
        </p:nvSpPr>
        <p:spPr>
          <a:xfrm>
            <a:off x="548640" y="5157216"/>
            <a:ext cx="5760720" cy="694944"/>
          </a:xfrm>
          <a:prstGeom prst="roundRect">
            <a:avLst>
              <a:gd name="adj" fmla="val 8000"/>
            </a:avLst>
          </a:prstGeom>
          <a:solidFill>
            <a:srgbClr val="FFFFFF"/>
          </a:solidFill>
          <a:ln w="9525">
            <a:solidFill>
              <a:srgbClr val="D8DEE6"/>
            </a:solidFill>
          </a:ln>
          <a:effectLst>
            <a:outerShdw blurRad="63500" dist="19050" dir="5400000" rotWithShape="0">
              <a:srgbClr val="1B2A4A">
                <a:alpha val="12000"/>
              </a:srgbClr>
            </a:outerShdw>
          </a:effectLst>
        </p:spPr>
        <p:txBody>
          <a:bodyPr rtlCol="0" anchor="ctr"/>
          <a:lstStyle/>
          <a:p>
            <a:pPr algn="ctr"/>
          </a:p>
        </p:txBody>
      </p:sp>
      <p:sp>
        <p:nvSpPr>
          <p:cNvPr id="27" name="Oval 26"/>
          <p:cNvSpPr/>
          <p:nvPr/>
        </p:nvSpPr>
        <p:spPr>
          <a:xfrm>
            <a:off x="713232" y="5285232"/>
            <a:ext cx="438912" cy="438912"/>
          </a:xfrm>
          <a:prstGeom prst="ellipse">
            <a:avLst/>
          </a:prstGeom>
          <a:solidFill>
            <a:srgbClr val="2DBE8C"/>
          </a:solidFill>
          <a:ln>
            <a:noFill/>
          </a:ln>
          <a:effectLst/>
        </p:spPr>
        <p:txBody>
          <a:bodyPr rtlCol="0" anchor="ctr"/>
          <a:lstStyle/>
          <a:p>
            <a:pPr algn="ctr"/>
          </a:p>
        </p:txBody>
      </p:sp>
      <p:sp>
        <p:nvSpPr>
          <p:cNvPr id="28" name="TextBox 27"/>
          <p:cNvSpPr txBox="1"/>
          <p:nvPr/>
        </p:nvSpPr>
        <p:spPr>
          <a:xfrm>
            <a:off x="713232" y="5285232"/>
            <a:ext cx="438912" cy="438912"/>
          </a:xfrm>
          <a:prstGeom prst="rect">
            <a:avLst/>
          </a:prstGeom>
          <a:noFill/>
        </p:spPr>
        <p:txBody>
          <a:bodyPr wrap="square" lIns="0" rIns="0" tIns="0" bIns="0" anchor="ctr">
            <a:noAutofit/>
          </a:bodyPr>
          <a:lstStyle/>
          <a:p>
            <a:pPr algn="ctr"/>
            <a:r>
              <a:rPr sz="950" b="1" i="0">
                <a:solidFill>
                  <a:srgbClr val="1B2A4A"/>
                </a:solidFill>
                <a:latin typeface="Calibri"/>
              </a:rPr>
              <a:t>E5</a:t>
            </a:r>
          </a:p>
        </p:txBody>
      </p:sp>
      <p:sp>
        <p:nvSpPr>
          <p:cNvPr id="29" name="TextBox 28"/>
          <p:cNvSpPr txBox="1"/>
          <p:nvPr/>
        </p:nvSpPr>
        <p:spPr>
          <a:xfrm>
            <a:off x="1325880" y="5230368"/>
            <a:ext cx="4754879" cy="274320"/>
          </a:xfrm>
          <a:prstGeom prst="rect">
            <a:avLst/>
          </a:prstGeom>
          <a:noFill/>
        </p:spPr>
        <p:txBody>
          <a:bodyPr wrap="square" lIns="0" rIns="0" tIns="0" bIns="0">
            <a:noAutofit/>
          </a:bodyPr>
          <a:lstStyle/>
          <a:p>
            <a:r>
              <a:rPr sz="1250" b="1" i="0">
                <a:solidFill>
                  <a:srgbClr val="1B2A4A"/>
                </a:solidFill>
                <a:latin typeface="Calibri"/>
              </a:rPr>
              <a:t>Gouvernance IA</a:t>
            </a:r>
          </a:p>
        </p:txBody>
      </p:sp>
      <p:sp>
        <p:nvSpPr>
          <p:cNvPr id="30" name="TextBox 29"/>
          <p:cNvSpPr txBox="1"/>
          <p:nvPr/>
        </p:nvSpPr>
        <p:spPr>
          <a:xfrm>
            <a:off x="1325880" y="5504688"/>
            <a:ext cx="4754879" cy="292608"/>
          </a:xfrm>
          <a:prstGeom prst="rect">
            <a:avLst/>
          </a:prstGeom>
          <a:noFill/>
        </p:spPr>
        <p:txBody>
          <a:bodyPr wrap="square" lIns="0" rIns="0" tIns="0" bIns="0">
            <a:noAutofit/>
          </a:bodyPr>
          <a:lstStyle/>
          <a:p>
            <a:r>
              <a:rPr sz="1100" b="0" i="0">
                <a:solidFill>
                  <a:srgbClr val="5B6B84"/>
                </a:solidFill>
                <a:latin typeface="Calibri"/>
              </a:rPr>
              <a:t>MLflow - DVC - AIF360 - AIX360</a:t>
            </a:r>
          </a:p>
        </p:txBody>
      </p:sp>
      <p:sp>
        <p:nvSpPr>
          <p:cNvPr id="31" name="TextBox 30"/>
          <p:cNvSpPr txBox="1"/>
          <p:nvPr/>
        </p:nvSpPr>
        <p:spPr>
          <a:xfrm>
            <a:off x="6583680" y="1600200"/>
            <a:ext cx="5074920" cy="320040"/>
          </a:xfrm>
          <a:prstGeom prst="rect">
            <a:avLst/>
          </a:prstGeom>
          <a:noFill/>
        </p:spPr>
        <p:txBody>
          <a:bodyPr wrap="square" lIns="0" rIns="0" tIns="0" bIns="0">
            <a:noAutofit/>
          </a:bodyPr>
          <a:lstStyle/>
          <a:p>
            <a:r>
              <a:rPr sz="1400" b="1" i="0">
                <a:solidFill>
                  <a:srgbClr val="1B2A4A"/>
                </a:solidFill>
                <a:latin typeface="Calibri"/>
              </a:rPr>
              <a:t>Pilote - système de recommandation</a:t>
            </a:r>
          </a:p>
        </p:txBody>
      </p:sp>
      <p:sp>
        <p:nvSpPr>
          <p:cNvPr id="32" name="Rounded Rectangle 31"/>
          <p:cNvSpPr/>
          <p:nvPr/>
        </p:nvSpPr>
        <p:spPr>
          <a:xfrm>
            <a:off x="6583680" y="2011680"/>
            <a:ext cx="5074920" cy="1005840"/>
          </a:xfrm>
          <a:prstGeom prst="roundRect">
            <a:avLst>
              <a:gd name="adj" fmla="val 8000"/>
            </a:avLst>
          </a:prstGeom>
          <a:solidFill>
            <a:srgbClr val="EAF7F1"/>
          </a:solidFill>
          <a:ln w="9525">
            <a:solidFill>
              <a:srgbClr val="D8DEE6"/>
            </a:solidFill>
          </a:ln>
          <a:effectLst>
            <a:outerShdw blurRad="63500" dist="19050" dir="5400000" rotWithShape="0">
              <a:srgbClr val="1B2A4A">
                <a:alpha val="12000"/>
              </a:srgbClr>
            </a:outerShdw>
          </a:effectLst>
        </p:spPr>
        <p:txBody>
          <a:bodyPr rtlCol="0" anchor="ctr"/>
          <a:lstStyle/>
          <a:p>
            <a:pPr algn="ctr"/>
          </a:p>
        </p:txBody>
      </p:sp>
      <p:sp>
        <p:nvSpPr>
          <p:cNvPr id="33" name="TextBox 32"/>
          <p:cNvSpPr txBox="1"/>
          <p:nvPr/>
        </p:nvSpPr>
        <p:spPr>
          <a:xfrm>
            <a:off x="6812280" y="2121408"/>
            <a:ext cx="4617720" cy="411480"/>
          </a:xfrm>
          <a:prstGeom prst="rect">
            <a:avLst/>
          </a:prstGeom>
          <a:noFill/>
        </p:spPr>
        <p:txBody>
          <a:bodyPr wrap="square" lIns="0" rIns="0" tIns="0" bIns="0">
            <a:noAutofit/>
          </a:bodyPr>
          <a:lstStyle/>
          <a:p>
            <a:r>
              <a:rPr sz="2000" b="1" i="0">
                <a:solidFill>
                  <a:srgbClr val="1C8C68"/>
                </a:solidFill>
                <a:latin typeface="Cambria"/>
              </a:rPr>
              <a:t>21 semaines (~5 mois)</a:t>
            </a:r>
          </a:p>
        </p:txBody>
      </p:sp>
      <p:sp>
        <p:nvSpPr>
          <p:cNvPr id="34" name="TextBox 33"/>
          <p:cNvSpPr txBox="1"/>
          <p:nvPr/>
        </p:nvSpPr>
        <p:spPr>
          <a:xfrm>
            <a:off x="6812280" y="2542032"/>
            <a:ext cx="4617720" cy="438912"/>
          </a:xfrm>
          <a:prstGeom prst="rect">
            <a:avLst/>
          </a:prstGeom>
          <a:noFill/>
        </p:spPr>
        <p:txBody>
          <a:bodyPr wrap="square" lIns="0" rIns="0" tIns="0" bIns="0">
            <a:noAutofit/>
          </a:bodyPr>
          <a:lstStyle/>
          <a:p>
            <a:r>
              <a:rPr sz="1050" b="0" i="0">
                <a:solidFill>
                  <a:srgbClr val="5B6B84"/>
                </a:solidFill>
                <a:latin typeface="Calibri"/>
              </a:rPr>
              <a:t>dont 7 semaines de phase de sécurisation bloquante (annuaire central, migration des accès)</a:t>
            </a:r>
          </a:p>
        </p:txBody>
      </p:sp>
      <p:sp>
        <p:nvSpPr>
          <p:cNvPr id="35" name="Rounded Rectangle 34"/>
          <p:cNvSpPr/>
          <p:nvPr/>
        </p:nvSpPr>
        <p:spPr>
          <a:xfrm>
            <a:off x="6583680" y="3154680"/>
            <a:ext cx="5074920" cy="1188720"/>
          </a:xfrm>
          <a:prstGeom prst="roundRect">
            <a:avLst>
              <a:gd name="adj" fmla="val 8000"/>
            </a:avLst>
          </a:prstGeom>
          <a:solidFill>
            <a:srgbClr val="FFFFFF"/>
          </a:solidFill>
          <a:ln w="9525">
            <a:solidFill>
              <a:srgbClr val="D8DEE6"/>
            </a:solidFill>
          </a:ln>
          <a:effectLst>
            <a:outerShdw blurRad="63500" dist="19050" dir="5400000" rotWithShape="0">
              <a:srgbClr val="1B2A4A">
                <a:alpha val="12000"/>
              </a:srgbClr>
            </a:outerShdw>
          </a:effectLst>
        </p:spPr>
        <p:txBody>
          <a:bodyPr rtlCol="0" anchor="ctr"/>
          <a:lstStyle/>
          <a:p>
            <a:pPr algn="ctr"/>
          </a:p>
        </p:txBody>
      </p:sp>
      <p:sp>
        <p:nvSpPr>
          <p:cNvPr id="36" name="TextBox 35"/>
          <p:cNvSpPr txBox="1"/>
          <p:nvPr/>
        </p:nvSpPr>
        <p:spPr>
          <a:xfrm>
            <a:off x="6812280" y="3273552"/>
            <a:ext cx="4617720" cy="274320"/>
          </a:xfrm>
          <a:prstGeom prst="rect">
            <a:avLst/>
          </a:prstGeom>
          <a:noFill/>
        </p:spPr>
        <p:txBody>
          <a:bodyPr wrap="square" lIns="0" rIns="0" tIns="0" bIns="0">
            <a:noAutofit/>
          </a:bodyPr>
          <a:lstStyle/>
          <a:p>
            <a:r>
              <a:rPr sz="1200" b="1" i="0">
                <a:solidFill>
                  <a:srgbClr val="1B2A4A"/>
                </a:solidFill>
                <a:latin typeface="Calibri"/>
              </a:rPr>
              <a:t>Périmètre</a:t>
            </a:r>
          </a:p>
        </p:txBody>
      </p:sp>
      <p:sp>
        <p:nvSpPr>
          <p:cNvPr id="37" name="TextBox 36"/>
          <p:cNvSpPr txBox="1"/>
          <p:nvPr/>
        </p:nvSpPr>
        <p:spPr>
          <a:xfrm>
            <a:off x="6812280" y="3566160"/>
            <a:ext cx="4617720" cy="731520"/>
          </a:xfrm>
          <a:prstGeom prst="rect">
            <a:avLst/>
          </a:prstGeom>
          <a:noFill/>
        </p:spPr>
        <p:txBody>
          <a:bodyPr wrap="square" lIns="0" rIns="0" tIns="0" bIns="0" anchor="t">
            <a:noAutofit/>
          </a:bodyPr>
          <a:lstStyle/>
          <a:p>
            <a:r>
              <a:rPr sz="1100" b="0" i="0">
                <a:solidFill>
                  <a:srgbClr val="5B6B84"/>
                </a:solidFill>
                <a:latin typeface="Calibri"/>
              </a:rPr>
              <a:t>Modèles et données d'entraînement du système de recommandation - département Product Development</a:t>
            </a:r>
          </a:p>
        </p:txBody>
      </p:sp>
      <p:sp>
        <p:nvSpPr>
          <p:cNvPr id="38" name="Rounded Rectangle 37"/>
          <p:cNvSpPr/>
          <p:nvPr/>
        </p:nvSpPr>
        <p:spPr>
          <a:xfrm>
            <a:off x="6583680" y="4480560"/>
            <a:ext cx="5074920" cy="1188720"/>
          </a:xfrm>
          <a:prstGeom prst="roundRect">
            <a:avLst>
              <a:gd name="adj" fmla="val 8000"/>
            </a:avLst>
          </a:prstGeom>
          <a:solidFill>
            <a:srgbClr val="FFFFFF"/>
          </a:solidFill>
          <a:ln w="9525">
            <a:solidFill>
              <a:srgbClr val="D8DEE6"/>
            </a:solidFill>
          </a:ln>
          <a:effectLst>
            <a:outerShdw blurRad="63500" dist="19050" dir="5400000" rotWithShape="0">
              <a:srgbClr val="1B2A4A">
                <a:alpha val="12000"/>
              </a:srgbClr>
            </a:outerShdw>
          </a:effectLst>
        </p:spPr>
        <p:txBody>
          <a:bodyPr rtlCol="0" anchor="ctr"/>
          <a:lstStyle/>
          <a:p>
            <a:pPr algn="ctr"/>
          </a:p>
        </p:txBody>
      </p:sp>
      <p:sp>
        <p:nvSpPr>
          <p:cNvPr id="39" name="TextBox 38"/>
          <p:cNvSpPr txBox="1"/>
          <p:nvPr/>
        </p:nvSpPr>
        <p:spPr>
          <a:xfrm>
            <a:off x="6812280" y="4599432"/>
            <a:ext cx="4617720" cy="274320"/>
          </a:xfrm>
          <a:prstGeom prst="rect">
            <a:avLst/>
          </a:prstGeom>
          <a:noFill/>
        </p:spPr>
        <p:txBody>
          <a:bodyPr wrap="square" lIns="0" rIns="0" tIns="0" bIns="0">
            <a:noAutofit/>
          </a:bodyPr>
          <a:lstStyle/>
          <a:p>
            <a:r>
              <a:rPr sz="1200" b="1" i="0">
                <a:solidFill>
                  <a:srgbClr val="1B2A4A"/>
                </a:solidFill>
                <a:latin typeface="Calibri"/>
              </a:rPr>
              <a:t>Indicateurs clés (DMAT)</a:t>
            </a:r>
          </a:p>
        </p:txBody>
      </p:sp>
      <p:sp>
        <p:nvSpPr>
          <p:cNvPr id="40" name="TextBox 39"/>
          <p:cNvSpPr txBox="1"/>
          <p:nvPr/>
        </p:nvSpPr>
        <p:spPr>
          <a:xfrm>
            <a:off x="6812280" y="4892040"/>
            <a:ext cx="4617720" cy="731520"/>
          </a:xfrm>
          <a:prstGeom prst="rect">
            <a:avLst/>
          </a:prstGeom>
          <a:noFill/>
        </p:spPr>
        <p:txBody>
          <a:bodyPr wrap="square" lIns="0" rIns="0" tIns="0" bIns="0" anchor="t">
            <a:noAutofit/>
          </a:bodyPr>
          <a:lstStyle/>
          <a:p>
            <a:r>
              <a:rPr sz="1100" b="0" i="0">
                <a:solidFill>
                  <a:srgbClr val="5B6B84"/>
                </a:solidFill>
                <a:latin typeface="Calibri"/>
              </a:rPr>
              <a:t>Gouvernance &amp; Qualité : niveau 1 → 2 - Gouvernance IA (Analytics &amp; BI) : niveau 2 → 3</a:t>
            </a:r>
          </a:p>
        </p:txBody>
      </p:sp>
      <p:sp>
        <p:nvSpPr>
          <p:cNvPr id="41" name="Rounded Rectangle 40"/>
          <p:cNvSpPr/>
          <p:nvPr/>
        </p:nvSpPr>
        <p:spPr>
          <a:xfrm>
            <a:off x="6583680" y="5806440"/>
            <a:ext cx="5074920" cy="621792"/>
          </a:xfrm>
          <a:prstGeom prst="roundRect">
            <a:avLst>
              <a:gd name="adj" fmla="val 8000"/>
            </a:avLst>
          </a:prstGeom>
          <a:solidFill>
            <a:srgbClr val="FBEDEA"/>
          </a:solidFill>
          <a:ln w="9525">
            <a:solidFill>
              <a:srgbClr val="D8DEE6"/>
            </a:solidFill>
          </a:ln>
          <a:effectLst/>
        </p:spPr>
        <p:txBody>
          <a:bodyPr rtlCol="0" anchor="ctr"/>
          <a:lstStyle/>
          <a:p>
            <a:pPr algn="ctr"/>
          </a:p>
        </p:txBody>
      </p:sp>
      <p:sp>
        <p:nvSpPr>
          <p:cNvPr id="42" name="TextBox 41"/>
          <p:cNvSpPr txBox="1"/>
          <p:nvPr/>
        </p:nvSpPr>
        <p:spPr>
          <a:xfrm>
            <a:off x="6784848" y="5806440"/>
            <a:ext cx="4672583" cy="621792"/>
          </a:xfrm>
          <a:prstGeom prst="rect">
            <a:avLst/>
          </a:prstGeom>
          <a:noFill/>
        </p:spPr>
        <p:txBody>
          <a:bodyPr wrap="square" lIns="0" rIns="0" tIns="0" bIns="0" anchor="ctr">
            <a:noAutofit/>
          </a:bodyPr>
          <a:lstStyle/>
          <a:p>
            <a:r>
              <a:rPr sz="1019" b="1" i="0">
                <a:solidFill>
                  <a:srgbClr val="97402F"/>
                </a:solidFill>
                <a:latin typeface="Calibri"/>
              </a:rPr>
              <a:t>Risques clés : suspension sans repli (absence d'annuaire central) - débordement de planning</a:t>
            </a:r>
          </a:p>
        </p:txBody>
      </p:sp>
      <p:sp>
        <p:nvSpPr>
          <p:cNvPr id="43" name="TextBox 42"/>
          <p:cNvSpPr txBox="1"/>
          <p:nvPr/>
        </p:nvSpPr>
        <p:spPr>
          <a:xfrm>
            <a:off x="548640" y="6473952"/>
            <a:ext cx="8686800" cy="274320"/>
          </a:xfrm>
          <a:prstGeom prst="rect">
            <a:avLst/>
          </a:prstGeom>
          <a:noFill/>
        </p:spPr>
        <p:txBody>
          <a:bodyPr wrap="square" lIns="0" rIns="0" tIns="0" bIns="0">
            <a:noAutofit/>
          </a:bodyPr>
          <a:lstStyle/>
          <a:p>
            <a:r>
              <a:rPr sz="950" b="0" i="1">
                <a:solidFill>
                  <a:srgbClr val="8493A8"/>
                </a:solidFill>
                <a:latin typeface="Calibri"/>
              </a:rPr>
              <a:t>Source : [D3] §3.4 (outils) - §3.5 (plan pilote)</a:t>
            </a:r>
          </a:p>
        </p:txBody>
      </p:sp>
      <p:sp>
        <p:nvSpPr>
          <p:cNvPr id="44" name="TextBox 43"/>
          <p:cNvSpPr txBox="1"/>
          <p:nvPr/>
        </p:nvSpPr>
        <p:spPr>
          <a:xfrm>
            <a:off x="11002975" y="6473952"/>
            <a:ext cx="822960" cy="274320"/>
          </a:xfrm>
          <a:prstGeom prst="rect">
            <a:avLst/>
          </a:prstGeom>
          <a:noFill/>
        </p:spPr>
        <p:txBody>
          <a:bodyPr wrap="square" lIns="0" rIns="0" tIns="0" bIns="0">
            <a:noAutofit/>
          </a:bodyPr>
          <a:lstStyle/>
          <a:p>
            <a:pPr algn="r"/>
            <a:r>
              <a:rPr sz="950" b="0" i="0">
                <a:solidFill>
                  <a:srgbClr val="8493A8"/>
                </a:solidFill>
                <a:latin typeface="Calibri"/>
              </a:rPr>
              <a:t>8 / 10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2F4F7"/>
        </a:solidFill>
        <a:effectLst/>
      </p:bgPr>
    </p:bg>
    <p:spTree>
      <p:nvGrpSpPr>
        <p:cNvPr id="1" name=""/>
        <p:cNvGrpSpPr/>
        <p:nvPr/>
      </p:nvGrpSpPr>
      <p:grpSpPr/>
      <p:sp>
        <p:nvSpPr>
          <p:cNvPr id="2" name="TextBox 1"/>
          <p:cNvSpPr txBox="1"/>
          <p:nvPr/>
        </p:nvSpPr>
        <p:spPr>
          <a:xfrm>
            <a:off x="548640" y="384048"/>
            <a:ext cx="7315200" cy="292608"/>
          </a:xfrm>
          <a:prstGeom prst="rect">
            <a:avLst/>
          </a:prstGeom>
          <a:noFill/>
        </p:spPr>
        <p:txBody>
          <a:bodyPr wrap="square" lIns="0" rIns="0" tIns="0" bIns="0">
            <a:noAutofit/>
          </a:bodyPr>
          <a:lstStyle/>
          <a:p>
            <a:r>
              <a:rPr sz="1200" b="1" i="0" spc="200">
                <a:solidFill>
                  <a:srgbClr val="1C8C68"/>
                </a:solidFill>
                <a:latin typeface="Calibri"/>
              </a:rPr>
              <a:t>FEUILLE DE ROUTE</a:t>
            </a:r>
          </a:p>
        </p:txBody>
      </p:sp>
      <p:sp>
        <p:nvSpPr>
          <p:cNvPr id="3" name="TextBox 2"/>
          <p:cNvSpPr txBox="1"/>
          <p:nvPr/>
        </p:nvSpPr>
        <p:spPr>
          <a:xfrm>
            <a:off x="548640" y="658368"/>
            <a:ext cx="9692640" cy="868680"/>
          </a:xfrm>
          <a:prstGeom prst="rect">
            <a:avLst/>
          </a:prstGeom>
          <a:noFill/>
        </p:spPr>
        <p:txBody>
          <a:bodyPr wrap="square" lIns="0" rIns="0" tIns="0" bIns="0" anchor="t">
            <a:noAutofit/>
          </a:bodyPr>
          <a:lstStyle/>
          <a:p>
            <a:pPr>
              <a:lnSpc>
                <a:spcPct val="102000"/>
              </a:lnSpc>
            </a:pPr>
            <a:r>
              <a:rPr sz="2800" b="1" i="0">
                <a:solidFill>
                  <a:srgbClr val="1B2A4A"/>
                </a:solidFill>
                <a:latin typeface="Cambria"/>
              </a:rPr>
              <a:t>Une généralisation en quatre phases, jusqu'au niveau 3</a:t>
            </a:r>
          </a:p>
        </p:txBody>
      </p:sp>
      <p:pic>
        <p:nvPicPr>
          <p:cNvPr id="4" name="Picture 3" descr="icon_map.png"/>
          <p:cNvPicPr>
            <a:picLocks noChangeAspect="1"/>
          </p:cNvPicPr>
          <p:nvPr/>
        </p:nvPicPr>
        <p:blipFill>
          <a:blip r:embed="rId2"/>
          <a:stretch>
            <a:fillRect/>
          </a:stretch>
        </p:blipFill>
        <p:spPr>
          <a:xfrm>
            <a:off x="11140135" y="365760"/>
            <a:ext cx="658368" cy="658368"/>
          </a:xfrm>
          <a:prstGeom prst="rect">
            <a:avLst/>
          </a:prstGeom>
        </p:spPr>
      </p:pic>
      <p:sp>
        <p:nvSpPr>
          <p:cNvPr id="5" name="Rectangle 4"/>
          <p:cNvSpPr/>
          <p:nvPr/>
        </p:nvSpPr>
        <p:spPr>
          <a:xfrm>
            <a:off x="1658081" y="3781044"/>
            <a:ext cx="8875532" cy="27432"/>
          </a:xfrm>
          <a:prstGeom prst="rect">
            <a:avLst/>
          </a:prstGeom>
          <a:solidFill>
            <a:srgbClr val="D8DEE6"/>
          </a:solidFill>
          <a:ln>
            <a:noFill/>
          </a:ln>
          <a:effectLst/>
        </p:spPr>
        <p:txBody>
          <a:bodyPr rtlCol="0" anchor="ctr"/>
          <a:lstStyle/>
          <a:p>
            <a:pPr algn="ctr"/>
          </a:p>
        </p:txBody>
      </p:sp>
      <p:sp>
        <p:nvSpPr>
          <p:cNvPr id="6" name="Rounded Rectangle 5"/>
          <p:cNvSpPr/>
          <p:nvPr/>
        </p:nvSpPr>
        <p:spPr>
          <a:xfrm>
            <a:off x="676655" y="1691640"/>
            <a:ext cx="1962851" cy="1783080"/>
          </a:xfrm>
          <a:prstGeom prst="roundRect">
            <a:avLst>
              <a:gd name="adj" fmla="val 8000"/>
            </a:avLst>
          </a:prstGeom>
          <a:solidFill>
            <a:srgbClr val="FFFFFF"/>
          </a:solidFill>
          <a:ln w="9525">
            <a:solidFill>
              <a:srgbClr val="D8DEE6"/>
            </a:solidFill>
          </a:ln>
          <a:effectLst>
            <a:outerShdw blurRad="63500" dist="19050" dir="5400000" rotWithShape="0">
              <a:srgbClr val="1B2A4A">
                <a:alpha val="12000"/>
              </a:srgbClr>
            </a:outerShdw>
          </a:effectLst>
        </p:spPr>
        <p:txBody>
          <a:bodyPr rtlCol="0" anchor="ctr"/>
          <a:lstStyle/>
          <a:p>
            <a:pPr algn="ctr"/>
          </a:p>
        </p:txBody>
      </p:sp>
      <p:sp>
        <p:nvSpPr>
          <p:cNvPr id="7" name="TextBox 6"/>
          <p:cNvSpPr txBox="1"/>
          <p:nvPr/>
        </p:nvSpPr>
        <p:spPr>
          <a:xfrm>
            <a:off x="813815" y="1828800"/>
            <a:ext cx="1688531" cy="320040"/>
          </a:xfrm>
          <a:prstGeom prst="rect">
            <a:avLst/>
          </a:prstGeom>
          <a:noFill/>
        </p:spPr>
        <p:txBody>
          <a:bodyPr wrap="square" lIns="0" rIns="0" tIns="0" bIns="0">
            <a:noAutofit/>
          </a:bodyPr>
          <a:lstStyle/>
          <a:p>
            <a:r>
              <a:rPr sz="1250" b="1" i="0">
                <a:solidFill>
                  <a:srgbClr val="1B2A4A"/>
                </a:solidFill>
                <a:latin typeface="Calibri"/>
              </a:rPr>
              <a:t>Phase 1 - Pilote</a:t>
            </a:r>
          </a:p>
        </p:txBody>
      </p:sp>
      <p:sp>
        <p:nvSpPr>
          <p:cNvPr id="8" name="TextBox 7"/>
          <p:cNvSpPr txBox="1"/>
          <p:nvPr/>
        </p:nvSpPr>
        <p:spPr>
          <a:xfrm>
            <a:off x="813815" y="2176272"/>
            <a:ext cx="1688531" cy="868680"/>
          </a:xfrm>
          <a:prstGeom prst="rect">
            <a:avLst/>
          </a:prstGeom>
          <a:noFill/>
        </p:spPr>
        <p:txBody>
          <a:bodyPr wrap="square" lIns="0" rIns="0" tIns="0" bIns="0" anchor="t">
            <a:noAutofit/>
          </a:bodyPr>
          <a:lstStyle/>
          <a:p>
            <a:r>
              <a:rPr sz="1000" b="0" i="0">
                <a:solidFill>
                  <a:srgbClr val="5B6B84"/>
                </a:solidFill>
                <a:latin typeface="Calibri"/>
              </a:rPr>
              <a:t>Product Development</a:t>
            </a:r>
          </a:p>
          <a:p>
            <a:r>
              <a:rPr sz="1000" b="0" i="0">
                <a:solidFill>
                  <a:srgbClr val="5B6B84"/>
                </a:solidFill>
                <a:latin typeface="Calibri"/>
              </a:rPr>
              <a:t>(entraînement recommandation)</a:t>
            </a:r>
          </a:p>
        </p:txBody>
      </p:sp>
      <p:sp>
        <p:nvSpPr>
          <p:cNvPr id="9" name="TextBox 8"/>
          <p:cNvSpPr txBox="1"/>
          <p:nvPr/>
        </p:nvSpPr>
        <p:spPr>
          <a:xfrm>
            <a:off x="813815" y="3090672"/>
            <a:ext cx="1688531" cy="320040"/>
          </a:xfrm>
          <a:prstGeom prst="rect">
            <a:avLst/>
          </a:prstGeom>
          <a:noFill/>
        </p:spPr>
        <p:txBody>
          <a:bodyPr wrap="square" lIns="0" rIns="0" tIns="0" bIns="0">
            <a:noAutofit/>
          </a:bodyPr>
          <a:lstStyle/>
          <a:p>
            <a:r>
              <a:rPr sz="1050" b="1" i="1">
                <a:solidFill>
                  <a:srgbClr val="1B2A4A"/>
                </a:solidFill>
                <a:latin typeface="Calibri"/>
              </a:rPr>
              <a:t>21 semaines</a:t>
            </a:r>
          </a:p>
        </p:txBody>
      </p:sp>
      <p:sp>
        <p:nvSpPr>
          <p:cNvPr id="10" name="Oval 9"/>
          <p:cNvSpPr/>
          <p:nvPr/>
        </p:nvSpPr>
        <p:spPr>
          <a:xfrm>
            <a:off x="1511777" y="3648456"/>
            <a:ext cx="292608" cy="292608"/>
          </a:xfrm>
          <a:prstGeom prst="ellipse">
            <a:avLst/>
          </a:prstGeom>
          <a:solidFill>
            <a:srgbClr val="1B2A4A"/>
          </a:solidFill>
          <a:ln w="25400">
            <a:solidFill>
              <a:srgbClr val="FFFFFF"/>
            </a:solidFill>
          </a:ln>
          <a:effectLst/>
        </p:spPr>
        <p:txBody>
          <a:bodyPr rtlCol="0" anchor="ctr"/>
          <a:lstStyle/>
          <a:p>
            <a:pPr algn="ctr"/>
          </a:p>
        </p:txBody>
      </p:sp>
      <p:sp>
        <p:nvSpPr>
          <p:cNvPr id="11" name="TextBox 10"/>
          <p:cNvSpPr txBox="1"/>
          <p:nvPr/>
        </p:nvSpPr>
        <p:spPr>
          <a:xfrm>
            <a:off x="676655" y="3995928"/>
            <a:ext cx="1962851" cy="320040"/>
          </a:xfrm>
          <a:prstGeom prst="rect">
            <a:avLst/>
          </a:prstGeom>
          <a:noFill/>
        </p:spPr>
        <p:txBody>
          <a:bodyPr wrap="square" lIns="0" rIns="0" tIns="0" bIns="0">
            <a:noAutofit/>
          </a:bodyPr>
          <a:lstStyle/>
          <a:p>
            <a:pPr algn="ctr"/>
            <a:r>
              <a:rPr sz="1300" b="1" i="0">
                <a:solidFill>
                  <a:srgbClr val="1C8C68"/>
                </a:solidFill>
                <a:latin typeface="Calibri"/>
              </a:rPr>
              <a:t>M5</a:t>
            </a:r>
          </a:p>
        </p:txBody>
      </p:sp>
      <p:sp>
        <p:nvSpPr>
          <p:cNvPr id="12" name="Rounded Rectangle 11"/>
          <p:cNvSpPr/>
          <p:nvPr/>
        </p:nvSpPr>
        <p:spPr>
          <a:xfrm>
            <a:off x="2895539" y="1691640"/>
            <a:ext cx="1962851" cy="1783080"/>
          </a:xfrm>
          <a:prstGeom prst="roundRect">
            <a:avLst>
              <a:gd name="adj" fmla="val 8000"/>
            </a:avLst>
          </a:prstGeom>
          <a:solidFill>
            <a:srgbClr val="FFFFFF"/>
          </a:solidFill>
          <a:ln w="9525">
            <a:solidFill>
              <a:srgbClr val="D8DEE6"/>
            </a:solidFill>
          </a:ln>
          <a:effectLst>
            <a:outerShdw blurRad="63500" dist="19050" dir="5400000" rotWithShape="0">
              <a:srgbClr val="1B2A4A">
                <a:alpha val="12000"/>
              </a:srgbClr>
            </a:outerShdw>
          </a:effectLst>
        </p:spPr>
        <p:txBody>
          <a:bodyPr rtlCol="0" anchor="ctr"/>
          <a:lstStyle/>
          <a:p>
            <a:pPr algn="ctr"/>
          </a:p>
        </p:txBody>
      </p:sp>
      <p:sp>
        <p:nvSpPr>
          <p:cNvPr id="13" name="TextBox 12"/>
          <p:cNvSpPr txBox="1"/>
          <p:nvPr/>
        </p:nvSpPr>
        <p:spPr>
          <a:xfrm>
            <a:off x="3032699" y="1828800"/>
            <a:ext cx="1688531" cy="320040"/>
          </a:xfrm>
          <a:prstGeom prst="rect">
            <a:avLst/>
          </a:prstGeom>
          <a:noFill/>
        </p:spPr>
        <p:txBody>
          <a:bodyPr wrap="square" lIns="0" rIns="0" tIns="0" bIns="0">
            <a:noAutofit/>
          </a:bodyPr>
          <a:lstStyle/>
          <a:p>
            <a:r>
              <a:rPr sz="1250" b="1" i="0">
                <a:solidFill>
                  <a:srgbClr val="1B2A4A"/>
                </a:solidFill>
                <a:latin typeface="Calibri"/>
              </a:rPr>
              <a:t>Phase 2</a:t>
            </a:r>
          </a:p>
        </p:txBody>
      </p:sp>
      <p:sp>
        <p:nvSpPr>
          <p:cNvPr id="14" name="TextBox 13"/>
          <p:cNvSpPr txBox="1"/>
          <p:nvPr/>
        </p:nvSpPr>
        <p:spPr>
          <a:xfrm>
            <a:off x="3032699" y="2176272"/>
            <a:ext cx="1688531" cy="868680"/>
          </a:xfrm>
          <a:prstGeom prst="rect">
            <a:avLst/>
          </a:prstGeom>
          <a:noFill/>
        </p:spPr>
        <p:txBody>
          <a:bodyPr wrap="square" lIns="0" rIns="0" tIns="0" bIns="0" anchor="t">
            <a:noAutofit/>
          </a:bodyPr>
          <a:lstStyle/>
          <a:p>
            <a:r>
              <a:rPr sz="1000" b="0" i="0">
                <a:solidFill>
                  <a:srgbClr val="5B6B84"/>
                </a:solidFill>
                <a:latin typeface="Calibri"/>
              </a:rPr>
              <a:t>Product Development</a:t>
            </a:r>
          </a:p>
          <a:p>
            <a:r>
              <a:rPr sz="1000" b="0" i="0">
                <a:solidFill>
                  <a:srgbClr val="5B6B84"/>
                </a:solidFill>
                <a:latin typeface="Calibri"/>
              </a:rPr>
              <a:t>(reste des activités)</a:t>
            </a:r>
          </a:p>
        </p:txBody>
      </p:sp>
      <p:sp>
        <p:nvSpPr>
          <p:cNvPr id="15" name="TextBox 14"/>
          <p:cNvSpPr txBox="1"/>
          <p:nvPr/>
        </p:nvSpPr>
        <p:spPr>
          <a:xfrm>
            <a:off x="3032699" y="3090672"/>
            <a:ext cx="1688531" cy="320040"/>
          </a:xfrm>
          <a:prstGeom prst="rect">
            <a:avLst/>
          </a:prstGeom>
          <a:noFill/>
        </p:spPr>
        <p:txBody>
          <a:bodyPr wrap="square" lIns="0" rIns="0" tIns="0" bIns="0">
            <a:noAutofit/>
          </a:bodyPr>
          <a:lstStyle/>
          <a:p>
            <a:r>
              <a:rPr sz="1050" b="1" i="1">
                <a:solidFill>
                  <a:srgbClr val="1B2A4A"/>
                </a:solidFill>
                <a:latin typeface="Calibri"/>
              </a:rPr>
              <a:t>3 mois</a:t>
            </a:r>
          </a:p>
        </p:txBody>
      </p:sp>
      <p:sp>
        <p:nvSpPr>
          <p:cNvPr id="16" name="Oval 15"/>
          <p:cNvSpPr/>
          <p:nvPr/>
        </p:nvSpPr>
        <p:spPr>
          <a:xfrm>
            <a:off x="3730660" y="3648456"/>
            <a:ext cx="292608" cy="292608"/>
          </a:xfrm>
          <a:prstGeom prst="ellipse">
            <a:avLst/>
          </a:prstGeom>
          <a:solidFill>
            <a:srgbClr val="1B2A4A"/>
          </a:solidFill>
          <a:ln w="25400">
            <a:solidFill>
              <a:srgbClr val="FFFFFF"/>
            </a:solidFill>
          </a:ln>
          <a:effectLst/>
        </p:spPr>
        <p:txBody>
          <a:bodyPr rtlCol="0" anchor="ctr"/>
          <a:lstStyle/>
          <a:p>
            <a:pPr algn="ctr"/>
          </a:p>
        </p:txBody>
      </p:sp>
      <p:sp>
        <p:nvSpPr>
          <p:cNvPr id="17" name="TextBox 16"/>
          <p:cNvSpPr txBox="1"/>
          <p:nvPr/>
        </p:nvSpPr>
        <p:spPr>
          <a:xfrm>
            <a:off x="2895539" y="3995928"/>
            <a:ext cx="1962851" cy="320040"/>
          </a:xfrm>
          <a:prstGeom prst="rect">
            <a:avLst/>
          </a:prstGeom>
          <a:noFill/>
        </p:spPr>
        <p:txBody>
          <a:bodyPr wrap="square" lIns="0" rIns="0" tIns="0" bIns="0">
            <a:noAutofit/>
          </a:bodyPr>
          <a:lstStyle/>
          <a:p>
            <a:pPr algn="ctr"/>
            <a:r>
              <a:rPr sz="1300" b="1" i="0">
                <a:solidFill>
                  <a:srgbClr val="1C8C68"/>
                </a:solidFill>
                <a:latin typeface="Calibri"/>
              </a:rPr>
              <a:t>M10</a:t>
            </a:r>
          </a:p>
        </p:txBody>
      </p:sp>
      <p:sp>
        <p:nvSpPr>
          <p:cNvPr id="18" name="Rounded Rectangle 17"/>
          <p:cNvSpPr/>
          <p:nvPr/>
        </p:nvSpPr>
        <p:spPr>
          <a:xfrm>
            <a:off x="5114422" y="1691640"/>
            <a:ext cx="1962851" cy="1783080"/>
          </a:xfrm>
          <a:prstGeom prst="roundRect">
            <a:avLst>
              <a:gd name="adj" fmla="val 8000"/>
            </a:avLst>
          </a:prstGeom>
          <a:solidFill>
            <a:srgbClr val="FFFFFF"/>
          </a:solidFill>
          <a:ln w="9525">
            <a:solidFill>
              <a:srgbClr val="D8DEE6"/>
            </a:solidFill>
          </a:ln>
          <a:effectLst>
            <a:outerShdw blurRad="63500" dist="19050" dir="5400000" rotWithShape="0">
              <a:srgbClr val="1B2A4A">
                <a:alpha val="12000"/>
              </a:srgbClr>
            </a:outerShdw>
          </a:effectLst>
        </p:spPr>
        <p:txBody>
          <a:bodyPr rtlCol="0" anchor="ctr"/>
          <a:lstStyle/>
          <a:p>
            <a:pPr algn="ctr"/>
          </a:p>
        </p:txBody>
      </p:sp>
      <p:sp>
        <p:nvSpPr>
          <p:cNvPr id="19" name="TextBox 18"/>
          <p:cNvSpPr txBox="1"/>
          <p:nvPr/>
        </p:nvSpPr>
        <p:spPr>
          <a:xfrm>
            <a:off x="5251582" y="1828800"/>
            <a:ext cx="1688531" cy="320040"/>
          </a:xfrm>
          <a:prstGeom prst="rect">
            <a:avLst/>
          </a:prstGeom>
          <a:noFill/>
        </p:spPr>
        <p:txBody>
          <a:bodyPr wrap="square" lIns="0" rIns="0" tIns="0" bIns="0">
            <a:noAutofit/>
          </a:bodyPr>
          <a:lstStyle/>
          <a:p>
            <a:r>
              <a:rPr sz="1250" b="1" i="0">
                <a:solidFill>
                  <a:srgbClr val="1B2A4A"/>
                </a:solidFill>
                <a:latin typeface="Calibri"/>
              </a:rPr>
              <a:t>Phase 3</a:t>
            </a:r>
          </a:p>
        </p:txBody>
      </p:sp>
      <p:sp>
        <p:nvSpPr>
          <p:cNvPr id="20" name="TextBox 19"/>
          <p:cNvSpPr txBox="1"/>
          <p:nvPr/>
        </p:nvSpPr>
        <p:spPr>
          <a:xfrm>
            <a:off x="5251582" y="2176272"/>
            <a:ext cx="1688531" cy="868680"/>
          </a:xfrm>
          <a:prstGeom prst="rect">
            <a:avLst/>
          </a:prstGeom>
          <a:noFill/>
        </p:spPr>
        <p:txBody>
          <a:bodyPr wrap="square" lIns="0" rIns="0" tIns="0" bIns="0" anchor="t">
            <a:noAutofit/>
          </a:bodyPr>
          <a:lstStyle/>
          <a:p>
            <a:r>
              <a:rPr sz="1000" b="0" i="0">
                <a:solidFill>
                  <a:srgbClr val="5B6B84"/>
                </a:solidFill>
                <a:latin typeface="Calibri"/>
              </a:rPr>
              <a:t>Marketing</a:t>
            </a:r>
          </a:p>
          <a:p>
            <a:r>
              <a:rPr sz="1000" b="0" i="0">
                <a:solidFill>
                  <a:srgbClr val="5B6B84"/>
                </a:solidFill>
                <a:latin typeface="Calibri"/>
              </a:rPr>
              <a:t>(E1 / E3 / E4)</a:t>
            </a:r>
          </a:p>
        </p:txBody>
      </p:sp>
      <p:sp>
        <p:nvSpPr>
          <p:cNvPr id="21" name="TextBox 20"/>
          <p:cNvSpPr txBox="1"/>
          <p:nvPr/>
        </p:nvSpPr>
        <p:spPr>
          <a:xfrm>
            <a:off x="5251582" y="3090672"/>
            <a:ext cx="1688531" cy="320040"/>
          </a:xfrm>
          <a:prstGeom prst="rect">
            <a:avLst/>
          </a:prstGeom>
          <a:noFill/>
        </p:spPr>
        <p:txBody>
          <a:bodyPr wrap="square" lIns="0" rIns="0" tIns="0" bIns="0">
            <a:noAutofit/>
          </a:bodyPr>
          <a:lstStyle/>
          <a:p>
            <a:r>
              <a:rPr sz="1050" b="1" i="1">
                <a:solidFill>
                  <a:srgbClr val="1B2A4A"/>
                </a:solidFill>
                <a:latin typeface="Calibri"/>
              </a:rPr>
              <a:t>3 mois</a:t>
            </a:r>
          </a:p>
        </p:txBody>
      </p:sp>
      <p:sp>
        <p:nvSpPr>
          <p:cNvPr id="22" name="Oval 21"/>
          <p:cNvSpPr/>
          <p:nvPr/>
        </p:nvSpPr>
        <p:spPr>
          <a:xfrm>
            <a:off x="5949543" y="3648456"/>
            <a:ext cx="292608" cy="292608"/>
          </a:xfrm>
          <a:prstGeom prst="ellipse">
            <a:avLst/>
          </a:prstGeom>
          <a:solidFill>
            <a:srgbClr val="1B2A4A"/>
          </a:solidFill>
          <a:ln w="25400">
            <a:solidFill>
              <a:srgbClr val="FFFFFF"/>
            </a:solidFill>
          </a:ln>
          <a:effectLst/>
        </p:spPr>
        <p:txBody>
          <a:bodyPr rtlCol="0" anchor="ctr"/>
          <a:lstStyle/>
          <a:p>
            <a:pPr algn="ctr"/>
          </a:p>
        </p:txBody>
      </p:sp>
      <p:sp>
        <p:nvSpPr>
          <p:cNvPr id="23" name="TextBox 22"/>
          <p:cNvSpPr txBox="1"/>
          <p:nvPr/>
        </p:nvSpPr>
        <p:spPr>
          <a:xfrm>
            <a:off x="5114422" y="3995928"/>
            <a:ext cx="1962851" cy="320040"/>
          </a:xfrm>
          <a:prstGeom prst="rect">
            <a:avLst/>
          </a:prstGeom>
          <a:noFill/>
        </p:spPr>
        <p:txBody>
          <a:bodyPr wrap="square" lIns="0" rIns="0" tIns="0" bIns="0">
            <a:noAutofit/>
          </a:bodyPr>
          <a:lstStyle/>
          <a:p>
            <a:pPr algn="ctr"/>
            <a:r>
              <a:rPr sz="1300" b="1" i="0">
                <a:solidFill>
                  <a:srgbClr val="1C8C68"/>
                </a:solidFill>
                <a:latin typeface="Calibri"/>
              </a:rPr>
              <a:t>M15</a:t>
            </a:r>
          </a:p>
        </p:txBody>
      </p:sp>
      <p:sp>
        <p:nvSpPr>
          <p:cNvPr id="24" name="Rounded Rectangle 23"/>
          <p:cNvSpPr/>
          <p:nvPr/>
        </p:nvSpPr>
        <p:spPr>
          <a:xfrm>
            <a:off x="7333305" y="1691640"/>
            <a:ext cx="1962851" cy="1783080"/>
          </a:xfrm>
          <a:prstGeom prst="roundRect">
            <a:avLst>
              <a:gd name="adj" fmla="val 8000"/>
            </a:avLst>
          </a:prstGeom>
          <a:solidFill>
            <a:srgbClr val="FFFFFF"/>
          </a:solidFill>
          <a:ln w="9525">
            <a:solidFill>
              <a:srgbClr val="D8DEE6"/>
            </a:solidFill>
          </a:ln>
          <a:effectLst>
            <a:outerShdw blurRad="63500" dist="19050" dir="5400000" rotWithShape="0">
              <a:srgbClr val="1B2A4A">
                <a:alpha val="12000"/>
              </a:srgbClr>
            </a:outerShdw>
          </a:effectLst>
        </p:spPr>
        <p:txBody>
          <a:bodyPr rtlCol="0" anchor="ctr"/>
          <a:lstStyle/>
          <a:p>
            <a:pPr algn="ctr"/>
          </a:p>
        </p:txBody>
      </p:sp>
      <p:sp>
        <p:nvSpPr>
          <p:cNvPr id="25" name="TextBox 24"/>
          <p:cNvSpPr txBox="1"/>
          <p:nvPr/>
        </p:nvSpPr>
        <p:spPr>
          <a:xfrm>
            <a:off x="7470465" y="1828800"/>
            <a:ext cx="1688531" cy="320040"/>
          </a:xfrm>
          <a:prstGeom prst="rect">
            <a:avLst/>
          </a:prstGeom>
          <a:noFill/>
        </p:spPr>
        <p:txBody>
          <a:bodyPr wrap="square" lIns="0" rIns="0" tIns="0" bIns="0">
            <a:noAutofit/>
          </a:bodyPr>
          <a:lstStyle/>
          <a:p>
            <a:r>
              <a:rPr sz="1250" b="1" i="0">
                <a:solidFill>
                  <a:srgbClr val="1B2A4A"/>
                </a:solidFill>
                <a:latin typeface="Calibri"/>
              </a:rPr>
              <a:t>Phase 4</a:t>
            </a:r>
          </a:p>
        </p:txBody>
      </p:sp>
      <p:sp>
        <p:nvSpPr>
          <p:cNvPr id="26" name="TextBox 25"/>
          <p:cNvSpPr txBox="1"/>
          <p:nvPr/>
        </p:nvSpPr>
        <p:spPr>
          <a:xfrm>
            <a:off x="7470465" y="2176272"/>
            <a:ext cx="1688531" cy="868680"/>
          </a:xfrm>
          <a:prstGeom prst="rect">
            <a:avLst/>
          </a:prstGeom>
          <a:noFill/>
        </p:spPr>
        <p:txBody>
          <a:bodyPr wrap="square" lIns="0" rIns="0" tIns="0" bIns="0" anchor="t">
            <a:noAutofit/>
          </a:bodyPr>
          <a:lstStyle/>
          <a:p>
            <a:r>
              <a:rPr sz="1000" b="0" i="0">
                <a:solidFill>
                  <a:srgbClr val="5B6B84"/>
                </a:solidFill>
                <a:latin typeface="Calibri"/>
              </a:rPr>
              <a:t>Content Curation</a:t>
            </a:r>
          </a:p>
          <a:p>
            <a:r>
              <a:rPr sz="1000" b="0" i="0">
                <a:solidFill>
                  <a:srgbClr val="5B6B84"/>
                </a:solidFill>
                <a:latin typeface="Calibri"/>
              </a:rPr>
              <a:t>(E2 / métadonnées)</a:t>
            </a:r>
          </a:p>
        </p:txBody>
      </p:sp>
      <p:sp>
        <p:nvSpPr>
          <p:cNvPr id="27" name="TextBox 26"/>
          <p:cNvSpPr txBox="1"/>
          <p:nvPr/>
        </p:nvSpPr>
        <p:spPr>
          <a:xfrm>
            <a:off x="7470465" y="3090672"/>
            <a:ext cx="1688531" cy="320040"/>
          </a:xfrm>
          <a:prstGeom prst="rect">
            <a:avLst/>
          </a:prstGeom>
          <a:noFill/>
        </p:spPr>
        <p:txBody>
          <a:bodyPr wrap="square" lIns="0" rIns="0" tIns="0" bIns="0">
            <a:noAutofit/>
          </a:bodyPr>
          <a:lstStyle/>
          <a:p>
            <a:r>
              <a:rPr sz="1050" b="1" i="1">
                <a:solidFill>
                  <a:srgbClr val="1B2A4A"/>
                </a:solidFill>
                <a:latin typeface="Calibri"/>
              </a:rPr>
              <a:t>3 mois</a:t>
            </a:r>
          </a:p>
        </p:txBody>
      </p:sp>
      <p:sp>
        <p:nvSpPr>
          <p:cNvPr id="28" name="Oval 27"/>
          <p:cNvSpPr/>
          <p:nvPr/>
        </p:nvSpPr>
        <p:spPr>
          <a:xfrm>
            <a:off x="8168426" y="3648456"/>
            <a:ext cx="292608" cy="292608"/>
          </a:xfrm>
          <a:prstGeom prst="ellipse">
            <a:avLst/>
          </a:prstGeom>
          <a:solidFill>
            <a:srgbClr val="1B2A4A"/>
          </a:solidFill>
          <a:ln w="25400">
            <a:solidFill>
              <a:srgbClr val="FFFFFF"/>
            </a:solidFill>
          </a:ln>
          <a:effectLst/>
        </p:spPr>
        <p:txBody>
          <a:bodyPr rtlCol="0" anchor="ctr"/>
          <a:lstStyle/>
          <a:p>
            <a:pPr algn="ctr"/>
          </a:p>
        </p:txBody>
      </p:sp>
      <p:sp>
        <p:nvSpPr>
          <p:cNvPr id="29" name="TextBox 28"/>
          <p:cNvSpPr txBox="1"/>
          <p:nvPr/>
        </p:nvSpPr>
        <p:spPr>
          <a:xfrm>
            <a:off x="7333305" y="3995928"/>
            <a:ext cx="1962851" cy="320040"/>
          </a:xfrm>
          <a:prstGeom prst="rect">
            <a:avLst/>
          </a:prstGeom>
          <a:noFill/>
        </p:spPr>
        <p:txBody>
          <a:bodyPr wrap="square" lIns="0" rIns="0" tIns="0" bIns="0">
            <a:noAutofit/>
          </a:bodyPr>
          <a:lstStyle/>
          <a:p>
            <a:pPr algn="ctr"/>
            <a:r>
              <a:rPr sz="1300" b="1" i="0">
                <a:solidFill>
                  <a:srgbClr val="1C8C68"/>
                </a:solidFill>
                <a:latin typeface="Calibri"/>
              </a:rPr>
              <a:t>M20</a:t>
            </a:r>
          </a:p>
        </p:txBody>
      </p:sp>
      <p:sp>
        <p:nvSpPr>
          <p:cNvPr id="30" name="Rounded Rectangle 29"/>
          <p:cNvSpPr/>
          <p:nvPr/>
        </p:nvSpPr>
        <p:spPr>
          <a:xfrm>
            <a:off x="9552188" y="1691640"/>
            <a:ext cx="1962851" cy="1783080"/>
          </a:xfrm>
          <a:prstGeom prst="roundRect">
            <a:avLst>
              <a:gd name="adj" fmla="val 8000"/>
            </a:avLst>
          </a:prstGeom>
          <a:solidFill>
            <a:srgbClr val="EAF7F1"/>
          </a:solidFill>
          <a:ln w="9525">
            <a:solidFill>
              <a:srgbClr val="D8DEE6"/>
            </a:solidFill>
          </a:ln>
          <a:effectLst>
            <a:outerShdw blurRad="63500" dist="19050" dir="5400000" rotWithShape="0">
              <a:srgbClr val="1B2A4A">
                <a:alpha val="12000"/>
              </a:srgbClr>
            </a:outerShdw>
          </a:effectLst>
        </p:spPr>
        <p:txBody>
          <a:bodyPr rtlCol="0" anchor="ctr"/>
          <a:lstStyle/>
          <a:p>
            <a:pPr algn="ctr"/>
          </a:p>
        </p:txBody>
      </p:sp>
      <p:sp>
        <p:nvSpPr>
          <p:cNvPr id="31" name="TextBox 30"/>
          <p:cNvSpPr txBox="1"/>
          <p:nvPr/>
        </p:nvSpPr>
        <p:spPr>
          <a:xfrm>
            <a:off x="9689348" y="1828800"/>
            <a:ext cx="1688531" cy="320040"/>
          </a:xfrm>
          <a:prstGeom prst="rect">
            <a:avLst/>
          </a:prstGeom>
          <a:noFill/>
        </p:spPr>
        <p:txBody>
          <a:bodyPr wrap="square" lIns="0" rIns="0" tIns="0" bIns="0">
            <a:noAutofit/>
          </a:bodyPr>
          <a:lstStyle/>
          <a:p>
            <a:r>
              <a:rPr sz="1250" b="1" i="0">
                <a:solidFill>
                  <a:srgbClr val="1C8C68"/>
                </a:solidFill>
                <a:latin typeface="Calibri"/>
              </a:rPr>
              <a:t>Consolidation</a:t>
            </a:r>
          </a:p>
        </p:txBody>
      </p:sp>
      <p:sp>
        <p:nvSpPr>
          <p:cNvPr id="32" name="TextBox 31"/>
          <p:cNvSpPr txBox="1"/>
          <p:nvPr/>
        </p:nvSpPr>
        <p:spPr>
          <a:xfrm>
            <a:off x="9689348" y="2176272"/>
            <a:ext cx="1688531" cy="868680"/>
          </a:xfrm>
          <a:prstGeom prst="rect">
            <a:avLst/>
          </a:prstGeom>
          <a:noFill/>
        </p:spPr>
        <p:txBody>
          <a:bodyPr wrap="square" lIns="0" rIns="0" tIns="0" bIns="0" anchor="t">
            <a:noAutofit/>
          </a:bodyPr>
          <a:lstStyle/>
          <a:p>
            <a:r>
              <a:rPr sz="1000" b="0" i="0">
                <a:solidFill>
                  <a:srgbClr val="5B6B84"/>
                </a:solidFill>
                <a:latin typeface="Calibri"/>
              </a:rPr>
              <a:t>Ensemble des départements</a:t>
            </a:r>
          </a:p>
          <a:p>
            <a:r>
              <a:rPr sz="1000" b="0" i="0">
                <a:solidFill>
                  <a:srgbClr val="5B6B84"/>
                </a:solidFill>
                <a:latin typeface="Calibri"/>
              </a:rPr>
              <a:t>Niveau 3 généralisé</a:t>
            </a:r>
          </a:p>
        </p:txBody>
      </p:sp>
      <p:sp>
        <p:nvSpPr>
          <p:cNvPr id="33" name="TextBox 32"/>
          <p:cNvSpPr txBox="1"/>
          <p:nvPr/>
        </p:nvSpPr>
        <p:spPr>
          <a:xfrm>
            <a:off x="9689348" y="3090672"/>
            <a:ext cx="1688531" cy="320040"/>
          </a:xfrm>
          <a:prstGeom prst="rect">
            <a:avLst/>
          </a:prstGeom>
          <a:noFill/>
        </p:spPr>
        <p:txBody>
          <a:bodyPr wrap="square" lIns="0" rIns="0" tIns="0" bIns="0">
            <a:noAutofit/>
          </a:bodyPr>
          <a:lstStyle/>
          <a:p>
            <a:r>
              <a:rPr sz="1050" b="1" i="1">
                <a:solidFill>
                  <a:srgbClr val="1B2A4A"/>
                </a:solidFill>
                <a:latin typeface="Calibri"/>
              </a:rPr>
              <a:t>-</a:t>
            </a:r>
          </a:p>
        </p:txBody>
      </p:sp>
      <p:sp>
        <p:nvSpPr>
          <p:cNvPr id="34" name="Oval 33"/>
          <p:cNvSpPr/>
          <p:nvPr/>
        </p:nvSpPr>
        <p:spPr>
          <a:xfrm>
            <a:off x="10387309" y="3648456"/>
            <a:ext cx="292608" cy="292608"/>
          </a:xfrm>
          <a:prstGeom prst="ellipse">
            <a:avLst/>
          </a:prstGeom>
          <a:solidFill>
            <a:srgbClr val="2DBE8C"/>
          </a:solidFill>
          <a:ln w="25400">
            <a:solidFill>
              <a:srgbClr val="FFFFFF"/>
            </a:solidFill>
          </a:ln>
          <a:effectLst/>
        </p:spPr>
        <p:txBody>
          <a:bodyPr rtlCol="0" anchor="ctr"/>
          <a:lstStyle/>
          <a:p>
            <a:pPr algn="ctr"/>
          </a:p>
        </p:txBody>
      </p:sp>
      <p:sp>
        <p:nvSpPr>
          <p:cNvPr id="35" name="TextBox 34"/>
          <p:cNvSpPr txBox="1"/>
          <p:nvPr/>
        </p:nvSpPr>
        <p:spPr>
          <a:xfrm>
            <a:off x="9552188" y="3995928"/>
            <a:ext cx="1962851" cy="320040"/>
          </a:xfrm>
          <a:prstGeom prst="rect">
            <a:avLst/>
          </a:prstGeom>
          <a:noFill/>
        </p:spPr>
        <p:txBody>
          <a:bodyPr wrap="square" lIns="0" rIns="0" tIns="0" bIns="0">
            <a:noAutofit/>
          </a:bodyPr>
          <a:lstStyle/>
          <a:p>
            <a:pPr algn="ctr"/>
            <a:r>
              <a:rPr sz="1300" b="1" i="0">
                <a:solidFill>
                  <a:srgbClr val="1C8C68"/>
                </a:solidFill>
                <a:latin typeface="Calibri"/>
              </a:rPr>
              <a:t>M22-M24</a:t>
            </a:r>
          </a:p>
        </p:txBody>
      </p:sp>
      <p:sp>
        <p:nvSpPr>
          <p:cNvPr id="36" name="Rounded Rectangle 35"/>
          <p:cNvSpPr/>
          <p:nvPr/>
        </p:nvSpPr>
        <p:spPr>
          <a:xfrm>
            <a:off x="548640" y="4526280"/>
            <a:ext cx="11094415" cy="868680"/>
          </a:xfrm>
          <a:prstGeom prst="roundRect">
            <a:avLst>
              <a:gd name="adj" fmla="val 8000"/>
            </a:avLst>
          </a:prstGeom>
          <a:solidFill>
            <a:srgbClr val="F7F8FA"/>
          </a:solidFill>
          <a:ln w="9525">
            <a:solidFill>
              <a:srgbClr val="D8DEE6"/>
            </a:solidFill>
          </a:ln>
          <a:effectLst/>
        </p:spPr>
        <p:txBody>
          <a:bodyPr rtlCol="0" anchor="ctr"/>
          <a:lstStyle/>
          <a:p>
            <a:pPr algn="ctr"/>
          </a:p>
        </p:txBody>
      </p:sp>
      <p:sp>
        <p:nvSpPr>
          <p:cNvPr id="37" name="TextBox 36"/>
          <p:cNvSpPr txBox="1"/>
          <p:nvPr/>
        </p:nvSpPr>
        <p:spPr>
          <a:xfrm>
            <a:off x="822960" y="4526280"/>
            <a:ext cx="10545775" cy="868680"/>
          </a:xfrm>
          <a:prstGeom prst="rect">
            <a:avLst/>
          </a:prstGeom>
          <a:noFill/>
        </p:spPr>
        <p:txBody>
          <a:bodyPr wrap="square" lIns="0" rIns="0" tIns="0" bIns="0" anchor="ctr">
            <a:noAutofit/>
          </a:bodyPr>
          <a:lstStyle/>
          <a:p>
            <a:r>
              <a:rPr sz="1150" b="0" i="0">
                <a:solidFill>
                  <a:srgbClr val="1B2A4A"/>
                </a:solidFill>
                <a:latin typeface="Calibri"/>
              </a:rPr>
              <a:t>Trajectoire de maturité : niveau 1 (actuel) → niveau 3 généralisé (M22-M24). Ce séquencement atteint la borne haute de la fourchette de référence (15-24 mois) - un compromis assumé pour garantir la rigueur de la phase de sécurisation initiale.</a:t>
            </a:r>
          </a:p>
        </p:txBody>
      </p:sp>
      <p:sp>
        <p:nvSpPr>
          <p:cNvPr id="38" name="Rounded Rectangle 37"/>
          <p:cNvSpPr/>
          <p:nvPr/>
        </p:nvSpPr>
        <p:spPr>
          <a:xfrm>
            <a:off x="548640" y="5532120"/>
            <a:ext cx="11094415" cy="658368"/>
          </a:xfrm>
          <a:prstGeom prst="roundRect">
            <a:avLst>
              <a:gd name="adj" fmla="val 8000"/>
            </a:avLst>
          </a:prstGeom>
          <a:solidFill>
            <a:srgbClr val="FFFFFF"/>
          </a:solidFill>
          <a:ln w="9525">
            <a:solidFill>
              <a:srgbClr val="D8DEE6"/>
            </a:solidFill>
          </a:ln>
          <a:effectLst>
            <a:outerShdw blurRad="63500" dist="19050" dir="5400000" rotWithShape="0">
              <a:srgbClr val="1B2A4A">
                <a:alpha val="12000"/>
              </a:srgbClr>
            </a:outerShdw>
          </a:effectLst>
        </p:spPr>
        <p:txBody>
          <a:bodyPr rtlCol="0" anchor="ctr"/>
          <a:lstStyle/>
          <a:p>
            <a:pPr algn="ctr"/>
          </a:p>
        </p:txBody>
      </p:sp>
      <p:sp>
        <p:nvSpPr>
          <p:cNvPr id="39" name="TextBox 38"/>
          <p:cNvSpPr txBox="1"/>
          <p:nvPr/>
        </p:nvSpPr>
        <p:spPr>
          <a:xfrm>
            <a:off x="822960" y="5532120"/>
            <a:ext cx="10545775" cy="658368"/>
          </a:xfrm>
          <a:prstGeom prst="rect">
            <a:avLst/>
          </a:prstGeom>
          <a:noFill/>
        </p:spPr>
        <p:txBody>
          <a:bodyPr wrap="square" lIns="0" rIns="0" tIns="0" bIns="0" anchor="ctr">
            <a:noAutofit/>
          </a:bodyPr>
          <a:lstStyle/>
          <a:p>
            <a:r>
              <a:rPr sz="1050" b="0" i="1">
                <a:solidFill>
                  <a:srgbClr val="5B6B84"/>
                </a:solidFill>
                <a:latin typeface="Calibri"/>
              </a:rPr>
              <a:t>Chaque jalon de phase est un point de réévaluation (feu vert / orange / rouge), pas un engagement figé - conformément au principe d'amélioration continue (P9).</a:t>
            </a:r>
          </a:p>
        </p:txBody>
      </p:sp>
      <p:sp>
        <p:nvSpPr>
          <p:cNvPr id="40" name="TextBox 39"/>
          <p:cNvSpPr txBox="1"/>
          <p:nvPr/>
        </p:nvSpPr>
        <p:spPr>
          <a:xfrm>
            <a:off x="548640" y="6473952"/>
            <a:ext cx="8686800" cy="274320"/>
          </a:xfrm>
          <a:prstGeom prst="rect">
            <a:avLst/>
          </a:prstGeom>
          <a:noFill/>
        </p:spPr>
        <p:txBody>
          <a:bodyPr wrap="square" lIns="0" rIns="0" tIns="0" bIns="0">
            <a:noAutofit/>
          </a:bodyPr>
          <a:lstStyle/>
          <a:p>
            <a:r>
              <a:rPr sz="950" b="0" i="1">
                <a:solidFill>
                  <a:srgbClr val="8493A8"/>
                </a:solidFill>
                <a:latin typeface="Calibri"/>
              </a:rPr>
              <a:t>Source : [D3] §3.6</a:t>
            </a:r>
          </a:p>
        </p:txBody>
      </p:sp>
      <p:sp>
        <p:nvSpPr>
          <p:cNvPr id="41" name="TextBox 40"/>
          <p:cNvSpPr txBox="1"/>
          <p:nvPr/>
        </p:nvSpPr>
        <p:spPr>
          <a:xfrm>
            <a:off x="11002975" y="6473952"/>
            <a:ext cx="822960" cy="274320"/>
          </a:xfrm>
          <a:prstGeom prst="rect">
            <a:avLst/>
          </a:prstGeom>
          <a:noFill/>
        </p:spPr>
        <p:txBody>
          <a:bodyPr wrap="square" lIns="0" rIns="0" tIns="0" bIns="0">
            <a:noAutofit/>
          </a:bodyPr>
          <a:lstStyle/>
          <a:p>
            <a:pPr algn="r"/>
            <a:r>
              <a:rPr sz="950" b="0" i="0">
                <a:solidFill>
                  <a:srgbClr val="8493A8"/>
                </a:solidFill>
                <a:latin typeface="Calibri"/>
              </a:rPr>
              <a:t>9 / 10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B2A4A"/>
        </a:solidFill>
        <a:effectLst/>
      </p:bgPr>
    </p:bg>
    <p:spTree>
      <p:nvGrpSpPr>
        <p:cNvPr id="1" name=""/>
        <p:cNvGrpSpPr/>
        <p:nvPr/>
      </p:nvGrpSpPr>
      <p:grpSpPr/>
      <p:sp>
        <p:nvSpPr>
          <p:cNvPr id="2" name="TextBox 1"/>
          <p:cNvSpPr txBox="1"/>
          <p:nvPr/>
        </p:nvSpPr>
        <p:spPr>
          <a:xfrm>
            <a:off x="548640" y="384048"/>
            <a:ext cx="7315200" cy="292608"/>
          </a:xfrm>
          <a:prstGeom prst="rect">
            <a:avLst/>
          </a:prstGeom>
          <a:noFill/>
        </p:spPr>
        <p:txBody>
          <a:bodyPr wrap="square" lIns="0" rIns="0" tIns="0" bIns="0">
            <a:noAutofit/>
          </a:bodyPr>
          <a:lstStyle/>
          <a:p>
            <a:r>
              <a:rPr sz="1200" b="1" i="0" spc="200">
                <a:solidFill>
                  <a:srgbClr val="2DBE8C"/>
                </a:solidFill>
                <a:latin typeface="Calibri"/>
              </a:rPr>
              <a:t>VALEUR &amp; PROCHAINES ÉTAPES</a:t>
            </a:r>
          </a:p>
        </p:txBody>
      </p:sp>
      <p:sp>
        <p:nvSpPr>
          <p:cNvPr id="3" name="TextBox 2"/>
          <p:cNvSpPr txBox="1"/>
          <p:nvPr/>
        </p:nvSpPr>
        <p:spPr>
          <a:xfrm>
            <a:off x="548640" y="658368"/>
            <a:ext cx="9692640" cy="868680"/>
          </a:xfrm>
          <a:prstGeom prst="rect">
            <a:avLst/>
          </a:prstGeom>
          <a:noFill/>
        </p:spPr>
        <p:txBody>
          <a:bodyPr wrap="square" lIns="0" rIns="0" tIns="0" bIns="0" anchor="t">
            <a:noAutofit/>
          </a:bodyPr>
          <a:lstStyle/>
          <a:p>
            <a:pPr>
              <a:lnSpc>
                <a:spcPct val="102000"/>
              </a:lnSpc>
            </a:pPr>
            <a:r>
              <a:rPr sz="2800" b="1" i="0">
                <a:solidFill>
                  <a:srgbClr val="FFFFFF"/>
                </a:solidFill>
                <a:latin typeface="Cambria"/>
              </a:rPr>
              <a:t>Une gouvernance qui protège la confiance et soutient la croissance</a:t>
            </a:r>
          </a:p>
        </p:txBody>
      </p:sp>
      <p:pic>
        <p:nvPicPr>
          <p:cNvPr id="4" name="Picture 3" descr="icon_flag.png"/>
          <p:cNvPicPr>
            <a:picLocks noChangeAspect="1"/>
          </p:cNvPicPr>
          <p:nvPr/>
        </p:nvPicPr>
        <p:blipFill>
          <a:blip r:embed="rId2"/>
          <a:stretch>
            <a:fillRect/>
          </a:stretch>
        </p:blipFill>
        <p:spPr>
          <a:xfrm>
            <a:off x="11140135" y="365760"/>
            <a:ext cx="658368" cy="658368"/>
          </a:xfrm>
          <a:prstGeom prst="rect">
            <a:avLst/>
          </a:prstGeom>
        </p:spPr>
      </p:pic>
      <p:pic>
        <p:nvPicPr>
          <p:cNvPr id="5" name="Picture 4" descr="icon_check_white.png"/>
          <p:cNvPicPr>
            <a:picLocks noChangeAspect="1"/>
          </p:cNvPicPr>
          <p:nvPr/>
        </p:nvPicPr>
        <p:blipFill>
          <a:blip r:embed="rId3"/>
          <a:stretch>
            <a:fillRect/>
          </a:stretch>
        </p:blipFill>
        <p:spPr>
          <a:xfrm>
            <a:off x="1531620" y="1783080"/>
            <a:ext cx="640080" cy="640080"/>
          </a:xfrm>
          <a:prstGeom prst="rect">
            <a:avLst/>
          </a:prstGeom>
        </p:spPr>
      </p:pic>
      <p:sp>
        <p:nvSpPr>
          <p:cNvPr id="6" name="TextBox 5"/>
          <p:cNvSpPr txBox="1"/>
          <p:nvPr/>
        </p:nvSpPr>
        <p:spPr>
          <a:xfrm>
            <a:off x="548640" y="2560320"/>
            <a:ext cx="2606040" cy="320040"/>
          </a:xfrm>
          <a:prstGeom prst="rect">
            <a:avLst/>
          </a:prstGeom>
          <a:noFill/>
        </p:spPr>
        <p:txBody>
          <a:bodyPr wrap="square" lIns="0" rIns="0" tIns="0" bIns="0">
            <a:noAutofit/>
          </a:bodyPr>
          <a:lstStyle/>
          <a:p>
            <a:pPr algn="ctr"/>
            <a:r>
              <a:rPr sz="1500" b="1" i="0">
                <a:solidFill>
                  <a:srgbClr val="FFFFFF"/>
                </a:solidFill>
                <a:latin typeface="Calibri"/>
              </a:rPr>
              <a:t>Économies</a:t>
            </a:r>
          </a:p>
        </p:txBody>
      </p:sp>
      <p:sp>
        <p:nvSpPr>
          <p:cNvPr id="7" name="TextBox 6"/>
          <p:cNvSpPr txBox="1"/>
          <p:nvPr/>
        </p:nvSpPr>
        <p:spPr>
          <a:xfrm>
            <a:off x="548640" y="2880360"/>
            <a:ext cx="2606040" cy="914400"/>
          </a:xfrm>
          <a:prstGeom prst="rect">
            <a:avLst/>
          </a:prstGeom>
          <a:noFill/>
        </p:spPr>
        <p:txBody>
          <a:bodyPr wrap="square" lIns="0" rIns="0" tIns="0" bIns="0" anchor="t">
            <a:noAutofit/>
          </a:bodyPr>
          <a:lstStyle/>
          <a:p>
            <a:pPr algn="ctr"/>
            <a:r>
              <a:rPr sz="1050" b="0" i="0">
                <a:solidFill>
                  <a:srgbClr val="CADCFC"/>
                </a:solidFill>
                <a:latin typeface="Calibri"/>
              </a:rPr>
              <a:t>Réduction des inefficiences liées à une donnée de mauvaise qualité</a:t>
            </a:r>
          </a:p>
        </p:txBody>
      </p:sp>
      <p:pic>
        <p:nvPicPr>
          <p:cNvPr id="8" name="Picture 7" descr="icon_lock.png"/>
          <p:cNvPicPr>
            <a:picLocks noChangeAspect="1"/>
          </p:cNvPicPr>
          <p:nvPr/>
        </p:nvPicPr>
        <p:blipFill>
          <a:blip r:embed="rId4"/>
          <a:stretch>
            <a:fillRect/>
          </a:stretch>
        </p:blipFill>
        <p:spPr>
          <a:xfrm>
            <a:off x="4393692" y="1783080"/>
            <a:ext cx="640080" cy="640080"/>
          </a:xfrm>
          <a:prstGeom prst="rect">
            <a:avLst/>
          </a:prstGeom>
        </p:spPr>
      </p:pic>
      <p:sp>
        <p:nvSpPr>
          <p:cNvPr id="9" name="TextBox 8"/>
          <p:cNvSpPr txBox="1"/>
          <p:nvPr/>
        </p:nvSpPr>
        <p:spPr>
          <a:xfrm>
            <a:off x="3410712" y="2560320"/>
            <a:ext cx="2606040" cy="320040"/>
          </a:xfrm>
          <a:prstGeom prst="rect">
            <a:avLst/>
          </a:prstGeom>
          <a:noFill/>
        </p:spPr>
        <p:txBody>
          <a:bodyPr wrap="square" lIns="0" rIns="0" tIns="0" bIns="0">
            <a:noAutofit/>
          </a:bodyPr>
          <a:lstStyle/>
          <a:p>
            <a:pPr algn="ctr"/>
            <a:r>
              <a:rPr sz="1500" b="1" i="0">
                <a:solidFill>
                  <a:srgbClr val="FFFFFF"/>
                </a:solidFill>
                <a:latin typeface="Calibri"/>
              </a:rPr>
              <a:t>Conformité</a:t>
            </a:r>
          </a:p>
        </p:txBody>
      </p:sp>
      <p:sp>
        <p:nvSpPr>
          <p:cNvPr id="10" name="TextBox 9"/>
          <p:cNvSpPr txBox="1"/>
          <p:nvPr/>
        </p:nvSpPr>
        <p:spPr>
          <a:xfrm>
            <a:off x="3410712" y="2880360"/>
            <a:ext cx="2606040" cy="914400"/>
          </a:xfrm>
          <a:prstGeom prst="rect">
            <a:avLst/>
          </a:prstGeom>
          <a:noFill/>
        </p:spPr>
        <p:txBody>
          <a:bodyPr wrap="square" lIns="0" rIns="0" tIns="0" bIns="0" anchor="t">
            <a:noAutofit/>
          </a:bodyPr>
          <a:lstStyle/>
          <a:p>
            <a:pPr algn="ctr"/>
            <a:r>
              <a:rPr sz="1050" b="0" i="0">
                <a:solidFill>
                  <a:srgbClr val="CADCFC"/>
                </a:solidFill>
                <a:latin typeface="Calibri"/>
              </a:rPr>
              <a:t>Éviter les sanctions GDPR/CCPA (jusqu'à 4% du CA mondial)</a:t>
            </a:r>
          </a:p>
        </p:txBody>
      </p:sp>
      <p:pic>
        <p:nvPicPr>
          <p:cNvPr id="11" name="Picture 10" descr="icon_shield.png"/>
          <p:cNvPicPr>
            <a:picLocks noChangeAspect="1"/>
          </p:cNvPicPr>
          <p:nvPr/>
        </p:nvPicPr>
        <p:blipFill>
          <a:blip r:embed="rId5"/>
          <a:stretch>
            <a:fillRect/>
          </a:stretch>
        </p:blipFill>
        <p:spPr>
          <a:xfrm>
            <a:off x="7255764" y="1783080"/>
            <a:ext cx="640080" cy="640080"/>
          </a:xfrm>
          <a:prstGeom prst="rect">
            <a:avLst/>
          </a:prstGeom>
        </p:spPr>
      </p:pic>
      <p:sp>
        <p:nvSpPr>
          <p:cNvPr id="12" name="TextBox 11"/>
          <p:cNvSpPr txBox="1"/>
          <p:nvPr/>
        </p:nvSpPr>
        <p:spPr>
          <a:xfrm>
            <a:off x="6272783" y="2560320"/>
            <a:ext cx="2606040" cy="320040"/>
          </a:xfrm>
          <a:prstGeom prst="rect">
            <a:avLst/>
          </a:prstGeom>
          <a:noFill/>
        </p:spPr>
        <p:txBody>
          <a:bodyPr wrap="square" lIns="0" rIns="0" tIns="0" bIns="0">
            <a:noAutofit/>
          </a:bodyPr>
          <a:lstStyle/>
          <a:p>
            <a:pPr algn="ctr"/>
            <a:r>
              <a:rPr sz="1500" b="1" i="0">
                <a:solidFill>
                  <a:srgbClr val="FFFFFF"/>
                </a:solidFill>
                <a:latin typeface="Calibri"/>
              </a:rPr>
              <a:t>Confiance</a:t>
            </a:r>
          </a:p>
        </p:txBody>
      </p:sp>
      <p:sp>
        <p:nvSpPr>
          <p:cNvPr id="13" name="TextBox 12"/>
          <p:cNvSpPr txBox="1"/>
          <p:nvPr/>
        </p:nvSpPr>
        <p:spPr>
          <a:xfrm>
            <a:off x="6272783" y="2880360"/>
            <a:ext cx="2606040" cy="914400"/>
          </a:xfrm>
          <a:prstGeom prst="rect">
            <a:avLst/>
          </a:prstGeom>
          <a:noFill/>
        </p:spPr>
        <p:txBody>
          <a:bodyPr wrap="square" lIns="0" rIns="0" tIns="0" bIns="0" anchor="t">
            <a:noAutofit/>
          </a:bodyPr>
          <a:lstStyle/>
          <a:p>
            <a:pPr algn="ctr"/>
            <a:r>
              <a:rPr sz="1050" b="0" i="0">
                <a:solidFill>
                  <a:srgbClr val="CADCFC"/>
                </a:solidFill>
                <a:latin typeface="Calibri"/>
              </a:rPr>
              <a:t>Transparence et sécurité renforcées auprès des utilisateurs</a:t>
            </a:r>
          </a:p>
        </p:txBody>
      </p:sp>
      <p:pic>
        <p:nvPicPr>
          <p:cNvPr id="14" name="Picture 13" descr="icon_globe.png"/>
          <p:cNvPicPr>
            <a:picLocks noChangeAspect="1"/>
          </p:cNvPicPr>
          <p:nvPr/>
        </p:nvPicPr>
        <p:blipFill>
          <a:blip r:embed="rId6"/>
          <a:stretch>
            <a:fillRect/>
          </a:stretch>
        </p:blipFill>
        <p:spPr>
          <a:xfrm>
            <a:off x="10117836" y="1783080"/>
            <a:ext cx="640080" cy="640080"/>
          </a:xfrm>
          <a:prstGeom prst="rect">
            <a:avLst/>
          </a:prstGeom>
        </p:spPr>
      </p:pic>
      <p:sp>
        <p:nvSpPr>
          <p:cNvPr id="15" name="TextBox 14"/>
          <p:cNvSpPr txBox="1"/>
          <p:nvPr/>
        </p:nvSpPr>
        <p:spPr>
          <a:xfrm>
            <a:off x="9134856" y="2560320"/>
            <a:ext cx="2606040" cy="320040"/>
          </a:xfrm>
          <a:prstGeom prst="rect">
            <a:avLst/>
          </a:prstGeom>
          <a:noFill/>
        </p:spPr>
        <p:txBody>
          <a:bodyPr wrap="square" lIns="0" rIns="0" tIns="0" bIns="0">
            <a:noAutofit/>
          </a:bodyPr>
          <a:lstStyle/>
          <a:p>
            <a:pPr algn="ctr"/>
            <a:r>
              <a:rPr sz="1500" b="1" i="0">
                <a:solidFill>
                  <a:srgbClr val="FFFFFF"/>
                </a:solidFill>
                <a:latin typeface="Calibri"/>
              </a:rPr>
              <a:t>Scalabilité</a:t>
            </a:r>
          </a:p>
        </p:txBody>
      </p:sp>
      <p:sp>
        <p:nvSpPr>
          <p:cNvPr id="16" name="TextBox 15"/>
          <p:cNvSpPr txBox="1"/>
          <p:nvPr/>
        </p:nvSpPr>
        <p:spPr>
          <a:xfrm>
            <a:off x="9134856" y="2880360"/>
            <a:ext cx="2606040" cy="914400"/>
          </a:xfrm>
          <a:prstGeom prst="rect">
            <a:avLst/>
          </a:prstGeom>
          <a:noFill/>
        </p:spPr>
        <p:txBody>
          <a:bodyPr wrap="square" lIns="0" rIns="0" tIns="0" bIns="0" anchor="t">
            <a:noAutofit/>
          </a:bodyPr>
          <a:lstStyle/>
          <a:p>
            <a:pPr algn="ctr"/>
            <a:r>
              <a:rPr sz="1050" b="0" i="0">
                <a:solidFill>
                  <a:srgbClr val="CADCFC"/>
                </a:solidFill>
                <a:latin typeface="Calibri"/>
              </a:rPr>
              <a:t>Infrastructure de gouvernance prête pour la croissance mondiale</a:t>
            </a:r>
          </a:p>
        </p:txBody>
      </p:sp>
      <p:sp>
        <p:nvSpPr>
          <p:cNvPr id="17" name="Rounded Rectangle 16"/>
          <p:cNvSpPr/>
          <p:nvPr/>
        </p:nvSpPr>
        <p:spPr>
          <a:xfrm>
            <a:off x="548640" y="4160520"/>
            <a:ext cx="11091672" cy="1874519"/>
          </a:xfrm>
          <a:prstGeom prst="roundRect">
            <a:avLst>
              <a:gd name="adj" fmla="val 8000"/>
            </a:avLst>
          </a:prstGeom>
          <a:solidFill>
            <a:srgbClr val="2A3C60"/>
          </a:solidFill>
          <a:ln w="12700">
            <a:solidFill>
              <a:srgbClr val="3A4C72"/>
            </a:solidFill>
          </a:ln>
          <a:effectLst/>
        </p:spPr>
        <p:txBody>
          <a:bodyPr rtlCol="0" anchor="ctr"/>
          <a:lstStyle/>
          <a:p>
            <a:pPr algn="ctr"/>
          </a:p>
        </p:txBody>
      </p:sp>
      <p:sp>
        <p:nvSpPr>
          <p:cNvPr id="18" name="TextBox 17"/>
          <p:cNvSpPr txBox="1"/>
          <p:nvPr/>
        </p:nvSpPr>
        <p:spPr>
          <a:xfrm>
            <a:off x="868680" y="4315968"/>
            <a:ext cx="5486400" cy="320040"/>
          </a:xfrm>
          <a:prstGeom prst="rect">
            <a:avLst/>
          </a:prstGeom>
          <a:noFill/>
        </p:spPr>
        <p:txBody>
          <a:bodyPr wrap="square" lIns="0" rIns="0" tIns="0" bIns="0">
            <a:noAutofit/>
          </a:bodyPr>
          <a:lstStyle/>
          <a:p>
            <a:r>
              <a:rPr sz="1400" b="1" i="0">
                <a:solidFill>
                  <a:srgbClr val="2DBE8C"/>
                </a:solidFill>
                <a:latin typeface="Calibri"/>
              </a:rPr>
              <a:t>Prochaines étapes</a:t>
            </a:r>
          </a:p>
        </p:txBody>
      </p:sp>
      <p:sp>
        <p:nvSpPr>
          <p:cNvPr id="19" name="TextBox 18"/>
          <p:cNvSpPr txBox="1"/>
          <p:nvPr/>
        </p:nvSpPr>
        <p:spPr>
          <a:xfrm>
            <a:off x="868680" y="4681728"/>
            <a:ext cx="10424160" cy="1234440"/>
          </a:xfrm>
          <a:prstGeom prst="rect">
            <a:avLst/>
          </a:prstGeom>
          <a:noFill/>
        </p:spPr>
        <p:txBody>
          <a:bodyPr wrap="square" lIns="0" rIns="0" tIns="0" bIns="0" anchor="t">
            <a:noAutofit/>
          </a:bodyPr>
          <a:lstStyle/>
          <a:p>
            <a:pPr marL="182880" indent="-182880">
              <a:spcAft>
                <a:spcPts val="800"/>
              </a:spcAft>
              <a:buFont typeface="Arial"/>
              <a:buChar char="•"/>
            </a:pPr>
            <a:r>
              <a:rPr sz="1250" b="0">
                <a:solidFill>
                  <a:srgbClr val="FFFFFF"/>
                </a:solidFill>
                <a:latin typeface="Calibri"/>
              </a:rPr>
              <a:t>Lancer le pilote sur le système de recommandation (Product Development)</a:t>
            </a:r>
          </a:p>
          <a:p>
            <a:pPr marL="182880" indent="-182880">
              <a:spcAft>
                <a:spcPts val="800"/>
              </a:spcAft>
              <a:buFont typeface="Arial"/>
              <a:buChar char="•"/>
            </a:pPr>
            <a:r>
              <a:rPr sz="1250" b="0">
                <a:solidFill>
                  <a:srgbClr val="FFFFFF"/>
                </a:solidFill>
                <a:latin typeface="Calibri"/>
              </a:rPr>
              <a:t>Nommer / confirmer DPO, CDO, Data Stewards et Model Owners</a:t>
            </a:r>
          </a:p>
          <a:p>
            <a:pPr marL="182880" indent="-182880">
              <a:spcAft>
                <a:spcPts val="800"/>
              </a:spcAft>
              <a:buFont typeface="Arial"/>
              <a:buChar char="•"/>
            </a:pPr>
            <a:r>
              <a:rPr sz="1250" b="0">
                <a:solidFill>
                  <a:srgbClr val="FFFFFF"/>
                </a:solidFill>
                <a:latin typeface="Calibri"/>
              </a:rPr>
              <a:t>Première revue de maturité DMAT au jalon intermédiaire (M5)</a:t>
            </a:r>
          </a:p>
          <a:p>
            <a:pPr marL="182880" indent="-182880">
              <a:spcAft>
                <a:spcPts val="0"/>
              </a:spcAft>
              <a:buFont typeface="Arial"/>
              <a:buChar char="•"/>
            </a:pPr>
            <a:r>
              <a:rPr sz="1250" b="0">
                <a:solidFill>
                  <a:srgbClr val="FFFFFF"/>
                </a:solidFill>
                <a:latin typeface="Calibri"/>
              </a:rPr>
              <a:t>Décision de passage à l'échelle (feu vert / orange / rouge) à chaque jalon de phase</a:t>
            </a:r>
          </a:p>
        </p:txBody>
      </p:sp>
      <p:sp>
        <p:nvSpPr>
          <p:cNvPr id="20" name="TextBox 19"/>
          <p:cNvSpPr txBox="1"/>
          <p:nvPr/>
        </p:nvSpPr>
        <p:spPr>
          <a:xfrm>
            <a:off x="548640" y="6473952"/>
            <a:ext cx="7315200" cy="274320"/>
          </a:xfrm>
          <a:prstGeom prst="rect">
            <a:avLst/>
          </a:prstGeom>
          <a:noFill/>
        </p:spPr>
        <p:txBody>
          <a:bodyPr wrap="square" lIns="0" rIns="0" tIns="0" bIns="0">
            <a:noAutofit/>
          </a:bodyPr>
          <a:lstStyle/>
          <a:p>
            <a:r>
              <a:rPr sz="950" b="0" i="0">
                <a:solidFill>
                  <a:srgbClr val="9FB0C9"/>
                </a:solidFill>
                <a:latin typeface="Calibri"/>
              </a:rPr>
              <a:t>Nicolas Pichon - AIA RNCP 38777 - BC01 - Step 4 - v2 - 2026/10/13</a:t>
            </a:r>
          </a:p>
        </p:txBody>
      </p:sp>
      <p:sp>
        <p:nvSpPr>
          <p:cNvPr id="21" name="TextBox 20"/>
          <p:cNvSpPr txBox="1"/>
          <p:nvPr/>
        </p:nvSpPr>
        <p:spPr>
          <a:xfrm>
            <a:off x="11002975" y="6473952"/>
            <a:ext cx="822960" cy="274320"/>
          </a:xfrm>
          <a:prstGeom prst="rect">
            <a:avLst/>
          </a:prstGeom>
          <a:noFill/>
        </p:spPr>
        <p:txBody>
          <a:bodyPr wrap="square" lIns="0" rIns="0" tIns="0" bIns="0">
            <a:noAutofit/>
          </a:bodyPr>
          <a:lstStyle/>
          <a:p>
            <a:pPr algn="r"/>
            <a:r>
              <a:rPr sz="950" b="0" i="0">
                <a:solidFill>
                  <a:srgbClr val="9FB0C9"/>
                </a:solidFill>
                <a:latin typeface="Calibri"/>
              </a:rPr>
              <a:t>10 / 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