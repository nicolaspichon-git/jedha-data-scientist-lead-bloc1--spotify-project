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1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200" b="0" u="none" strike="noStrike">
                <a:solidFill>
                  <a:srgbClr val="1B2A4A"/>
                </a:solidFill>
                <a:uFillTx/>
                <a:latin typeface="Calibri"/>
                <a:ea typeface="DejaVu Sans"/>
              </a:rPr>
              <a:t>Niveau de maturité par dimension (échelle 0–5)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Niveau de maturité</c:v>
                </c:pt>
              </c:strCache>
            </c:strRef>
          </c:tx>
          <c:spPr>
            <a:solidFill>
              <a:srgbClr val="2DBE8C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8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9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10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11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Lbls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8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9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0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1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A4A"/>
                    </a:solidFill>
                    <a:uFillTx/>
                    <a:latin typeface="Calibri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2"/>
                <c:pt idx="0">
                  <c:v>Analytics &amp; BI</c:v>
                </c:pt>
                <c:pt idx="1">
                  <c:v>Intégration</c:v>
                </c:pt>
                <c:pt idx="2">
                  <c:v>Métadonnées</c:v>
                </c:pt>
                <c:pt idx="3">
                  <c:v>Master &amp; Reference Data</c:v>
                </c:pt>
                <c:pt idx="4">
                  <c:v>Littératie data</c:v>
                </c:pt>
                <c:pt idx="5">
                  <c:v>Sécurité</c:v>
                </c:pt>
                <c:pt idx="6">
                  <c:v>Usage &amp; Accessibilité</c:v>
                </c:pt>
                <c:pt idx="7">
                  <c:v>Conformité</c:v>
                </c:pt>
                <c:pt idx="8">
                  <c:v>Opérations</c:v>
                </c:pt>
                <c:pt idx="9">
                  <c:v>Architecture</c:v>
                </c:pt>
                <c:pt idx="10">
                  <c:v>Qualité</c:v>
                </c:pt>
                <c:pt idx="11">
                  <c:v>Gouvernance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</c:ser>
        <c:gapWidth val="35"/>
        <c:overlap val="0"/>
        <c:axId val="93819686"/>
        <c:axId val="54741661"/>
      </c:barChart>
      <c:catAx>
        <c:axId val="9381968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D8DEE6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1B2A4A"/>
                </a:solidFill>
                <a:uFillTx/>
                <a:latin typeface="Calibri"/>
                <a:ea typeface="DejaVu Sans"/>
              </a:defRPr>
            </a:pPr>
          </a:p>
        </c:txPr>
        <c:crossAx val="54741661"/>
        <c:crosses val="autoZero"/>
        <c:auto val="1"/>
        <c:lblAlgn val="ctr"/>
        <c:lblOffset val="100"/>
        <c:noMultiLvlLbl val="0"/>
      </c:catAx>
      <c:valAx>
        <c:axId val="54741661"/>
        <c:scaling>
          <c:orientation val="minMax"/>
          <c:max val="5"/>
          <c:min val="0"/>
        </c:scaling>
        <c:delete val="0"/>
        <c:axPos val="l"/>
        <c:majorGridlines>
          <c:spPr>
            <a:ln w="12600">
              <a:solidFill>
                <a:srgbClr val="D8DEE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D8DEE6"/>
            </a:solidFill>
            <a:round/>
          </a:ln>
        </c:spPr>
        <c:txPr>
          <a:bodyPr/>
          <a:lstStyle/>
          <a:p>
            <a:pPr>
              <a:defRPr sz="950" b="0" u="none" strike="noStrike">
                <a:solidFill>
                  <a:srgbClr val="5B6B84"/>
                </a:solidFill>
                <a:uFillTx/>
                <a:latin typeface="Arial"/>
                <a:ea typeface="DejaVu Sans"/>
              </a:defRPr>
            </a:pPr>
          </a:p>
        </c:txPr>
        <c:crossAx val="93819686"/>
        <c:crosses val="autoZero"/>
        <c:crossBetween val="between"/>
        <c:majorUnit val="1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F5AFF5B-DD04-4F8E-9F37-7A5441ED307C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01 : 0:45 DE 0:00 A 0:45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Spotify opère a l’échelle mondiale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(450M+ utilisateurs, 180+ pays)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avec une dépendance forte aux données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(recommandation, personnalisation, monétisation).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projet répond a une demande de cadrage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transverse : gouvernance des données ET de l'IA.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Objectif de la session : valider le cadre de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gouvernance, l'organisation cible, le plan de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déploiement (pilote puis généralisation).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13CA92-8FE3-4BED-B203-53A26B33AC50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500000"/>
            <a:ext cx="5484240" cy="57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02 : 1:45 DE 0:45 A 2:30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 dimensions évaluées selon DMAT [R1],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appliquée au business case Spotify [R2].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Niveau moyen ~1,25 sur 5.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Points d'appui de niveau 2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Usage &amp; Accessibilité,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Literacy,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Analytics &amp; BI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(moteur de recommandation déjà en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production).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autres dimensions encore au niveau 1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initiatives locales, non généralisées, non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mesurées.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 clé pour le comité : l'entreprise sait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déjà produire de la valeur avec la donnée, le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risque est dans la gouvernance de cette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capacité, pas dans la capacité elle-même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B7AD5F-810A-4D2C-9796-86652EC7E0C5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03 : 1:15 DE 2:30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3:45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L’ordre de criticité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est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justifié dans [D1].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E5 (gouvernance IA) est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le seul enjeu qui n'est pas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déjà identifié dans le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business case [R2].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Le modèle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organisationnel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[D22]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répond spécifiquement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aux enjeux E1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(désilotage),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E3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(conformité),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E5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gouvernance IA).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politique de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gouvernance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[D21]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répond aux enjeux E2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(qualité), E3 (conformité),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E4 (éthique), E5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gouvernance IA).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E6 (formation) couvert par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l’organisation des rôles et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des responsabilités [D22]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et aussi par P9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(amélioration continue)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[D21]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AA1759-0F56-44BE-88F3-7136DBBECACB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405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04 : 1:15 DE 3:45 A 5:00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Principes issus du référentiel [R4]</a:t>
            </a:r>
            <a:br>
              <a:rPr sz="1600"/>
            </a:b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repris pour [D21] avec peu de changements.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LIRE LES 4 GROUPES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P8 est le principe le plus opérationnalisé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avec 4 exigences concrètes 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traçabilité, biais, responsabilité, explicabilité,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détaillées dans la slide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Gouvernance IA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[D21] propose une différenciation des workflows d’approbation de déploiement des modèles ML/IA  en fonction de leur impact sur les utilisateurs,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détaillée au slide 7 (</a:t>
            </a:r>
            <a:r>
              <a:rPr lang="fr-FR" sz="1600" b="0" i="1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Responsabilité adaptées [...]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DCE496-9197-4CB2-A81F-FB554CF43AD4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549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05 :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1:45 DE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5:00 A 6:45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CDO, DPO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 Legal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Team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rapportent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 CEO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(indépendan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DPO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exigée par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GDPR art.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DGC présidé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 CDO.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MRM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rapporte au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CDO au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quotidien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mais peut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escalader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directement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 DGC --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qui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préserve son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indépendanc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vis-a-vis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 équipes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dont il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évalue les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modèles,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centralisés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dans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Engineering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servent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tous les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département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transversale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dans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Developmen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t, séparés du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MRM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(principe de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séparation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exécution /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contrôle).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Surcoût de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coordination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assumé 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 l'échelle de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Spotify, cette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charge est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nécessité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structurelle.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A45BC4-6456-48CE-A199-B5F40A8827A2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42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06 : 0:45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6:45 A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7:30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FIN 06  = 7:30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MI-PARCOURS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trois cadres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sont traités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séparément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[D21], </a:t>
            </a:r>
            <a:br>
              <a:rPr sz="1600"/>
            </a:b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chacun avec ses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propres exigences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opérationnelles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issues de la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check-liste [R5].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difficulté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spécifique de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Spotify est la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 multi-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juridictionnelle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(enjeu E3)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au-delà du socle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GDPR/CCPA/PCI-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DSS, chaque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marché local (ex.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PDPA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à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Singapour) doit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être cartographié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séparément, sous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responsabilité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conjointe de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Legal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et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9392D3-4280-4218-A421-85A0A316FC37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 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’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ç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’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]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3C9770-A99F-436E-AF84-94AF6DC2BE9C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 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ô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]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]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 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û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’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3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4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’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è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: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q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’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à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j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’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3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0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.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A1A36C-0299-4C0C-BB30-5C6BAA949B3C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531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09 : 1:45 DE 12:00 A 13:45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séquencement suit le niveau de risque et le coût marginal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Marketing en priorité pour E3/E4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 (risque réglementaire le plus élevé),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puis Content Curation pour E2/métadonnées.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Inter-phases de 2 mois 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 + 2 + 3 = 10, 10 + 2 + 3 = 15,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+ 2 + 3 = 20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phase de sécurisation (annuaire central, rôles, intégrations SSO) n’est pas reproduite intégralement aux phases suivantes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seule une migration allégée est reconduite pour chaque département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 pour le comité : la durée totale du projet  (22-24 mois) est délibérément prudente et sert en grande partie le financement de la phase de sécurisation.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DEF387-0F8F-456A-AF8D-E800E28CDAF7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10 : 1:15 DE 13:45 A 15:00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Synthèse de la valeur business [R11, Q3] : économies, conformité, confiance, scalabilité.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prochaines étapes sont volontairement concrètes et actionnables immédiatement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lancement du pilote,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nomination des rôles,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premières revues DMAT en milieu/fin de pilote,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et gouvernance des décisions de passage à l'échelle phase par phase (plutôt qu'un engagement global fige sur 24 mois).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044324-FA1F-4A3D-96F0-B94BA568A66C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10480"/>
            <a:ext cx="10972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pour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éditer le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du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texte-titre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640080" y="685800"/>
            <a:ext cx="8227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&amp;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640080" y="1417320"/>
            <a:ext cx="85017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fr-FR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Gouvernance des Données &amp; de l'IA</a:t>
            </a:r>
            <a:endParaRPr lang="fr-F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640080" y="2880360"/>
            <a:ext cx="7861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7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Évaluation, cadre, organisation et plan de mise en œuvre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640080" y="4160520"/>
            <a:ext cx="23752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450M+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4818960"/>
            <a:ext cx="23752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utilisateurs actifs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337560" y="4160520"/>
            <a:ext cx="23752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200M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3337560" y="4818960"/>
            <a:ext cx="23752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abonnés premium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6035040" y="4160520"/>
            <a:ext cx="23752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180+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6035040" y="4818960"/>
            <a:ext cx="23752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'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640080" y="63550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Nicolas Pichon --- AIA RNCP 38777 / BC01 / Presentation / v6 --- 2026/10/15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11003040" y="63550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 / 10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DIAGNOSTIC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566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Une maturité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data en phase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initiale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0" descr="icons/icon_barchart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6" name="Chart 0"/>
          <p:cNvGraphicFramePr/>
          <p:nvPr/>
        </p:nvGraphicFramePr>
        <p:xfrm>
          <a:off x="502920" y="1691640"/>
          <a:ext cx="6947280" cy="447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7" name="Shape 2"/>
          <p:cNvSpPr/>
          <p:nvPr/>
        </p:nvSpPr>
        <p:spPr>
          <a:xfrm>
            <a:off x="7560000" y="1691640"/>
            <a:ext cx="4318560" cy="14151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9180000" y="1810440"/>
            <a:ext cx="25185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7560000" y="3246120"/>
            <a:ext cx="4318560" cy="1232280"/>
          </a:xfrm>
          <a:prstGeom prst="roundRect">
            <a:avLst>
              <a:gd name="adj" fmla="val 5926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7740000" y="3364920"/>
            <a:ext cx="37335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Cible à moyen terme : niveau 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740000" y="3730680"/>
            <a:ext cx="39585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globale &amp;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bien définie,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portée par une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politique de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7560000" y="4617720"/>
            <a:ext cx="4318560" cy="15523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7740000" y="4754880"/>
            <a:ext cx="395856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Cadre partiellement </a:t>
            </a: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défini (rôles, outils)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mais pas encore </a:t>
            </a: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déployé :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 pas d’audit,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 pas de monitoring,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pas de politique </a:t>
            </a: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appliquée sur le </a:t>
            </a: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terrain.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[D1] (Data &amp; AI Maturity Assessment Report) - Méthodologie [R1] (Australian Government DMAT)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2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3"/>
          <p:cNvSpPr/>
          <p:nvPr/>
        </p:nvSpPr>
        <p:spPr>
          <a:xfrm>
            <a:off x="7740000" y="2450520"/>
            <a:ext cx="39585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locale, réactive,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dispersée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4"/>
          <p:cNvSpPr/>
          <p:nvPr/>
        </p:nvSpPr>
        <p:spPr>
          <a:xfrm>
            <a:off x="7739280" y="1800000"/>
            <a:ext cx="143928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mbria"/>
              </a:rPr>
              <a:t>1,2</a:t>
            </a:r>
            <a:r>
              <a:rPr lang="fr-FR" sz="3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mbria"/>
              </a:rPr>
              <a:t>5 / </a:t>
            </a:r>
            <a:r>
              <a:rPr lang="fr-FR" sz="3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mbria"/>
              </a:rPr>
              <a:t>5 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ENJEUX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548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Six enjeux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majeurs -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par ordre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criticité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0" descr="icons/icon_alert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Shape 2"/>
          <p:cNvSpPr/>
          <p:nvPr/>
        </p:nvSpPr>
        <p:spPr>
          <a:xfrm>
            <a:off x="591480" y="168912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749880" y="189288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749880" y="189288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1463040" y="183780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Décompartimenter les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1463040" y="222192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Silos départementaux → vues incohérentes / incomplètes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6217920" y="169164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8"/>
          <p:cNvSpPr/>
          <p:nvPr/>
        </p:nvSpPr>
        <p:spPr>
          <a:xfrm>
            <a:off x="6419160" y="189288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6419160" y="189288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7132320" y="183780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ît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ri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7132320" y="222192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Données inexactes /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métadonnées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obsolètes →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recommandations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dégradées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Règles de qualité à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définir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548640" y="331920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749880" y="352044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749880" y="352044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5"/>
          <p:cNvSpPr/>
          <p:nvPr/>
        </p:nvSpPr>
        <p:spPr>
          <a:xfrm>
            <a:off x="1463040" y="346572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Maîtrise la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 en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contexte multi-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juridictionnel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1463040" y="384948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GDPR, CCPA, PDPA + réglementations IA →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concilier sans perdre la cohérence globale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7"/>
          <p:cNvSpPr/>
          <p:nvPr/>
        </p:nvSpPr>
        <p:spPr>
          <a:xfrm>
            <a:off x="6217920" y="331920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8"/>
          <p:cNvSpPr/>
          <p:nvPr/>
        </p:nvSpPr>
        <p:spPr>
          <a:xfrm>
            <a:off x="6419160" y="352044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6419160" y="352044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E4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7132320" y="346572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Garantir la vie privée &amp;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l’usage éthique des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1"/>
          <p:cNvSpPr/>
          <p:nvPr/>
        </p:nvSpPr>
        <p:spPr>
          <a:xfrm>
            <a:off x="7132320" y="384948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Transparence, anonymisation,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maîtrise de l’utilisateur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Au-delà de la seule conformité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légale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2"/>
          <p:cNvSpPr/>
          <p:nvPr/>
        </p:nvSpPr>
        <p:spPr>
          <a:xfrm>
            <a:off x="548640" y="494676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3"/>
          <p:cNvSpPr/>
          <p:nvPr/>
        </p:nvSpPr>
        <p:spPr>
          <a:xfrm>
            <a:off x="749880" y="514800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"/>
          <p:cNvSpPr/>
          <p:nvPr/>
        </p:nvSpPr>
        <p:spPr>
          <a:xfrm>
            <a:off x="749880" y="514800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1463040" y="509328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Gouverner spécifiquement  les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données d’IA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6"/>
          <p:cNvSpPr/>
          <p:nvPr/>
        </p:nvSpPr>
        <p:spPr>
          <a:xfrm>
            <a:off x="1463040" y="547740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Traçabilité, biais,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explicabilité, responsabilité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des modèles du moteur de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recommandation en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7"/>
          <p:cNvSpPr/>
          <p:nvPr/>
        </p:nvSpPr>
        <p:spPr>
          <a:xfrm>
            <a:off x="6217920" y="494676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8"/>
          <p:cNvSpPr/>
          <p:nvPr/>
        </p:nvSpPr>
        <p:spPr>
          <a:xfrm>
            <a:off x="6419160" y="514800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6419160" y="514800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E6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0"/>
          <p:cNvSpPr/>
          <p:nvPr/>
        </p:nvSpPr>
        <p:spPr>
          <a:xfrm>
            <a:off x="7132320" y="509328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Accompagner la montée en compétences </a:t>
            </a:r>
            <a:r>
              <a:rPr lang="fr-FR" sz="14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data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7132320" y="547740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Cultu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re de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erna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nce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part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agée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enco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re à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cons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truir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Risq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résis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tanc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 au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chan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gem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[D1] (Data &amp; AI Maturity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Assessment Report) - enjeux dérivés de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[R2] - sauf E5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3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3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POLITIQUE DE GOUVERNANCE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g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v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0" descr="icons/icon_shield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Shape 2"/>
          <p:cNvSpPr/>
          <p:nvPr/>
        </p:nvSpPr>
        <p:spPr>
          <a:xfrm>
            <a:off x="548640" y="164592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720000" y="1810440"/>
            <a:ext cx="47574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Responsabilité &amp; qualité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858960" y="2248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858960" y="2248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P1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1361880" y="2340000"/>
            <a:ext cx="4432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858960" y="2923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858960" y="2923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P4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361880" y="3004200"/>
            <a:ext cx="425268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Qualité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règles mesurables (exactitude, complétude, fraîcheur),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   auditées régulièrement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6247800" y="165204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6480000" y="1810440"/>
            <a:ext cx="481068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Confiance utilisateur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6564240" y="2212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6564240" y="2212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P2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7020000" y="2304000"/>
            <a:ext cx="4295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Transparence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information claire et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gestion du consentement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6564240" y="2707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564240" y="2707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P6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7"/>
          <p:cNvSpPr/>
          <p:nvPr/>
        </p:nvSpPr>
        <p:spPr>
          <a:xfrm>
            <a:off x="7043040" y="280800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Minimisation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collecte limitée aux finalités métier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6564240" y="320400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6564240" y="32040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P7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7020000" y="3319200"/>
            <a:ext cx="429552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Droits des utilisateurs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accès, modification,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suppression, opposition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1"/>
          <p:cNvSpPr/>
          <p:nvPr/>
        </p:nvSpPr>
        <p:spPr>
          <a:xfrm>
            <a:off x="548640" y="402336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2"/>
          <p:cNvSpPr/>
          <p:nvPr/>
        </p:nvSpPr>
        <p:spPr>
          <a:xfrm>
            <a:off x="720000" y="4187880"/>
            <a:ext cx="49014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Sécu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rité 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ormi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3"/>
          <p:cNvSpPr/>
          <p:nvPr/>
        </p:nvSpPr>
        <p:spPr>
          <a:xfrm>
            <a:off x="822960" y="4590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822960" y="4590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P3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5"/>
          <p:cNvSpPr/>
          <p:nvPr/>
        </p:nvSpPr>
        <p:spPr>
          <a:xfrm>
            <a:off x="1325880" y="467100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chiffrement, contrôle d'accès / rôle,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protocoles PCI-DSS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6"/>
          <p:cNvSpPr/>
          <p:nvPr/>
        </p:nvSpPr>
        <p:spPr>
          <a:xfrm>
            <a:off x="822960" y="5301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7"/>
          <p:cNvSpPr/>
          <p:nvPr/>
        </p:nvSpPr>
        <p:spPr>
          <a:xfrm>
            <a:off x="822960" y="5301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P5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8"/>
          <p:cNvSpPr/>
          <p:nvPr/>
        </p:nvSpPr>
        <p:spPr>
          <a:xfrm>
            <a:off x="1325880" y="538164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GDPR, CCPA, PCI-DSS et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réglementations locales,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veille continue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9"/>
          <p:cNvSpPr/>
          <p:nvPr/>
        </p:nvSpPr>
        <p:spPr>
          <a:xfrm>
            <a:off x="6217920" y="402336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6480000" y="4187880"/>
            <a:ext cx="481068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IA responsable &amp; amélioration continue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1"/>
          <p:cNvSpPr/>
          <p:nvPr/>
        </p:nvSpPr>
        <p:spPr>
          <a:xfrm>
            <a:off x="6528240" y="4554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2"/>
          <p:cNvSpPr/>
          <p:nvPr/>
        </p:nvSpPr>
        <p:spPr>
          <a:xfrm>
            <a:off x="6528240" y="4554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P8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3"/>
          <p:cNvSpPr/>
          <p:nvPr/>
        </p:nvSpPr>
        <p:spPr>
          <a:xfrm>
            <a:off x="6995160" y="465372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Éthique &amp; gouvernance IA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traçabilité, biais, explicabilité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4"/>
          <p:cNvSpPr/>
          <p:nvPr/>
        </p:nvSpPr>
        <p:spPr>
          <a:xfrm>
            <a:off x="6528240" y="5229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5"/>
          <p:cNvSpPr/>
          <p:nvPr/>
        </p:nvSpPr>
        <p:spPr>
          <a:xfrm>
            <a:off x="6528240" y="5229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P9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6"/>
          <p:cNvSpPr/>
          <p:nvPr/>
        </p:nvSpPr>
        <p:spPr>
          <a:xfrm>
            <a:off x="6995160" y="530964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Amélioration continue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revues périodiques de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réalignement DMAT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7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Governance Policy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Document) - principes issus de [R4]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8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4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ORG</a:t>
            </a: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ANI</a:t>
            </a: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SATI</a:t>
            </a: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Modèle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d’organisati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on </a:t>
            </a:r>
            <a:r>
              <a:rPr lang="fr-FR" sz="2800" b="1" i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Center of </a:t>
            </a:r>
            <a:r>
              <a:rPr lang="fr-FR" sz="2800" b="1" i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Excellence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 0" descr="icons/icon_users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Shape 2"/>
          <p:cNvSpPr/>
          <p:nvPr/>
        </p:nvSpPr>
        <p:spPr>
          <a:xfrm>
            <a:off x="548640" y="1260000"/>
            <a:ext cx="3409920" cy="50014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20000" y="1526400"/>
            <a:ext cx="29556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 modèle : </a:t>
            </a:r>
            <a:r>
              <a:rPr lang="fr-FR" sz="13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CoE</a:t>
            </a: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+ adaptation Spotify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4"/>
          <p:cNvSpPr/>
          <p:nvPr/>
        </p:nvSpPr>
        <p:spPr>
          <a:xfrm>
            <a:off x="822960" y="1853280"/>
            <a:ext cx="295560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centralisée (CDO, DGC)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combinée à une autonomie départementale (Data Owners / métier).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&gt; répond simultanément aux enjeux E1, E3, E5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5"/>
          <p:cNvSpPr/>
          <p:nvPr/>
        </p:nvSpPr>
        <p:spPr>
          <a:xfrm rot="21593400">
            <a:off x="718560" y="3206880"/>
            <a:ext cx="2959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827280" y="3521160"/>
            <a:ext cx="2955600" cy="10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Maintien de l’infrastructure technique </a:t>
            </a:r>
            <a:br>
              <a:rPr sz="1200"/>
            </a:b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dans 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Engineering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(≠ 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hub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Séparation des autorités 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B2A4A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autorité de conformité (DPO/Legal)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B2A4A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autorité de gouvernance (CDO/DGC).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720000" y="4964040"/>
            <a:ext cx="29556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Levier principal contre le cloisonnement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822960" y="5284080"/>
            <a:ext cx="295560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Le double rattachement des Data Stewards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 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- fonctionnel au CDO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- organisationnel au département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1" descr="assets/orgchart.png"/>
          <p:cNvPicPr/>
          <p:nvPr/>
        </p:nvPicPr>
        <p:blipFill>
          <a:blip r:embed="rId2"/>
          <a:stretch/>
        </p:blipFill>
        <p:spPr>
          <a:xfrm>
            <a:off x="4183200" y="1260000"/>
            <a:ext cx="7473240" cy="454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9"/>
          <p:cNvSpPr/>
          <p:nvPr/>
        </p:nvSpPr>
        <p:spPr>
          <a:xfrm>
            <a:off x="4892040" y="5884920"/>
            <a:ext cx="6764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Trait plein = rattachement hiérarchique - Trait pointillé = rattachement fonctionnel / transverse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0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[D22] (Roles and Responsibilities Organizational Chart)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5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48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Socle réglementaire structuré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cadre par cadre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Image 0" descr="icons/icon_lock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Shape 2"/>
          <p:cNvSpPr/>
          <p:nvPr/>
        </p:nvSpPr>
        <p:spPr>
          <a:xfrm>
            <a:off x="548640" y="1691640"/>
            <a:ext cx="3609720" cy="37011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822960" y="1920240"/>
            <a:ext cx="3061080" cy="455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"/>
          <p:cNvSpPr/>
          <p:nvPr/>
        </p:nvSpPr>
        <p:spPr>
          <a:xfrm>
            <a:off x="822960" y="1920240"/>
            <a:ext cx="3061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GDPR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822960" y="2560320"/>
            <a:ext cx="3061080" cy="26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Traitement licite, loyal et transparent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Droits d'accès, rectification, suppression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Consentement explicite préalable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Notification de violation sous 72h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Data Protection Officer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nommé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4380120" y="1691640"/>
            <a:ext cx="3609720" cy="37011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7"/>
          <p:cNvSpPr/>
          <p:nvPr/>
        </p:nvSpPr>
        <p:spPr>
          <a:xfrm>
            <a:off x="4654440" y="1920240"/>
            <a:ext cx="3061080" cy="455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4654440" y="1920240"/>
            <a:ext cx="3061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CCPA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4654440" y="2560320"/>
            <a:ext cx="3061080" cy="26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'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x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ç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8211240" y="1691640"/>
            <a:ext cx="3609720" cy="37011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8485560" y="1920240"/>
            <a:ext cx="3061080" cy="455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8485560" y="1920240"/>
            <a:ext cx="3061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PCI-DSS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8485560" y="2560320"/>
            <a:ext cx="3061080" cy="26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Sécurisation de l'infrastructure réseau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Chiffrement des données de carte bancaire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Gestion des vulnérabilités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Contrôle d'accès strict aux données de paiement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Tests réguliers des dispositifs de sécurité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609120" y="5532120"/>
            <a:ext cx="11089440" cy="656280"/>
          </a:xfrm>
          <a:prstGeom prst="roundRect">
            <a:avLst>
              <a:gd name="adj" fmla="val 11111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822960" y="5580000"/>
            <a:ext cx="1051344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+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cartograph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ie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réglement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aire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marché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par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marché -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pilotée par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Legal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Team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en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lien avec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DPO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Gouvernance Policy) + détails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P5 (conformité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réglementaire) issus du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référentiel [R5] (Compliance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Checklist)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6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GOUVERNANCE DE L'IA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Responsabilité adaptée au niveau d'impact du modèle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0" descr="icons/icon_cpu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Shape 2"/>
          <p:cNvSpPr/>
          <p:nvPr/>
        </p:nvSpPr>
        <p:spPr>
          <a:xfrm>
            <a:off x="54864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73152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Traçabilité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731520" y="2185560"/>
            <a:ext cx="22838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Chaque jeu d'entraînement documenté : source, période, transformations, lineage.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340164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358452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Biais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3584520" y="2185560"/>
            <a:ext cx="22838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Évaluation périodique des biais algorithmiques 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pour les modèles à fort impact.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8"/>
          <p:cNvSpPr/>
          <p:nvPr/>
        </p:nvSpPr>
        <p:spPr>
          <a:xfrm>
            <a:off x="625464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643752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Approbation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6437520" y="2185560"/>
            <a:ext cx="2382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Responsabilité confiée à un </a:t>
            </a:r>
            <a:r>
              <a:rPr lang="fr-FR" sz="105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Model Owner</a:t>
            </a: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; 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circuit proportionné au niveau d'impact.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910728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929016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Explicabilité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9290160" y="2185560"/>
            <a:ext cx="22838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Décisions automatisées à impact significatif explicables de manière intelligible.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548640" y="3154680"/>
          <a:ext cx="11091240" cy="2788920"/>
        </p:xfrm>
        <a:graphic>
          <a:graphicData uri="http://schemas.openxmlformats.org/drawingml/2006/table">
            <a:tbl>
              <a:tblPr/>
              <a:tblGrid>
                <a:gridCol w="1371600"/>
                <a:gridCol w="5675760"/>
                <a:gridCol w="404424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Niveau d'impact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Circuit de validation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B857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Fort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Majorité des utilisateurs actifs - décision peu réversible - RGPD </a:t>
                      </a: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- fonctionnalité principale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(C) → MRM (R) → DGC (A)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C99A3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Modéré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Utilisateurs ciblés (cohorte, marché, A/B test) - décision réversible sous délai court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(R) → MRM (A)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C8C6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Faible (défaut)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Fonction auxiliaire, sans exposition directe à l'utilisateur final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(RA) + contrôle a posteriori par MRM (échantillonnage)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</a:tr>
            </a:tbl>
          </a:graphicData>
        </a:graphic>
      </p:graphicFrame>
      <p:sp>
        <p:nvSpPr>
          <p:cNvPr id="162" name="Text 14"/>
          <p:cNvSpPr/>
          <p:nvPr/>
        </p:nvSpPr>
        <p:spPr>
          <a:xfrm>
            <a:off x="548640" y="6035040"/>
            <a:ext cx="11089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MO = Model Owner - MRM = Model Risk Manager - DGC = Data Governance Committee - R = Responsible, A = Accountable, C = Consulted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Governance Policy Document) + détails P8 (gouvernance IA)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6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7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MISE EN ŒUVRE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Outillage testé sur un pilote de 21 semaines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icons/icon_tool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2"/>
          <p:cNvSpPr/>
          <p:nvPr/>
        </p:nvSpPr>
        <p:spPr>
          <a:xfrm>
            <a:off x="548640" y="1600200"/>
            <a:ext cx="5758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Outillage par catégorie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"/>
          <p:cNvSpPr/>
          <p:nvPr/>
        </p:nvSpPr>
        <p:spPr>
          <a:xfrm>
            <a:off x="548640" y="201168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713160" y="213984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713160" y="213984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E1, E3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1325880" y="208476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Catalogage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1325880" y="235908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Collibra (licence commerciale) + OpenMetadata (open-source)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8"/>
          <p:cNvSpPr/>
          <p:nvPr/>
        </p:nvSpPr>
        <p:spPr>
          <a:xfrm>
            <a:off x="548640" y="279792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9"/>
          <p:cNvSpPr/>
          <p:nvPr/>
        </p:nvSpPr>
        <p:spPr>
          <a:xfrm>
            <a:off x="713160" y="292608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0"/>
          <p:cNvSpPr/>
          <p:nvPr/>
        </p:nvSpPr>
        <p:spPr>
          <a:xfrm>
            <a:off x="713160" y="292608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E2, E5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1"/>
          <p:cNvSpPr/>
          <p:nvPr/>
        </p:nvSpPr>
        <p:spPr>
          <a:xfrm>
            <a:off x="1325880" y="287136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2"/>
          <p:cNvSpPr/>
          <p:nvPr/>
        </p:nvSpPr>
        <p:spPr>
          <a:xfrm>
            <a:off x="1325880" y="314568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Soda Core (open-source)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3"/>
          <p:cNvSpPr/>
          <p:nvPr/>
        </p:nvSpPr>
        <p:spPr>
          <a:xfrm>
            <a:off x="548640" y="358452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4"/>
          <p:cNvSpPr/>
          <p:nvPr/>
        </p:nvSpPr>
        <p:spPr>
          <a:xfrm>
            <a:off x="713160" y="371232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5"/>
          <p:cNvSpPr/>
          <p:nvPr/>
        </p:nvSpPr>
        <p:spPr>
          <a:xfrm>
            <a:off x="713160" y="371232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E3, E4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6"/>
          <p:cNvSpPr/>
          <p:nvPr/>
        </p:nvSpPr>
        <p:spPr>
          <a:xfrm>
            <a:off x="1325880" y="365760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7"/>
          <p:cNvSpPr/>
          <p:nvPr/>
        </p:nvSpPr>
        <p:spPr>
          <a:xfrm>
            <a:off x="1325880" y="393192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TrustArc (licence commerciale)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8"/>
          <p:cNvSpPr/>
          <p:nvPr/>
        </p:nvSpPr>
        <p:spPr>
          <a:xfrm>
            <a:off x="548640" y="437076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9"/>
          <p:cNvSpPr/>
          <p:nvPr/>
        </p:nvSpPr>
        <p:spPr>
          <a:xfrm>
            <a:off x="713160" y="449892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0"/>
          <p:cNvSpPr/>
          <p:nvPr/>
        </p:nvSpPr>
        <p:spPr>
          <a:xfrm>
            <a:off x="713160" y="449892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P3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1"/>
          <p:cNvSpPr/>
          <p:nvPr/>
        </p:nvSpPr>
        <p:spPr>
          <a:xfrm>
            <a:off x="1325880" y="444384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1325880" y="471816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Wazuh + OpenBao (open-sources)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3"/>
          <p:cNvSpPr/>
          <p:nvPr/>
        </p:nvSpPr>
        <p:spPr>
          <a:xfrm>
            <a:off x="548640" y="515736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4"/>
          <p:cNvSpPr/>
          <p:nvPr/>
        </p:nvSpPr>
        <p:spPr>
          <a:xfrm>
            <a:off x="713160" y="528516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5"/>
          <p:cNvSpPr/>
          <p:nvPr/>
        </p:nvSpPr>
        <p:spPr>
          <a:xfrm>
            <a:off x="713160" y="528516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E5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6"/>
          <p:cNvSpPr/>
          <p:nvPr/>
        </p:nvSpPr>
        <p:spPr>
          <a:xfrm>
            <a:off x="1325880" y="523044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IA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7"/>
          <p:cNvSpPr/>
          <p:nvPr/>
        </p:nvSpPr>
        <p:spPr>
          <a:xfrm>
            <a:off x="1325880" y="550476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MLflow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DVC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AIF360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AIX360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(open-sources)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8"/>
          <p:cNvSpPr/>
          <p:nvPr/>
        </p:nvSpPr>
        <p:spPr>
          <a:xfrm>
            <a:off x="6583680" y="1600200"/>
            <a:ext cx="5072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Pilote : Le système de recommandation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9"/>
          <p:cNvSpPr/>
          <p:nvPr/>
        </p:nvSpPr>
        <p:spPr>
          <a:xfrm>
            <a:off x="6583680" y="2011680"/>
            <a:ext cx="5072760" cy="1003680"/>
          </a:xfrm>
          <a:prstGeom prst="roundRect">
            <a:avLst>
              <a:gd name="adj" fmla="val 7273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0"/>
          <p:cNvSpPr/>
          <p:nvPr/>
        </p:nvSpPr>
        <p:spPr>
          <a:xfrm>
            <a:off x="6812280" y="2121480"/>
            <a:ext cx="4615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2000" b="1" u="none" strike="noStrike">
                <a:solidFill>
                  <a:srgbClr val="1C8C68"/>
                </a:solidFill>
                <a:effectLst/>
                <a:uFillTx/>
                <a:latin typeface="Cambria"/>
                <a:ea typeface="Cambria"/>
              </a:rPr>
              <a:t>21 semaines (~5 mois)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1"/>
          <p:cNvSpPr/>
          <p:nvPr/>
        </p:nvSpPr>
        <p:spPr>
          <a:xfrm>
            <a:off x="6812280" y="2541960"/>
            <a:ext cx="46155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dont 7 semaines de phase de sécurisation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bloquante 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&gt; annuaire central, migration des accès, intégration SSO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2"/>
          <p:cNvSpPr/>
          <p:nvPr/>
        </p:nvSpPr>
        <p:spPr>
          <a:xfrm>
            <a:off x="6583680" y="3154680"/>
            <a:ext cx="5072760" cy="1186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3"/>
          <p:cNvSpPr/>
          <p:nvPr/>
        </p:nvSpPr>
        <p:spPr>
          <a:xfrm>
            <a:off x="6812280" y="3273480"/>
            <a:ext cx="4615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Périmètre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6812280" y="3566160"/>
            <a:ext cx="46155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Modèles et données d'entraînement du système de recommandation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Département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5"/>
          <p:cNvSpPr/>
          <p:nvPr/>
        </p:nvSpPr>
        <p:spPr>
          <a:xfrm>
            <a:off x="6583680" y="4480560"/>
            <a:ext cx="5072760" cy="1186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6"/>
          <p:cNvSpPr/>
          <p:nvPr/>
        </p:nvSpPr>
        <p:spPr>
          <a:xfrm>
            <a:off x="6812280" y="4599360"/>
            <a:ext cx="4615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Indicateurs clés (DMAT)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7"/>
          <p:cNvSpPr/>
          <p:nvPr/>
        </p:nvSpPr>
        <p:spPr>
          <a:xfrm>
            <a:off x="6812280" y="4892040"/>
            <a:ext cx="461556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&amp; Qualité : niveau 1 → 2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IA (Analytics &amp; BI) : niveau 2 → 3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8"/>
          <p:cNvSpPr/>
          <p:nvPr/>
        </p:nvSpPr>
        <p:spPr>
          <a:xfrm>
            <a:off x="6583680" y="5806440"/>
            <a:ext cx="5072760" cy="619560"/>
          </a:xfrm>
          <a:prstGeom prst="roundRect">
            <a:avLst>
              <a:gd name="adj" fmla="val 11765"/>
            </a:avLst>
          </a:prstGeom>
          <a:solidFill>
            <a:srgbClr val="FBEDEA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9"/>
          <p:cNvSpPr/>
          <p:nvPr/>
        </p:nvSpPr>
        <p:spPr>
          <a:xfrm>
            <a:off x="6784920" y="5806440"/>
            <a:ext cx="487152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Risques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clés :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- suspension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du projet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sans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solution de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repli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(absence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d'annuaire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central, ...)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débordemen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t de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planning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dans la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phase de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déploiement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technique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0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[D3] (Data &amp; AI Governance Implementation Plan)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41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8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FEUILLE DE ROUTE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Généralisation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en 4 phases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vers un niveau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Image 0" descr="icons/icon_map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Shape 2"/>
          <p:cNvSpPr/>
          <p:nvPr/>
        </p:nvSpPr>
        <p:spPr>
          <a:xfrm>
            <a:off x="1658160" y="3781080"/>
            <a:ext cx="8873280" cy="25200"/>
          </a:xfrm>
          <a:prstGeom prst="rect">
            <a:avLst/>
          </a:prstGeom>
          <a:solidFill>
            <a:srgbClr val="D8DE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540000" y="1691640"/>
            <a:ext cx="2338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648000" y="1828800"/>
            <a:ext cx="17802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1 - Pilote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48000" y="2176200"/>
            <a:ext cx="21740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(système de recommandation)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648000" y="3090600"/>
            <a:ext cx="17802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21 semaines (5 mois)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7"/>
          <p:cNvSpPr/>
          <p:nvPr/>
        </p:nvSpPr>
        <p:spPr>
          <a:xfrm>
            <a:off x="151164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67680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9"/>
          <p:cNvSpPr/>
          <p:nvPr/>
        </p:nvSpPr>
        <p:spPr>
          <a:xfrm>
            <a:off x="3111480" y="1691640"/>
            <a:ext cx="1960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324864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3248640" y="2176200"/>
            <a:ext cx="16862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2"/>
          <p:cNvSpPr/>
          <p:nvPr/>
        </p:nvSpPr>
        <p:spPr>
          <a:xfrm>
            <a:off x="324864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3"/>
          <p:cNvSpPr/>
          <p:nvPr/>
        </p:nvSpPr>
        <p:spPr>
          <a:xfrm>
            <a:off x="373068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289548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M10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5"/>
          <p:cNvSpPr/>
          <p:nvPr/>
        </p:nvSpPr>
        <p:spPr>
          <a:xfrm>
            <a:off x="5294520" y="1691640"/>
            <a:ext cx="1960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6"/>
          <p:cNvSpPr/>
          <p:nvPr/>
        </p:nvSpPr>
        <p:spPr>
          <a:xfrm>
            <a:off x="543168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3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7"/>
          <p:cNvSpPr/>
          <p:nvPr/>
        </p:nvSpPr>
        <p:spPr>
          <a:xfrm>
            <a:off x="5431680" y="2176200"/>
            <a:ext cx="16862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Marketing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(E1 / E3 / E4)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8"/>
          <p:cNvSpPr/>
          <p:nvPr/>
        </p:nvSpPr>
        <p:spPr>
          <a:xfrm>
            <a:off x="543168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9"/>
          <p:cNvSpPr/>
          <p:nvPr/>
        </p:nvSpPr>
        <p:spPr>
          <a:xfrm>
            <a:off x="594972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0"/>
          <p:cNvSpPr/>
          <p:nvPr/>
        </p:nvSpPr>
        <p:spPr>
          <a:xfrm>
            <a:off x="511452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M15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1"/>
          <p:cNvSpPr/>
          <p:nvPr/>
        </p:nvSpPr>
        <p:spPr>
          <a:xfrm>
            <a:off x="7477200" y="1691640"/>
            <a:ext cx="1960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2"/>
          <p:cNvSpPr/>
          <p:nvPr/>
        </p:nvSpPr>
        <p:spPr>
          <a:xfrm>
            <a:off x="761436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4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3"/>
          <p:cNvSpPr/>
          <p:nvPr/>
        </p:nvSpPr>
        <p:spPr>
          <a:xfrm>
            <a:off x="7614360" y="2176200"/>
            <a:ext cx="16862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Content Curation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(E2 / métadonnées)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4"/>
          <p:cNvSpPr/>
          <p:nvPr/>
        </p:nvSpPr>
        <p:spPr>
          <a:xfrm>
            <a:off x="761436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5"/>
          <p:cNvSpPr/>
          <p:nvPr/>
        </p:nvSpPr>
        <p:spPr>
          <a:xfrm>
            <a:off x="816840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6"/>
          <p:cNvSpPr/>
          <p:nvPr/>
        </p:nvSpPr>
        <p:spPr>
          <a:xfrm>
            <a:off x="733320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M20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7"/>
          <p:cNvSpPr/>
          <p:nvPr/>
        </p:nvSpPr>
        <p:spPr>
          <a:xfrm>
            <a:off x="9660240" y="1691640"/>
            <a:ext cx="2038320" cy="1780920"/>
          </a:xfrm>
          <a:prstGeom prst="roundRect">
            <a:avLst>
              <a:gd name="adj" fmla="val 4103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8"/>
          <p:cNvSpPr/>
          <p:nvPr/>
        </p:nvSpPr>
        <p:spPr>
          <a:xfrm>
            <a:off x="979740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Consolidation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9"/>
          <p:cNvSpPr/>
          <p:nvPr/>
        </p:nvSpPr>
        <p:spPr>
          <a:xfrm>
            <a:off x="9797400" y="2176200"/>
            <a:ext cx="190116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0"/>
          <p:cNvSpPr/>
          <p:nvPr/>
        </p:nvSpPr>
        <p:spPr>
          <a:xfrm>
            <a:off x="979740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1"/>
          <p:cNvSpPr/>
          <p:nvPr/>
        </p:nvSpPr>
        <p:spPr>
          <a:xfrm>
            <a:off x="10387440" y="3648600"/>
            <a:ext cx="290520" cy="290520"/>
          </a:xfrm>
          <a:prstGeom prst="ellipse">
            <a:avLst/>
          </a:prstGeom>
          <a:solidFill>
            <a:srgbClr val="2DBE8C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2"/>
          <p:cNvSpPr/>
          <p:nvPr/>
        </p:nvSpPr>
        <p:spPr>
          <a:xfrm>
            <a:off x="955224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M22-M24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33"/>
          <p:cNvSpPr/>
          <p:nvPr/>
        </p:nvSpPr>
        <p:spPr>
          <a:xfrm>
            <a:off x="548640" y="4526280"/>
            <a:ext cx="11092320" cy="866520"/>
          </a:xfrm>
          <a:prstGeom prst="roundRect">
            <a:avLst>
              <a:gd name="adj" fmla="val 8421"/>
            </a:avLst>
          </a:prstGeom>
          <a:solidFill>
            <a:srgbClr val="F7F8FA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4"/>
          <p:cNvSpPr/>
          <p:nvPr/>
        </p:nvSpPr>
        <p:spPr>
          <a:xfrm>
            <a:off x="822960" y="4526280"/>
            <a:ext cx="105436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: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)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→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4</a:t>
            </a: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4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=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4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)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5"/>
          <p:cNvSpPr/>
          <p:nvPr/>
        </p:nvSpPr>
        <p:spPr>
          <a:xfrm>
            <a:off x="548640" y="5532120"/>
            <a:ext cx="11092320" cy="6562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6"/>
          <p:cNvSpPr/>
          <p:nvPr/>
        </p:nvSpPr>
        <p:spPr>
          <a:xfrm>
            <a:off x="822960" y="5532120"/>
            <a:ext cx="1054368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Chaque jalon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de phase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(Mx) est un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point de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réévaluation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(feu vert /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orange /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rouge) ≠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engagement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figé -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conforméme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nt au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principe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d'améliorati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on continue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(P9)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37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[D3] (Data &amp; AI Governance Implementation Plan)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8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9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VALEUR &amp; PROCHAINES ÉTAPES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548640" y="658440"/>
            <a:ext cx="1042992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q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&amp;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" name="Image 0" descr="icons/icon_flag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Image 1" descr="icons/icon_check_white.png"/>
          <p:cNvPicPr/>
          <p:nvPr/>
        </p:nvPicPr>
        <p:blipFill>
          <a:blip r:embed="rId2"/>
          <a:stretch/>
        </p:blipFill>
        <p:spPr>
          <a:xfrm>
            <a:off x="1531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Text 2"/>
          <p:cNvSpPr/>
          <p:nvPr/>
        </p:nvSpPr>
        <p:spPr>
          <a:xfrm>
            <a:off x="54864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Économies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548640" y="2880360"/>
            <a:ext cx="286056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Réduction des inefficiences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liées à une donnée de mauvaise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2" descr="icons/icon_lock.png"/>
          <p:cNvPicPr/>
          <p:nvPr/>
        </p:nvPicPr>
        <p:blipFill>
          <a:blip r:embed="rId3"/>
          <a:stretch/>
        </p:blipFill>
        <p:spPr>
          <a:xfrm>
            <a:off x="4393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4"/>
          <p:cNvSpPr/>
          <p:nvPr/>
        </p:nvSpPr>
        <p:spPr>
          <a:xfrm>
            <a:off x="341064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3410640" y="2880360"/>
            <a:ext cx="260388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Éviter les sanctions GDPR/CCPA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(jusqu'à 4% du CA)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Image 3" descr="icons/icon_shield.png"/>
          <p:cNvPicPr/>
          <p:nvPr/>
        </p:nvPicPr>
        <p:blipFill>
          <a:blip r:embed="rId4"/>
          <a:stretch/>
        </p:blipFill>
        <p:spPr>
          <a:xfrm>
            <a:off x="7255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6"/>
          <p:cNvSpPr/>
          <p:nvPr/>
        </p:nvSpPr>
        <p:spPr>
          <a:xfrm>
            <a:off x="627264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Conf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ianc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7"/>
          <p:cNvSpPr/>
          <p:nvPr/>
        </p:nvSpPr>
        <p:spPr>
          <a:xfrm>
            <a:off x="6272640" y="2880360"/>
            <a:ext cx="260388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Transparence et sécurité renforcées auprès des utilisateurs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" name="Image 4" descr="icons/icon_globe.png"/>
          <p:cNvPicPr/>
          <p:nvPr/>
        </p:nvPicPr>
        <p:blipFill>
          <a:blip r:embed="rId5"/>
          <a:stretch/>
        </p:blipFill>
        <p:spPr>
          <a:xfrm>
            <a:off x="10117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 8"/>
          <p:cNvSpPr/>
          <p:nvPr/>
        </p:nvSpPr>
        <p:spPr>
          <a:xfrm>
            <a:off x="913500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Scalabilité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9"/>
          <p:cNvSpPr/>
          <p:nvPr/>
        </p:nvSpPr>
        <p:spPr>
          <a:xfrm>
            <a:off x="9135000" y="2880360"/>
            <a:ext cx="260388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Infrast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ructur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 de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gouve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rnanc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prête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pour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la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croiss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ance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mondi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ale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0"/>
          <p:cNvSpPr/>
          <p:nvPr/>
        </p:nvSpPr>
        <p:spPr>
          <a:xfrm>
            <a:off x="548640" y="4160520"/>
            <a:ext cx="11089440" cy="1872360"/>
          </a:xfrm>
          <a:prstGeom prst="roundRect">
            <a:avLst>
              <a:gd name="adj" fmla="val 3902"/>
            </a:avLst>
          </a:prstGeom>
          <a:solidFill>
            <a:srgbClr val="2A3C60"/>
          </a:solidFill>
          <a:ln w="12600">
            <a:solidFill>
              <a:srgbClr val="3A4C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1"/>
          <p:cNvSpPr/>
          <p:nvPr/>
        </p:nvSpPr>
        <p:spPr>
          <a:xfrm>
            <a:off x="868680" y="4280040"/>
            <a:ext cx="548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Prochaines étapes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2"/>
          <p:cNvSpPr/>
          <p:nvPr/>
        </p:nvSpPr>
        <p:spPr>
          <a:xfrm>
            <a:off x="868680" y="4681800"/>
            <a:ext cx="104220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Lancer le pilote sur le système de recommandation (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Nommer / confirmer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DPO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CDO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Data Stewards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et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 Owners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Premières revues de maturité DMAT en milieu et en fin de pilote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Décision de passage à l'échelle (feu vert / orange / rouge) à chaque jalon de phase Mx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3"/>
          <p:cNvSpPr/>
          <p:nvPr/>
        </p:nvSpPr>
        <p:spPr>
          <a:xfrm>
            <a:off x="54864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Nicolas Pichon --- AIA RNCP 38777 / BC01 / Presentation / v6 --- 2026/10/15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4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10 / 10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</TotalTime>
  <Application>LibreOffice/26.2.1.2$Windows_X86_64 LibreOffice_project/620$Build-2</Application>
  <AppVersion>15.0000</AppVersion>
  <Company>AIA RNCP 38777 - BC01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2026-08-25T07:57:58Z</dcterms:created>
  <dc:creator>Nicolas Pichon</dc:creator>
  <dc:description/>
  <dc:language>fr-FR</dc:language>
  <cp:lastModifiedBy/>
  <dcterms:modified xsi:type="dcterms:W3CDTF">2026-10-15T01:32:44Z</dcterms:modified>
  <cp:revision>52</cp:revision>
  <dc:subject>Data &amp; AI Governance - Présentation finale (Step 4)</dc:subject>
  <dc:title>Spotify - Gouvernance des Données et de l'IA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10</vt:r8>
  </property>
  <property fmtid="{D5CDD505-2E9C-101B-9397-08002B2CF9AE}" pid="3" name="PresentationFormat">
    <vt:lpwstr>On-screen Show (16:9)</vt:lpwstr>
  </property>
  <property fmtid="{D5CDD505-2E9C-101B-9397-08002B2CF9AE}" pid="4" name="Slides">
    <vt:r8>10</vt:r8>
  </property>
</Properties>
</file>