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fr-FR" altLang="en-US"/>
    </a:defPPr>
    <a:lvl1pPr marL="0" algn="l" defTabSz="457200" rtl="0" eaLnBrk="1" latinLnBrk="0" hangingPunct="1">
      <a:defRPr sz="1800" kern="1200" lang="fr-FR" altLang="en-US">
        <a:solidFill>
          <a:schemeClr val="tx1"/>
        </a:solidFill>
        <a:latin typeface="+mn-lt"/>
        <a:ea typeface="+mn-ea"/>
        <a:cs typeface="+mn-cs"/>
      </a:defRPr>
    </a:lvl1pPr>
    <a:lvl2pPr marL="457200" algn="l" defTabSz="457200" rtl="0" eaLnBrk="1" latinLnBrk="0" hangingPunct="1">
      <a:defRPr sz="1800" kern="1200" lang="fr-FR" altLang="en-US">
        <a:solidFill>
          <a:schemeClr val="tx1"/>
        </a:solidFill>
        <a:latin typeface="+mn-lt"/>
        <a:ea typeface="+mn-ea"/>
        <a:cs typeface="+mn-cs"/>
      </a:defRPr>
    </a:lvl2pPr>
    <a:lvl3pPr marL="914400" algn="l" defTabSz="457200" rtl="0" eaLnBrk="1" latinLnBrk="0" hangingPunct="1">
      <a:defRPr sz="1800" kern="1200" lang="fr-FR" altLang="en-US">
        <a:solidFill>
          <a:schemeClr val="tx1"/>
        </a:solidFill>
        <a:latin typeface="+mn-lt"/>
        <a:ea typeface="+mn-ea"/>
        <a:cs typeface="+mn-cs"/>
      </a:defRPr>
    </a:lvl3pPr>
    <a:lvl4pPr marL="1371600" algn="l" defTabSz="457200" rtl="0" eaLnBrk="1" latinLnBrk="0" hangingPunct="1">
      <a:defRPr sz="1800" kern="1200" lang="fr-FR" altLang="en-US">
        <a:solidFill>
          <a:schemeClr val="tx1"/>
        </a:solidFill>
        <a:latin typeface="+mn-lt"/>
        <a:ea typeface="+mn-ea"/>
        <a:cs typeface="+mn-cs"/>
      </a:defRPr>
    </a:lvl4pPr>
    <a:lvl5pPr marL="1828800" algn="l" defTabSz="457200" rtl="0" eaLnBrk="1" latinLnBrk="0" hangingPunct="1">
      <a:defRPr sz="1800" kern="1200" lang="fr-FR" altLang="en-US">
        <a:solidFill>
          <a:schemeClr val="tx1"/>
        </a:solidFill>
        <a:latin typeface="+mn-lt"/>
        <a:ea typeface="+mn-ea"/>
        <a:cs typeface="+mn-cs"/>
      </a:defRPr>
    </a:lvl5pPr>
    <a:lvl6pPr marL="2286000" algn="l" defTabSz="457200" rtl="0" eaLnBrk="1" latinLnBrk="0" hangingPunct="1">
      <a:defRPr sz="1800" kern="1200" lang="fr-FR" altLang="en-US">
        <a:solidFill>
          <a:schemeClr val="tx1"/>
        </a:solidFill>
        <a:latin typeface="+mn-lt"/>
        <a:ea typeface="+mn-ea"/>
        <a:cs typeface="+mn-cs"/>
      </a:defRPr>
    </a:lvl6pPr>
    <a:lvl7pPr marL="2743200" algn="l" defTabSz="457200" rtl="0" eaLnBrk="1" latinLnBrk="0" hangingPunct="1">
      <a:defRPr sz="1800" kern="1200" lang="fr-FR" altLang="en-US">
        <a:solidFill>
          <a:schemeClr val="tx1"/>
        </a:solidFill>
        <a:latin typeface="+mn-lt"/>
        <a:ea typeface="+mn-ea"/>
        <a:cs typeface="+mn-cs"/>
      </a:defRPr>
    </a:lvl7pPr>
    <a:lvl8pPr marL="3200400" algn="l" defTabSz="457200" rtl="0" eaLnBrk="1" latinLnBrk="0" hangingPunct="1">
      <a:defRPr sz="1800" kern="1200" lang="fr-FR" altLang="en-US">
        <a:solidFill>
          <a:schemeClr val="tx1"/>
        </a:solidFill>
        <a:latin typeface="+mn-lt"/>
        <a:ea typeface="+mn-ea"/>
        <a:cs typeface="+mn-cs"/>
      </a:defRPr>
    </a:lvl8pPr>
    <a:lvl9pPr marL="3657600" algn="l" defTabSz="457200" rtl="0" eaLnBrk="1" latinLnBrk="0" hangingPunct="1">
      <a:defRPr sz="1800" kern="1200" lang="fr-FR" altLang="en-US">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lang="fr-FR" altLang="en-US">
                <a:solidFill>
                  <a:srgbClr val="1B2A4A"/>
                </a:solidFill>
                <a:latin typeface="Calibri"/>
              </a:rPr>
              <a:t>Niveau de maturité par dimension (échelle 0-5)</a:t>
            </a:r>
          </a:p>
        </c:rich>
      </c:tx>
      <c:layout/>
      <c:overlay val="0"/>
    </c:title>
    <c:autoTitleDeleted val="0"/>
    <c:plotArea>
      <c:barChart>
        <c:barDir val="bar"/>
        <c:grouping val="clustered"/>
        <c:ser>
          <c:idx val="0"/>
          <c:order val="0"/>
          <c:tx>
            <c:strRef>
              <c:f>Sheet1!$B$1</c:f>
              <c:strCache>
                <c:ptCount val="1"/>
                <c:pt idx="0">
                  <c:v>Niveau de maturité</c:v>
                </c:pt>
              </c:strCache>
            </c:strRef>
          </c:tx>
          <c:dPt>
            <c:idx val="0"/>
            <c:spPr>
              <a:solidFill>
                <a:srgbClr val="2DBE8C"/>
              </a:solidFill>
            </c:spPr>
          </c:dPt>
          <c:dPt>
            <c:idx val="1"/>
            <c:spPr>
              <a:solidFill>
                <a:srgbClr val="A9B6C9"/>
              </a:solidFill>
            </c:spPr>
          </c:dPt>
          <c:dPt>
            <c:idx val="2"/>
            <c:spPr>
              <a:solidFill>
                <a:srgbClr val="A9B6C9"/>
              </a:solidFill>
            </c:spPr>
          </c:dPt>
          <c:dPt>
            <c:idx val="3"/>
            <c:spPr>
              <a:solidFill>
                <a:srgbClr val="A9B6C9"/>
              </a:solidFill>
            </c:spPr>
          </c:dPt>
          <c:dPt>
            <c:idx val="4"/>
            <c:spPr>
              <a:solidFill>
                <a:srgbClr val="2DBE8C"/>
              </a:solidFill>
            </c:spPr>
          </c:dPt>
          <c:dPt>
            <c:idx val="5"/>
            <c:spPr>
              <a:solidFill>
                <a:srgbClr val="A9B6C9"/>
              </a:solidFill>
            </c:spPr>
          </c:dPt>
          <c:dPt>
            <c:idx val="6"/>
            <c:spPr>
              <a:solidFill>
                <a:srgbClr val="2DBE8C"/>
              </a:solidFill>
            </c:spPr>
          </c:dPt>
          <c:dPt>
            <c:idx val="7"/>
            <c:spPr>
              <a:solidFill>
                <a:srgbClr val="A9B6C9"/>
              </a:solidFill>
            </c:spPr>
          </c:dPt>
          <c:dPt>
            <c:idx val="8"/>
            <c:spPr>
              <a:solidFill>
                <a:srgbClr val="A9B6C9"/>
              </a:solidFill>
            </c:spPr>
          </c:dPt>
          <c:dPt>
            <c:idx val="9"/>
            <c:spPr>
              <a:solidFill>
                <a:srgbClr val="A9B6C9"/>
              </a:solidFill>
            </c:spPr>
          </c:dPt>
          <c:dPt>
            <c:idx val="10"/>
            <c:spPr>
              <a:solidFill>
                <a:srgbClr val="A9B6C9"/>
              </a:solidFill>
            </c:spPr>
          </c:dPt>
          <c:dPt>
            <c:idx val="11"/>
            <c:spPr>
              <a:solidFill>
                <a:srgbClr val="A9B6C9"/>
              </a:solidFill>
            </c:spPr>
          </c:dPt>
          <c:cat>
            <c:strRef>
              <c:f>Sheet1!$A$2:$A$13</c:f>
              <c:strCache>
                <c:ptCount val="12"/>
                <c:pt idx="0">
                  <c:v>Analytics &amp; BI</c:v>
                </c:pt>
                <c:pt idx="1">
                  <c:v>Intégration</c:v>
                </c:pt>
                <c:pt idx="2">
                  <c:v>Métadonnées</c:v>
                </c:pt>
                <c:pt idx="3">
                  <c:v>Master &amp; Reference Data</c:v>
                </c:pt>
                <c:pt idx="4">
                  <c:v>Littératie data</c:v>
                </c:pt>
                <c:pt idx="5">
                  <c:v>Sécurité</c:v>
                </c:pt>
                <c:pt idx="6">
                  <c:v>Usage &amp; Accessibilité</c:v>
                </c:pt>
                <c:pt idx="7">
                  <c:v>Conformité</c:v>
                </c:pt>
                <c:pt idx="8">
                  <c:v>Opérations</c:v>
                </c:pt>
                <c:pt idx="9">
                  <c:v>Architecture</c:v>
                </c:pt>
                <c:pt idx="10">
                  <c:v>Qualité</c:v>
                </c:pt>
                <c:pt idx="11">
                  <c:v>Gouvernance</c:v>
                </c:pt>
              </c:strCache>
            </c:strRef>
          </c:cat>
          <c:val>
            <c:numRef>
              <c:f>Sheet1!$B$2:$B$13</c:f>
              <c:numCache>
                <c:formatCode>General</c:formatCode>
                <c:ptCount val="12"/>
                <c:pt idx="0">
                  <c:v>2</c:v>
                </c:pt>
                <c:pt idx="1">
                  <c:v>1</c:v>
                </c:pt>
                <c:pt idx="2">
                  <c:v>1</c:v>
                </c:pt>
                <c:pt idx="3">
                  <c:v>1</c:v>
                </c:pt>
                <c:pt idx="4">
                  <c:v>2</c:v>
                </c:pt>
                <c:pt idx="5">
                  <c:v>1</c:v>
                </c:pt>
                <c:pt idx="6">
                  <c:v>2</c:v>
                </c:pt>
                <c:pt idx="7">
                  <c:v>1</c:v>
                </c:pt>
                <c:pt idx="8">
                  <c:v>1</c:v>
                </c:pt>
                <c:pt idx="9">
                  <c:v>1</c:v>
                </c:pt>
                <c:pt idx="10">
                  <c:v>1</c:v>
                </c:pt>
                <c:pt idx="11">
                  <c:v>1</c:v>
                </c:pt>
              </c:numCache>
            </c:numRef>
          </c:val>
        </c:ser>
        <c:dLbls>
          <c:numFmt formatCode="0" sourceLinked="0"/>
          <c:txPr>
            <a:bodyPr/>
            <a:lstStyle/>
            <a:p>
              <a:pPr>
                <a:defRPr sz="1000" lang="fr-FR" altLang="en-US">
                  <a:solidFill>
                    <a:srgbClr val="1B2A4A"/>
                  </a:solidFill>
                  <a:latin typeface="Calibri"/>
                </a:defRPr>
              </a:pPr>
            </a:p>
          </c:txPr>
          <c:showLegendKey val="0"/>
          <c:showVal val="1"/>
          <c:showCatName val="0"/>
          <c:showSerName val="0"/>
          <c:showPercent val="0"/>
          <c:showBubbleSize val="0"/>
          <c:showLeaderLines val="1"/>
        </c:dLbls>
        <c:gapWidth val="35"/>
        <c:axId val="-2068027336"/>
        <c:axId val="-2113994440"/>
      </c:barChart>
      <c:catAx>
        <c:axId val="-2068027336"/>
        <c:scaling>
          <c:orientation val="minMax"/>
        </c:scaling>
        <c:delete val="0"/>
        <c:axPos val="l"/>
        <c:majorTickMark val="out"/>
        <c:minorTickMark val="none"/>
        <c:tickLblPos val="nextTo"/>
        <c:spPr>
          <a:ln>
            <a:solidFill>
              <a:srgbClr val="D8DEE6"/>
            </a:solidFill>
          </a:ln>
        </c:spPr>
        <c:txPr>
          <a:bodyPr/>
          <a:lstStyle/>
          <a:p>
            <a:pPr>
              <a:defRPr sz="1050" lang="fr-FR" altLang="en-US">
                <a:solidFill>
                  <a:srgbClr val="1B2A4A"/>
                </a:solidFill>
                <a:latin typeface="Calibri"/>
              </a:defRPr>
            </a:pPr>
          </a:p>
        </c:txPr>
        <c:crossAx val="-2113994440"/>
        <c:crosses val="autoZero"/>
        <c:auto val="1"/>
        <c:lblAlgn val="ctr"/>
        <c:lblOffset val="100"/>
        <c:noMultiLvlLbl val="0"/>
      </c:catAx>
      <c:valAx>
        <c:axId val="-2113994440"/>
        <c:scaling>
          <c:max val="5.0"/>
          <c:min val="0.0"/>
        </c:scaling>
        <c:delete val="0"/>
        <c:axPos val="b"/>
        <c:majorGridlines>
          <c:spPr>
            <a:ln>
              <a:solidFill>
                <a:srgbClr val="D8DEE6"/>
              </a:solidFill>
            </a:ln>
          </c:spPr>
        </c:majorGridlines>
        <c:majorTickMark val="out"/>
        <c:minorTickMark val="none"/>
        <c:tickLblPos val="nextTo"/>
        <c:spPr>
          <a:ln>
            <a:solidFill>
              <a:srgbClr val="D8DEE6"/>
            </a:solidFill>
          </a:ln>
        </c:spPr>
        <c:txPr>
          <a:bodyPr/>
          <a:lstStyle/>
          <a:p>
            <a:pPr>
              <a:defRPr sz="950" lang="fr-FR" altLang="en-US">
                <a:solidFill>
                  <a:srgbClr val="5B6B84"/>
                </a:solidFill>
              </a:defRPr>
            </a:pPr>
          </a:p>
        </c:txPr>
        <c:crossAx val="-2068027336"/>
        <c:crosses val="autoZero"/>
        <c:majorUnit val="1.0"/>
      </c:valAx>
    </c:plotArea>
    <c:dispBlanksAs val="gap"/>
  </c:chart>
  <c:txPr>
    <a:bodyPr/>
    <a:lstStyle/>
    <a:p>
      <a:pPr>
        <a:defRPr sz="1800" lang="fr-FR" altLang="en-US"/>
      </a:pPr>
      <a:endParaRPr lang="fr-FR" alt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lang="fr-FR" altLang="en-US"/>
            </a:lvl1pPr>
          </a:lstStyle>
          <a:p>
            <a:endParaRPr lang="fr-FR" alt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lang="fr-FR" altLang="en-US"/>
            </a:lvl1pPr>
          </a:lstStyle>
          <a:p>
            <a:fld id="{0F89C1C7-3DCD-1040-A9CF-14679D8B5DDD}" type="datetimeFigureOut">
              <a:rPr lang="fr-FR" smtClean="0" altLang="en-US"/>
              <a:t>10/17/16</a:t>
            </a:fld>
            <a:endParaRPr lang="fr-FR" alt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lt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smtClean="0" altLang="en-US"/>
              <a:t>Click to edit Master text styles</a:t>
            </a:r>
          </a:p>
          <a:p>
            <a:pPr lvl="1"/>
            <a:r>
              <a:rPr lang="fr-FR" smtClean="0" altLang="en-US"/>
              <a:t>Second level</a:t>
            </a:r>
          </a:p>
          <a:p>
            <a:pPr lvl="2"/>
            <a:r>
              <a:rPr lang="fr-FR" smtClean="0" altLang="en-US"/>
              <a:t>Third level</a:t>
            </a:r>
          </a:p>
          <a:p>
            <a:pPr lvl="3"/>
            <a:r>
              <a:rPr lang="fr-FR" smtClean="0" altLang="en-US"/>
              <a:t>Fourth level</a:t>
            </a:r>
          </a:p>
          <a:p>
            <a:pPr lvl="4"/>
            <a:r>
              <a:rPr lang="fr-FR" smtClean="0" altLang="en-US"/>
              <a:t>Fifth level</a:t>
            </a:r>
            <a:endParaRPr lang="fr-FR" alt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lang="fr-FR" altLang="en-US"/>
            </a:lvl1pPr>
          </a:lstStyle>
          <a:p>
            <a:endParaRPr lang="fr-FR" alt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lang="fr-FR" altLang="en-US"/>
            </a:lvl1pPr>
          </a:lstStyle>
          <a:p>
            <a:fld id="{BB5E49A5-4136-284D-997B-48E1D791AD67}" type="slidenum">
              <a:rPr lang="fr-FR" smtClean="0" altLang="en-US"/>
              <a:t>‹#›</a:t>
            </a:fld>
            <a:endParaRPr lang="fr-FR" alt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lang="fr-FR" altLang="en-US">
        <a:solidFill>
          <a:schemeClr val="tx1"/>
        </a:solidFill>
        <a:latin typeface="+mn-lt"/>
        <a:ea typeface="+mn-ea"/>
        <a:cs typeface="+mn-cs"/>
      </a:defRPr>
    </a:lvl1pPr>
    <a:lvl2pPr marL="457200" algn="l" defTabSz="457200" rtl="0" eaLnBrk="1" latinLnBrk="0" hangingPunct="1">
      <a:defRPr sz="1200" kern="1200" lang="fr-FR" altLang="en-US">
        <a:solidFill>
          <a:schemeClr val="tx1"/>
        </a:solidFill>
        <a:latin typeface="+mn-lt"/>
        <a:ea typeface="+mn-ea"/>
        <a:cs typeface="+mn-cs"/>
      </a:defRPr>
    </a:lvl2pPr>
    <a:lvl3pPr marL="914400" algn="l" defTabSz="457200" rtl="0" eaLnBrk="1" latinLnBrk="0" hangingPunct="1">
      <a:defRPr sz="1200" kern="1200" lang="fr-FR" altLang="en-US">
        <a:solidFill>
          <a:schemeClr val="tx1"/>
        </a:solidFill>
        <a:latin typeface="+mn-lt"/>
        <a:ea typeface="+mn-ea"/>
        <a:cs typeface="+mn-cs"/>
      </a:defRPr>
    </a:lvl3pPr>
    <a:lvl4pPr marL="1371600" algn="l" defTabSz="457200" rtl="0" eaLnBrk="1" latinLnBrk="0" hangingPunct="1">
      <a:defRPr sz="1200" kern="1200" lang="fr-FR" altLang="en-US">
        <a:solidFill>
          <a:schemeClr val="tx1"/>
        </a:solidFill>
        <a:latin typeface="+mn-lt"/>
        <a:ea typeface="+mn-ea"/>
        <a:cs typeface="+mn-cs"/>
      </a:defRPr>
    </a:lvl4pPr>
    <a:lvl5pPr marL="1828800" algn="l" defTabSz="457200" rtl="0" eaLnBrk="1" latinLnBrk="0" hangingPunct="1">
      <a:defRPr sz="1200" kern="1200" lang="fr-FR" altLang="en-US">
        <a:solidFill>
          <a:schemeClr val="tx1"/>
        </a:solidFill>
        <a:latin typeface="+mn-lt"/>
        <a:ea typeface="+mn-ea"/>
        <a:cs typeface="+mn-cs"/>
      </a:defRPr>
    </a:lvl5pPr>
    <a:lvl6pPr marL="2286000" algn="l" defTabSz="457200" rtl="0" eaLnBrk="1" latinLnBrk="0" hangingPunct="1">
      <a:defRPr sz="1200" kern="1200" lang="fr-FR" altLang="en-US">
        <a:solidFill>
          <a:schemeClr val="tx1"/>
        </a:solidFill>
        <a:latin typeface="+mn-lt"/>
        <a:ea typeface="+mn-ea"/>
        <a:cs typeface="+mn-cs"/>
      </a:defRPr>
    </a:lvl6pPr>
    <a:lvl7pPr marL="2743200" algn="l" defTabSz="457200" rtl="0" eaLnBrk="1" latinLnBrk="0" hangingPunct="1">
      <a:defRPr sz="1200" kern="1200" lang="fr-FR" altLang="en-US">
        <a:solidFill>
          <a:schemeClr val="tx1"/>
        </a:solidFill>
        <a:latin typeface="+mn-lt"/>
        <a:ea typeface="+mn-ea"/>
        <a:cs typeface="+mn-cs"/>
      </a:defRPr>
    </a:lvl7pPr>
    <a:lvl8pPr marL="3200400" algn="l" defTabSz="457200" rtl="0" eaLnBrk="1" latinLnBrk="0" hangingPunct="1">
      <a:defRPr sz="1200" kern="1200" lang="fr-FR" altLang="en-US">
        <a:solidFill>
          <a:schemeClr val="tx1"/>
        </a:solidFill>
        <a:latin typeface="+mn-lt"/>
        <a:ea typeface="+mn-ea"/>
        <a:cs typeface="+mn-cs"/>
      </a:defRPr>
    </a:lvl8pPr>
    <a:lvl9pPr marL="3657600" algn="l" defTabSz="457200" rtl="0" eaLnBrk="1" latinLnBrk="0" hangingPunct="1">
      <a:defRPr sz="1200" kern="1200" lang="fr-FR" altLang="en-US">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Spotify opère à l'échelle mondiale avec une dépendance forte aux données (recommandation, personnalisation, monétisation). Le projet répond à une demande de cadrage transverse - gouvernance des données ET de l'IA, pas seulement conformité. Objectif de la session : validation du cadre, de l'organisation cible, et du plan de déploiement (pilote puis généralisation).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dimensions évaluées selon la méthodologie DMAT [R1], appliquée au business case Spotify [R2]. Points d'appui à 2 : usage/accessibilité, littératie data, analytics &amp; BI (le moteur de recommandation est déjà en production). Message clé : l'entreprise sait déjà produire de la valeur avec la donnée - le risque est dans la gouvernance de cette capacité, pas dans la capacité elle-même.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Ordre de criticité justifié dans [D1]. E5 est le seul enjeu qui n'est pas déjà nommé comme tel dans le business case [R2] - un gap identifié par le diagnostic, pas une demande initiale de Spotify.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P8 est le principe le plus opérationnalisé - 4 exigences concrètes (traçabilité, biais, responsabilité/approbation proportionnée, explicabilité). Un amendement de proportionnalité à P8 est proposé par le plan d'implémentation [D3 annexe 3.E] - détaillé slide 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surcoût de coordination du CoE (justifié pour les grandes structures uniquement) est assumé : à l'échelle de Spotify (450M+ utilisateurs, 180+ pays, départements autonomes, régimes réglementaires hétérogènes), cette charge est une nécessité fonctionnelle, pas un coût additionnel. Détail complet de la comparaison des 3 modèles -&gt; backup B1.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réserves documentées sur Soda Core : solution de repli Cuallee si les contrôles statistiques ML s'avèrent insuffisants (E5), solution de repli TestGen si la feuille de route éditeur se réoriente vers l'offre commerciale Soda Cloud. Justification complète par outil (y compris solutions écartées) -&gt; backup B2.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DGC est Accountable sur l'approbation des modèles à fort impact, alors que le CDO - qui préside le DGC - n'est que Consulted : volontaire, pour éviter que le CDO soit juge et partie sur ses propres arbitrages IA. Trois matrices RACI complètes (classification / approbation / contrôle &amp; reclassification) -&gt; backup B3.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conformité RGPD complète (E3/E4) reste hors périmètre du pilote - un RoPA scopé à un seul département ne vaut pas conformité article 30. Calendrier détaillé des 16 jalons, méthode complète de mesure et liste intégrale des risques -&gt; backups B4, B5, B6.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jalon de phase est un point de réévaluation, pas un engagement figé - conformément au principe d'amélioration continue (P9). Table complète des critères feu vert/orange/rouge et des 5 ajustements attendus -&gt; backups B7, B8. Trajectoire de maturité détaillée par dimension -&gt; backup B9.</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prochaines étapes sont volontairement concrètes et actionnables dès la sortie de cette réunion. La gouvernance des décisions de passage à l'échelle se fait phase par phase, pas comme un engagement global figé sur 24 mois.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fr-FR" smtClean="0" altLang="en-US"/>
              <a:t>Click to edit Master title style</a:t>
            </a:r>
            <a:endParaRPr lang="fr-FR" alt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lang="fr-FR" altLang="en-US">
                <a:solidFill>
                  <a:schemeClr val="tx1">
                    <a:tint val="75000"/>
                  </a:schemeClr>
                </a:solidFill>
              </a:defRPr>
            </a:lvl1pPr>
            <a:lvl2pPr marL="457200" indent="0" algn="ctr">
              <a:buNone/>
              <a:defRPr lang="fr-FR" altLang="en-US">
                <a:solidFill>
                  <a:schemeClr val="tx1">
                    <a:tint val="75000"/>
                  </a:schemeClr>
                </a:solidFill>
              </a:defRPr>
            </a:lvl2pPr>
            <a:lvl3pPr marL="914400" indent="0" algn="ctr">
              <a:buNone/>
              <a:defRPr lang="fr-FR" altLang="en-US">
                <a:solidFill>
                  <a:schemeClr val="tx1">
                    <a:tint val="75000"/>
                  </a:schemeClr>
                </a:solidFill>
              </a:defRPr>
            </a:lvl3pPr>
            <a:lvl4pPr marL="1371600" indent="0" algn="ctr">
              <a:buNone/>
              <a:defRPr lang="fr-FR" altLang="en-US">
                <a:solidFill>
                  <a:schemeClr val="tx1">
                    <a:tint val="75000"/>
                  </a:schemeClr>
                </a:solidFill>
              </a:defRPr>
            </a:lvl4pPr>
            <a:lvl5pPr marL="1828800" indent="0" algn="ctr">
              <a:buNone/>
              <a:defRPr lang="fr-FR" altLang="en-US">
                <a:solidFill>
                  <a:schemeClr val="tx1">
                    <a:tint val="75000"/>
                  </a:schemeClr>
                </a:solidFill>
              </a:defRPr>
            </a:lvl5pPr>
            <a:lvl6pPr marL="2286000" indent="0" algn="ctr">
              <a:buNone/>
              <a:defRPr lang="fr-FR" altLang="en-US">
                <a:solidFill>
                  <a:schemeClr val="tx1">
                    <a:tint val="75000"/>
                  </a:schemeClr>
                </a:solidFill>
              </a:defRPr>
            </a:lvl6pPr>
            <a:lvl7pPr marL="2743200" indent="0" algn="ctr">
              <a:buNone/>
              <a:defRPr lang="fr-FR" altLang="en-US">
                <a:solidFill>
                  <a:schemeClr val="tx1">
                    <a:tint val="75000"/>
                  </a:schemeClr>
                </a:solidFill>
              </a:defRPr>
            </a:lvl7pPr>
            <a:lvl8pPr marL="3200400" indent="0" algn="ctr">
              <a:buNone/>
              <a:defRPr lang="fr-FR" altLang="en-US">
                <a:solidFill>
                  <a:schemeClr val="tx1">
                    <a:tint val="75000"/>
                  </a:schemeClr>
                </a:solidFill>
              </a:defRPr>
            </a:lvl8pPr>
            <a:lvl9pPr marL="3657600" indent="0" algn="ctr">
              <a:buNone/>
              <a:defRPr lang="fr-FR" altLang="en-US">
                <a:solidFill>
                  <a:schemeClr val="tx1">
                    <a:tint val="75000"/>
                  </a:schemeClr>
                </a:solidFill>
              </a:defRPr>
            </a:lvl9pPr>
          </a:lstStyle>
          <a:p>
            <a:r>
              <a:rPr lang="fr-FR" smtClean="0" altLang="en-US"/>
              <a:t>Click to edit Master subtitle style</a:t>
            </a:r>
            <a:endParaRPr lang="fr-FR" altLang="en-US"/>
          </a:p>
        </p:txBody>
      </p:sp>
      <p:sp>
        <p:nvSpPr>
          <p:cNvPr id="4" name="Date Placeholder 3"/>
          <p:cNvSpPr>
            <a:spLocks noGrp="1"/>
          </p:cNvSpPr>
          <p:nvPr>
            <p:ph type="dt" sz="half" idx="10"/>
          </p:nvPr>
        </p:nvSpPr>
        <p:spPr/>
        <p:txBody>
          <a:bodyPr/>
          <a:lstStyle/>
          <a:p>
            <a:fld id="{5BCAD085-E8A6-8845-BD4E-CB4CCA059FC4}" type="datetimeFigureOut">
              <a:rPr lang="fr-FR" smtClean="0" altLang="en-US"/>
              <a:t>1/27/13</a:t>
            </a:fld>
            <a:endParaRPr lang="fr-FR" altLang="en-US"/>
          </a:p>
        </p:txBody>
      </p:sp>
      <p:sp>
        <p:nvSpPr>
          <p:cNvPr id="5" name="Footer Placeholder 4"/>
          <p:cNvSpPr>
            <a:spLocks noGrp="1"/>
          </p:cNvSpPr>
          <p:nvPr>
            <p:ph type="ftr" sz="quarter" idx="11"/>
          </p:nvPr>
        </p:nvSpPr>
        <p:spPr/>
        <p:txBody>
          <a:bodyPr/>
          <a:lstStyle/>
          <a:p>
            <a:endParaRPr lang="fr-FR" altLang="en-US"/>
          </a:p>
        </p:txBody>
      </p:sp>
      <p:sp>
        <p:nvSpPr>
          <p:cNvPr id="6" name="Slide Number Placeholder 5"/>
          <p:cNvSpPr>
            <a:spLocks noGrp="1"/>
          </p:cNvSpPr>
          <p:nvPr>
            <p:ph type="sldNum" sz="quarter" idx="12"/>
          </p:nvPr>
        </p:nvSpPr>
        <p:spPr/>
        <p:txBody>
          <a:bodyPr/>
          <a:lstStyle/>
          <a:p>
            <a:fld id="{C1FF6DA9-008F-8B48-92A6-B652298478BF}" type="slidenum">
              <a:rPr lang="fr-FR" smtClean="0" altLang="en-US"/>
              <a:t>‹#›</a:t>
            </a:fld>
            <a:endParaRPr lang="fr-FR" alt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ltLang="en-US"/>
              <a:t>Click to edit Master title style</a:t>
            </a:r>
            <a:endParaRPr lang="fr-FR" altLang="en-US"/>
          </a:p>
        </p:txBody>
      </p:sp>
      <p:sp>
        <p:nvSpPr>
          <p:cNvPr id="3" name="Content Placeholder 2"/>
          <p:cNvSpPr>
            <a:spLocks noGrp="1"/>
          </p:cNvSpPr>
          <p:nvPr>
            <p:ph idx="1"/>
          </p:nvPr>
        </p:nvSpPr>
        <p:spPr/>
        <p:txBody>
          <a:bodyPr/>
          <a:lstStyle/>
          <a:p>
            <a:pPr lvl="0"/>
            <a:r>
              <a:rPr lang="fr-FR" smtClean="0" altLang="en-US"/>
              <a:t>Click to edit Master text styles</a:t>
            </a:r>
          </a:p>
          <a:p>
            <a:pPr lvl="1"/>
            <a:r>
              <a:rPr lang="fr-FR" smtClean="0" altLang="en-US"/>
              <a:t>Second level</a:t>
            </a:r>
          </a:p>
          <a:p>
            <a:pPr lvl="2"/>
            <a:r>
              <a:rPr lang="fr-FR" smtClean="0" altLang="en-US"/>
              <a:t>Third level</a:t>
            </a:r>
          </a:p>
          <a:p>
            <a:pPr lvl="3"/>
            <a:r>
              <a:rPr lang="fr-FR" smtClean="0" altLang="en-US"/>
              <a:t>Fourth level</a:t>
            </a:r>
          </a:p>
          <a:p>
            <a:pPr lvl="4"/>
            <a:r>
              <a:rPr lang="fr-FR" smtClean="0" altLang="en-US"/>
              <a:t>Fifth level</a:t>
            </a:r>
            <a:endParaRPr lang="fr-FR" altLang="en-US"/>
          </a:p>
        </p:txBody>
      </p:sp>
      <p:sp>
        <p:nvSpPr>
          <p:cNvPr id="4" name="Date Placeholder 3"/>
          <p:cNvSpPr>
            <a:spLocks noGrp="1"/>
          </p:cNvSpPr>
          <p:nvPr>
            <p:ph type="dt" sz="half" idx="10"/>
          </p:nvPr>
        </p:nvSpPr>
        <p:spPr/>
        <p:txBody>
          <a:bodyPr/>
          <a:lstStyle/>
          <a:p>
            <a:fld id="{5BCAD085-E8A6-8845-BD4E-CB4CCA059FC4}" type="datetimeFigureOut">
              <a:rPr lang="fr-FR" smtClean="0" altLang="en-US"/>
              <a:t>1/27/13</a:t>
            </a:fld>
            <a:endParaRPr lang="fr-FR" altLang="en-US"/>
          </a:p>
        </p:txBody>
      </p:sp>
      <p:sp>
        <p:nvSpPr>
          <p:cNvPr id="5" name="Footer Placeholder 4"/>
          <p:cNvSpPr>
            <a:spLocks noGrp="1"/>
          </p:cNvSpPr>
          <p:nvPr>
            <p:ph type="ftr" sz="quarter" idx="11"/>
          </p:nvPr>
        </p:nvSpPr>
        <p:spPr/>
        <p:txBody>
          <a:bodyPr/>
          <a:lstStyle/>
          <a:p>
            <a:endParaRPr lang="fr-FR" altLang="en-US"/>
          </a:p>
        </p:txBody>
      </p:sp>
      <p:sp>
        <p:nvSpPr>
          <p:cNvPr id="6" name="Slide Number Placeholder 5"/>
          <p:cNvSpPr>
            <a:spLocks noGrp="1"/>
          </p:cNvSpPr>
          <p:nvPr>
            <p:ph type="sldNum" sz="quarter" idx="12"/>
          </p:nvPr>
        </p:nvSpPr>
        <p:spPr/>
        <p:txBody>
          <a:bodyPr/>
          <a:lstStyle/>
          <a:p>
            <a:fld id="{C1FF6DA9-008F-8B48-92A6-B652298478BF}" type="slidenum">
              <a:rPr lang="fr-FR" smtClean="0" altLang="en-US"/>
              <a:t>‹#›</a:t>
            </a:fld>
            <a:endParaRPr lang="fr-FR" alt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lang="fr-FR" altLang="en-US"/>
            </a:lvl1pPr>
          </a:lstStyle>
          <a:p>
            <a:r>
              <a:rPr lang="fr-FR" smtClean="0" altLang="en-US"/>
              <a:t>Click to edit Master title style</a:t>
            </a:r>
            <a:endParaRPr lang="fr-FR" alt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lang="fr-FR" altLang="en-US">
                <a:solidFill>
                  <a:schemeClr val="tx1">
                    <a:tint val="75000"/>
                  </a:schemeClr>
                </a:solidFill>
              </a:defRPr>
            </a:lvl1pPr>
            <a:lvl2pPr marL="457200" indent="0">
              <a:buNone/>
              <a:defRPr sz="1800" lang="fr-FR" altLang="en-US">
                <a:solidFill>
                  <a:schemeClr val="tx1">
                    <a:tint val="75000"/>
                  </a:schemeClr>
                </a:solidFill>
              </a:defRPr>
            </a:lvl2pPr>
            <a:lvl3pPr marL="914400" indent="0">
              <a:buNone/>
              <a:defRPr sz="1600" lang="fr-FR" altLang="en-US">
                <a:solidFill>
                  <a:schemeClr val="tx1">
                    <a:tint val="75000"/>
                  </a:schemeClr>
                </a:solidFill>
              </a:defRPr>
            </a:lvl3pPr>
            <a:lvl4pPr marL="1371600" indent="0">
              <a:buNone/>
              <a:defRPr sz="1400" lang="fr-FR" altLang="en-US">
                <a:solidFill>
                  <a:schemeClr val="tx1">
                    <a:tint val="75000"/>
                  </a:schemeClr>
                </a:solidFill>
              </a:defRPr>
            </a:lvl4pPr>
            <a:lvl5pPr marL="1828800" indent="0">
              <a:buNone/>
              <a:defRPr sz="1400" lang="fr-FR" altLang="en-US">
                <a:solidFill>
                  <a:schemeClr val="tx1">
                    <a:tint val="75000"/>
                  </a:schemeClr>
                </a:solidFill>
              </a:defRPr>
            </a:lvl5pPr>
            <a:lvl6pPr marL="2286000" indent="0">
              <a:buNone/>
              <a:defRPr sz="1400" lang="fr-FR" altLang="en-US">
                <a:solidFill>
                  <a:schemeClr val="tx1">
                    <a:tint val="75000"/>
                  </a:schemeClr>
                </a:solidFill>
              </a:defRPr>
            </a:lvl6pPr>
            <a:lvl7pPr marL="2743200" indent="0">
              <a:buNone/>
              <a:defRPr sz="1400" lang="fr-FR" altLang="en-US">
                <a:solidFill>
                  <a:schemeClr val="tx1">
                    <a:tint val="75000"/>
                  </a:schemeClr>
                </a:solidFill>
              </a:defRPr>
            </a:lvl7pPr>
            <a:lvl8pPr marL="3200400" indent="0">
              <a:buNone/>
              <a:defRPr sz="1400" lang="fr-FR" altLang="en-US">
                <a:solidFill>
                  <a:schemeClr val="tx1">
                    <a:tint val="75000"/>
                  </a:schemeClr>
                </a:solidFill>
              </a:defRPr>
            </a:lvl8pPr>
            <a:lvl9pPr marL="3657600" indent="0">
              <a:buNone/>
              <a:defRPr sz="1400" lang="fr-FR" altLang="en-US">
                <a:solidFill>
                  <a:schemeClr val="tx1">
                    <a:tint val="75000"/>
                  </a:schemeClr>
                </a:solidFill>
              </a:defRPr>
            </a:lvl9pPr>
          </a:lstStyle>
          <a:p>
            <a:pPr lvl="0"/>
            <a:r>
              <a:rPr lang="fr-FR" smtClean="0" alt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fr-FR" smtClean="0" altLang="en-US"/>
              <a:t>1/27/13</a:t>
            </a:fld>
            <a:endParaRPr lang="fr-FR" altLang="en-US"/>
          </a:p>
        </p:txBody>
      </p:sp>
      <p:sp>
        <p:nvSpPr>
          <p:cNvPr id="5" name="Footer Placeholder 4"/>
          <p:cNvSpPr>
            <a:spLocks noGrp="1"/>
          </p:cNvSpPr>
          <p:nvPr>
            <p:ph type="ftr" sz="quarter" idx="11"/>
          </p:nvPr>
        </p:nvSpPr>
        <p:spPr/>
        <p:txBody>
          <a:bodyPr/>
          <a:lstStyle/>
          <a:p>
            <a:endParaRPr lang="fr-FR" altLang="en-US"/>
          </a:p>
        </p:txBody>
      </p:sp>
      <p:sp>
        <p:nvSpPr>
          <p:cNvPr id="6" name="Slide Number Placeholder 5"/>
          <p:cNvSpPr>
            <a:spLocks noGrp="1"/>
          </p:cNvSpPr>
          <p:nvPr>
            <p:ph type="sldNum" sz="quarter" idx="12"/>
          </p:nvPr>
        </p:nvSpPr>
        <p:spPr/>
        <p:txBody>
          <a:bodyPr/>
          <a:lstStyle/>
          <a:p>
            <a:fld id="{C1FF6DA9-008F-8B48-92A6-B652298478BF}" type="slidenum">
              <a:rPr lang="fr-FR" smtClean="0" altLang="en-US"/>
              <a:t>‹#›</a:t>
            </a:fld>
            <a:endParaRPr lang="fr-FR" alt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ltLang="en-US"/>
              <a:t>Click to edit Master title style</a:t>
            </a:r>
            <a:endParaRPr lang="fr-FR" altLang="en-US"/>
          </a:p>
        </p:txBody>
      </p:sp>
      <p:sp>
        <p:nvSpPr>
          <p:cNvPr id="3" name="Content Placeholder 2"/>
          <p:cNvSpPr>
            <a:spLocks noGrp="1"/>
          </p:cNvSpPr>
          <p:nvPr>
            <p:ph sz="half" idx="1"/>
          </p:nvPr>
        </p:nvSpPr>
        <p:spPr>
          <a:xfrm>
            <a:off x="457200" y="1600200"/>
            <a:ext cx="4038600" cy="4525963"/>
          </a:xfrm>
        </p:spPr>
        <p:txBody>
          <a:bodyPr/>
          <a:lstStyle>
            <a:lvl1pPr>
              <a:defRPr sz="2800" lang="fr-FR" altLang="en-US"/>
            </a:lvl1pPr>
            <a:lvl2pPr>
              <a:defRPr sz="2400" lang="fr-FR" altLang="en-US"/>
            </a:lvl2pPr>
            <a:lvl3pPr>
              <a:defRPr sz="2000" lang="fr-FR" altLang="en-US"/>
            </a:lvl3pPr>
            <a:lvl4pPr>
              <a:defRPr sz="1800" lang="fr-FR" altLang="en-US"/>
            </a:lvl4pPr>
            <a:lvl5pPr>
              <a:defRPr sz="1800" lang="fr-FR" altLang="en-US"/>
            </a:lvl5pPr>
            <a:lvl6pPr>
              <a:defRPr sz="1800" lang="fr-FR" altLang="en-US"/>
            </a:lvl6pPr>
            <a:lvl7pPr>
              <a:defRPr sz="1800" lang="fr-FR" altLang="en-US"/>
            </a:lvl7pPr>
            <a:lvl8pPr>
              <a:defRPr sz="1800" lang="fr-FR" altLang="en-US"/>
            </a:lvl8pPr>
            <a:lvl9pPr>
              <a:defRPr sz="1800" lang="fr-FR" altLang="en-US"/>
            </a:lvl9pPr>
          </a:lstStyle>
          <a:p>
            <a:pPr lvl="0"/>
            <a:r>
              <a:rPr lang="fr-FR" smtClean="0" altLang="en-US"/>
              <a:t>Click to edit Master text styles</a:t>
            </a:r>
          </a:p>
          <a:p>
            <a:pPr lvl="1"/>
            <a:r>
              <a:rPr lang="fr-FR" smtClean="0" altLang="en-US"/>
              <a:t>Second level</a:t>
            </a:r>
          </a:p>
          <a:p>
            <a:pPr lvl="2"/>
            <a:r>
              <a:rPr lang="fr-FR" smtClean="0" altLang="en-US"/>
              <a:t>Third level</a:t>
            </a:r>
          </a:p>
          <a:p>
            <a:pPr lvl="3"/>
            <a:r>
              <a:rPr lang="fr-FR" smtClean="0" altLang="en-US"/>
              <a:t>Fourth level</a:t>
            </a:r>
          </a:p>
          <a:p>
            <a:pPr lvl="4"/>
            <a:r>
              <a:rPr lang="fr-FR" smtClean="0" altLang="en-US"/>
              <a:t>Fifth level</a:t>
            </a:r>
            <a:endParaRPr lang="fr-FR" altLang="en-US"/>
          </a:p>
        </p:txBody>
      </p:sp>
      <p:sp>
        <p:nvSpPr>
          <p:cNvPr id="4" name="Content Placeholder 3"/>
          <p:cNvSpPr>
            <a:spLocks noGrp="1"/>
          </p:cNvSpPr>
          <p:nvPr>
            <p:ph sz="half" idx="2"/>
          </p:nvPr>
        </p:nvSpPr>
        <p:spPr>
          <a:xfrm>
            <a:off x="4648200" y="1600200"/>
            <a:ext cx="4038600" cy="4525963"/>
          </a:xfrm>
        </p:spPr>
        <p:txBody>
          <a:bodyPr/>
          <a:lstStyle>
            <a:lvl1pPr>
              <a:defRPr sz="2800" lang="fr-FR" altLang="en-US"/>
            </a:lvl1pPr>
            <a:lvl2pPr>
              <a:defRPr sz="2400" lang="fr-FR" altLang="en-US"/>
            </a:lvl2pPr>
            <a:lvl3pPr>
              <a:defRPr sz="2000" lang="fr-FR" altLang="en-US"/>
            </a:lvl3pPr>
            <a:lvl4pPr>
              <a:defRPr sz="1800" lang="fr-FR" altLang="en-US"/>
            </a:lvl4pPr>
            <a:lvl5pPr>
              <a:defRPr sz="1800" lang="fr-FR" altLang="en-US"/>
            </a:lvl5pPr>
            <a:lvl6pPr>
              <a:defRPr sz="1800" lang="fr-FR" altLang="en-US"/>
            </a:lvl6pPr>
            <a:lvl7pPr>
              <a:defRPr sz="1800" lang="fr-FR" altLang="en-US"/>
            </a:lvl7pPr>
            <a:lvl8pPr>
              <a:defRPr sz="1800" lang="fr-FR" altLang="en-US"/>
            </a:lvl8pPr>
            <a:lvl9pPr>
              <a:defRPr sz="1800" lang="fr-FR" altLang="en-US"/>
            </a:lvl9pPr>
          </a:lstStyle>
          <a:p>
            <a:pPr lvl="0"/>
            <a:r>
              <a:rPr lang="fr-FR" smtClean="0" altLang="en-US"/>
              <a:t>Click to edit Master text styles</a:t>
            </a:r>
          </a:p>
          <a:p>
            <a:pPr lvl="1"/>
            <a:r>
              <a:rPr lang="fr-FR" smtClean="0" altLang="en-US"/>
              <a:t>Second level</a:t>
            </a:r>
          </a:p>
          <a:p>
            <a:pPr lvl="2"/>
            <a:r>
              <a:rPr lang="fr-FR" smtClean="0" altLang="en-US"/>
              <a:t>Third level</a:t>
            </a:r>
          </a:p>
          <a:p>
            <a:pPr lvl="3"/>
            <a:r>
              <a:rPr lang="fr-FR" smtClean="0" altLang="en-US"/>
              <a:t>Fourth level</a:t>
            </a:r>
          </a:p>
          <a:p>
            <a:pPr lvl="4"/>
            <a:r>
              <a:rPr lang="fr-FR" smtClean="0" altLang="en-US"/>
              <a:t>Fifth level</a:t>
            </a:r>
            <a:endParaRPr lang="fr-FR" altLang="en-US"/>
          </a:p>
        </p:txBody>
      </p:sp>
      <p:sp>
        <p:nvSpPr>
          <p:cNvPr id="5" name="Date Placeholder 4"/>
          <p:cNvSpPr>
            <a:spLocks noGrp="1"/>
          </p:cNvSpPr>
          <p:nvPr>
            <p:ph type="dt" sz="half" idx="10"/>
          </p:nvPr>
        </p:nvSpPr>
        <p:spPr/>
        <p:txBody>
          <a:bodyPr/>
          <a:lstStyle/>
          <a:p>
            <a:fld id="{5BCAD085-E8A6-8845-BD4E-CB4CCA059FC4}" type="datetimeFigureOut">
              <a:rPr lang="fr-FR" smtClean="0" altLang="en-US"/>
              <a:t>1/27/13</a:t>
            </a:fld>
            <a:endParaRPr lang="fr-FR" altLang="en-US"/>
          </a:p>
        </p:txBody>
      </p:sp>
      <p:sp>
        <p:nvSpPr>
          <p:cNvPr id="6" name="Footer Placeholder 5"/>
          <p:cNvSpPr>
            <a:spLocks noGrp="1"/>
          </p:cNvSpPr>
          <p:nvPr>
            <p:ph type="ftr" sz="quarter" idx="11"/>
          </p:nvPr>
        </p:nvSpPr>
        <p:spPr/>
        <p:txBody>
          <a:bodyPr/>
          <a:lstStyle/>
          <a:p>
            <a:endParaRPr lang="fr-FR" altLang="en-US"/>
          </a:p>
        </p:txBody>
      </p:sp>
      <p:sp>
        <p:nvSpPr>
          <p:cNvPr id="7" name="Slide Number Placeholder 6"/>
          <p:cNvSpPr>
            <a:spLocks noGrp="1"/>
          </p:cNvSpPr>
          <p:nvPr>
            <p:ph type="sldNum" sz="quarter" idx="12"/>
          </p:nvPr>
        </p:nvSpPr>
        <p:spPr/>
        <p:txBody>
          <a:bodyPr/>
          <a:lstStyle/>
          <a:p>
            <a:fld id="{C1FF6DA9-008F-8B48-92A6-B652298478BF}" type="slidenum">
              <a:rPr lang="fr-FR" smtClean="0" altLang="en-US"/>
              <a:t>‹#›</a:t>
            </a:fld>
            <a:endParaRPr lang="fr-FR" alt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lang="fr-FR" altLang="en-US"/>
            </a:lvl1pPr>
          </a:lstStyle>
          <a:p>
            <a:r>
              <a:rPr lang="fr-FR" smtClean="0" altLang="en-US"/>
              <a:t>Click to edit Master title style</a:t>
            </a:r>
            <a:endParaRPr lang="fr-FR" alt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lang="fr-FR" altLang="en-US"/>
            </a:lvl1pPr>
            <a:lvl2pPr marL="457200" indent="0">
              <a:buNone/>
              <a:defRPr sz="2000" b="1" lang="fr-FR" altLang="en-US"/>
            </a:lvl2pPr>
            <a:lvl3pPr marL="914400" indent="0">
              <a:buNone/>
              <a:defRPr sz="1800" b="1" lang="fr-FR" altLang="en-US"/>
            </a:lvl3pPr>
            <a:lvl4pPr marL="1371600" indent="0">
              <a:buNone/>
              <a:defRPr sz="1600" b="1" lang="fr-FR" altLang="en-US"/>
            </a:lvl4pPr>
            <a:lvl5pPr marL="1828800" indent="0">
              <a:buNone/>
              <a:defRPr sz="1600" b="1" lang="fr-FR" altLang="en-US"/>
            </a:lvl5pPr>
            <a:lvl6pPr marL="2286000" indent="0">
              <a:buNone/>
              <a:defRPr sz="1600" b="1" lang="fr-FR" altLang="en-US"/>
            </a:lvl6pPr>
            <a:lvl7pPr marL="2743200" indent="0">
              <a:buNone/>
              <a:defRPr sz="1600" b="1" lang="fr-FR" altLang="en-US"/>
            </a:lvl7pPr>
            <a:lvl8pPr marL="3200400" indent="0">
              <a:buNone/>
              <a:defRPr sz="1600" b="1" lang="fr-FR" altLang="en-US"/>
            </a:lvl8pPr>
            <a:lvl9pPr marL="3657600" indent="0">
              <a:buNone/>
              <a:defRPr sz="1600" b="1" lang="fr-FR" altLang="en-US"/>
            </a:lvl9pPr>
          </a:lstStyle>
          <a:p>
            <a:pPr lvl="0"/>
            <a:r>
              <a:rPr lang="fr-FR" smtClean="0" alt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lang="fr-FR" altLang="en-US"/>
            </a:lvl1pPr>
            <a:lvl2pPr>
              <a:defRPr sz="2000" lang="fr-FR" altLang="en-US"/>
            </a:lvl2pPr>
            <a:lvl3pPr>
              <a:defRPr sz="1800" lang="fr-FR" altLang="en-US"/>
            </a:lvl3pPr>
            <a:lvl4pPr>
              <a:defRPr sz="1600" lang="fr-FR" altLang="en-US"/>
            </a:lvl4pPr>
            <a:lvl5pPr>
              <a:defRPr sz="1600" lang="fr-FR" altLang="en-US"/>
            </a:lvl5pPr>
            <a:lvl6pPr>
              <a:defRPr sz="1600" lang="fr-FR" altLang="en-US"/>
            </a:lvl6pPr>
            <a:lvl7pPr>
              <a:defRPr sz="1600" lang="fr-FR" altLang="en-US"/>
            </a:lvl7pPr>
            <a:lvl8pPr>
              <a:defRPr sz="1600" lang="fr-FR" altLang="en-US"/>
            </a:lvl8pPr>
            <a:lvl9pPr>
              <a:defRPr sz="1600" lang="fr-FR" altLang="en-US"/>
            </a:lvl9pPr>
          </a:lstStyle>
          <a:p>
            <a:pPr lvl="0"/>
            <a:r>
              <a:rPr lang="fr-FR" smtClean="0" altLang="en-US"/>
              <a:t>Click to edit Master text styles</a:t>
            </a:r>
          </a:p>
          <a:p>
            <a:pPr lvl="1"/>
            <a:r>
              <a:rPr lang="fr-FR" smtClean="0" altLang="en-US"/>
              <a:t>Second level</a:t>
            </a:r>
          </a:p>
          <a:p>
            <a:pPr lvl="2"/>
            <a:r>
              <a:rPr lang="fr-FR" smtClean="0" altLang="en-US"/>
              <a:t>Third level</a:t>
            </a:r>
          </a:p>
          <a:p>
            <a:pPr lvl="3"/>
            <a:r>
              <a:rPr lang="fr-FR" smtClean="0" altLang="en-US"/>
              <a:t>Fourth level</a:t>
            </a:r>
          </a:p>
          <a:p>
            <a:pPr lvl="4"/>
            <a:r>
              <a:rPr lang="fr-FR" smtClean="0" altLang="en-US"/>
              <a:t>Fifth level</a:t>
            </a:r>
            <a:endParaRPr lang="fr-FR" alt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lang="fr-FR" altLang="en-US"/>
            </a:lvl1pPr>
            <a:lvl2pPr marL="457200" indent="0">
              <a:buNone/>
              <a:defRPr sz="2000" b="1" lang="fr-FR" altLang="en-US"/>
            </a:lvl2pPr>
            <a:lvl3pPr marL="914400" indent="0">
              <a:buNone/>
              <a:defRPr sz="1800" b="1" lang="fr-FR" altLang="en-US"/>
            </a:lvl3pPr>
            <a:lvl4pPr marL="1371600" indent="0">
              <a:buNone/>
              <a:defRPr sz="1600" b="1" lang="fr-FR" altLang="en-US"/>
            </a:lvl4pPr>
            <a:lvl5pPr marL="1828800" indent="0">
              <a:buNone/>
              <a:defRPr sz="1600" b="1" lang="fr-FR" altLang="en-US"/>
            </a:lvl5pPr>
            <a:lvl6pPr marL="2286000" indent="0">
              <a:buNone/>
              <a:defRPr sz="1600" b="1" lang="fr-FR" altLang="en-US"/>
            </a:lvl6pPr>
            <a:lvl7pPr marL="2743200" indent="0">
              <a:buNone/>
              <a:defRPr sz="1600" b="1" lang="fr-FR" altLang="en-US"/>
            </a:lvl7pPr>
            <a:lvl8pPr marL="3200400" indent="0">
              <a:buNone/>
              <a:defRPr sz="1600" b="1" lang="fr-FR" altLang="en-US"/>
            </a:lvl8pPr>
            <a:lvl9pPr marL="3657600" indent="0">
              <a:buNone/>
              <a:defRPr sz="1600" b="1" lang="fr-FR" altLang="en-US"/>
            </a:lvl9pPr>
          </a:lstStyle>
          <a:p>
            <a:pPr lvl="0"/>
            <a:r>
              <a:rPr lang="fr-FR" smtClean="0" alt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lang="fr-FR" altLang="en-US"/>
            </a:lvl1pPr>
            <a:lvl2pPr>
              <a:defRPr sz="2000" lang="fr-FR" altLang="en-US"/>
            </a:lvl2pPr>
            <a:lvl3pPr>
              <a:defRPr sz="1800" lang="fr-FR" altLang="en-US"/>
            </a:lvl3pPr>
            <a:lvl4pPr>
              <a:defRPr sz="1600" lang="fr-FR" altLang="en-US"/>
            </a:lvl4pPr>
            <a:lvl5pPr>
              <a:defRPr sz="1600" lang="fr-FR" altLang="en-US"/>
            </a:lvl5pPr>
            <a:lvl6pPr>
              <a:defRPr sz="1600" lang="fr-FR" altLang="en-US"/>
            </a:lvl6pPr>
            <a:lvl7pPr>
              <a:defRPr sz="1600" lang="fr-FR" altLang="en-US"/>
            </a:lvl7pPr>
            <a:lvl8pPr>
              <a:defRPr sz="1600" lang="fr-FR" altLang="en-US"/>
            </a:lvl8pPr>
            <a:lvl9pPr>
              <a:defRPr sz="1600" lang="fr-FR" altLang="en-US"/>
            </a:lvl9pPr>
          </a:lstStyle>
          <a:p>
            <a:pPr lvl="0"/>
            <a:r>
              <a:rPr lang="fr-FR" smtClean="0" altLang="en-US"/>
              <a:t>Click to edit Master text styles</a:t>
            </a:r>
          </a:p>
          <a:p>
            <a:pPr lvl="1"/>
            <a:r>
              <a:rPr lang="fr-FR" smtClean="0" altLang="en-US"/>
              <a:t>Second level</a:t>
            </a:r>
          </a:p>
          <a:p>
            <a:pPr lvl="2"/>
            <a:r>
              <a:rPr lang="fr-FR" smtClean="0" altLang="en-US"/>
              <a:t>Third level</a:t>
            </a:r>
          </a:p>
          <a:p>
            <a:pPr lvl="3"/>
            <a:r>
              <a:rPr lang="fr-FR" smtClean="0" altLang="en-US"/>
              <a:t>Fourth level</a:t>
            </a:r>
          </a:p>
          <a:p>
            <a:pPr lvl="4"/>
            <a:r>
              <a:rPr lang="fr-FR" smtClean="0" altLang="en-US"/>
              <a:t>Fifth level</a:t>
            </a:r>
            <a:endParaRPr lang="fr-FR" altLang="en-US"/>
          </a:p>
        </p:txBody>
      </p:sp>
      <p:sp>
        <p:nvSpPr>
          <p:cNvPr id="7" name="Date Placeholder 6"/>
          <p:cNvSpPr>
            <a:spLocks noGrp="1"/>
          </p:cNvSpPr>
          <p:nvPr>
            <p:ph type="dt" sz="half" idx="10"/>
          </p:nvPr>
        </p:nvSpPr>
        <p:spPr/>
        <p:txBody>
          <a:bodyPr/>
          <a:lstStyle/>
          <a:p>
            <a:fld id="{5BCAD085-E8A6-8845-BD4E-CB4CCA059FC4}" type="datetimeFigureOut">
              <a:rPr lang="fr-FR" smtClean="0" altLang="en-US"/>
              <a:t>1/27/13</a:t>
            </a:fld>
            <a:endParaRPr lang="fr-FR" altLang="en-US"/>
          </a:p>
        </p:txBody>
      </p:sp>
      <p:sp>
        <p:nvSpPr>
          <p:cNvPr id="8" name="Footer Placeholder 7"/>
          <p:cNvSpPr>
            <a:spLocks noGrp="1"/>
          </p:cNvSpPr>
          <p:nvPr>
            <p:ph type="ftr" sz="quarter" idx="11"/>
          </p:nvPr>
        </p:nvSpPr>
        <p:spPr/>
        <p:txBody>
          <a:bodyPr/>
          <a:lstStyle/>
          <a:p>
            <a:endParaRPr lang="fr-FR" altLang="en-US"/>
          </a:p>
        </p:txBody>
      </p:sp>
      <p:sp>
        <p:nvSpPr>
          <p:cNvPr id="9" name="Slide Number Placeholder 8"/>
          <p:cNvSpPr>
            <a:spLocks noGrp="1"/>
          </p:cNvSpPr>
          <p:nvPr>
            <p:ph type="sldNum" sz="quarter" idx="12"/>
          </p:nvPr>
        </p:nvSpPr>
        <p:spPr/>
        <p:txBody>
          <a:bodyPr/>
          <a:lstStyle/>
          <a:p>
            <a:fld id="{C1FF6DA9-008F-8B48-92A6-B652298478BF}" type="slidenum">
              <a:rPr lang="fr-FR" smtClean="0" altLang="en-US"/>
              <a:t>‹#›</a:t>
            </a:fld>
            <a:endParaRPr lang="fr-FR" alt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ltLang="en-US"/>
              <a:t>Click to edit Master title style</a:t>
            </a:r>
            <a:endParaRPr lang="fr-FR" altLang="en-US"/>
          </a:p>
        </p:txBody>
      </p:sp>
      <p:sp>
        <p:nvSpPr>
          <p:cNvPr id="3" name="Date Placeholder 2"/>
          <p:cNvSpPr>
            <a:spLocks noGrp="1"/>
          </p:cNvSpPr>
          <p:nvPr>
            <p:ph type="dt" sz="half" idx="10"/>
          </p:nvPr>
        </p:nvSpPr>
        <p:spPr/>
        <p:txBody>
          <a:bodyPr/>
          <a:lstStyle/>
          <a:p>
            <a:fld id="{5BCAD085-E8A6-8845-BD4E-CB4CCA059FC4}" type="datetimeFigureOut">
              <a:rPr lang="fr-FR" smtClean="0" altLang="en-US"/>
              <a:t>1/27/13</a:t>
            </a:fld>
            <a:endParaRPr lang="fr-FR" altLang="en-US"/>
          </a:p>
        </p:txBody>
      </p:sp>
      <p:sp>
        <p:nvSpPr>
          <p:cNvPr id="4" name="Footer Placeholder 3"/>
          <p:cNvSpPr>
            <a:spLocks noGrp="1"/>
          </p:cNvSpPr>
          <p:nvPr>
            <p:ph type="ftr" sz="quarter" idx="11"/>
          </p:nvPr>
        </p:nvSpPr>
        <p:spPr/>
        <p:txBody>
          <a:bodyPr/>
          <a:lstStyle/>
          <a:p>
            <a:endParaRPr lang="fr-FR" altLang="en-US"/>
          </a:p>
        </p:txBody>
      </p:sp>
      <p:sp>
        <p:nvSpPr>
          <p:cNvPr id="5" name="Slide Number Placeholder 4"/>
          <p:cNvSpPr>
            <a:spLocks noGrp="1"/>
          </p:cNvSpPr>
          <p:nvPr>
            <p:ph type="sldNum" sz="quarter" idx="12"/>
          </p:nvPr>
        </p:nvSpPr>
        <p:spPr/>
        <p:txBody>
          <a:bodyPr/>
          <a:lstStyle/>
          <a:p>
            <a:fld id="{C1FF6DA9-008F-8B48-92A6-B652298478BF}" type="slidenum">
              <a:rPr lang="fr-FR" smtClean="0" altLang="en-US"/>
              <a:t>‹#›</a:t>
            </a:fld>
            <a:endParaRPr lang="fr-FR" alt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fr-FR" smtClean="0" altLang="en-US"/>
              <a:t>1/27/13</a:t>
            </a:fld>
            <a:endParaRPr lang="fr-FR" altLang="en-US"/>
          </a:p>
        </p:txBody>
      </p:sp>
      <p:sp>
        <p:nvSpPr>
          <p:cNvPr id="3" name="Footer Placeholder 2"/>
          <p:cNvSpPr>
            <a:spLocks noGrp="1"/>
          </p:cNvSpPr>
          <p:nvPr>
            <p:ph type="ftr" sz="quarter" idx="11"/>
          </p:nvPr>
        </p:nvSpPr>
        <p:spPr/>
        <p:txBody>
          <a:bodyPr/>
          <a:lstStyle/>
          <a:p>
            <a:endParaRPr lang="fr-FR" altLang="en-US"/>
          </a:p>
        </p:txBody>
      </p:sp>
      <p:sp>
        <p:nvSpPr>
          <p:cNvPr id="4" name="Slide Number Placeholder 3"/>
          <p:cNvSpPr>
            <a:spLocks noGrp="1"/>
          </p:cNvSpPr>
          <p:nvPr>
            <p:ph type="sldNum" sz="quarter" idx="12"/>
          </p:nvPr>
        </p:nvSpPr>
        <p:spPr/>
        <p:txBody>
          <a:bodyPr/>
          <a:lstStyle/>
          <a:p>
            <a:fld id="{C1FF6DA9-008F-8B48-92A6-B652298478BF}" type="slidenum">
              <a:rPr lang="fr-FR" smtClean="0" altLang="en-US"/>
              <a:t>‹#›</a:t>
            </a:fld>
            <a:endParaRPr lang="fr-FR" alt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lang="fr-FR" altLang="en-US"/>
            </a:lvl1pPr>
          </a:lstStyle>
          <a:p>
            <a:r>
              <a:rPr lang="fr-FR" smtClean="0" altLang="en-US"/>
              <a:t>Click to edit Master title style</a:t>
            </a:r>
            <a:endParaRPr lang="fr-FR" altLang="en-US"/>
          </a:p>
        </p:txBody>
      </p:sp>
      <p:sp>
        <p:nvSpPr>
          <p:cNvPr id="3" name="Content Placeholder 2"/>
          <p:cNvSpPr>
            <a:spLocks noGrp="1"/>
          </p:cNvSpPr>
          <p:nvPr>
            <p:ph idx="1"/>
          </p:nvPr>
        </p:nvSpPr>
        <p:spPr>
          <a:xfrm>
            <a:off x="3575050" y="273050"/>
            <a:ext cx="5111750" cy="5853113"/>
          </a:xfrm>
        </p:spPr>
        <p:txBody>
          <a:bodyPr/>
          <a:lstStyle>
            <a:lvl1pPr>
              <a:defRPr sz="3200" lang="fr-FR" altLang="en-US"/>
            </a:lvl1pPr>
            <a:lvl2pPr>
              <a:defRPr sz="2800" lang="fr-FR" altLang="en-US"/>
            </a:lvl2pPr>
            <a:lvl3pPr>
              <a:defRPr sz="2400" lang="fr-FR" altLang="en-US"/>
            </a:lvl3pPr>
            <a:lvl4pPr>
              <a:defRPr sz="2000" lang="fr-FR" altLang="en-US"/>
            </a:lvl4pPr>
            <a:lvl5pPr>
              <a:defRPr sz="2000" lang="fr-FR" altLang="en-US"/>
            </a:lvl5pPr>
            <a:lvl6pPr>
              <a:defRPr sz="2000" lang="fr-FR" altLang="en-US"/>
            </a:lvl6pPr>
            <a:lvl7pPr>
              <a:defRPr sz="2000" lang="fr-FR" altLang="en-US"/>
            </a:lvl7pPr>
            <a:lvl8pPr>
              <a:defRPr sz="2000" lang="fr-FR" altLang="en-US"/>
            </a:lvl8pPr>
            <a:lvl9pPr>
              <a:defRPr sz="2000" lang="fr-FR" altLang="en-US"/>
            </a:lvl9pPr>
          </a:lstStyle>
          <a:p>
            <a:pPr lvl="0"/>
            <a:r>
              <a:rPr lang="fr-FR" smtClean="0" altLang="en-US"/>
              <a:t>Click to edit Master text styles</a:t>
            </a:r>
          </a:p>
          <a:p>
            <a:pPr lvl="1"/>
            <a:r>
              <a:rPr lang="fr-FR" smtClean="0" altLang="en-US"/>
              <a:t>Second level</a:t>
            </a:r>
          </a:p>
          <a:p>
            <a:pPr lvl="2"/>
            <a:r>
              <a:rPr lang="fr-FR" smtClean="0" altLang="en-US"/>
              <a:t>Third level</a:t>
            </a:r>
          </a:p>
          <a:p>
            <a:pPr lvl="3"/>
            <a:r>
              <a:rPr lang="fr-FR" smtClean="0" altLang="en-US"/>
              <a:t>Fourth level</a:t>
            </a:r>
          </a:p>
          <a:p>
            <a:pPr lvl="4"/>
            <a:r>
              <a:rPr lang="fr-FR" smtClean="0" altLang="en-US"/>
              <a:t>Fifth level</a:t>
            </a:r>
            <a:endParaRPr lang="fr-FR" alt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lang="fr-FR" altLang="en-US"/>
            </a:lvl1pPr>
            <a:lvl2pPr marL="457200" indent="0">
              <a:buNone/>
              <a:defRPr sz="1200" lang="fr-FR" altLang="en-US"/>
            </a:lvl2pPr>
            <a:lvl3pPr marL="914400" indent="0">
              <a:buNone/>
              <a:defRPr sz="1000" lang="fr-FR" altLang="en-US"/>
            </a:lvl3pPr>
            <a:lvl4pPr marL="1371600" indent="0">
              <a:buNone/>
              <a:defRPr sz="900" lang="fr-FR" altLang="en-US"/>
            </a:lvl4pPr>
            <a:lvl5pPr marL="1828800" indent="0">
              <a:buNone/>
              <a:defRPr sz="900" lang="fr-FR" altLang="en-US"/>
            </a:lvl5pPr>
            <a:lvl6pPr marL="2286000" indent="0">
              <a:buNone/>
              <a:defRPr sz="900" lang="fr-FR" altLang="en-US"/>
            </a:lvl6pPr>
            <a:lvl7pPr marL="2743200" indent="0">
              <a:buNone/>
              <a:defRPr sz="900" lang="fr-FR" altLang="en-US"/>
            </a:lvl7pPr>
            <a:lvl8pPr marL="3200400" indent="0">
              <a:buNone/>
              <a:defRPr sz="900" lang="fr-FR" altLang="en-US"/>
            </a:lvl8pPr>
            <a:lvl9pPr marL="3657600" indent="0">
              <a:buNone/>
              <a:defRPr sz="900" lang="fr-FR" altLang="en-US"/>
            </a:lvl9pPr>
          </a:lstStyle>
          <a:p>
            <a:pPr lvl="0"/>
            <a:r>
              <a:rPr lang="fr-FR" smtClean="0" alt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fr-FR" smtClean="0" altLang="en-US"/>
              <a:t>1/27/13</a:t>
            </a:fld>
            <a:endParaRPr lang="fr-FR" altLang="en-US"/>
          </a:p>
        </p:txBody>
      </p:sp>
      <p:sp>
        <p:nvSpPr>
          <p:cNvPr id="6" name="Footer Placeholder 5"/>
          <p:cNvSpPr>
            <a:spLocks noGrp="1"/>
          </p:cNvSpPr>
          <p:nvPr>
            <p:ph type="ftr" sz="quarter" idx="11"/>
          </p:nvPr>
        </p:nvSpPr>
        <p:spPr/>
        <p:txBody>
          <a:bodyPr/>
          <a:lstStyle/>
          <a:p>
            <a:endParaRPr lang="fr-FR" altLang="en-US"/>
          </a:p>
        </p:txBody>
      </p:sp>
      <p:sp>
        <p:nvSpPr>
          <p:cNvPr id="7" name="Slide Number Placeholder 6"/>
          <p:cNvSpPr>
            <a:spLocks noGrp="1"/>
          </p:cNvSpPr>
          <p:nvPr>
            <p:ph type="sldNum" sz="quarter" idx="12"/>
          </p:nvPr>
        </p:nvSpPr>
        <p:spPr/>
        <p:txBody>
          <a:bodyPr/>
          <a:lstStyle/>
          <a:p>
            <a:fld id="{C1FF6DA9-008F-8B48-92A6-B652298478BF}" type="slidenum">
              <a:rPr lang="fr-FR" smtClean="0" altLang="en-US"/>
              <a:t>‹#›</a:t>
            </a:fld>
            <a:endParaRPr lang="fr-FR" alt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lang="fr-FR" altLang="en-US"/>
            </a:lvl1pPr>
          </a:lstStyle>
          <a:p>
            <a:r>
              <a:rPr lang="fr-FR" smtClean="0" altLang="en-US"/>
              <a:t>Click to edit Master title style</a:t>
            </a:r>
            <a:endParaRPr lang="fr-FR" alt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lang="fr-FR" altLang="en-US"/>
            </a:lvl1pPr>
            <a:lvl2pPr marL="457200" indent="0">
              <a:buNone/>
              <a:defRPr sz="2800" lang="fr-FR" altLang="en-US"/>
            </a:lvl2pPr>
            <a:lvl3pPr marL="914400" indent="0">
              <a:buNone/>
              <a:defRPr sz="2400" lang="fr-FR" altLang="en-US"/>
            </a:lvl3pPr>
            <a:lvl4pPr marL="1371600" indent="0">
              <a:buNone/>
              <a:defRPr sz="2000" lang="fr-FR" altLang="en-US"/>
            </a:lvl4pPr>
            <a:lvl5pPr marL="1828800" indent="0">
              <a:buNone/>
              <a:defRPr sz="2000" lang="fr-FR" altLang="en-US"/>
            </a:lvl5pPr>
            <a:lvl6pPr marL="2286000" indent="0">
              <a:buNone/>
              <a:defRPr sz="2000" lang="fr-FR" altLang="en-US"/>
            </a:lvl6pPr>
            <a:lvl7pPr marL="2743200" indent="0">
              <a:buNone/>
              <a:defRPr sz="2000" lang="fr-FR" altLang="en-US"/>
            </a:lvl7pPr>
            <a:lvl8pPr marL="3200400" indent="0">
              <a:buNone/>
              <a:defRPr sz="2000" lang="fr-FR" altLang="en-US"/>
            </a:lvl8pPr>
            <a:lvl9pPr marL="3657600" indent="0">
              <a:buNone/>
              <a:defRPr sz="2000" lang="fr-FR" altLang="en-US"/>
            </a:lvl9pPr>
          </a:lstStyle>
          <a:p>
            <a:endParaRPr lang="fr-FR" alt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lang="fr-FR" altLang="en-US"/>
            </a:lvl1pPr>
            <a:lvl2pPr marL="457200" indent="0">
              <a:buNone/>
              <a:defRPr sz="1200" lang="fr-FR" altLang="en-US"/>
            </a:lvl2pPr>
            <a:lvl3pPr marL="914400" indent="0">
              <a:buNone/>
              <a:defRPr sz="1000" lang="fr-FR" altLang="en-US"/>
            </a:lvl3pPr>
            <a:lvl4pPr marL="1371600" indent="0">
              <a:buNone/>
              <a:defRPr sz="900" lang="fr-FR" altLang="en-US"/>
            </a:lvl4pPr>
            <a:lvl5pPr marL="1828800" indent="0">
              <a:buNone/>
              <a:defRPr sz="900" lang="fr-FR" altLang="en-US"/>
            </a:lvl5pPr>
            <a:lvl6pPr marL="2286000" indent="0">
              <a:buNone/>
              <a:defRPr sz="900" lang="fr-FR" altLang="en-US"/>
            </a:lvl6pPr>
            <a:lvl7pPr marL="2743200" indent="0">
              <a:buNone/>
              <a:defRPr sz="900" lang="fr-FR" altLang="en-US"/>
            </a:lvl7pPr>
            <a:lvl8pPr marL="3200400" indent="0">
              <a:buNone/>
              <a:defRPr sz="900" lang="fr-FR" altLang="en-US"/>
            </a:lvl8pPr>
            <a:lvl9pPr marL="3657600" indent="0">
              <a:buNone/>
              <a:defRPr sz="900" lang="fr-FR" altLang="en-US"/>
            </a:lvl9pPr>
          </a:lstStyle>
          <a:p>
            <a:pPr lvl="0"/>
            <a:r>
              <a:rPr lang="fr-FR" smtClean="0" alt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fr-FR" smtClean="0" altLang="en-US"/>
              <a:t>1/27/13</a:t>
            </a:fld>
            <a:endParaRPr lang="fr-FR" altLang="en-US"/>
          </a:p>
        </p:txBody>
      </p:sp>
      <p:sp>
        <p:nvSpPr>
          <p:cNvPr id="6" name="Footer Placeholder 5"/>
          <p:cNvSpPr>
            <a:spLocks noGrp="1"/>
          </p:cNvSpPr>
          <p:nvPr>
            <p:ph type="ftr" sz="quarter" idx="11"/>
          </p:nvPr>
        </p:nvSpPr>
        <p:spPr/>
        <p:txBody>
          <a:bodyPr/>
          <a:lstStyle/>
          <a:p>
            <a:endParaRPr lang="fr-FR" altLang="en-US"/>
          </a:p>
        </p:txBody>
      </p:sp>
      <p:sp>
        <p:nvSpPr>
          <p:cNvPr id="7" name="Slide Number Placeholder 6"/>
          <p:cNvSpPr>
            <a:spLocks noGrp="1"/>
          </p:cNvSpPr>
          <p:nvPr>
            <p:ph type="sldNum" sz="quarter" idx="12"/>
          </p:nvPr>
        </p:nvSpPr>
        <p:spPr/>
        <p:txBody>
          <a:bodyPr/>
          <a:lstStyle/>
          <a:p>
            <a:fld id="{C1FF6DA9-008F-8B48-92A6-B652298478BF}" type="slidenum">
              <a:rPr lang="fr-FR" smtClean="0" altLang="en-US"/>
              <a:t>‹#›</a:t>
            </a:fld>
            <a:endParaRPr lang="fr-FR" alt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ltLang="en-US"/>
              <a:t>Click to edit Master title style</a:t>
            </a:r>
            <a:endParaRPr lang="fr-FR" altLang="en-US"/>
          </a:p>
        </p:txBody>
      </p:sp>
      <p:sp>
        <p:nvSpPr>
          <p:cNvPr id="3" name="Vertical Text Placeholder 2"/>
          <p:cNvSpPr>
            <a:spLocks noGrp="1"/>
          </p:cNvSpPr>
          <p:nvPr>
            <p:ph type="body" orient="vert" idx="1"/>
          </p:nvPr>
        </p:nvSpPr>
        <p:spPr/>
        <p:txBody>
          <a:bodyPr vert="eaVert"/>
          <a:lstStyle/>
          <a:p>
            <a:pPr lvl="0"/>
            <a:r>
              <a:rPr lang="fr-FR" smtClean="0" altLang="en-US"/>
              <a:t>Click to edit Master text styles</a:t>
            </a:r>
          </a:p>
          <a:p>
            <a:pPr lvl="1"/>
            <a:r>
              <a:rPr lang="fr-FR" smtClean="0" altLang="en-US"/>
              <a:t>Second level</a:t>
            </a:r>
          </a:p>
          <a:p>
            <a:pPr lvl="2"/>
            <a:r>
              <a:rPr lang="fr-FR" smtClean="0" altLang="en-US"/>
              <a:t>Third level</a:t>
            </a:r>
          </a:p>
          <a:p>
            <a:pPr lvl="3"/>
            <a:r>
              <a:rPr lang="fr-FR" smtClean="0" altLang="en-US"/>
              <a:t>Fourth level</a:t>
            </a:r>
          </a:p>
          <a:p>
            <a:pPr lvl="4"/>
            <a:r>
              <a:rPr lang="fr-FR" smtClean="0" altLang="en-US"/>
              <a:t>Fifth level</a:t>
            </a:r>
            <a:endParaRPr lang="fr-FR" altLang="en-US"/>
          </a:p>
        </p:txBody>
      </p:sp>
      <p:sp>
        <p:nvSpPr>
          <p:cNvPr id="4" name="Date Placeholder 3"/>
          <p:cNvSpPr>
            <a:spLocks noGrp="1"/>
          </p:cNvSpPr>
          <p:nvPr>
            <p:ph type="dt" sz="half" idx="10"/>
          </p:nvPr>
        </p:nvSpPr>
        <p:spPr/>
        <p:txBody>
          <a:bodyPr/>
          <a:lstStyle/>
          <a:p>
            <a:fld id="{5BCAD085-E8A6-8845-BD4E-CB4CCA059FC4}" type="datetimeFigureOut">
              <a:rPr lang="fr-FR" smtClean="0" altLang="en-US"/>
              <a:t>1/27/13</a:t>
            </a:fld>
            <a:endParaRPr lang="fr-FR" altLang="en-US"/>
          </a:p>
        </p:txBody>
      </p:sp>
      <p:sp>
        <p:nvSpPr>
          <p:cNvPr id="5" name="Footer Placeholder 4"/>
          <p:cNvSpPr>
            <a:spLocks noGrp="1"/>
          </p:cNvSpPr>
          <p:nvPr>
            <p:ph type="ftr" sz="quarter" idx="11"/>
          </p:nvPr>
        </p:nvSpPr>
        <p:spPr/>
        <p:txBody>
          <a:bodyPr/>
          <a:lstStyle/>
          <a:p>
            <a:endParaRPr lang="fr-FR" altLang="en-US"/>
          </a:p>
        </p:txBody>
      </p:sp>
      <p:sp>
        <p:nvSpPr>
          <p:cNvPr id="6" name="Slide Number Placeholder 5"/>
          <p:cNvSpPr>
            <a:spLocks noGrp="1"/>
          </p:cNvSpPr>
          <p:nvPr>
            <p:ph type="sldNum" sz="quarter" idx="12"/>
          </p:nvPr>
        </p:nvSpPr>
        <p:spPr/>
        <p:txBody>
          <a:bodyPr/>
          <a:lstStyle/>
          <a:p>
            <a:fld id="{C1FF6DA9-008F-8B48-92A6-B652298478BF}" type="slidenum">
              <a:rPr lang="fr-FR" smtClean="0" altLang="en-US"/>
              <a:t>‹#›</a:t>
            </a:fld>
            <a:endParaRPr lang="fr-FR" alt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fr-FR" smtClean="0" altLang="en-US"/>
              <a:t>Click to edit Master title style</a:t>
            </a:r>
            <a:endParaRPr lang="fr-FR" alt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fr-FR" smtClean="0" altLang="en-US"/>
              <a:t>Click to edit Master text styles</a:t>
            </a:r>
          </a:p>
          <a:p>
            <a:pPr lvl="1"/>
            <a:r>
              <a:rPr lang="fr-FR" smtClean="0" altLang="en-US"/>
              <a:t>Second level</a:t>
            </a:r>
          </a:p>
          <a:p>
            <a:pPr lvl="2"/>
            <a:r>
              <a:rPr lang="fr-FR" smtClean="0" altLang="en-US"/>
              <a:t>Third level</a:t>
            </a:r>
          </a:p>
          <a:p>
            <a:pPr lvl="3"/>
            <a:r>
              <a:rPr lang="fr-FR" smtClean="0" altLang="en-US"/>
              <a:t>Fourth level</a:t>
            </a:r>
          </a:p>
          <a:p>
            <a:pPr lvl="4"/>
            <a:r>
              <a:rPr lang="fr-FR" smtClean="0" altLang="en-US"/>
              <a:t>Fifth level</a:t>
            </a:r>
            <a:endParaRPr lang="fr-FR" altLang="en-US"/>
          </a:p>
        </p:txBody>
      </p:sp>
      <p:sp>
        <p:nvSpPr>
          <p:cNvPr id="4" name="Date Placeholder 3"/>
          <p:cNvSpPr>
            <a:spLocks noGrp="1"/>
          </p:cNvSpPr>
          <p:nvPr>
            <p:ph type="dt" sz="half" idx="10"/>
          </p:nvPr>
        </p:nvSpPr>
        <p:spPr/>
        <p:txBody>
          <a:bodyPr/>
          <a:lstStyle/>
          <a:p>
            <a:fld id="{5BCAD085-E8A6-8845-BD4E-CB4CCA059FC4}" type="datetimeFigureOut">
              <a:rPr lang="fr-FR" smtClean="0" altLang="en-US"/>
              <a:t>1/27/13</a:t>
            </a:fld>
            <a:endParaRPr lang="fr-FR" altLang="en-US"/>
          </a:p>
        </p:txBody>
      </p:sp>
      <p:sp>
        <p:nvSpPr>
          <p:cNvPr id="5" name="Footer Placeholder 4"/>
          <p:cNvSpPr>
            <a:spLocks noGrp="1"/>
          </p:cNvSpPr>
          <p:nvPr>
            <p:ph type="ftr" sz="quarter" idx="11"/>
          </p:nvPr>
        </p:nvSpPr>
        <p:spPr/>
        <p:txBody>
          <a:bodyPr/>
          <a:lstStyle/>
          <a:p>
            <a:endParaRPr lang="fr-FR" altLang="en-US"/>
          </a:p>
        </p:txBody>
      </p:sp>
      <p:sp>
        <p:nvSpPr>
          <p:cNvPr id="6" name="Slide Number Placeholder 5"/>
          <p:cNvSpPr>
            <a:spLocks noGrp="1"/>
          </p:cNvSpPr>
          <p:nvPr>
            <p:ph type="sldNum" sz="quarter" idx="12"/>
          </p:nvPr>
        </p:nvSpPr>
        <p:spPr/>
        <p:txBody>
          <a:bodyPr/>
          <a:lstStyle/>
          <a:p>
            <a:fld id="{C1FF6DA9-008F-8B48-92A6-B652298478BF}" type="slidenum">
              <a:rPr lang="fr-FR" smtClean="0" altLang="en-US"/>
              <a:t>‹#›</a:t>
            </a:fld>
            <a:endParaRPr lang="fr-FR" alt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ltLang="en-US"/>
              <a:t>Click to edit Master title style</a:t>
            </a:r>
            <a:endParaRPr lang="fr-FR" alt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ltLang="en-US"/>
              <a:t>Click to edit Master text styles</a:t>
            </a:r>
          </a:p>
          <a:p>
            <a:pPr lvl="1"/>
            <a:r>
              <a:rPr lang="fr-FR" smtClean="0" altLang="en-US"/>
              <a:t>Second level</a:t>
            </a:r>
          </a:p>
          <a:p>
            <a:pPr lvl="2"/>
            <a:r>
              <a:rPr lang="fr-FR" smtClean="0" altLang="en-US"/>
              <a:t>Third level</a:t>
            </a:r>
          </a:p>
          <a:p>
            <a:pPr lvl="3"/>
            <a:r>
              <a:rPr lang="fr-FR" smtClean="0" altLang="en-US"/>
              <a:t>Fourth level</a:t>
            </a:r>
          </a:p>
          <a:p>
            <a:pPr lvl="4"/>
            <a:r>
              <a:rPr lang="fr-FR" smtClean="0" altLang="en-US"/>
              <a:t>Fifth level</a:t>
            </a:r>
            <a:endParaRPr lang="fr-FR" alt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fr-FR" altLang="en-US">
                <a:solidFill>
                  <a:schemeClr val="tx1">
                    <a:tint val="75000"/>
                  </a:schemeClr>
                </a:solidFill>
              </a:defRPr>
            </a:lvl1pPr>
          </a:lstStyle>
          <a:p>
            <a:fld id="{5BCAD085-E8A6-8845-BD4E-CB4CCA059FC4}" type="datetimeFigureOut">
              <a:rPr lang="fr-FR" smtClean="0" altLang="en-US"/>
              <a:t>1/27/13</a:t>
            </a:fld>
            <a:endParaRPr lang="fr-FR"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fr-FR" altLang="en-US">
                <a:solidFill>
                  <a:schemeClr val="tx1">
                    <a:tint val="75000"/>
                  </a:schemeClr>
                </a:solidFill>
              </a:defRPr>
            </a:lvl1pPr>
          </a:lstStyle>
          <a:p>
            <a:endParaRPr lang="fr-FR" alt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fr-FR" altLang="en-US">
                <a:solidFill>
                  <a:schemeClr val="tx1">
                    <a:tint val="75000"/>
                  </a:schemeClr>
                </a:solidFill>
              </a:defRPr>
            </a:lvl1pPr>
          </a:lstStyle>
          <a:p>
            <a:fld id="{C1FF6DA9-008F-8B48-92A6-B652298478BF}" type="slidenum">
              <a:rPr lang="fr-FR" smtClean="0" altLang="en-US"/>
              <a:t>‹#›</a:t>
            </a:fld>
            <a:endParaRPr lang="fr-FR" alt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lang="fr-FR" altLang="en-US">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fr-FR" altLang="en-US">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fr-FR" altLang="en-US">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fr-FR" altLang="en-US">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fr-FR" altLang="en-US">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fr-FR" altLang="en-US">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fr-FR" altLang="en-US">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fr-FR" altLang="en-US">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fr-FR" altLang="en-US">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fr-FR" altLang="en-US">
          <a:solidFill>
            <a:schemeClr val="tx1"/>
          </a:solidFill>
          <a:latin typeface="+mn-lt"/>
          <a:ea typeface="+mn-ea"/>
          <a:cs typeface="+mn-cs"/>
        </a:defRPr>
      </a:lvl9pPr>
    </p:bodyStyle>
    <p:otherStyle>
      <a:defPPr>
        <a:defRPr lang="fr-FR" altLang="en-US"/>
      </a:defPPr>
      <a:lvl1pPr marL="0" algn="l" defTabSz="457200" rtl="0" eaLnBrk="1" latinLnBrk="0" hangingPunct="1">
        <a:defRPr sz="1800" kern="1200" lang="fr-FR" altLang="en-US">
          <a:solidFill>
            <a:schemeClr val="tx1"/>
          </a:solidFill>
          <a:latin typeface="+mn-lt"/>
          <a:ea typeface="+mn-ea"/>
          <a:cs typeface="+mn-cs"/>
        </a:defRPr>
      </a:lvl1pPr>
      <a:lvl2pPr marL="457200" algn="l" defTabSz="457200" rtl="0" eaLnBrk="1" latinLnBrk="0" hangingPunct="1">
        <a:defRPr sz="1800" kern="1200" lang="fr-FR" altLang="en-US">
          <a:solidFill>
            <a:schemeClr val="tx1"/>
          </a:solidFill>
          <a:latin typeface="+mn-lt"/>
          <a:ea typeface="+mn-ea"/>
          <a:cs typeface="+mn-cs"/>
        </a:defRPr>
      </a:lvl2pPr>
      <a:lvl3pPr marL="914400" algn="l" defTabSz="457200" rtl="0" eaLnBrk="1" latinLnBrk="0" hangingPunct="1">
        <a:defRPr sz="1800" kern="1200" lang="fr-FR" altLang="en-US">
          <a:solidFill>
            <a:schemeClr val="tx1"/>
          </a:solidFill>
          <a:latin typeface="+mn-lt"/>
          <a:ea typeface="+mn-ea"/>
          <a:cs typeface="+mn-cs"/>
        </a:defRPr>
      </a:lvl3pPr>
      <a:lvl4pPr marL="1371600" algn="l" defTabSz="457200" rtl="0" eaLnBrk="1" latinLnBrk="0" hangingPunct="1">
        <a:defRPr sz="1800" kern="1200" lang="fr-FR" altLang="en-US">
          <a:solidFill>
            <a:schemeClr val="tx1"/>
          </a:solidFill>
          <a:latin typeface="+mn-lt"/>
          <a:ea typeface="+mn-ea"/>
          <a:cs typeface="+mn-cs"/>
        </a:defRPr>
      </a:lvl4pPr>
      <a:lvl5pPr marL="1828800" algn="l" defTabSz="457200" rtl="0" eaLnBrk="1" latinLnBrk="0" hangingPunct="1">
        <a:defRPr sz="1800" kern="1200" lang="fr-FR" altLang="en-US">
          <a:solidFill>
            <a:schemeClr val="tx1"/>
          </a:solidFill>
          <a:latin typeface="+mn-lt"/>
          <a:ea typeface="+mn-ea"/>
          <a:cs typeface="+mn-cs"/>
        </a:defRPr>
      </a:lvl5pPr>
      <a:lvl6pPr marL="2286000" algn="l" defTabSz="457200" rtl="0" eaLnBrk="1" latinLnBrk="0" hangingPunct="1">
        <a:defRPr sz="1800" kern="1200" lang="fr-FR" altLang="en-US">
          <a:solidFill>
            <a:schemeClr val="tx1"/>
          </a:solidFill>
          <a:latin typeface="+mn-lt"/>
          <a:ea typeface="+mn-ea"/>
          <a:cs typeface="+mn-cs"/>
        </a:defRPr>
      </a:lvl6pPr>
      <a:lvl7pPr marL="2743200" algn="l" defTabSz="457200" rtl="0" eaLnBrk="1" latinLnBrk="0" hangingPunct="1">
        <a:defRPr sz="1800" kern="1200" lang="fr-FR" altLang="en-US">
          <a:solidFill>
            <a:schemeClr val="tx1"/>
          </a:solidFill>
          <a:latin typeface="+mn-lt"/>
          <a:ea typeface="+mn-ea"/>
          <a:cs typeface="+mn-cs"/>
        </a:defRPr>
      </a:lvl7pPr>
      <a:lvl8pPr marL="3200400" algn="l" defTabSz="457200" rtl="0" eaLnBrk="1" latinLnBrk="0" hangingPunct="1">
        <a:defRPr sz="1800" kern="1200" lang="fr-FR" altLang="en-US">
          <a:solidFill>
            <a:schemeClr val="tx1"/>
          </a:solidFill>
          <a:latin typeface="+mn-lt"/>
          <a:ea typeface="+mn-ea"/>
          <a:cs typeface="+mn-cs"/>
        </a:defRPr>
      </a:lvl8pPr>
      <a:lvl9pPr marL="3657600" algn="l" defTabSz="457200" rtl="0" eaLnBrk="1" latinLnBrk="0" hangingPunct="1">
        <a:defRPr sz="1800" kern="1200" lang="fr-FR" altLang="en-US">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3.png"/><Relationship Id="rId6" Type="http://schemas.openxmlformats.org/officeDocument/2006/relationships/image" Target="../media/image12.png"/><Relationship Id="rId7"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40080" y="685800"/>
            <a:ext cx="8229600" cy="320040"/>
          </a:xfrm>
          <a:prstGeom prst="rect">
            <a:avLst/>
          </a:prstGeom>
          <a:noFill/>
        </p:spPr>
        <p:txBody>
          <a:bodyPr wrap="square" lIns="0" rIns="0" tIns="0" bIns="0">
            <a:noAutofit/>
          </a:bodyPr>
          <a:lstStyle/>
          <a:p>
            <a:r>
              <a:rPr sz="1300" b="1" i="0" spc="200" lang="fr-FR" altLang="en-US">
                <a:solidFill>
                  <a:srgbClr val="2DBE8C"/>
                </a:solidFill>
                <a:latin typeface="Calibri"/>
              </a:rPr>
              <a:t>SPOTIFY - DATA &amp; AI GOVERNANCE PROJECT</a:t>
            </a:r>
          </a:p>
        </p:txBody>
      </p:sp>
      <p:sp>
        <p:nvSpPr>
          <p:cNvPr id="3" name="TextBox 2"/>
          <p:cNvSpPr txBox="1"/>
          <p:nvPr/>
        </p:nvSpPr>
        <p:spPr>
          <a:xfrm>
            <a:off x="640080" y="1417320"/>
            <a:ext cx="8503920" cy="1554480"/>
          </a:xfrm>
          <a:prstGeom prst="rect">
            <a:avLst/>
          </a:prstGeom>
          <a:noFill/>
        </p:spPr>
        <p:txBody>
          <a:bodyPr wrap="square" lIns="0" rIns="0" tIns="0" bIns="0">
            <a:noAutofit/>
          </a:bodyPr>
          <a:lstStyle/>
          <a:p>
            <a:pPr>
              <a:lnSpc>
                <a:spcPct val="105000"/>
              </a:lnSpc>
            </a:pPr>
            <a:r>
              <a:rPr sz="4000" b="1" i="0" lang="fr-FR" altLang="en-US">
                <a:solidFill>
                  <a:srgbClr val="FFFFFF"/>
                </a:solidFill>
                <a:latin typeface="Cambria"/>
              </a:rPr>
              <a:t>Gouvernance des Données et de l'Intelligence Artificielle</a:t>
            </a:r>
          </a:p>
        </p:txBody>
      </p:sp>
      <p:sp>
        <p:nvSpPr>
          <p:cNvPr id="4" name="TextBox 3"/>
          <p:cNvSpPr txBox="1"/>
          <p:nvPr/>
        </p:nvSpPr>
        <p:spPr>
          <a:xfrm>
            <a:off x="640080" y="2880360"/>
            <a:ext cx="7863840" cy="640080"/>
          </a:xfrm>
          <a:prstGeom prst="rect">
            <a:avLst/>
          </a:prstGeom>
          <a:noFill/>
        </p:spPr>
        <p:txBody>
          <a:bodyPr wrap="square" lIns="0" rIns="0" tIns="0" bIns="0">
            <a:noAutofit/>
          </a:bodyPr>
          <a:lstStyle/>
          <a:p>
            <a:r>
              <a:rPr sz="1700" b="0" i="1" lang="fr-FR" altLang="en-US">
                <a:solidFill>
                  <a:srgbClr val="CADCFC"/>
                </a:solidFill>
                <a:latin typeface="Calibri"/>
              </a:rPr>
              <a:t>Cadre, organisation et plan de mise en œuvre - Présentation au Comité Exécutif et au Leadership IA</a:t>
            </a:r>
          </a:p>
        </p:txBody>
      </p:sp>
      <p:sp>
        <p:nvSpPr>
          <p:cNvPr id="5" name="TextBox 4"/>
          <p:cNvSpPr txBox="1"/>
          <p:nvPr/>
        </p:nvSpPr>
        <p:spPr>
          <a:xfrm>
            <a:off x="640080" y="4160520"/>
            <a:ext cx="2377440" cy="685800"/>
          </a:xfrm>
          <a:prstGeom prst="rect">
            <a:avLst/>
          </a:prstGeom>
          <a:noFill/>
        </p:spPr>
        <p:txBody>
          <a:bodyPr wrap="square" lIns="0" rIns="0" tIns="0" bIns="0">
            <a:noAutofit/>
          </a:bodyPr>
          <a:lstStyle/>
          <a:p>
            <a:r>
              <a:rPr sz="3400" b="1" i="0" lang="fr-FR" altLang="en-US">
                <a:solidFill>
                  <a:srgbClr val="2DBE8C"/>
                </a:solidFill>
                <a:latin typeface="Cambria"/>
              </a:rPr>
              <a:t>450M+</a:t>
            </a:r>
          </a:p>
        </p:txBody>
      </p:sp>
      <p:sp>
        <p:nvSpPr>
          <p:cNvPr id="6" name="TextBox 5"/>
          <p:cNvSpPr txBox="1"/>
          <p:nvPr/>
        </p:nvSpPr>
        <p:spPr>
          <a:xfrm>
            <a:off x="640080" y="4818888"/>
            <a:ext cx="2377440" cy="365760"/>
          </a:xfrm>
          <a:prstGeom prst="rect">
            <a:avLst/>
          </a:prstGeom>
          <a:noFill/>
        </p:spPr>
        <p:txBody>
          <a:bodyPr wrap="square" lIns="0" rIns="0" tIns="0" bIns="0">
            <a:noAutofit/>
          </a:bodyPr>
          <a:lstStyle/>
          <a:p>
            <a:r>
              <a:rPr sz="1250" b="0" i="0" lang="fr-FR" altLang="en-US">
                <a:solidFill>
                  <a:srgbClr val="CADCFC"/>
                </a:solidFill>
                <a:latin typeface="Calibri"/>
              </a:rPr>
              <a:t>utilisateurs actifs</a:t>
            </a:r>
          </a:p>
        </p:txBody>
      </p:sp>
      <p:sp>
        <p:nvSpPr>
          <p:cNvPr id="7" name="TextBox 6"/>
          <p:cNvSpPr txBox="1"/>
          <p:nvPr/>
        </p:nvSpPr>
        <p:spPr>
          <a:xfrm>
            <a:off x="3337560" y="4160520"/>
            <a:ext cx="2377440" cy="685800"/>
          </a:xfrm>
          <a:prstGeom prst="rect">
            <a:avLst/>
          </a:prstGeom>
          <a:noFill/>
        </p:spPr>
        <p:txBody>
          <a:bodyPr wrap="square" lIns="0" rIns="0" tIns="0" bIns="0">
            <a:noAutofit/>
          </a:bodyPr>
          <a:lstStyle/>
          <a:p>
            <a:r>
              <a:rPr sz="3400" b="1" i="0" lang="fr-FR" altLang="en-US">
                <a:solidFill>
                  <a:srgbClr val="2DBE8C"/>
                </a:solidFill>
                <a:latin typeface="Cambria"/>
              </a:rPr>
              <a:t>200M</a:t>
            </a:r>
          </a:p>
        </p:txBody>
      </p:sp>
      <p:sp>
        <p:nvSpPr>
          <p:cNvPr id="8" name="TextBox 7"/>
          <p:cNvSpPr txBox="1"/>
          <p:nvPr/>
        </p:nvSpPr>
        <p:spPr>
          <a:xfrm>
            <a:off x="3337560" y="4818888"/>
            <a:ext cx="2377440" cy="365760"/>
          </a:xfrm>
          <a:prstGeom prst="rect">
            <a:avLst/>
          </a:prstGeom>
          <a:noFill/>
        </p:spPr>
        <p:txBody>
          <a:bodyPr wrap="square" lIns="0" rIns="0" tIns="0" bIns="0">
            <a:noAutofit/>
          </a:bodyPr>
          <a:lstStyle/>
          <a:p>
            <a:r>
              <a:rPr sz="1250" b="0" i="0" lang="fr-FR" altLang="en-US">
                <a:solidFill>
                  <a:srgbClr val="CADCFC"/>
                </a:solidFill>
                <a:latin typeface="Calibri"/>
              </a:rPr>
              <a:t>abonnés premium</a:t>
            </a:r>
          </a:p>
        </p:txBody>
      </p:sp>
      <p:sp>
        <p:nvSpPr>
          <p:cNvPr id="9" name="TextBox 8"/>
          <p:cNvSpPr txBox="1"/>
          <p:nvPr/>
        </p:nvSpPr>
        <p:spPr>
          <a:xfrm>
            <a:off x="6035040" y="4160520"/>
            <a:ext cx="2377440" cy="685800"/>
          </a:xfrm>
          <a:prstGeom prst="rect">
            <a:avLst/>
          </a:prstGeom>
          <a:noFill/>
        </p:spPr>
        <p:txBody>
          <a:bodyPr wrap="square" lIns="0" rIns="0" tIns="0" bIns="0">
            <a:noAutofit/>
          </a:bodyPr>
          <a:lstStyle/>
          <a:p>
            <a:r>
              <a:rPr sz="3400" b="1" i="0" lang="fr-FR" altLang="en-US">
                <a:solidFill>
                  <a:srgbClr val="2DBE8C"/>
                </a:solidFill>
                <a:latin typeface="Cambria"/>
              </a:rPr>
              <a:t>180+</a:t>
            </a:r>
          </a:p>
        </p:txBody>
      </p:sp>
      <p:sp>
        <p:nvSpPr>
          <p:cNvPr id="10" name="TextBox 9"/>
          <p:cNvSpPr txBox="1"/>
          <p:nvPr/>
        </p:nvSpPr>
        <p:spPr>
          <a:xfrm>
            <a:off x="6035040" y="4818888"/>
            <a:ext cx="2377440" cy="365760"/>
          </a:xfrm>
          <a:prstGeom prst="rect">
            <a:avLst/>
          </a:prstGeom>
          <a:noFill/>
        </p:spPr>
        <p:txBody>
          <a:bodyPr wrap="square" lIns="0" rIns="0" tIns="0" bIns="0">
            <a:noAutofit/>
          </a:bodyPr>
          <a:lstStyle/>
          <a:p>
            <a:r>
              <a:rPr sz="1250" b="0" i="0" lang="fr-FR" altLang="en-US">
                <a:solidFill>
                  <a:srgbClr val="CADCFC"/>
                </a:solidFill>
                <a:latin typeface="Calibri"/>
              </a:rPr>
              <a:t>pays d'opération</a:t>
            </a:r>
          </a:p>
        </p:txBody>
      </p:sp>
      <p:sp>
        <p:nvSpPr>
          <p:cNvPr id="11" name="TextBox 10"/>
          <p:cNvSpPr txBox="1"/>
          <p:nvPr/>
        </p:nvSpPr>
        <p:spPr>
          <a:xfrm>
            <a:off x="640080" y="6355080"/>
            <a:ext cx="7315200" cy="274320"/>
          </a:xfrm>
          <a:prstGeom prst="rect">
            <a:avLst/>
          </a:prstGeom>
          <a:noFill/>
        </p:spPr>
        <p:txBody>
          <a:bodyPr wrap="square" lIns="0" rIns="0" tIns="0" bIns="0">
            <a:noAutofit/>
          </a:bodyPr>
          <a:lstStyle/>
          <a:p>
            <a:r>
              <a:rPr sz="1050" b="0" i="0" lang="fr-FR" altLang="en-US">
                <a:solidFill>
                  <a:srgbClr val="9FB0C9"/>
                </a:solidFill>
                <a:latin typeface="Calibri"/>
              </a:rPr>
              <a:t>Nicolas Pichon - AIA RNCP 38777 - BC01 - Step 4 - v5 - 2026/10/13</a:t>
            </a:r>
          </a:p>
        </p:txBody>
      </p:sp>
      <p:sp>
        <p:nvSpPr>
          <p:cNvPr id="12" name="TextBox 11"/>
          <p:cNvSpPr txBox="1"/>
          <p:nvPr/>
        </p:nvSpPr>
        <p:spPr>
          <a:xfrm>
            <a:off x="11002975" y="6355080"/>
            <a:ext cx="822960" cy="274320"/>
          </a:xfrm>
          <a:prstGeom prst="rect">
            <a:avLst/>
          </a:prstGeom>
          <a:noFill/>
        </p:spPr>
        <p:txBody>
          <a:bodyPr wrap="square" lIns="0" rIns="0" tIns="0" bIns="0">
            <a:noAutofit/>
          </a:bodyPr>
          <a:lstStyle/>
          <a:p>
            <a:pPr algn="r"/>
            <a:r>
              <a:rPr sz="1050" b="0" i="0" lang="fr-FR" altLang="en-US">
                <a:solidFill>
                  <a:srgbClr val="9FB0C9"/>
                </a:solidFill>
                <a:latin typeface="Calibri"/>
              </a:rPr>
              <a:t>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4F7"/>
        </a:solidFill>
        <a:effectLst/>
      </p:bgPr>
    </p:bg>
    <p:spTree>
      <p:nvGrpSpPr>
        <p:cNvPr id="1" name=""/>
        <p:cNvGrpSpPr/>
        <p:nvPr/>
      </p:nvGrpSpPr>
      <p:grpSpPr/>
      <p:sp>
        <p:nvSpPr>
          <p:cNvPr id="2" name="TextBox 1"/>
          <p:cNvSpPr txBox="1"/>
          <p:nvPr/>
        </p:nvSpPr>
        <p:spPr>
          <a:xfrm>
            <a:off x="548640" y="384048"/>
            <a:ext cx="7315200" cy="292608"/>
          </a:xfrm>
          <a:prstGeom prst="rect">
            <a:avLst/>
          </a:prstGeom>
          <a:noFill/>
        </p:spPr>
        <p:txBody>
          <a:bodyPr wrap="square" lIns="0" rIns="0" tIns="0" bIns="0">
            <a:noAutofit/>
          </a:bodyPr>
          <a:lstStyle/>
          <a:p>
            <a:r>
              <a:rPr sz="1200" b="1" i="0" spc="200" lang="fr-FR" altLang="en-US">
                <a:solidFill>
                  <a:srgbClr val="1C8C68"/>
                </a:solidFill>
                <a:latin typeface="Calibri"/>
              </a:rPr>
              <a:t>DIAGNOSTIC</a:t>
            </a:r>
          </a:p>
        </p:txBody>
      </p:sp>
      <p:sp>
        <p:nvSpPr>
          <p:cNvPr id="3" name="TextBox 2"/>
          <p:cNvSpPr txBox="1"/>
          <p:nvPr/>
        </p:nvSpPr>
        <p:spPr>
          <a:xfrm>
            <a:off x="548640" y="658368"/>
            <a:ext cx="9509760" cy="868680"/>
          </a:xfrm>
          <a:prstGeom prst="rect">
            <a:avLst/>
          </a:prstGeom>
          <a:noFill/>
        </p:spPr>
        <p:txBody>
          <a:bodyPr wrap="square" lIns="0" rIns="0" tIns="0" bIns="0" anchor="t">
            <a:noAutofit/>
          </a:bodyPr>
          <a:lstStyle/>
          <a:p>
            <a:pPr>
              <a:lnSpc>
                <a:spcPct val="102000"/>
              </a:lnSpc>
            </a:pPr>
            <a:r>
              <a:rPr sz="2800" b="1" i="0" lang="fr-FR" altLang="en-US">
                <a:solidFill>
                  <a:srgbClr val="1B2A4A"/>
                </a:solidFill>
                <a:latin typeface="Cambria"/>
              </a:rPr>
              <a:t>Une maturité data en phase initiale, un potentiel analytique déjà avancé</a:t>
            </a:r>
          </a:p>
        </p:txBody>
      </p:sp>
      <p:pic>
        <p:nvPicPr>
          <p:cNvPr id="4" name="Picture 3" descr="icon_barchart.png"/>
          <p:cNvPicPr>
            <a:picLocks noChangeAspect="1"/>
          </p:cNvPicPr>
          <p:nvPr/>
        </p:nvPicPr>
        <p:blipFill>
          <a:blip r:embed="rId2"/>
          <a:stretch>
            <a:fillRect/>
          </a:stretch>
        </p:blipFill>
        <p:spPr>
          <a:xfrm>
            <a:off x="11140135" y="365760"/>
            <a:ext cx="658368" cy="658368"/>
          </a:xfrm>
          <a:prstGeom prst="rect">
            <a:avLst/>
          </a:prstGeom>
        </p:spPr>
      </p:pic>
      <p:graphicFrame>
        <p:nvGraphicFramePr>
          <p:cNvPr id="5" name="Chart 4"/>
          <p:cNvGraphicFramePr>
            <a:graphicFrameLocks noGrp="1"/>
          </p:cNvGraphicFramePr>
          <p:nvPr/>
        </p:nvGraphicFramePr>
        <p:xfrm>
          <a:off x="502920" y="1691640"/>
          <a:ext cx="6949440" cy="4480560"/>
        </p:xfrm>
        <a:graphic>
          <a:graphicData uri="http://schemas.openxmlformats.org/drawingml/2006/chart">
            <c:chart xmlns:c="http://schemas.openxmlformats.org/drawingml/2006/chart" r:id="rId3"/>
          </a:graphicData>
        </a:graphic>
      </p:graphicFrame>
      <p:sp>
        <p:nvSpPr>
          <p:cNvPr id="6" name="Rounded Rectangle 5"/>
          <p:cNvSpPr/>
          <p:nvPr/>
        </p:nvSpPr>
        <p:spPr>
          <a:xfrm>
            <a:off x="7726679" y="1691640"/>
            <a:ext cx="3931920" cy="141732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7" name="TextBox 6"/>
          <p:cNvSpPr txBox="1"/>
          <p:nvPr/>
        </p:nvSpPr>
        <p:spPr>
          <a:xfrm>
            <a:off x="7955279" y="1810512"/>
            <a:ext cx="3474720" cy="640080"/>
          </a:xfrm>
          <a:prstGeom prst="rect">
            <a:avLst/>
          </a:prstGeom>
          <a:noFill/>
        </p:spPr>
        <p:txBody>
          <a:bodyPr wrap="square" lIns="0" rIns="0" tIns="0" bIns="0">
            <a:noAutofit/>
          </a:bodyPr>
          <a:lstStyle/>
          <a:p>
            <a:r>
              <a:rPr sz="3000" b="1" i="0" lang="fr-FR" altLang="en-US">
                <a:solidFill>
                  <a:srgbClr val="1B2A4A"/>
                </a:solidFill>
                <a:latin typeface="Cambria"/>
              </a:rPr>
              <a:t>1,25 / 5</a:t>
            </a:r>
          </a:p>
        </p:txBody>
      </p:sp>
      <p:sp>
        <p:nvSpPr>
          <p:cNvPr id="8" name="TextBox 7"/>
          <p:cNvSpPr txBox="1"/>
          <p:nvPr/>
        </p:nvSpPr>
        <p:spPr>
          <a:xfrm>
            <a:off x="7955279" y="2450592"/>
            <a:ext cx="3520440" cy="548640"/>
          </a:xfrm>
          <a:prstGeom prst="rect">
            <a:avLst/>
          </a:prstGeom>
          <a:noFill/>
        </p:spPr>
        <p:txBody>
          <a:bodyPr wrap="square" lIns="0" rIns="0" tIns="0" bIns="0">
            <a:noAutofit/>
          </a:bodyPr>
          <a:lstStyle/>
          <a:p>
            <a:r>
              <a:rPr sz="1150" b="0" i="0" lang="fr-FR" altLang="en-US">
                <a:solidFill>
                  <a:srgbClr val="5B6B84"/>
                </a:solidFill>
                <a:latin typeface="Calibri"/>
              </a:rPr>
              <a:t>Niveau moyen de maturité actuel - gouvernance locale, réactive, dispersée</a:t>
            </a:r>
          </a:p>
        </p:txBody>
      </p:sp>
      <p:sp>
        <p:nvSpPr>
          <p:cNvPr id="9" name="Rounded Rectangle 8"/>
          <p:cNvSpPr/>
          <p:nvPr/>
        </p:nvSpPr>
        <p:spPr>
          <a:xfrm>
            <a:off x="7726679" y="3246120"/>
            <a:ext cx="3931920" cy="1234440"/>
          </a:xfrm>
          <a:prstGeom prst="roundRect">
            <a:avLst>
              <a:gd name="adj" fmla="val 8000"/>
            </a:avLst>
          </a:prstGeom>
          <a:solidFill>
            <a:srgbClr val="EAF7F1"/>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10" name="TextBox 9"/>
          <p:cNvSpPr txBox="1"/>
          <p:nvPr/>
        </p:nvSpPr>
        <p:spPr>
          <a:xfrm>
            <a:off x="7955279" y="3364992"/>
            <a:ext cx="3520440" cy="365760"/>
          </a:xfrm>
          <a:prstGeom prst="rect">
            <a:avLst/>
          </a:prstGeom>
          <a:noFill/>
        </p:spPr>
        <p:txBody>
          <a:bodyPr wrap="square" lIns="0" rIns="0" tIns="0" bIns="0">
            <a:noAutofit/>
          </a:bodyPr>
          <a:lstStyle/>
          <a:p>
            <a:r>
              <a:rPr sz="1400" b="1" i="0" lang="fr-FR" altLang="en-US">
                <a:solidFill>
                  <a:srgbClr val="1C8C68"/>
                </a:solidFill>
                <a:latin typeface="Calibri"/>
              </a:rPr>
              <a:t>Cible à moyen terme : niveau 3</a:t>
            </a:r>
          </a:p>
        </p:txBody>
      </p:sp>
      <p:sp>
        <p:nvSpPr>
          <p:cNvPr id="11" name="TextBox 10"/>
          <p:cNvSpPr txBox="1"/>
          <p:nvPr/>
        </p:nvSpPr>
        <p:spPr>
          <a:xfrm>
            <a:off x="7955279" y="3730752"/>
            <a:ext cx="3520440" cy="594360"/>
          </a:xfrm>
          <a:prstGeom prst="rect">
            <a:avLst/>
          </a:prstGeom>
          <a:noFill/>
        </p:spPr>
        <p:txBody>
          <a:bodyPr wrap="square" lIns="0" rIns="0" tIns="0" bIns="0">
            <a:noAutofit/>
          </a:bodyPr>
          <a:lstStyle/>
          <a:p>
            <a:r>
              <a:rPr sz="1100" b="0" i="0" lang="fr-FR" altLang="en-US">
                <a:solidFill>
                  <a:srgbClr val="5B6B84"/>
                </a:solidFill>
                <a:latin typeface="Calibri"/>
              </a:rPr>
              <a:t>Gouvernance bien définie et globale, portée par la politique de gouvernance</a:t>
            </a:r>
          </a:p>
        </p:txBody>
      </p:sp>
      <p:sp>
        <p:nvSpPr>
          <p:cNvPr id="12" name="Rounded Rectangle 11"/>
          <p:cNvSpPr/>
          <p:nvPr/>
        </p:nvSpPr>
        <p:spPr>
          <a:xfrm>
            <a:off x="7726679" y="4617720"/>
            <a:ext cx="3931920" cy="155448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13" name="TextBox 12"/>
          <p:cNvSpPr txBox="1"/>
          <p:nvPr/>
        </p:nvSpPr>
        <p:spPr>
          <a:xfrm>
            <a:off x="7955279" y="4754880"/>
            <a:ext cx="3520440" cy="1280160"/>
          </a:xfrm>
          <a:prstGeom prst="rect">
            <a:avLst/>
          </a:prstGeom>
          <a:noFill/>
        </p:spPr>
        <p:txBody>
          <a:bodyPr wrap="square" lIns="0" rIns="0" tIns="0" bIns="0" anchor="t">
            <a:noAutofit/>
          </a:bodyPr>
          <a:lstStyle/>
          <a:p>
            <a:r>
              <a:rPr sz="1150" b="0" i="1" lang="fr-FR" altLang="en-US">
                <a:solidFill>
                  <a:srgbClr val="1B2A4A"/>
                </a:solidFill>
                <a:latin typeface="Calibri"/>
              </a:rPr>
              <a:t>Un cadre est défini (rôles, outils identifiés) mais pas encore déployé : ni audit, ni monitoring, ni politique appliquée sur le terrain.</a:t>
            </a:r>
          </a:p>
        </p:txBody>
      </p:sp>
      <p:sp>
        <p:nvSpPr>
          <p:cNvPr id="14" name="TextBox 13"/>
          <p:cNvSpPr txBox="1"/>
          <p:nvPr/>
        </p:nvSpPr>
        <p:spPr>
          <a:xfrm>
            <a:off x="548640" y="6473952"/>
            <a:ext cx="8686800" cy="274320"/>
          </a:xfrm>
          <a:prstGeom prst="rect">
            <a:avLst/>
          </a:prstGeom>
          <a:noFill/>
        </p:spPr>
        <p:txBody>
          <a:bodyPr wrap="square" lIns="0" rIns="0" tIns="0" bIns="0">
            <a:noAutofit/>
          </a:bodyPr>
          <a:lstStyle/>
          <a:p>
            <a:r>
              <a:rPr sz="950" b="0" i="1" lang="fr-FR" altLang="en-US">
                <a:solidFill>
                  <a:srgbClr val="8493A8"/>
                </a:solidFill>
                <a:latin typeface="Calibri"/>
              </a:rPr>
              <a:t>Source : [D1] Data &amp; AI Maturity Assessment Report - Méthodologie [R1] Australian Government DMAT</a:t>
            </a:r>
          </a:p>
        </p:txBody>
      </p:sp>
      <p:sp>
        <p:nvSpPr>
          <p:cNvPr id="15" name="TextBox 14"/>
          <p:cNvSpPr txBox="1"/>
          <p:nvPr/>
        </p:nvSpPr>
        <p:spPr>
          <a:xfrm>
            <a:off x="11002975" y="6473952"/>
            <a:ext cx="822960" cy="274320"/>
          </a:xfrm>
          <a:prstGeom prst="rect">
            <a:avLst/>
          </a:prstGeom>
          <a:noFill/>
        </p:spPr>
        <p:txBody>
          <a:bodyPr wrap="square" lIns="0" rIns="0" tIns="0" bIns="0">
            <a:noAutofit/>
          </a:bodyPr>
          <a:lstStyle/>
          <a:p>
            <a:pPr algn="r"/>
            <a:r>
              <a:rPr sz="950" b="0" i="0" lang="fr-FR" altLang="en-US">
                <a:solidFill>
                  <a:srgbClr val="8493A8"/>
                </a:solidFill>
                <a:latin typeface="Calibri"/>
              </a:rPr>
              <a:t>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4F7"/>
        </a:solidFill>
        <a:effectLst/>
      </p:bgPr>
    </p:bg>
    <p:spTree>
      <p:nvGrpSpPr>
        <p:cNvPr id="1" name=""/>
        <p:cNvGrpSpPr/>
        <p:nvPr/>
      </p:nvGrpSpPr>
      <p:grpSpPr/>
      <p:sp>
        <p:nvSpPr>
          <p:cNvPr id="2" name="TextBox 1"/>
          <p:cNvSpPr txBox="1"/>
          <p:nvPr/>
        </p:nvSpPr>
        <p:spPr>
          <a:xfrm>
            <a:off x="548640" y="384048"/>
            <a:ext cx="7315200" cy="292608"/>
          </a:xfrm>
          <a:prstGeom prst="rect">
            <a:avLst/>
          </a:prstGeom>
          <a:noFill/>
        </p:spPr>
        <p:txBody>
          <a:bodyPr wrap="square" lIns="0" rIns="0" tIns="0" bIns="0">
            <a:noAutofit/>
          </a:bodyPr>
          <a:lstStyle/>
          <a:p>
            <a:r>
              <a:rPr sz="1200" b="1" i="0" spc="200" lang="fr-FR" altLang="en-US">
                <a:solidFill>
                  <a:srgbClr val="1C8C68"/>
                </a:solidFill>
                <a:latin typeface="Calibri"/>
              </a:rPr>
              <a:t>ENJEUX</a:t>
            </a:r>
          </a:p>
        </p:txBody>
      </p:sp>
      <p:sp>
        <p:nvSpPr>
          <p:cNvPr id="3" name="TextBox 2"/>
          <p:cNvSpPr txBox="1"/>
          <p:nvPr/>
        </p:nvSpPr>
        <p:spPr>
          <a:xfrm>
            <a:off x="548640" y="658368"/>
            <a:ext cx="9509760" cy="868680"/>
          </a:xfrm>
          <a:prstGeom prst="rect">
            <a:avLst/>
          </a:prstGeom>
          <a:noFill/>
        </p:spPr>
        <p:txBody>
          <a:bodyPr wrap="square" lIns="0" rIns="0" tIns="0" bIns="0" anchor="t">
            <a:noAutofit/>
          </a:bodyPr>
          <a:lstStyle/>
          <a:p>
            <a:pPr>
              <a:lnSpc>
                <a:spcPct val="102000"/>
              </a:lnSpc>
            </a:pPr>
            <a:r>
              <a:rPr sz="2800" b="1" i="0" lang="fr-FR" altLang="en-US">
                <a:solidFill>
                  <a:srgbClr val="1B2A4A"/>
                </a:solidFill>
                <a:latin typeface="Cambria"/>
              </a:rPr>
              <a:t>Six enjeux majeurs, par ordre de criticité</a:t>
            </a:r>
          </a:p>
        </p:txBody>
      </p:sp>
      <p:pic>
        <p:nvPicPr>
          <p:cNvPr id="4" name="Picture 3" descr="icon_alert.png"/>
          <p:cNvPicPr>
            <a:picLocks noChangeAspect="1"/>
          </p:cNvPicPr>
          <p:nvPr/>
        </p:nvPicPr>
        <p:blipFill>
          <a:blip r:embed="rId2"/>
          <a:stretch>
            <a:fillRect/>
          </a:stretch>
        </p:blipFill>
        <p:spPr>
          <a:xfrm>
            <a:off x="11140135" y="365760"/>
            <a:ext cx="658368" cy="658368"/>
          </a:xfrm>
          <a:prstGeom prst="rect">
            <a:avLst/>
          </a:prstGeom>
        </p:spPr>
      </p:pic>
      <p:sp>
        <p:nvSpPr>
          <p:cNvPr id="5" name="Rounded Rectangle 4"/>
          <p:cNvSpPr/>
          <p:nvPr/>
        </p:nvSpPr>
        <p:spPr>
          <a:xfrm>
            <a:off x="548640" y="1691640"/>
            <a:ext cx="5349240" cy="137160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6" name="Oval 5"/>
          <p:cNvSpPr/>
          <p:nvPr/>
        </p:nvSpPr>
        <p:spPr>
          <a:xfrm>
            <a:off x="749808" y="1892808"/>
            <a:ext cx="566928" cy="566928"/>
          </a:xfrm>
          <a:prstGeom prst="ellipse">
            <a:avLst/>
          </a:prstGeom>
          <a:solidFill>
            <a:srgbClr val="B8574A"/>
          </a:solidFill>
          <a:ln>
            <a:noFill/>
          </a:ln>
          <a:effectLst/>
        </p:spPr>
        <p:txBody>
          <a:bodyPr rtlCol="0" anchor="ctr"/>
          <a:lstStyle/>
          <a:p>
            <a:pPr algn="ctr"/>
          </a:p>
        </p:txBody>
      </p:sp>
      <p:sp>
        <p:nvSpPr>
          <p:cNvPr id="7" name="TextBox 6"/>
          <p:cNvSpPr txBox="1"/>
          <p:nvPr/>
        </p:nvSpPr>
        <p:spPr>
          <a:xfrm>
            <a:off x="749808" y="1892808"/>
            <a:ext cx="566928" cy="566928"/>
          </a:xfrm>
          <a:prstGeom prst="rect">
            <a:avLst/>
          </a:prstGeom>
          <a:noFill/>
        </p:spPr>
        <p:txBody>
          <a:bodyPr wrap="square" lIns="0" rIns="0" tIns="0" bIns="0" anchor="ctr">
            <a:noAutofit/>
          </a:bodyPr>
          <a:lstStyle/>
          <a:p>
            <a:pPr algn="ctr"/>
            <a:r>
              <a:rPr sz="1400" b="1" i="0" lang="fr-FR" altLang="en-US">
                <a:solidFill>
                  <a:srgbClr val="FFFFFF"/>
                </a:solidFill>
                <a:latin typeface="Calibri"/>
              </a:rPr>
              <a:t>E1</a:t>
            </a:r>
          </a:p>
        </p:txBody>
      </p:sp>
      <p:sp>
        <p:nvSpPr>
          <p:cNvPr id="8" name="TextBox 7"/>
          <p:cNvSpPr txBox="1"/>
          <p:nvPr/>
        </p:nvSpPr>
        <p:spPr>
          <a:xfrm>
            <a:off x="1463040" y="1837944"/>
            <a:ext cx="4251959" cy="384048"/>
          </a:xfrm>
          <a:prstGeom prst="rect">
            <a:avLst/>
          </a:prstGeom>
          <a:noFill/>
        </p:spPr>
        <p:txBody>
          <a:bodyPr wrap="square" lIns="0" rIns="0" tIns="0" bIns="0">
            <a:noAutofit/>
          </a:bodyPr>
          <a:lstStyle/>
          <a:p>
            <a:r>
              <a:rPr sz="1450" b="1" i="0" lang="fr-FR" altLang="en-US">
                <a:solidFill>
                  <a:srgbClr val="1B2A4A"/>
                </a:solidFill>
                <a:latin typeface="Calibri"/>
              </a:rPr>
              <a:t>Décompartimenter les données</a:t>
            </a:r>
          </a:p>
        </p:txBody>
      </p:sp>
      <p:sp>
        <p:nvSpPr>
          <p:cNvPr id="9" name="TextBox 8"/>
          <p:cNvSpPr txBox="1"/>
          <p:nvPr/>
        </p:nvSpPr>
        <p:spPr>
          <a:xfrm>
            <a:off x="1463040" y="2221992"/>
            <a:ext cx="4251959" cy="777240"/>
          </a:xfrm>
          <a:prstGeom prst="rect">
            <a:avLst/>
          </a:prstGeom>
          <a:noFill/>
        </p:spPr>
        <p:txBody>
          <a:bodyPr wrap="square" lIns="0" rIns="0" tIns="0" bIns="0" anchor="t">
            <a:noAutofit/>
          </a:bodyPr>
          <a:lstStyle/>
          <a:p>
            <a:r>
              <a:rPr sz="1100" b="0" i="0" lang="fr-FR" altLang="en-US">
                <a:solidFill>
                  <a:srgbClr val="5B6B84"/>
                </a:solidFill>
                <a:latin typeface="Calibri"/>
              </a:rPr>
              <a:t>Silos départementaux → vues incohérentes ou incomplètes, angles morts décisionnels.</a:t>
            </a:r>
          </a:p>
        </p:txBody>
      </p:sp>
      <p:sp>
        <p:nvSpPr>
          <p:cNvPr id="10" name="Rounded Rectangle 9"/>
          <p:cNvSpPr/>
          <p:nvPr/>
        </p:nvSpPr>
        <p:spPr>
          <a:xfrm>
            <a:off x="6217919" y="1691640"/>
            <a:ext cx="5349240" cy="137160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11" name="Oval 10"/>
          <p:cNvSpPr/>
          <p:nvPr/>
        </p:nvSpPr>
        <p:spPr>
          <a:xfrm>
            <a:off x="6419087" y="1892808"/>
            <a:ext cx="566928" cy="566928"/>
          </a:xfrm>
          <a:prstGeom prst="ellipse">
            <a:avLst/>
          </a:prstGeom>
          <a:solidFill>
            <a:srgbClr val="B8574A"/>
          </a:solidFill>
          <a:ln>
            <a:noFill/>
          </a:ln>
          <a:effectLst/>
        </p:spPr>
        <p:txBody>
          <a:bodyPr rtlCol="0" anchor="ctr"/>
          <a:lstStyle/>
          <a:p>
            <a:pPr algn="ctr"/>
          </a:p>
        </p:txBody>
      </p:sp>
      <p:sp>
        <p:nvSpPr>
          <p:cNvPr id="12" name="TextBox 11"/>
          <p:cNvSpPr txBox="1"/>
          <p:nvPr/>
        </p:nvSpPr>
        <p:spPr>
          <a:xfrm>
            <a:off x="6419087" y="1892808"/>
            <a:ext cx="566928" cy="566928"/>
          </a:xfrm>
          <a:prstGeom prst="rect">
            <a:avLst/>
          </a:prstGeom>
          <a:noFill/>
        </p:spPr>
        <p:txBody>
          <a:bodyPr wrap="square" lIns="0" rIns="0" tIns="0" bIns="0" anchor="ctr">
            <a:noAutofit/>
          </a:bodyPr>
          <a:lstStyle/>
          <a:p>
            <a:pPr algn="ctr"/>
            <a:r>
              <a:rPr sz="1400" b="1" i="0" lang="fr-FR" altLang="en-US">
                <a:solidFill>
                  <a:srgbClr val="FFFFFF"/>
                </a:solidFill>
                <a:latin typeface="Calibri"/>
              </a:rPr>
              <a:t>E2</a:t>
            </a:r>
          </a:p>
        </p:txBody>
      </p:sp>
      <p:sp>
        <p:nvSpPr>
          <p:cNvPr id="13" name="TextBox 12"/>
          <p:cNvSpPr txBox="1"/>
          <p:nvPr/>
        </p:nvSpPr>
        <p:spPr>
          <a:xfrm>
            <a:off x="7132319" y="1837944"/>
            <a:ext cx="4251959" cy="384048"/>
          </a:xfrm>
          <a:prstGeom prst="rect">
            <a:avLst/>
          </a:prstGeom>
          <a:noFill/>
        </p:spPr>
        <p:txBody>
          <a:bodyPr wrap="square" lIns="0" rIns="0" tIns="0" bIns="0">
            <a:noAutofit/>
          </a:bodyPr>
          <a:lstStyle/>
          <a:p>
            <a:r>
              <a:rPr sz="1450" b="1" i="0" lang="fr-FR" altLang="en-US">
                <a:solidFill>
                  <a:srgbClr val="1B2A4A"/>
                </a:solidFill>
                <a:latin typeface="Calibri"/>
              </a:rPr>
              <a:t>Maîtriser la qualité des données</a:t>
            </a:r>
          </a:p>
        </p:txBody>
      </p:sp>
      <p:sp>
        <p:nvSpPr>
          <p:cNvPr id="14" name="TextBox 13"/>
          <p:cNvSpPr txBox="1"/>
          <p:nvPr/>
        </p:nvSpPr>
        <p:spPr>
          <a:xfrm>
            <a:off x="7132319" y="2221992"/>
            <a:ext cx="4251959" cy="777240"/>
          </a:xfrm>
          <a:prstGeom prst="rect">
            <a:avLst/>
          </a:prstGeom>
          <a:noFill/>
        </p:spPr>
        <p:txBody>
          <a:bodyPr wrap="square" lIns="0" rIns="0" tIns="0" bIns="0" anchor="t">
            <a:noAutofit/>
          </a:bodyPr>
          <a:lstStyle/>
          <a:p>
            <a:r>
              <a:rPr sz="1100" b="0" i="0" lang="fr-FR" altLang="en-US">
                <a:solidFill>
                  <a:srgbClr val="5B6B84"/>
                </a:solidFill>
                <a:latin typeface="Calibri"/>
              </a:rPr>
              <a:t>Données et métadonnées inexactes : recommandations dégradées, règles de qualité à définir.</a:t>
            </a:r>
          </a:p>
        </p:txBody>
      </p:sp>
      <p:sp>
        <p:nvSpPr>
          <p:cNvPr id="15" name="Rounded Rectangle 14"/>
          <p:cNvSpPr/>
          <p:nvPr/>
        </p:nvSpPr>
        <p:spPr>
          <a:xfrm>
            <a:off x="548640" y="3319272"/>
            <a:ext cx="5349240" cy="137160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16" name="Oval 15"/>
          <p:cNvSpPr/>
          <p:nvPr/>
        </p:nvSpPr>
        <p:spPr>
          <a:xfrm>
            <a:off x="749808" y="3520440"/>
            <a:ext cx="566928" cy="566928"/>
          </a:xfrm>
          <a:prstGeom prst="ellipse">
            <a:avLst/>
          </a:prstGeom>
          <a:solidFill>
            <a:srgbClr val="B8574A"/>
          </a:solidFill>
          <a:ln>
            <a:noFill/>
          </a:ln>
          <a:effectLst/>
        </p:spPr>
        <p:txBody>
          <a:bodyPr rtlCol="0" anchor="ctr"/>
          <a:lstStyle/>
          <a:p>
            <a:pPr algn="ctr"/>
          </a:p>
        </p:txBody>
      </p:sp>
      <p:sp>
        <p:nvSpPr>
          <p:cNvPr id="17" name="TextBox 16"/>
          <p:cNvSpPr txBox="1"/>
          <p:nvPr/>
        </p:nvSpPr>
        <p:spPr>
          <a:xfrm>
            <a:off x="749808" y="3520440"/>
            <a:ext cx="566928" cy="566928"/>
          </a:xfrm>
          <a:prstGeom prst="rect">
            <a:avLst/>
          </a:prstGeom>
          <a:noFill/>
        </p:spPr>
        <p:txBody>
          <a:bodyPr wrap="square" lIns="0" rIns="0" tIns="0" bIns="0" anchor="ctr">
            <a:noAutofit/>
          </a:bodyPr>
          <a:lstStyle/>
          <a:p>
            <a:pPr algn="ctr"/>
            <a:r>
              <a:rPr sz="1400" b="1" i="0" lang="fr-FR" altLang="en-US">
                <a:solidFill>
                  <a:srgbClr val="FFFFFF"/>
                </a:solidFill>
                <a:latin typeface="Calibri"/>
              </a:rPr>
              <a:t>E3</a:t>
            </a:r>
          </a:p>
        </p:txBody>
      </p:sp>
      <p:sp>
        <p:nvSpPr>
          <p:cNvPr id="18" name="TextBox 17"/>
          <p:cNvSpPr txBox="1"/>
          <p:nvPr/>
        </p:nvSpPr>
        <p:spPr>
          <a:xfrm>
            <a:off x="1463040" y="3465576"/>
            <a:ext cx="4251959" cy="384048"/>
          </a:xfrm>
          <a:prstGeom prst="rect">
            <a:avLst/>
          </a:prstGeom>
          <a:noFill/>
        </p:spPr>
        <p:txBody>
          <a:bodyPr wrap="square" lIns="0" rIns="0" tIns="0" bIns="0">
            <a:noAutofit/>
          </a:bodyPr>
          <a:lstStyle/>
          <a:p>
            <a:r>
              <a:rPr sz="1450" b="1" i="0" lang="fr-FR" altLang="en-US">
                <a:solidFill>
                  <a:srgbClr val="1B2A4A"/>
                </a:solidFill>
                <a:latin typeface="Calibri"/>
              </a:rPr>
              <a:t>Conformité multi-juridictionnelle</a:t>
            </a:r>
          </a:p>
        </p:txBody>
      </p:sp>
      <p:sp>
        <p:nvSpPr>
          <p:cNvPr id="19" name="TextBox 18"/>
          <p:cNvSpPr txBox="1"/>
          <p:nvPr/>
        </p:nvSpPr>
        <p:spPr>
          <a:xfrm>
            <a:off x="1463040" y="3849624"/>
            <a:ext cx="4251959" cy="777240"/>
          </a:xfrm>
          <a:prstGeom prst="rect">
            <a:avLst/>
          </a:prstGeom>
          <a:noFill/>
        </p:spPr>
        <p:txBody>
          <a:bodyPr wrap="square" lIns="0" rIns="0" tIns="0" bIns="0" anchor="t">
            <a:noAutofit/>
          </a:bodyPr>
          <a:lstStyle/>
          <a:p>
            <a:r>
              <a:rPr sz="1100" b="0" i="0" lang="fr-FR" altLang="en-US">
                <a:solidFill>
                  <a:srgbClr val="5B6B84"/>
                </a:solidFill>
                <a:latin typeface="Calibri"/>
              </a:rPr>
              <a:t>GDPR, CCPA, PDPA + réglementations IA à concilier sans perdre en cohérence globale.</a:t>
            </a:r>
          </a:p>
        </p:txBody>
      </p:sp>
      <p:sp>
        <p:nvSpPr>
          <p:cNvPr id="20" name="Rounded Rectangle 19"/>
          <p:cNvSpPr/>
          <p:nvPr/>
        </p:nvSpPr>
        <p:spPr>
          <a:xfrm>
            <a:off x="6217919" y="3319272"/>
            <a:ext cx="5349240" cy="137160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21" name="Oval 20"/>
          <p:cNvSpPr/>
          <p:nvPr/>
        </p:nvSpPr>
        <p:spPr>
          <a:xfrm>
            <a:off x="6419087" y="3520440"/>
            <a:ext cx="566928" cy="566928"/>
          </a:xfrm>
          <a:prstGeom prst="ellipse">
            <a:avLst/>
          </a:prstGeom>
          <a:solidFill>
            <a:srgbClr val="B8574A"/>
          </a:solidFill>
          <a:ln>
            <a:noFill/>
          </a:ln>
          <a:effectLst/>
        </p:spPr>
        <p:txBody>
          <a:bodyPr rtlCol="0" anchor="ctr"/>
          <a:lstStyle/>
          <a:p>
            <a:pPr algn="ctr"/>
          </a:p>
        </p:txBody>
      </p:sp>
      <p:sp>
        <p:nvSpPr>
          <p:cNvPr id="22" name="TextBox 21"/>
          <p:cNvSpPr txBox="1"/>
          <p:nvPr/>
        </p:nvSpPr>
        <p:spPr>
          <a:xfrm>
            <a:off x="6419087" y="3520440"/>
            <a:ext cx="566928" cy="566928"/>
          </a:xfrm>
          <a:prstGeom prst="rect">
            <a:avLst/>
          </a:prstGeom>
          <a:noFill/>
        </p:spPr>
        <p:txBody>
          <a:bodyPr wrap="square" lIns="0" rIns="0" tIns="0" bIns="0" anchor="ctr">
            <a:noAutofit/>
          </a:bodyPr>
          <a:lstStyle/>
          <a:p>
            <a:pPr algn="ctr"/>
            <a:r>
              <a:rPr sz="1400" b="1" i="0" lang="fr-FR" altLang="en-US">
                <a:solidFill>
                  <a:srgbClr val="FFFFFF"/>
                </a:solidFill>
                <a:latin typeface="Calibri"/>
              </a:rPr>
              <a:t>E4</a:t>
            </a:r>
          </a:p>
        </p:txBody>
      </p:sp>
      <p:sp>
        <p:nvSpPr>
          <p:cNvPr id="23" name="TextBox 22"/>
          <p:cNvSpPr txBox="1"/>
          <p:nvPr/>
        </p:nvSpPr>
        <p:spPr>
          <a:xfrm>
            <a:off x="7132319" y="3465576"/>
            <a:ext cx="4251959" cy="384048"/>
          </a:xfrm>
          <a:prstGeom prst="rect">
            <a:avLst/>
          </a:prstGeom>
          <a:noFill/>
        </p:spPr>
        <p:txBody>
          <a:bodyPr wrap="square" lIns="0" rIns="0" tIns="0" bIns="0">
            <a:noAutofit/>
          </a:bodyPr>
          <a:lstStyle/>
          <a:p>
            <a:r>
              <a:rPr sz="1450" b="1" i="0" lang="fr-FR" altLang="en-US">
                <a:solidFill>
                  <a:srgbClr val="1B2A4A"/>
                </a:solidFill>
                <a:latin typeface="Calibri"/>
              </a:rPr>
              <a:t>Vie privée &amp; usage éthique</a:t>
            </a:r>
          </a:p>
        </p:txBody>
      </p:sp>
      <p:sp>
        <p:nvSpPr>
          <p:cNvPr id="24" name="TextBox 23"/>
          <p:cNvSpPr txBox="1"/>
          <p:nvPr/>
        </p:nvSpPr>
        <p:spPr>
          <a:xfrm>
            <a:off x="7132319" y="3849624"/>
            <a:ext cx="4251959" cy="777240"/>
          </a:xfrm>
          <a:prstGeom prst="rect">
            <a:avLst/>
          </a:prstGeom>
          <a:noFill/>
        </p:spPr>
        <p:txBody>
          <a:bodyPr wrap="square" lIns="0" rIns="0" tIns="0" bIns="0" anchor="t">
            <a:noAutofit/>
          </a:bodyPr>
          <a:lstStyle/>
          <a:p>
            <a:r>
              <a:rPr sz="1100" b="0" i="0" lang="fr-FR" altLang="en-US">
                <a:solidFill>
                  <a:srgbClr val="5B6B84"/>
                </a:solidFill>
                <a:latin typeface="Calibri"/>
              </a:rPr>
              <a:t>Transparence, contrôle utilisateur, anonymisation - au-delà de la seule conformité légale.</a:t>
            </a:r>
          </a:p>
        </p:txBody>
      </p:sp>
      <p:sp>
        <p:nvSpPr>
          <p:cNvPr id="25" name="Rounded Rectangle 24"/>
          <p:cNvSpPr/>
          <p:nvPr/>
        </p:nvSpPr>
        <p:spPr>
          <a:xfrm>
            <a:off x="548640" y="4946904"/>
            <a:ext cx="5349240" cy="137160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26" name="Oval 25"/>
          <p:cNvSpPr/>
          <p:nvPr/>
        </p:nvSpPr>
        <p:spPr>
          <a:xfrm>
            <a:off x="749808" y="5148072"/>
            <a:ext cx="566928" cy="566928"/>
          </a:xfrm>
          <a:prstGeom prst="ellipse">
            <a:avLst/>
          </a:prstGeom>
          <a:solidFill>
            <a:srgbClr val="B8574A"/>
          </a:solidFill>
          <a:ln>
            <a:noFill/>
          </a:ln>
          <a:effectLst/>
        </p:spPr>
        <p:txBody>
          <a:bodyPr rtlCol="0" anchor="ctr"/>
          <a:lstStyle/>
          <a:p>
            <a:pPr algn="ctr"/>
          </a:p>
        </p:txBody>
      </p:sp>
      <p:sp>
        <p:nvSpPr>
          <p:cNvPr id="27" name="TextBox 26"/>
          <p:cNvSpPr txBox="1"/>
          <p:nvPr/>
        </p:nvSpPr>
        <p:spPr>
          <a:xfrm>
            <a:off x="749808" y="5148072"/>
            <a:ext cx="566928" cy="566928"/>
          </a:xfrm>
          <a:prstGeom prst="rect">
            <a:avLst/>
          </a:prstGeom>
          <a:noFill/>
        </p:spPr>
        <p:txBody>
          <a:bodyPr wrap="square" lIns="0" rIns="0" tIns="0" bIns="0" anchor="ctr">
            <a:noAutofit/>
          </a:bodyPr>
          <a:lstStyle/>
          <a:p>
            <a:pPr algn="ctr"/>
            <a:r>
              <a:rPr sz="1400" b="1" i="0" lang="fr-FR" altLang="en-US">
                <a:solidFill>
                  <a:srgbClr val="FFFFFF"/>
                </a:solidFill>
                <a:latin typeface="Calibri"/>
              </a:rPr>
              <a:t>E5</a:t>
            </a:r>
          </a:p>
        </p:txBody>
      </p:sp>
      <p:sp>
        <p:nvSpPr>
          <p:cNvPr id="28" name="TextBox 27"/>
          <p:cNvSpPr txBox="1"/>
          <p:nvPr/>
        </p:nvSpPr>
        <p:spPr>
          <a:xfrm>
            <a:off x="1463040" y="5093208"/>
            <a:ext cx="4251959" cy="384048"/>
          </a:xfrm>
          <a:prstGeom prst="rect">
            <a:avLst/>
          </a:prstGeom>
          <a:noFill/>
        </p:spPr>
        <p:txBody>
          <a:bodyPr wrap="square" lIns="0" rIns="0" tIns="0" bIns="0">
            <a:noAutofit/>
          </a:bodyPr>
          <a:lstStyle/>
          <a:p>
            <a:r>
              <a:rPr sz="1450" b="1" i="0" lang="fr-FR" altLang="en-US">
                <a:solidFill>
                  <a:srgbClr val="1B2A4A"/>
                </a:solidFill>
                <a:latin typeface="Calibri"/>
              </a:rPr>
              <a:t>Gouverner les données IA</a:t>
            </a:r>
          </a:p>
        </p:txBody>
      </p:sp>
      <p:sp>
        <p:nvSpPr>
          <p:cNvPr id="29" name="TextBox 28"/>
          <p:cNvSpPr txBox="1"/>
          <p:nvPr/>
        </p:nvSpPr>
        <p:spPr>
          <a:xfrm>
            <a:off x="1463040" y="5477256"/>
            <a:ext cx="4251959" cy="777240"/>
          </a:xfrm>
          <a:prstGeom prst="rect">
            <a:avLst/>
          </a:prstGeom>
          <a:noFill/>
        </p:spPr>
        <p:txBody>
          <a:bodyPr wrap="square" lIns="0" rIns="0" tIns="0" bIns="0" anchor="t">
            <a:noAutofit/>
          </a:bodyPr>
          <a:lstStyle/>
          <a:p>
            <a:r>
              <a:rPr sz="1100" b="0" i="0" lang="fr-FR" altLang="en-US">
                <a:solidFill>
                  <a:srgbClr val="5B6B84"/>
                </a:solidFill>
                <a:latin typeface="Calibri"/>
              </a:rPr>
              <a:t>Traçabilité, biais, responsabilité des modèles du moteur de recommandation en production.</a:t>
            </a:r>
          </a:p>
        </p:txBody>
      </p:sp>
      <p:sp>
        <p:nvSpPr>
          <p:cNvPr id="30" name="Rounded Rectangle 29"/>
          <p:cNvSpPr/>
          <p:nvPr/>
        </p:nvSpPr>
        <p:spPr>
          <a:xfrm>
            <a:off x="6217919" y="4946904"/>
            <a:ext cx="5349240" cy="137160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31" name="Oval 30"/>
          <p:cNvSpPr/>
          <p:nvPr/>
        </p:nvSpPr>
        <p:spPr>
          <a:xfrm>
            <a:off x="6419087" y="5148072"/>
            <a:ext cx="566928" cy="566928"/>
          </a:xfrm>
          <a:prstGeom prst="ellipse">
            <a:avLst/>
          </a:prstGeom>
          <a:solidFill>
            <a:srgbClr val="B8574A"/>
          </a:solidFill>
          <a:ln>
            <a:noFill/>
          </a:ln>
          <a:effectLst/>
        </p:spPr>
        <p:txBody>
          <a:bodyPr rtlCol="0" anchor="ctr"/>
          <a:lstStyle/>
          <a:p>
            <a:pPr algn="ctr"/>
          </a:p>
        </p:txBody>
      </p:sp>
      <p:sp>
        <p:nvSpPr>
          <p:cNvPr id="32" name="TextBox 31"/>
          <p:cNvSpPr txBox="1"/>
          <p:nvPr/>
        </p:nvSpPr>
        <p:spPr>
          <a:xfrm>
            <a:off x="6419087" y="5148072"/>
            <a:ext cx="566928" cy="566928"/>
          </a:xfrm>
          <a:prstGeom prst="rect">
            <a:avLst/>
          </a:prstGeom>
          <a:noFill/>
        </p:spPr>
        <p:txBody>
          <a:bodyPr wrap="square" lIns="0" rIns="0" tIns="0" bIns="0" anchor="ctr">
            <a:noAutofit/>
          </a:bodyPr>
          <a:lstStyle/>
          <a:p>
            <a:pPr algn="ctr"/>
            <a:r>
              <a:rPr sz="1400" b="1" i="0" lang="fr-FR" altLang="en-US">
                <a:solidFill>
                  <a:srgbClr val="FFFFFF"/>
                </a:solidFill>
                <a:latin typeface="Calibri"/>
              </a:rPr>
              <a:t>E6</a:t>
            </a:r>
          </a:p>
        </p:txBody>
      </p:sp>
      <p:sp>
        <p:nvSpPr>
          <p:cNvPr id="33" name="TextBox 32"/>
          <p:cNvSpPr txBox="1"/>
          <p:nvPr/>
        </p:nvSpPr>
        <p:spPr>
          <a:xfrm>
            <a:off x="7132319" y="5093208"/>
            <a:ext cx="4251959" cy="384048"/>
          </a:xfrm>
          <a:prstGeom prst="rect">
            <a:avLst/>
          </a:prstGeom>
          <a:noFill/>
        </p:spPr>
        <p:txBody>
          <a:bodyPr wrap="square" lIns="0" rIns="0" tIns="0" bIns="0">
            <a:noAutofit/>
          </a:bodyPr>
          <a:lstStyle/>
          <a:p>
            <a:r>
              <a:rPr sz="1450" b="1" i="0" lang="fr-FR" altLang="en-US">
                <a:solidFill>
                  <a:srgbClr val="1B2A4A"/>
                </a:solidFill>
                <a:latin typeface="Calibri"/>
              </a:rPr>
              <a:t>Monter en compétences data</a:t>
            </a:r>
          </a:p>
        </p:txBody>
      </p:sp>
      <p:sp>
        <p:nvSpPr>
          <p:cNvPr id="34" name="TextBox 33"/>
          <p:cNvSpPr txBox="1"/>
          <p:nvPr/>
        </p:nvSpPr>
        <p:spPr>
          <a:xfrm>
            <a:off x="7132319" y="5477256"/>
            <a:ext cx="4251959" cy="777240"/>
          </a:xfrm>
          <a:prstGeom prst="rect">
            <a:avLst/>
          </a:prstGeom>
          <a:noFill/>
        </p:spPr>
        <p:txBody>
          <a:bodyPr wrap="square" lIns="0" rIns="0" tIns="0" bIns="0" anchor="t">
            <a:noAutofit/>
          </a:bodyPr>
          <a:lstStyle/>
          <a:p>
            <a:r>
              <a:rPr sz="1100" b="0" i="0" lang="fr-FR" altLang="en-US">
                <a:solidFill>
                  <a:srgbClr val="5B6B84"/>
                </a:solidFill>
                <a:latin typeface="Calibri"/>
              </a:rPr>
              <a:t>Culture de gouvernance partagée encore à construire ; risque de résistance au changement.</a:t>
            </a:r>
          </a:p>
        </p:txBody>
      </p:sp>
      <p:sp>
        <p:nvSpPr>
          <p:cNvPr id="35" name="TextBox 34"/>
          <p:cNvSpPr txBox="1"/>
          <p:nvPr/>
        </p:nvSpPr>
        <p:spPr>
          <a:xfrm>
            <a:off x="548640" y="6473952"/>
            <a:ext cx="8686800" cy="274320"/>
          </a:xfrm>
          <a:prstGeom prst="rect">
            <a:avLst/>
          </a:prstGeom>
          <a:noFill/>
        </p:spPr>
        <p:txBody>
          <a:bodyPr wrap="square" lIns="0" rIns="0" tIns="0" bIns="0">
            <a:noAutofit/>
          </a:bodyPr>
          <a:lstStyle/>
          <a:p>
            <a:r>
              <a:rPr sz="950" b="0" i="1" lang="fr-FR" altLang="en-US">
                <a:solidFill>
                  <a:srgbClr val="8493A8"/>
                </a:solidFill>
                <a:latin typeface="Calibri"/>
              </a:rPr>
              <a:t>Source : [D1] §1.2 - enjeux dérivés de [R2], à l'exception de E5</a:t>
            </a:r>
          </a:p>
        </p:txBody>
      </p:sp>
      <p:sp>
        <p:nvSpPr>
          <p:cNvPr id="36" name="TextBox 35"/>
          <p:cNvSpPr txBox="1"/>
          <p:nvPr/>
        </p:nvSpPr>
        <p:spPr>
          <a:xfrm>
            <a:off x="11002975" y="6473952"/>
            <a:ext cx="822960" cy="274320"/>
          </a:xfrm>
          <a:prstGeom prst="rect">
            <a:avLst/>
          </a:prstGeom>
          <a:noFill/>
        </p:spPr>
        <p:txBody>
          <a:bodyPr wrap="square" lIns="0" rIns="0" tIns="0" bIns="0">
            <a:noAutofit/>
          </a:bodyPr>
          <a:lstStyle/>
          <a:p>
            <a:pPr algn="r"/>
            <a:r>
              <a:rPr sz="950" b="0" i="0" lang="fr-FR" altLang="en-US">
                <a:solidFill>
                  <a:srgbClr val="8493A8"/>
                </a:solidFill>
                <a:latin typeface="Calibri"/>
              </a:rPr>
              <a:t>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4F7"/>
        </a:solidFill>
        <a:effectLst/>
      </p:bgPr>
    </p:bg>
    <p:spTree>
      <p:nvGrpSpPr>
        <p:cNvPr id="1" name=""/>
        <p:cNvGrpSpPr/>
        <p:nvPr/>
      </p:nvGrpSpPr>
      <p:grpSpPr/>
      <p:sp>
        <p:nvSpPr>
          <p:cNvPr id="2" name="TextBox 1"/>
          <p:cNvSpPr txBox="1"/>
          <p:nvPr/>
        </p:nvSpPr>
        <p:spPr>
          <a:xfrm>
            <a:off x="548640" y="384048"/>
            <a:ext cx="7315200" cy="292608"/>
          </a:xfrm>
          <a:prstGeom prst="rect">
            <a:avLst/>
          </a:prstGeom>
          <a:noFill/>
        </p:spPr>
        <p:txBody>
          <a:bodyPr wrap="square" lIns="0" rIns="0" tIns="0" bIns="0">
            <a:noAutofit/>
          </a:bodyPr>
          <a:lstStyle/>
          <a:p>
            <a:r>
              <a:rPr sz="1200" b="1" i="0" spc="200" lang="fr-FR" altLang="en-US">
                <a:solidFill>
                  <a:srgbClr val="1C8C68"/>
                </a:solidFill>
                <a:latin typeface="Calibri"/>
              </a:rPr>
              <a:t>POLITIQUE DE GOUVERNANCE</a:t>
            </a:r>
          </a:p>
        </p:txBody>
      </p:sp>
      <p:sp>
        <p:nvSpPr>
          <p:cNvPr id="3" name="TextBox 2"/>
          <p:cNvSpPr txBox="1"/>
          <p:nvPr/>
        </p:nvSpPr>
        <p:spPr>
          <a:xfrm>
            <a:off x="548640" y="658368"/>
            <a:ext cx="9692640" cy="868680"/>
          </a:xfrm>
          <a:prstGeom prst="rect">
            <a:avLst/>
          </a:prstGeom>
          <a:noFill/>
        </p:spPr>
        <p:txBody>
          <a:bodyPr wrap="square" lIns="0" rIns="0" tIns="0" bIns="0" anchor="t">
            <a:noAutofit/>
          </a:bodyPr>
          <a:lstStyle/>
          <a:p>
            <a:pPr>
              <a:lnSpc>
                <a:spcPct val="102000"/>
              </a:lnSpc>
            </a:pPr>
            <a:r>
              <a:rPr sz="2800" b="1" i="0" lang="fr-FR" altLang="en-US">
                <a:solidFill>
                  <a:srgbClr val="1B2A4A"/>
                </a:solidFill>
                <a:latin typeface="Cambria"/>
              </a:rPr>
              <a:t>Neuf principes structurent le cadre de gouvernance</a:t>
            </a:r>
          </a:p>
        </p:txBody>
      </p:sp>
      <p:pic>
        <p:nvPicPr>
          <p:cNvPr id="4" name="Picture 3" descr="icon_shield.png"/>
          <p:cNvPicPr>
            <a:picLocks noChangeAspect="1"/>
          </p:cNvPicPr>
          <p:nvPr/>
        </p:nvPicPr>
        <p:blipFill>
          <a:blip r:embed="rId2"/>
          <a:stretch>
            <a:fillRect/>
          </a:stretch>
        </p:blipFill>
        <p:spPr>
          <a:xfrm>
            <a:off x="11140135" y="365760"/>
            <a:ext cx="658368" cy="658368"/>
          </a:xfrm>
          <a:prstGeom prst="rect">
            <a:avLst/>
          </a:prstGeom>
        </p:spPr>
      </p:pic>
      <p:sp>
        <p:nvSpPr>
          <p:cNvPr id="5" name="Rounded Rectangle 4"/>
          <p:cNvSpPr/>
          <p:nvPr/>
        </p:nvSpPr>
        <p:spPr>
          <a:xfrm>
            <a:off x="548640" y="1645920"/>
            <a:ext cx="5349240" cy="214884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6" name="TextBox 5"/>
          <p:cNvSpPr txBox="1"/>
          <p:nvPr/>
        </p:nvSpPr>
        <p:spPr>
          <a:xfrm>
            <a:off x="822959" y="1810512"/>
            <a:ext cx="4800600" cy="329184"/>
          </a:xfrm>
          <a:prstGeom prst="rect">
            <a:avLst/>
          </a:prstGeom>
          <a:noFill/>
        </p:spPr>
        <p:txBody>
          <a:bodyPr wrap="square" lIns="0" rIns="0" tIns="0" bIns="0">
            <a:noAutofit/>
          </a:bodyPr>
          <a:lstStyle/>
          <a:p>
            <a:r>
              <a:rPr sz="1400" b="1" i="0" lang="fr-FR" altLang="en-US">
                <a:solidFill>
                  <a:srgbClr val="1C8C68"/>
                </a:solidFill>
                <a:latin typeface="Calibri"/>
              </a:rPr>
              <a:t>Responsabilité &amp; qualité</a:t>
            </a:r>
          </a:p>
        </p:txBody>
      </p:sp>
      <p:sp>
        <p:nvSpPr>
          <p:cNvPr id="7" name="Oval 6"/>
          <p:cNvSpPr/>
          <p:nvPr/>
        </p:nvSpPr>
        <p:spPr>
          <a:xfrm>
            <a:off x="822959" y="2212848"/>
            <a:ext cx="384048" cy="384048"/>
          </a:xfrm>
          <a:prstGeom prst="ellipse">
            <a:avLst/>
          </a:prstGeom>
          <a:solidFill>
            <a:srgbClr val="1B2A4A"/>
          </a:solidFill>
          <a:ln>
            <a:noFill/>
          </a:ln>
          <a:effectLst/>
        </p:spPr>
        <p:txBody>
          <a:bodyPr rtlCol="0" anchor="ctr"/>
          <a:lstStyle/>
          <a:p>
            <a:pPr algn="ctr"/>
          </a:p>
        </p:txBody>
      </p:sp>
      <p:sp>
        <p:nvSpPr>
          <p:cNvPr id="8" name="TextBox 7"/>
          <p:cNvSpPr txBox="1"/>
          <p:nvPr/>
        </p:nvSpPr>
        <p:spPr>
          <a:xfrm>
            <a:off x="822959" y="2212848"/>
            <a:ext cx="384048" cy="384048"/>
          </a:xfrm>
          <a:prstGeom prst="rect">
            <a:avLst/>
          </a:prstGeom>
          <a:noFill/>
        </p:spPr>
        <p:txBody>
          <a:bodyPr wrap="square" lIns="0" rIns="0" tIns="0" bIns="0" anchor="ctr">
            <a:noAutofit/>
          </a:bodyPr>
          <a:lstStyle/>
          <a:p>
            <a:pPr algn="ctr"/>
            <a:r>
              <a:rPr sz="1050" b="1" i="0" lang="fr-FR" altLang="en-US">
                <a:solidFill>
                  <a:srgbClr val="FFFFFF"/>
                </a:solidFill>
                <a:latin typeface="Calibri"/>
              </a:rPr>
              <a:t>P1</a:t>
            </a:r>
          </a:p>
        </p:txBody>
      </p:sp>
      <p:sp>
        <p:nvSpPr>
          <p:cNvPr id="9" name="TextBox 8"/>
          <p:cNvSpPr txBox="1"/>
          <p:nvPr/>
        </p:nvSpPr>
        <p:spPr>
          <a:xfrm>
            <a:off x="1325880" y="2185416"/>
            <a:ext cx="4297679" cy="566928"/>
          </a:xfrm>
          <a:prstGeom prst="rect">
            <a:avLst/>
          </a:prstGeom>
          <a:noFill/>
        </p:spPr>
        <p:txBody>
          <a:bodyPr wrap="square" lIns="0" rIns="0" tIns="0" bIns="0" anchor="t">
            <a:noAutofit/>
          </a:bodyPr>
          <a:lstStyle/>
          <a:p>
            <a:r>
              <a:rPr sz="1080" b="0" i="0" lang="fr-FR" altLang="en-US">
                <a:solidFill>
                  <a:srgbClr val="1B2A4A"/>
                </a:solidFill>
                <a:latin typeface="Calibri"/>
              </a:rPr>
              <a:t>Responsabilité - un responsable identifié par actif de données et par modèle</a:t>
            </a:r>
          </a:p>
        </p:txBody>
      </p:sp>
      <p:sp>
        <p:nvSpPr>
          <p:cNvPr id="10" name="Oval 9"/>
          <p:cNvSpPr/>
          <p:nvPr/>
        </p:nvSpPr>
        <p:spPr>
          <a:xfrm>
            <a:off x="822959" y="2779776"/>
            <a:ext cx="384048" cy="384048"/>
          </a:xfrm>
          <a:prstGeom prst="ellipse">
            <a:avLst/>
          </a:prstGeom>
          <a:solidFill>
            <a:srgbClr val="1B2A4A"/>
          </a:solidFill>
          <a:ln>
            <a:noFill/>
          </a:ln>
          <a:effectLst/>
        </p:spPr>
        <p:txBody>
          <a:bodyPr rtlCol="0" anchor="ctr"/>
          <a:lstStyle/>
          <a:p>
            <a:pPr algn="ctr"/>
          </a:p>
        </p:txBody>
      </p:sp>
      <p:sp>
        <p:nvSpPr>
          <p:cNvPr id="11" name="TextBox 10"/>
          <p:cNvSpPr txBox="1"/>
          <p:nvPr/>
        </p:nvSpPr>
        <p:spPr>
          <a:xfrm>
            <a:off x="822959" y="2779776"/>
            <a:ext cx="384048" cy="384048"/>
          </a:xfrm>
          <a:prstGeom prst="rect">
            <a:avLst/>
          </a:prstGeom>
          <a:noFill/>
        </p:spPr>
        <p:txBody>
          <a:bodyPr wrap="square" lIns="0" rIns="0" tIns="0" bIns="0" anchor="ctr">
            <a:noAutofit/>
          </a:bodyPr>
          <a:lstStyle/>
          <a:p>
            <a:pPr algn="ctr"/>
            <a:r>
              <a:rPr sz="1050" b="1" i="0" lang="fr-FR" altLang="en-US">
                <a:solidFill>
                  <a:srgbClr val="FFFFFF"/>
                </a:solidFill>
                <a:latin typeface="Calibri"/>
              </a:rPr>
              <a:t>P4</a:t>
            </a:r>
          </a:p>
        </p:txBody>
      </p:sp>
      <p:sp>
        <p:nvSpPr>
          <p:cNvPr id="12" name="TextBox 11"/>
          <p:cNvSpPr txBox="1"/>
          <p:nvPr/>
        </p:nvSpPr>
        <p:spPr>
          <a:xfrm>
            <a:off x="1325880" y="2752344"/>
            <a:ext cx="4297679" cy="566928"/>
          </a:xfrm>
          <a:prstGeom prst="rect">
            <a:avLst/>
          </a:prstGeom>
          <a:noFill/>
        </p:spPr>
        <p:txBody>
          <a:bodyPr wrap="square" lIns="0" rIns="0" tIns="0" bIns="0" anchor="t">
            <a:noAutofit/>
          </a:bodyPr>
          <a:lstStyle/>
          <a:p>
            <a:r>
              <a:rPr sz="1080" b="0" i="0" lang="fr-FR" altLang="en-US">
                <a:solidFill>
                  <a:srgbClr val="1B2A4A"/>
                </a:solidFill>
                <a:latin typeface="Calibri"/>
              </a:rPr>
              <a:t>Qualité - règles mesurables (exactitude, complétude, fraîcheur), auditées régulièrement</a:t>
            </a:r>
          </a:p>
        </p:txBody>
      </p:sp>
      <p:sp>
        <p:nvSpPr>
          <p:cNvPr id="13" name="Rounded Rectangle 12"/>
          <p:cNvSpPr/>
          <p:nvPr/>
        </p:nvSpPr>
        <p:spPr>
          <a:xfrm>
            <a:off x="6217919" y="1645920"/>
            <a:ext cx="5349240" cy="214884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14" name="TextBox 13"/>
          <p:cNvSpPr txBox="1"/>
          <p:nvPr/>
        </p:nvSpPr>
        <p:spPr>
          <a:xfrm>
            <a:off x="6492239" y="1810512"/>
            <a:ext cx="4800600" cy="329184"/>
          </a:xfrm>
          <a:prstGeom prst="rect">
            <a:avLst/>
          </a:prstGeom>
          <a:noFill/>
        </p:spPr>
        <p:txBody>
          <a:bodyPr wrap="square" lIns="0" rIns="0" tIns="0" bIns="0">
            <a:noAutofit/>
          </a:bodyPr>
          <a:lstStyle/>
          <a:p>
            <a:r>
              <a:rPr sz="1400" b="1" i="0" lang="fr-FR" altLang="en-US">
                <a:solidFill>
                  <a:srgbClr val="1C8C68"/>
                </a:solidFill>
                <a:latin typeface="Calibri"/>
              </a:rPr>
              <a:t>Confiance utilisateur</a:t>
            </a:r>
          </a:p>
        </p:txBody>
      </p:sp>
      <p:sp>
        <p:nvSpPr>
          <p:cNvPr id="15" name="Oval 14"/>
          <p:cNvSpPr/>
          <p:nvPr/>
        </p:nvSpPr>
        <p:spPr>
          <a:xfrm>
            <a:off x="6492239" y="2212848"/>
            <a:ext cx="384048" cy="384048"/>
          </a:xfrm>
          <a:prstGeom prst="ellipse">
            <a:avLst/>
          </a:prstGeom>
          <a:solidFill>
            <a:srgbClr val="1B2A4A"/>
          </a:solidFill>
          <a:ln>
            <a:noFill/>
          </a:ln>
          <a:effectLst/>
        </p:spPr>
        <p:txBody>
          <a:bodyPr rtlCol="0" anchor="ctr"/>
          <a:lstStyle/>
          <a:p>
            <a:pPr algn="ctr"/>
          </a:p>
        </p:txBody>
      </p:sp>
      <p:sp>
        <p:nvSpPr>
          <p:cNvPr id="16" name="TextBox 15"/>
          <p:cNvSpPr txBox="1"/>
          <p:nvPr/>
        </p:nvSpPr>
        <p:spPr>
          <a:xfrm>
            <a:off x="6492239" y="2212848"/>
            <a:ext cx="384048" cy="384048"/>
          </a:xfrm>
          <a:prstGeom prst="rect">
            <a:avLst/>
          </a:prstGeom>
          <a:noFill/>
        </p:spPr>
        <p:txBody>
          <a:bodyPr wrap="square" lIns="0" rIns="0" tIns="0" bIns="0" anchor="ctr">
            <a:noAutofit/>
          </a:bodyPr>
          <a:lstStyle/>
          <a:p>
            <a:pPr algn="ctr"/>
            <a:r>
              <a:rPr sz="1050" b="1" i="0" lang="fr-FR" altLang="en-US">
                <a:solidFill>
                  <a:srgbClr val="FFFFFF"/>
                </a:solidFill>
                <a:latin typeface="Calibri"/>
              </a:rPr>
              <a:t>P2</a:t>
            </a:r>
          </a:p>
        </p:txBody>
      </p:sp>
      <p:sp>
        <p:nvSpPr>
          <p:cNvPr id="17" name="TextBox 16"/>
          <p:cNvSpPr txBox="1"/>
          <p:nvPr/>
        </p:nvSpPr>
        <p:spPr>
          <a:xfrm>
            <a:off x="6995159" y="2185416"/>
            <a:ext cx="4297679" cy="566928"/>
          </a:xfrm>
          <a:prstGeom prst="rect">
            <a:avLst/>
          </a:prstGeom>
          <a:noFill/>
        </p:spPr>
        <p:txBody>
          <a:bodyPr wrap="square" lIns="0" rIns="0" tIns="0" bIns="0" anchor="t">
            <a:noAutofit/>
          </a:bodyPr>
          <a:lstStyle/>
          <a:p>
            <a:r>
              <a:rPr sz="1080" b="0" i="0" lang="fr-FR" altLang="en-US">
                <a:solidFill>
                  <a:srgbClr val="1B2A4A"/>
                </a:solidFill>
                <a:latin typeface="Calibri"/>
              </a:rPr>
              <a:t>Transparence - information claire et gestion du consentement</a:t>
            </a:r>
          </a:p>
        </p:txBody>
      </p:sp>
      <p:sp>
        <p:nvSpPr>
          <p:cNvPr id="18" name="Oval 17"/>
          <p:cNvSpPr/>
          <p:nvPr/>
        </p:nvSpPr>
        <p:spPr>
          <a:xfrm>
            <a:off x="6492239" y="2779776"/>
            <a:ext cx="384048" cy="384048"/>
          </a:xfrm>
          <a:prstGeom prst="ellipse">
            <a:avLst/>
          </a:prstGeom>
          <a:solidFill>
            <a:srgbClr val="1B2A4A"/>
          </a:solidFill>
          <a:ln>
            <a:noFill/>
          </a:ln>
          <a:effectLst/>
        </p:spPr>
        <p:txBody>
          <a:bodyPr rtlCol="0" anchor="ctr"/>
          <a:lstStyle/>
          <a:p>
            <a:pPr algn="ctr"/>
          </a:p>
        </p:txBody>
      </p:sp>
      <p:sp>
        <p:nvSpPr>
          <p:cNvPr id="19" name="TextBox 18"/>
          <p:cNvSpPr txBox="1"/>
          <p:nvPr/>
        </p:nvSpPr>
        <p:spPr>
          <a:xfrm>
            <a:off x="6492239" y="2779776"/>
            <a:ext cx="384048" cy="384048"/>
          </a:xfrm>
          <a:prstGeom prst="rect">
            <a:avLst/>
          </a:prstGeom>
          <a:noFill/>
        </p:spPr>
        <p:txBody>
          <a:bodyPr wrap="square" lIns="0" rIns="0" tIns="0" bIns="0" anchor="ctr">
            <a:noAutofit/>
          </a:bodyPr>
          <a:lstStyle/>
          <a:p>
            <a:pPr algn="ctr"/>
            <a:r>
              <a:rPr sz="1050" b="1" i="0" lang="fr-FR" altLang="en-US">
                <a:solidFill>
                  <a:srgbClr val="FFFFFF"/>
                </a:solidFill>
                <a:latin typeface="Calibri"/>
              </a:rPr>
              <a:t>P6</a:t>
            </a:r>
          </a:p>
        </p:txBody>
      </p:sp>
      <p:sp>
        <p:nvSpPr>
          <p:cNvPr id="20" name="TextBox 19"/>
          <p:cNvSpPr txBox="1"/>
          <p:nvPr/>
        </p:nvSpPr>
        <p:spPr>
          <a:xfrm>
            <a:off x="6995159" y="2752344"/>
            <a:ext cx="4297679" cy="566928"/>
          </a:xfrm>
          <a:prstGeom prst="rect">
            <a:avLst/>
          </a:prstGeom>
          <a:noFill/>
        </p:spPr>
        <p:txBody>
          <a:bodyPr wrap="square" lIns="0" rIns="0" tIns="0" bIns="0" anchor="t">
            <a:noAutofit/>
          </a:bodyPr>
          <a:lstStyle/>
          <a:p>
            <a:r>
              <a:rPr sz="1080" b="0" i="0" lang="fr-FR" altLang="en-US">
                <a:solidFill>
                  <a:srgbClr val="1B2A4A"/>
                </a:solidFill>
                <a:latin typeface="Calibri"/>
              </a:rPr>
              <a:t>Minimisation - collecte limitée aux finalités métier</a:t>
            </a:r>
          </a:p>
        </p:txBody>
      </p:sp>
      <p:sp>
        <p:nvSpPr>
          <p:cNvPr id="21" name="Oval 20"/>
          <p:cNvSpPr/>
          <p:nvPr/>
        </p:nvSpPr>
        <p:spPr>
          <a:xfrm>
            <a:off x="6492239" y="3346704"/>
            <a:ext cx="384048" cy="384048"/>
          </a:xfrm>
          <a:prstGeom prst="ellipse">
            <a:avLst/>
          </a:prstGeom>
          <a:solidFill>
            <a:srgbClr val="1B2A4A"/>
          </a:solidFill>
          <a:ln>
            <a:noFill/>
          </a:ln>
          <a:effectLst/>
        </p:spPr>
        <p:txBody>
          <a:bodyPr rtlCol="0" anchor="ctr"/>
          <a:lstStyle/>
          <a:p>
            <a:pPr algn="ctr"/>
          </a:p>
        </p:txBody>
      </p:sp>
      <p:sp>
        <p:nvSpPr>
          <p:cNvPr id="22" name="TextBox 21"/>
          <p:cNvSpPr txBox="1"/>
          <p:nvPr/>
        </p:nvSpPr>
        <p:spPr>
          <a:xfrm>
            <a:off x="6492239" y="3346704"/>
            <a:ext cx="384048" cy="384048"/>
          </a:xfrm>
          <a:prstGeom prst="rect">
            <a:avLst/>
          </a:prstGeom>
          <a:noFill/>
        </p:spPr>
        <p:txBody>
          <a:bodyPr wrap="square" lIns="0" rIns="0" tIns="0" bIns="0" anchor="ctr">
            <a:noAutofit/>
          </a:bodyPr>
          <a:lstStyle/>
          <a:p>
            <a:pPr algn="ctr"/>
            <a:r>
              <a:rPr sz="1050" b="1" i="0" lang="fr-FR" altLang="en-US">
                <a:solidFill>
                  <a:srgbClr val="FFFFFF"/>
                </a:solidFill>
                <a:latin typeface="Calibri"/>
              </a:rPr>
              <a:t>P7</a:t>
            </a:r>
          </a:p>
        </p:txBody>
      </p:sp>
      <p:sp>
        <p:nvSpPr>
          <p:cNvPr id="23" name="TextBox 22"/>
          <p:cNvSpPr txBox="1"/>
          <p:nvPr/>
        </p:nvSpPr>
        <p:spPr>
          <a:xfrm>
            <a:off x="6995159" y="3319272"/>
            <a:ext cx="4297679" cy="566928"/>
          </a:xfrm>
          <a:prstGeom prst="rect">
            <a:avLst/>
          </a:prstGeom>
          <a:noFill/>
        </p:spPr>
        <p:txBody>
          <a:bodyPr wrap="square" lIns="0" rIns="0" tIns="0" bIns="0" anchor="t">
            <a:noAutofit/>
          </a:bodyPr>
          <a:lstStyle/>
          <a:p>
            <a:r>
              <a:rPr sz="1080" b="0" i="0" lang="fr-FR" altLang="en-US">
                <a:solidFill>
                  <a:srgbClr val="1B2A4A"/>
                </a:solidFill>
                <a:latin typeface="Calibri"/>
              </a:rPr>
              <a:t>Droits des utilisateurs - accès, modification, suppression, opposition</a:t>
            </a:r>
          </a:p>
        </p:txBody>
      </p:sp>
      <p:sp>
        <p:nvSpPr>
          <p:cNvPr id="24" name="Rounded Rectangle 23"/>
          <p:cNvSpPr/>
          <p:nvPr/>
        </p:nvSpPr>
        <p:spPr>
          <a:xfrm>
            <a:off x="548640" y="4023360"/>
            <a:ext cx="5349240" cy="214884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25" name="TextBox 24"/>
          <p:cNvSpPr txBox="1"/>
          <p:nvPr/>
        </p:nvSpPr>
        <p:spPr>
          <a:xfrm>
            <a:off x="822959" y="4187952"/>
            <a:ext cx="4800600" cy="329184"/>
          </a:xfrm>
          <a:prstGeom prst="rect">
            <a:avLst/>
          </a:prstGeom>
          <a:noFill/>
        </p:spPr>
        <p:txBody>
          <a:bodyPr wrap="square" lIns="0" rIns="0" tIns="0" bIns="0">
            <a:noAutofit/>
          </a:bodyPr>
          <a:lstStyle/>
          <a:p>
            <a:r>
              <a:rPr sz="1400" b="1" i="0" lang="fr-FR" altLang="en-US">
                <a:solidFill>
                  <a:srgbClr val="1C8C68"/>
                </a:solidFill>
                <a:latin typeface="Calibri"/>
              </a:rPr>
              <a:t>Sécurité &amp; conformité</a:t>
            </a:r>
          </a:p>
        </p:txBody>
      </p:sp>
      <p:sp>
        <p:nvSpPr>
          <p:cNvPr id="26" name="Oval 25"/>
          <p:cNvSpPr/>
          <p:nvPr/>
        </p:nvSpPr>
        <p:spPr>
          <a:xfrm>
            <a:off x="822959" y="4590288"/>
            <a:ext cx="384048" cy="384048"/>
          </a:xfrm>
          <a:prstGeom prst="ellipse">
            <a:avLst/>
          </a:prstGeom>
          <a:solidFill>
            <a:srgbClr val="1B2A4A"/>
          </a:solidFill>
          <a:ln>
            <a:noFill/>
          </a:ln>
          <a:effectLst/>
        </p:spPr>
        <p:txBody>
          <a:bodyPr rtlCol="0" anchor="ctr"/>
          <a:lstStyle/>
          <a:p>
            <a:pPr algn="ctr"/>
          </a:p>
        </p:txBody>
      </p:sp>
      <p:sp>
        <p:nvSpPr>
          <p:cNvPr id="27" name="TextBox 26"/>
          <p:cNvSpPr txBox="1"/>
          <p:nvPr/>
        </p:nvSpPr>
        <p:spPr>
          <a:xfrm>
            <a:off x="822959" y="4590288"/>
            <a:ext cx="384048" cy="384048"/>
          </a:xfrm>
          <a:prstGeom prst="rect">
            <a:avLst/>
          </a:prstGeom>
          <a:noFill/>
        </p:spPr>
        <p:txBody>
          <a:bodyPr wrap="square" lIns="0" rIns="0" tIns="0" bIns="0" anchor="ctr">
            <a:noAutofit/>
          </a:bodyPr>
          <a:lstStyle/>
          <a:p>
            <a:pPr algn="ctr"/>
            <a:r>
              <a:rPr sz="1050" b="1" i="0" lang="fr-FR" altLang="en-US">
                <a:solidFill>
                  <a:srgbClr val="FFFFFF"/>
                </a:solidFill>
                <a:latin typeface="Calibri"/>
              </a:rPr>
              <a:t>P3</a:t>
            </a:r>
          </a:p>
        </p:txBody>
      </p:sp>
      <p:sp>
        <p:nvSpPr>
          <p:cNvPr id="28" name="TextBox 27"/>
          <p:cNvSpPr txBox="1"/>
          <p:nvPr/>
        </p:nvSpPr>
        <p:spPr>
          <a:xfrm>
            <a:off x="1325880" y="4562856"/>
            <a:ext cx="4297679" cy="566928"/>
          </a:xfrm>
          <a:prstGeom prst="rect">
            <a:avLst/>
          </a:prstGeom>
          <a:noFill/>
        </p:spPr>
        <p:txBody>
          <a:bodyPr wrap="square" lIns="0" rIns="0" tIns="0" bIns="0" anchor="t">
            <a:noAutofit/>
          </a:bodyPr>
          <a:lstStyle/>
          <a:p>
            <a:r>
              <a:rPr sz="1080" b="0" i="0" lang="fr-FR" altLang="en-US">
                <a:solidFill>
                  <a:srgbClr val="1B2A4A"/>
                </a:solidFill>
                <a:latin typeface="Calibri"/>
              </a:rPr>
              <a:t>Sécurité - chiffrement, contrôle d'accès par rôle, protocoles PCI-DSS</a:t>
            </a:r>
          </a:p>
        </p:txBody>
      </p:sp>
      <p:sp>
        <p:nvSpPr>
          <p:cNvPr id="29" name="Oval 28"/>
          <p:cNvSpPr/>
          <p:nvPr/>
        </p:nvSpPr>
        <p:spPr>
          <a:xfrm>
            <a:off x="822959" y="5157216"/>
            <a:ext cx="384048" cy="384048"/>
          </a:xfrm>
          <a:prstGeom prst="ellipse">
            <a:avLst/>
          </a:prstGeom>
          <a:solidFill>
            <a:srgbClr val="1B2A4A"/>
          </a:solidFill>
          <a:ln>
            <a:noFill/>
          </a:ln>
          <a:effectLst/>
        </p:spPr>
        <p:txBody>
          <a:bodyPr rtlCol="0" anchor="ctr"/>
          <a:lstStyle/>
          <a:p>
            <a:pPr algn="ctr"/>
          </a:p>
        </p:txBody>
      </p:sp>
      <p:sp>
        <p:nvSpPr>
          <p:cNvPr id="30" name="TextBox 29"/>
          <p:cNvSpPr txBox="1"/>
          <p:nvPr/>
        </p:nvSpPr>
        <p:spPr>
          <a:xfrm>
            <a:off x="822959" y="5157216"/>
            <a:ext cx="384048" cy="384048"/>
          </a:xfrm>
          <a:prstGeom prst="rect">
            <a:avLst/>
          </a:prstGeom>
          <a:noFill/>
        </p:spPr>
        <p:txBody>
          <a:bodyPr wrap="square" lIns="0" rIns="0" tIns="0" bIns="0" anchor="ctr">
            <a:noAutofit/>
          </a:bodyPr>
          <a:lstStyle/>
          <a:p>
            <a:pPr algn="ctr"/>
            <a:r>
              <a:rPr sz="1050" b="1" i="0" lang="fr-FR" altLang="en-US">
                <a:solidFill>
                  <a:srgbClr val="FFFFFF"/>
                </a:solidFill>
                <a:latin typeface="Calibri"/>
              </a:rPr>
              <a:t>P5</a:t>
            </a:r>
          </a:p>
        </p:txBody>
      </p:sp>
      <p:sp>
        <p:nvSpPr>
          <p:cNvPr id="31" name="TextBox 30"/>
          <p:cNvSpPr txBox="1"/>
          <p:nvPr/>
        </p:nvSpPr>
        <p:spPr>
          <a:xfrm>
            <a:off x="1325880" y="5129784"/>
            <a:ext cx="4297679" cy="566928"/>
          </a:xfrm>
          <a:prstGeom prst="rect">
            <a:avLst/>
          </a:prstGeom>
          <a:noFill/>
        </p:spPr>
        <p:txBody>
          <a:bodyPr wrap="square" lIns="0" rIns="0" tIns="0" bIns="0" anchor="t">
            <a:noAutofit/>
          </a:bodyPr>
          <a:lstStyle/>
          <a:p>
            <a:r>
              <a:rPr sz="1080" b="0" i="0" lang="fr-FR" altLang="en-US">
                <a:solidFill>
                  <a:srgbClr val="1B2A4A"/>
                </a:solidFill>
                <a:latin typeface="Calibri"/>
              </a:rPr>
              <a:t>Conformité - GDPR, CCPA, PCI-DSS et réglementations locales, veille continue</a:t>
            </a:r>
          </a:p>
        </p:txBody>
      </p:sp>
      <p:sp>
        <p:nvSpPr>
          <p:cNvPr id="32" name="Rounded Rectangle 31"/>
          <p:cNvSpPr/>
          <p:nvPr/>
        </p:nvSpPr>
        <p:spPr>
          <a:xfrm>
            <a:off x="6217919" y="4023360"/>
            <a:ext cx="5349240" cy="214884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33" name="TextBox 32"/>
          <p:cNvSpPr txBox="1"/>
          <p:nvPr/>
        </p:nvSpPr>
        <p:spPr>
          <a:xfrm>
            <a:off x="6492239" y="4187952"/>
            <a:ext cx="4800600" cy="329184"/>
          </a:xfrm>
          <a:prstGeom prst="rect">
            <a:avLst/>
          </a:prstGeom>
          <a:noFill/>
        </p:spPr>
        <p:txBody>
          <a:bodyPr wrap="square" lIns="0" rIns="0" tIns="0" bIns="0">
            <a:noAutofit/>
          </a:bodyPr>
          <a:lstStyle/>
          <a:p>
            <a:r>
              <a:rPr sz="1400" b="1" i="0" lang="fr-FR" altLang="en-US">
                <a:solidFill>
                  <a:srgbClr val="1C8C68"/>
                </a:solidFill>
                <a:latin typeface="Calibri"/>
              </a:rPr>
              <a:t>IA responsable &amp; amélioration continue</a:t>
            </a:r>
          </a:p>
        </p:txBody>
      </p:sp>
      <p:sp>
        <p:nvSpPr>
          <p:cNvPr id="34" name="Oval 33"/>
          <p:cNvSpPr/>
          <p:nvPr/>
        </p:nvSpPr>
        <p:spPr>
          <a:xfrm>
            <a:off x="6492239" y="4590288"/>
            <a:ext cx="384048" cy="384048"/>
          </a:xfrm>
          <a:prstGeom prst="ellipse">
            <a:avLst/>
          </a:prstGeom>
          <a:solidFill>
            <a:srgbClr val="1B2A4A"/>
          </a:solidFill>
          <a:ln>
            <a:noFill/>
          </a:ln>
          <a:effectLst/>
        </p:spPr>
        <p:txBody>
          <a:bodyPr rtlCol="0" anchor="ctr"/>
          <a:lstStyle/>
          <a:p>
            <a:pPr algn="ctr"/>
          </a:p>
        </p:txBody>
      </p:sp>
      <p:sp>
        <p:nvSpPr>
          <p:cNvPr id="35" name="TextBox 34"/>
          <p:cNvSpPr txBox="1"/>
          <p:nvPr/>
        </p:nvSpPr>
        <p:spPr>
          <a:xfrm>
            <a:off x="6492239" y="4590288"/>
            <a:ext cx="384048" cy="384048"/>
          </a:xfrm>
          <a:prstGeom prst="rect">
            <a:avLst/>
          </a:prstGeom>
          <a:noFill/>
        </p:spPr>
        <p:txBody>
          <a:bodyPr wrap="square" lIns="0" rIns="0" tIns="0" bIns="0" anchor="ctr">
            <a:noAutofit/>
          </a:bodyPr>
          <a:lstStyle/>
          <a:p>
            <a:pPr algn="ctr"/>
            <a:r>
              <a:rPr sz="1050" b="1" i="0" lang="fr-FR" altLang="en-US">
                <a:solidFill>
                  <a:srgbClr val="FFFFFF"/>
                </a:solidFill>
                <a:latin typeface="Calibri"/>
              </a:rPr>
              <a:t>P8</a:t>
            </a:r>
          </a:p>
        </p:txBody>
      </p:sp>
      <p:sp>
        <p:nvSpPr>
          <p:cNvPr id="36" name="TextBox 35"/>
          <p:cNvSpPr txBox="1"/>
          <p:nvPr/>
        </p:nvSpPr>
        <p:spPr>
          <a:xfrm>
            <a:off x="6995159" y="4562856"/>
            <a:ext cx="4297679" cy="566928"/>
          </a:xfrm>
          <a:prstGeom prst="rect">
            <a:avLst/>
          </a:prstGeom>
          <a:noFill/>
        </p:spPr>
        <p:txBody>
          <a:bodyPr wrap="square" lIns="0" rIns="0" tIns="0" bIns="0" anchor="t">
            <a:noAutofit/>
          </a:bodyPr>
          <a:lstStyle/>
          <a:p>
            <a:r>
              <a:rPr sz="1080" b="0" i="0" lang="fr-FR" altLang="en-US">
                <a:solidFill>
                  <a:srgbClr val="1B2A4A"/>
                </a:solidFill>
                <a:latin typeface="Calibri"/>
              </a:rPr>
              <a:t>Éthique &amp; gouvernance IA - traçabilité, biais, explicabilité</a:t>
            </a:r>
          </a:p>
        </p:txBody>
      </p:sp>
      <p:sp>
        <p:nvSpPr>
          <p:cNvPr id="37" name="Oval 36"/>
          <p:cNvSpPr/>
          <p:nvPr/>
        </p:nvSpPr>
        <p:spPr>
          <a:xfrm>
            <a:off x="6492239" y="5157216"/>
            <a:ext cx="384048" cy="384048"/>
          </a:xfrm>
          <a:prstGeom prst="ellipse">
            <a:avLst/>
          </a:prstGeom>
          <a:solidFill>
            <a:srgbClr val="1B2A4A"/>
          </a:solidFill>
          <a:ln>
            <a:noFill/>
          </a:ln>
          <a:effectLst/>
        </p:spPr>
        <p:txBody>
          <a:bodyPr rtlCol="0" anchor="ctr"/>
          <a:lstStyle/>
          <a:p>
            <a:pPr algn="ctr"/>
          </a:p>
        </p:txBody>
      </p:sp>
      <p:sp>
        <p:nvSpPr>
          <p:cNvPr id="38" name="TextBox 37"/>
          <p:cNvSpPr txBox="1"/>
          <p:nvPr/>
        </p:nvSpPr>
        <p:spPr>
          <a:xfrm>
            <a:off x="6492239" y="5157216"/>
            <a:ext cx="384048" cy="384048"/>
          </a:xfrm>
          <a:prstGeom prst="rect">
            <a:avLst/>
          </a:prstGeom>
          <a:noFill/>
        </p:spPr>
        <p:txBody>
          <a:bodyPr wrap="square" lIns="0" rIns="0" tIns="0" bIns="0" anchor="ctr">
            <a:noAutofit/>
          </a:bodyPr>
          <a:lstStyle/>
          <a:p>
            <a:pPr algn="ctr"/>
            <a:r>
              <a:rPr sz="1050" b="1" i="0" lang="fr-FR" altLang="en-US">
                <a:solidFill>
                  <a:srgbClr val="FFFFFF"/>
                </a:solidFill>
                <a:latin typeface="Calibri"/>
              </a:rPr>
              <a:t>P9</a:t>
            </a:r>
          </a:p>
        </p:txBody>
      </p:sp>
      <p:sp>
        <p:nvSpPr>
          <p:cNvPr id="39" name="TextBox 38"/>
          <p:cNvSpPr txBox="1"/>
          <p:nvPr/>
        </p:nvSpPr>
        <p:spPr>
          <a:xfrm>
            <a:off x="6995159" y="5129784"/>
            <a:ext cx="4297679" cy="566928"/>
          </a:xfrm>
          <a:prstGeom prst="rect">
            <a:avLst/>
          </a:prstGeom>
          <a:noFill/>
        </p:spPr>
        <p:txBody>
          <a:bodyPr wrap="square" lIns="0" rIns="0" tIns="0" bIns="0" anchor="t">
            <a:noAutofit/>
          </a:bodyPr>
          <a:lstStyle/>
          <a:p>
            <a:r>
              <a:rPr sz="1080" b="0" i="0" lang="fr-FR" altLang="en-US">
                <a:solidFill>
                  <a:srgbClr val="1B2A4A"/>
                </a:solidFill>
                <a:latin typeface="Calibri"/>
              </a:rPr>
              <a:t>Amélioration continue - revues périodiques alignées sur la méthodologie DMAT</a:t>
            </a:r>
          </a:p>
        </p:txBody>
      </p:sp>
      <p:sp>
        <p:nvSpPr>
          <p:cNvPr id="40" name="TextBox 39"/>
          <p:cNvSpPr txBox="1"/>
          <p:nvPr/>
        </p:nvSpPr>
        <p:spPr>
          <a:xfrm>
            <a:off x="548640" y="6473952"/>
            <a:ext cx="8686800" cy="274320"/>
          </a:xfrm>
          <a:prstGeom prst="rect">
            <a:avLst/>
          </a:prstGeom>
          <a:noFill/>
        </p:spPr>
        <p:txBody>
          <a:bodyPr wrap="square" lIns="0" rIns="0" tIns="0" bIns="0">
            <a:noAutofit/>
          </a:bodyPr>
          <a:lstStyle/>
          <a:p>
            <a:r>
              <a:rPr sz="950" b="0" i="1" lang="fr-FR" altLang="en-US">
                <a:solidFill>
                  <a:srgbClr val="8493A8"/>
                </a:solidFill>
                <a:latin typeface="Calibri"/>
              </a:rPr>
              <a:t>Source : [D21] §2.1.3 - principes issus de [R4]</a:t>
            </a:r>
          </a:p>
        </p:txBody>
      </p:sp>
      <p:sp>
        <p:nvSpPr>
          <p:cNvPr id="41" name="TextBox 40"/>
          <p:cNvSpPr txBox="1"/>
          <p:nvPr/>
        </p:nvSpPr>
        <p:spPr>
          <a:xfrm>
            <a:off x="11002975" y="6473952"/>
            <a:ext cx="822960" cy="274320"/>
          </a:xfrm>
          <a:prstGeom prst="rect">
            <a:avLst/>
          </a:prstGeom>
          <a:noFill/>
        </p:spPr>
        <p:txBody>
          <a:bodyPr wrap="square" lIns="0" rIns="0" tIns="0" bIns="0">
            <a:noAutofit/>
          </a:bodyPr>
          <a:lstStyle/>
          <a:p>
            <a:pPr algn="r"/>
            <a:r>
              <a:rPr sz="950" b="0" i="0" lang="fr-FR" altLang="en-US">
                <a:solidFill>
                  <a:srgbClr val="8493A8"/>
                </a:solidFill>
                <a:latin typeface="Calibri"/>
              </a:rPr>
              <a:t>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4F7"/>
        </a:solidFill>
        <a:effectLst/>
      </p:bgPr>
    </p:bg>
    <p:spTree>
      <p:nvGrpSpPr>
        <p:cNvPr id="1" name=""/>
        <p:cNvGrpSpPr/>
        <p:nvPr/>
      </p:nvGrpSpPr>
      <p:grpSpPr/>
      <p:sp>
        <p:nvSpPr>
          <p:cNvPr id="2" name="TextBox 1"/>
          <p:cNvSpPr txBox="1"/>
          <p:nvPr/>
        </p:nvSpPr>
        <p:spPr>
          <a:xfrm>
            <a:off x="548640" y="384048"/>
            <a:ext cx="7315200" cy="292608"/>
          </a:xfrm>
          <a:prstGeom prst="rect">
            <a:avLst/>
          </a:prstGeom>
          <a:noFill/>
        </p:spPr>
        <p:txBody>
          <a:bodyPr wrap="square" lIns="0" rIns="0" tIns="0" bIns="0">
            <a:noAutofit/>
          </a:bodyPr>
          <a:lstStyle/>
          <a:p>
            <a:r>
              <a:rPr sz="1200" b="1" i="0" spc="200" lang="fr-FR" altLang="en-US">
                <a:solidFill>
                  <a:srgbClr val="1C8C68"/>
                </a:solidFill>
                <a:latin typeface="Calibri"/>
              </a:rPr>
              <a:t>ORGANISATION</a:t>
            </a:r>
          </a:p>
        </p:txBody>
      </p:sp>
      <p:sp>
        <p:nvSpPr>
          <p:cNvPr id="3" name="TextBox 2"/>
          <p:cNvSpPr txBox="1"/>
          <p:nvPr/>
        </p:nvSpPr>
        <p:spPr>
          <a:xfrm>
            <a:off x="548640" y="658368"/>
            <a:ext cx="9509760" cy="868680"/>
          </a:xfrm>
          <a:prstGeom prst="rect">
            <a:avLst/>
          </a:prstGeom>
          <a:noFill/>
        </p:spPr>
        <p:txBody>
          <a:bodyPr wrap="square" lIns="0" rIns="0" tIns="0" bIns="0" anchor="t">
            <a:noAutofit/>
          </a:bodyPr>
          <a:lstStyle/>
          <a:p>
            <a:pPr>
              <a:lnSpc>
                <a:spcPct val="102000"/>
              </a:lnSpc>
            </a:pPr>
            <a:r>
              <a:rPr sz="2800" b="1" i="0" lang="fr-FR" altLang="en-US">
                <a:solidFill>
                  <a:srgbClr val="1B2A4A"/>
                </a:solidFill>
                <a:latin typeface="Cambria"/>
              </a:rPr>
              <a:t>Un modèle Center of Excellence, adapté à Spotify</a:t>
            </a:r>
          </a:p>
        </p:txBody>
      </p:sp>
      <p:pic>
        <p:nvPicPr>
          <p:cNvPr id="4" name="Picture 3" descr="icon_users.png"/>
          <p:cNvPicPr>
            <a:picLocks noChangeAspect="1"/>
          </p:cNvPicPr>
          <p:nvPr/>
        </p:nvPicPr>
        <p:blipFill>
          <a:blip r:embed="rId2"/>
          <a:stretch>
            <a:fillRect/>
          </a:stretch>
        </p:blipFill>
        <p:spPr>
          <a:xfrm>
            <a:off x="11140135" y="365760"/>
            <a:ext cx="658368" cy="658368"/>
          </a:xfrm>
          <a:prstGeom prst="rect">
            <a:avLst/>
          </a:prstGeom>
        </p:spPr>
      </p:pic>
      <p:sp>
        <p:nvSpPr>
          <p:cNvPr id="5" name="Rounded Rectangle 4"/>
          <p:cNvSpPr/>
          <p:nvPr/>
        </p:nvSpPr>
        <p:spPr>
          <a:xfrm>
            <a:off x="548640" y="1691640"/>
            <a:ext cx="4114800" cy="457200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6" name="TextBox 5"/>
          <p:cNvSpPr txBox="1"/>
          <p:nvPr/>
        </p:nvSpPr>
        <p:spPr>
          <a:xfrm>
            <a:off x="822959" y="1874519"/>
            <a:ext cx="3566160" cy="384048"/>
          </a:xfrm>
          <a:prstGeom prst="rect">
            <a:avLst/>
          </a:prstGeom>
          <a:noFill/>
        </p:spPr>
        <p:txBody>
          <a:bodyPr wrap="square" lIns="0" rIns="0" tIns="0" bIns="0" anchor="t">
            <a:noAutofit/>
          </a:bodyPr>
          <a:lstStyle/>
          <a:p>
            <a:r>
              <a:rPr sz="1130" b="1" i="0" lang="fr-FR" altLang="en-US">
                <a:solidFill>
                  <a:srgbClr val="1C8C68"/>
                </a:solidFill>
                <a:latin typeface="Calibri"/>
              </a:rPr>
              <a:t>Trois modèles considérés, un seul répond à E1, E3 et E5 :</a:t>
            </a:r>
          </a:p>
        </p:txBody>
      </p:sp>
      <p:sp>
        <p:nvSpPr>
          <p:cNvPr id="7" name="TextBox 6"/>
          <p:cNvSpPr txBox="1"/>
          <p:nvPr/>
        </p:nvSpPr>
        <p:spPr>
          <a:xfrm>
            <a:off x="822959" y="2240279"/>
            <a:ext cx="3566160" cy="1417320"/>
          </a:xfrm>
          <a:prstGeom prst="rect">
            <a:avLst/>
          </a:prstGeom>
          <a:noFill/>
        </p:spPr>
        <p:txBody>
          <a:bodyPr wrap="square" lIns="0" rIns="0" tIns="0" bIns="0" anchor="t">
            <a:noAutofit/>
          </a:bodyPr>
          <a:lstStyle/>
          <a:p>
            <a:pPr marL="182880" indent="-182880">
              <a:spcAft>
                <a:spcPts val="500"/>
              </a:spcAft>
              <a:buFont typeface="Arial"/>
              <a:buChar char="•"/>
            </a:pPr>
            <a:r>
              <a:rPr sz="940" b="0" lang="fr-FR" altLang="en-US">
                <a:solidFill>
                  <a:srgbClr val="1B2A4A"/>
                </a:solidFill>
                <a:latin typeface="Calibri"/>
              </a:rPr>
              <a:t>Centralisé - écarté : isolerait la fonction data, retirerait aux Data Owners l'autorité de proximité (E1)</a:t>
            </a:r>
          </a:p>
          <a:p>
            <a:pPr marL="182880" indent="-182880">
              <a:spcAft>
                <a:spcPts val="500"/>
              </a:spcAft>
              <a:buFont typeface="Arial"/>
              <a:buChar char="•"/>
            </a:pPr>
            <a:r>
              <a:rPr sz="940" b="0" lang="fr-FR" altLang="en-US">
                <a:solidFill>
                  <a:srgbClr val="1B2A4A"/>
                </a:solidFill>
                <a:latin typeface="Calibri"/>
              </a:rPr>
              <a:t>Embarqué - écarté : reconduirait les silos par construction (E1), disperserait le juridique (E3)</a:t>
            </a:r>
          </a:p>
          <a:p>
            <a:pPr marL="182880" indent="-182880">
              <a:spcAft>
                <a:spcPts val="0"/>
              </a:spcAft>
              <a:buFont typeface="Arial"/>
              <a:buChar char="•"/>
            </a:pPr>
            <a:r>
              <a:rPr sz="940" b="0" lang="fr-FR" altLang="en-US">
                <a:solidFill>
                  <a:srgbClr val="1B2A4A"/>
                </a:solidFill>
                <a:latin typeface="Calibri"/>
              </a:rPr>
              <a:t>Center of Excellence - retenu : hub (standards, plateforme, formation) + spokes (rôles métier), arbitrés par un conseil de gouvernance</a:t>
            </a:r>
          </a:p>
        </p:txBody>
      </p:sp>
      <p:sp>
        <p:nvSpPr>
          <p:cNvPr id="8" name="TextBox 7"/>
          <p:cNvSpPr txBox="1"/>
          <p:nvPr/>
        </p:nvSpPr>
        <p:spPr>
          <a:xfrm>
            <a:off x="822959" y="3703320"/>
            <a:ext cx="3566160" cy="274320"/>
          </a:xfrm>
          <a:prstGeom prst="rect">
            <a:avLst/>
          </a:prstGeom>
          <a:noFill/>
        </p:spPr>
        <p:txBody>
          <a:bodyPr wrap="square" lIns="0" rIns="0" tIns="0" bIns="0">
            <a:noAutofit/>
          </a:bodyPr>
          <a:lstStyle/>
          <a:p>
            <a:r>
              <a:rPr sz="1130" b="1" i="0" lang="fr-FR" altLang="en-US">
                <a:solidFill>
                  <a:srgbClr val="1C8C68"/>
                </a:solidFill>
                <a:latin typeface="Calibri"/>
              </a:rPr>
              <a:t>Deux écarts assumés au modèle canonique :</a:t>
            </a:r>
          </a:p>
        </p:txBody>
      </p:sp>
      <p:sp>
        <p:nvSpPr>
          <p:cNvPr id="9" name="TextBox 8"/>
          <p:cNvSpPr txBox="1"/>
          <p:nvPr/>
        </p:nvSpPr>
        <p:spPr>
          <a:xfrm>
            <a:off x="822959" y="3995928"/>
            <a:ext cx="3566160" cy="868680"/>
          </a:xfrm>
          <a:prstGeom prst="rect">
            <a:avLst/>
          </a:prstGeom>
          <a:noFill/>
        </p:spPr>
        <p:txBody>
          <a:bodyPr wrap="square" lIns="0" rIns="0" tIns="0" bIns="0" anchor="t">
            <a:noAutofit/>
          </a:bodyPr>
          <a:lstStyle/>
          <a:p>
            <a:pPr marL="182880" indent="-182880">
              <a:spcAft>
                <a:spcPts val="500"/>
              </a:spcAft>
              <a:buFont typeface="Arial"/>
              <a:buChar char="•"/>
            </a:pPr>
            <a:r>
              <a:rPr sz="940" b="0" lang="fr-FR" altLang="en-US">
                <a:solidFill>
                  <a:srgbClr val="1B2A4A"/>
                </a:solidFill>
                <a:latin typeface="Calibri"/>
              </a:rPr>
              <a:t>Infrastructure technique maintenue dans Engineering (département pair, pas hub)</a:t>
            </a:r>
          </a:p>
          <a:p>
            <a:pPr marL="182880" indent="-182880">
              <a:spcAft>
                <a:spcPts val="0"/>
              </a:spcAft>
              <a:buFont typeface="Arial"/>
              <a:buChar char="•"/>
            </a:pPr>
            <a:r>
              <a:rPr sz="940" b="0" lang="fr-FR" altLang="en-US">
                <a:solidFill>
                  <a:srgbClr val="1B2A4A"/>
                </a:solidFill>
                <a:latin typeface="Calibri"/>
              </a:rPr>
              <a:t>Autorité de conformité (DPO/Legal) séparée de l'autorité de gouvernance (CDO/DGC) - toutes deux rattachées au CEO</a:t>
            </a:r>
          </a:p>
        </p:txBody>
      </p:sp>
      <p:sp>
        <p:nvSpPr>
          <p:cNvPr id="10" name="TextBox 9"/>
          <p:cNvSpPr txBox="1"/>
          <p:nvPr/>
        </p:nvSpPr>
        <p:spPr>
          <a:xfrm>
            <a:off x="822959" y="4910328"/>
            <a:ext cx="3566160" cy="256032"/>
          </a:xfrm>
          <a:prstGeom prst="rect">
            <a:avLst/>
          </a:prstGeom>
          <a:noFill/>
        </p:spPr>
        <p:txBody>
          <a:bodyPr wrap="square" lIns="0" rIns="0" tIns="0" bIns="0">
            <a:noAutofit/>
          </a:bodyPr>
          <a:lstStyle/>
          <a:p>
            <a:r>
              <a:rPr sz="1130" b="1" i="0" lang="fr-FR" altLang="en-US">
                <a:solidFill>
                  <a:srgbClr val="1C8C68"/>
                </a:solidFill>
                <a:latin typeface="Calibri"/>
              </a:rPr>
              <a:t>Le mécanisme clé :</a:t>
            </a:r>
          </a:p>
        </p:txBody>
      </p:sp>
      <p:sp>
        <p:nvSpPr>
          <p:cNvPr id="11" name="TextBox 10"/>
          <p:cNvSpPr txBox="1"/>
          <p:nvPr/>
        </p:nvSpPr>
        <p:spPr>
          <a:xfrm>
            <a:off x="822959" y="5184648"/>
            <a:ext cx="3566160" cy="685800"/>
          </a:xfrm>
          <a:prstGeom prst="rect">
            <a:avLst/>
          </a:prstGeom>
          <a:noFill/>
        </p:spPr>
        <p:txBody>
          <a:bodyPr wrap="square" lIns="0" rIns="0" tIns="0" bIns="0" anchor="t">
            <a:noAutofit/>
          </a:bodyPr>
          <a:lstStyle/>
          <a:p>
            <a:r>
              <a:rPr sz="940" b="0" i="0" lang="fr-FR" altLang="en-US">
                <a:solidFill>
                  <a:srgbClr val="1B2A4A"/>
                </a:solidFill>
                <a:latin typeface="Calibri"/>
              </a:rPr>
              <a:t>Double rattachement des Data Stewards - fonctionnel au CDO, organisationnel au département - principal levier contre le cloisonnement (E1).</a:t>
            </a:r>
          </a:p>
        </p:txBody>
      </p:sp>
      <p:pic>
        <p:nvPicPr>
          <p:cNvPr id="12" name="Picture 11" descr="spotify-step-2-2-organizational-chart--diagram.png"/>
          <p:cNvPicPr>
            <a:picLocks noChangeAspect="1"/>
          </p:cNvPicPr>
          <p:nvPr/>
        </p:nvPicPr>
        <p:blipFill>
          <a:blip r:embed="rId3"/>
          <a:stretch>
            <a:fillRect/>
          </a:stretch>
        </p:blipFill>
        <p:spPr>
          <a:xfrm>
            <a:off x="4892040" y="1691640"/>
            <a:ext cx="6766560" cy="4120019"/>
          </a:xfrm>
          <a:prstGeom prst="rect">
            <a:avLst/>
          </a:prstGeom>
        </p:spPr>
      </p:pic>
      <p:sp>
        <p:nvSpPr>
          <p:cNvPr id="13" name="TextBox 12"/>
          <p:cNvSpPr txBox="1"/>
          <p:nvPr/>
        </p:nvSpPr>
        <p:spPr>
          <a:xfrm>
            <a:off x="4892040" y="5884811"/>
            <a:ext cx="6766560" cy="320040"/>
          </a:xfrm>
          <a:prstGeom prst="rect">
            <a:avLst/>
          </a:prstGeom>
          <a:noFill/>
        </p:spPr>
        <p:txBody>
          <a:bodyPr wrap="square" lIns="0" rIns="0" tIns="0" bIns="0">
            <a:noAutofit/>
          </a:bodyPr>
          <a:lstStyle/>
          <a:p>
            <a:pPr algn="ctr"/>
            <a:r>
              <a:rPr sz="1000" b="0" i="1" lang="fr-FR" altLang="en-US">
                <a:solidFill>
                  <a:srgbClr val="8493A8"/>
                </a:solidFill>
                <a:latin typeface="Calibri"/>
              </a:rPr>
              <a:t>Trait plein = rattachement hiérarchique - Trait pointillé = rattachement fonctionnel / transverse</a:t>
            </a:r>
          </a:p>
        </p:txBody>
      </p:sp>
      <p:sp>
        <p:nvSpPr>
          <p:cNvPr id="14" name="TextBox 13"/>
          <p:cNvSpPr txBox="1"/>
          <p:nvPr/>
        </p:nvSpPr>
        <p:spPr>
          <a:xfrm>
            <a:off x="548640" y="6473952"/>
            <a:ext cx="8686800" cy="274320"/>
          </a:xfrm>
          <a:prstGeom prst="rect">
            <a:avLst/>
          </a:prstGeom>
          <a:noFill/>
        </p:spPr>
        <p:txBody>
          <a:bodyPr wrap="square" lIns="0" rIns="0" tIns="0" bIns="0">
            <a:noAutofit/>
          </a:bodyPr>
          <a:lstStyle/>
          <a:p>
            <a:r>
              <a:rPr sz="950" b="0" i="1" lang="fr-FR" altLang="en-US">
                <a:solidFill>
                  <a:srgbClr val="8493A8"/>
                </a:solidFill>
                <a:latin typeface="Calibri"/>
              </a:rPr>
              <a:t>Source : [D22] - [D3] §3.3, annexe 3.B</a:t>
            </a:r>
          </a:p>
        </p:txBody>
      </p:sp>
      <p:sp>
        <p:nvSpPr>
          <p:cNvPr id="15" name="TextBox 14"/>
          <p:cNvSpPr txBox="1"/>
          <p:nvPr/>
        </p:nvSpPr>
        <p:spPr>
          <a:xfrm>
            <a:off x="11002975" y="6473952"/>
            <a:ext cx="822960" cy="274320"/>
          </a:xfrm>
          <a:prstGeom prst="rect">
            <a:avLst/>
          </a:prstGeom>
          <a:noFill/>
        </p:spPr>
        <p:txBody>
          <a:bodyPr wrap="square" lIns="0" rIns="0" tIns="0" bIns="0">
            <a:noAutofit/>
          </a:bodyPr>
          <a:lstStyle/>
          <a:p>
            <a:pPr algn="r"/>
            <a:r>
              <a:rPr sz="950" b="0" i="0" lang="fr-FR" altLang="en-US">
                <a:solidFill>
                  <a:srgbClr val="8493A8"/>
                </a:solidFill>
                <a:latin typeface="Calibri"/>
              </a:rPr>
              <a:t>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4F7"/>
        </a:solidFill>
        <a:effectLst/>
      </p:bgPr>
    </p:bg>
    <p:spTree>
      <p:nvGrpSpPr>
        <p:cNvPr id="1" name=""/>
        <p:cNvGrpSpPr/>
        <p:nvPr/>
      </p:nvGrpSpPr>
      <p:grpSpPr/>
      <p:sp>
        <p:nvSpPr>
          <p:cNvPr id="2" name="TextBox 1"/>
          <p:cNvSpPr txBox="1"/>
          <p:nvPr/>
        </p:nvSpPr>
        <p:spPr>
          <a:xfrm>
            <a:off x="548640" y="384048"/>
            <a:ext cx="7315200" cy="292608"/>
          </a:xfrm>
          <a:prstGeom prst="rect">
            <a:avLst/>
          </a:prstGeom>
          <a:noFill/>
        </p:spPr>
        <p:txBody>
          <a:bodyPr wrap="square" lIns="0" rIns="0" tIns="0" bIns="0">
            <a:noAutofit/>
          </a:bodyPr>
          <a:lstStyle/>
          <a:p>
            <a:r>
              <a:rPr sz="1200" b="1" i="0" spc="200" lang="fr-FR" altLang="en-US">
                <a:solidFill>
                  <a:srgbClr val="1C8C68"/>
                </a:solidFill>
                <a:latin typeface="Calibri"/>
              </a:rPr>
              <a:t>OUTILLAGE</a:t>
            </a:r>
          </a:p>
        </p:txBody>
      </p:sp>
      <p:sp>
        <p:nvSpPr>
          <p:cNvPr id="3" name="TextBox 2"/>
          <p:cNvSpPr txBox="1"/>
          <p:nvPr/>
        </p:nvSpPr>
        <p:spPr>
          <a:xfrm>
            <a:off x="548640" y="658368"/>
            <a:ext cx="9509760" cy="868680"/>
          </a:xfrm>
          <a:prstGeom prst="rect">
            <a:avLst/>
          </a:prstGeom>
          <a:noFill/>
        </p:spPr>
        <p:txBody>
          <a:bodyPr wrap="square" lIns="0" rIns="0" tIns="0" bIns="0" anchor="t">
            <a:noAutofit/>
          </a:bodyPr>
          <a:lstStyle/>
          <a:p>
            <a:pPr>
              <a:lnSpc>
                <a:spcPct val="102000"/>
              </a:lnSpc>
            </a:pPr>
            <a:r>
              <a:rPr sz="2800" b="1" i="0" lang="fr-FR" altLang="en-US">
                <a:solidFill>
                  <a:srgbClr val="1B2A4A"/>
                </a:solidFill>
                <a:latin typeface="Cambria"/>
              </a:rPr>
              <a:t>Outillage : une sélection justifiée</a:t>
            </a:r>
          </a:p>
        </p:txBody>
      </p:sp>
      <p:pic>
        <p:nvPicPr>
          <p:cNvPr id="4" name="Picture 3" descr="icon_tool.png"/>
          <p:cNvPicPr>
            <a:picLocks noChangeAspect="1"/>
          </p:cNvPicPr>
          <p:nvPr/>
        </p:nvPicPr>
        <p:blipFill>
          <a:blip r:embed="rId2"/>
          <a:stretch>
            <a:fillRect/>
          </a:stretch>
        </p:blipFill>
        <p:spPr>
          <a:xfrm>
            <a:off x="11140135" y="365760"/>
            <a:ext cx="658368" cy="658368"/>
          </a:xfrm>
          <a:prstGeom prst="rect">
            <a:avLst/>
          </a:prstGeom>
        </p:spPr>
      </p:pic>
      <p:sp>
        <p:nvSpPr>
          <p:cNvPr id="5" name="TextBox 4"/>
          <p:cNvSpPr txBox="1"/>
          <p:nvPr/>
        </p:nvSpPr>
        <p:spPr>
          <a:xfrm>
            <a:off x="548640" y="1600200"/>
            <a:ext cx="11091672" cy="256032"/>
          </a:xfrm>
          <a:prstGeom prst="rect">
            <a:avLst/>
          </a:prstGeom>
          <a:noFill/>
        </p:spPr>
        <p:txBody>
          <a:bodyPr wrap="square" lIns="0" rIns="0" tIns="0" bIns="0">
            <a:noAutofit/>
          </a:bodyPr>
          <a:lstStyle/>
          <a:p>
            <a:r>
              <a:rPr sz="1100" b="1" i="0" lang="fr-FR" altLang="en-US">
                <a:solidFill>
                  <a:srgbClr val="1C8C68"/>
                </a:solidFill>
                <a:latin typeface="Calibri"/>
              </a:rPr>
              <a:t>Principes de sélection [D3 §3.C.1] :</a:t>
            </a:r>
          </a:p>
        </p:txBody>
      </p:sp>
      <p:sp>
        <p:nvSpPr>
          <p:cNvPr id="6" name="TextBox 5"/>
          <p:cNvSpPr txBox="1"/>
          <p:nvPr/>
        </p:nvSpPr>
        <p:spPr>
          <a:xfrm>
            <a:off x="548640" y="1874519"/>
            <a:ext cx="11091672" cy="1051560"/>
          </a:xfrm>
          <a:prstGeom prst="rect">
            <a:avLst/>
          </a:prstGeom>
          <a:noFill/>
        </p:spPr>
        <p:txBody>
          <a:bodyPr wrap="square" lIns="0" rIns="0" tIns="0" bIns="0" anchor="t">
            <a:noAutofit/>
          </a:bodyPr>
          <a:lstStyle/>
          <a:p>
            <a:pPr marL="182880" indent="-182880">
              <a:spcAft>
                <a:spcPts val="400"/>
              </a:spcAft>
              <a:buFont typeface="Arial"/>
              <a:buChar char="•"/>
            </a:pPr>
            <a:r>
              <a:rPr sz="1000" b="0" lang="fr-FR" altLang="en-US">
                <a:solidFill>
                  <a:srgbClr val="1B2A4A"/>
                </a:solidFill>
                <a:latin typeface="Calibri"/>
              </a:rPr>
              <a:t>Repartir des recommandations [R8], les compléter d'alternatives open source, prioriser l'open source</a:t>
            </a:r>
          </a:p>
          <a:p>
            <a:pPr marL="182880" indent="-182880">
              <a:spcAft>
                <a:spcPts val="400"/>
              </a:spcAft>
              <a:buFont typeface="Arial"/>
              <a:buChar char="•"/>
            </a:pPr>
            <a:r>
              <a:rPr sz="1000" b="0" lang="fr-FR" altLang="en-US">
                <a:solidFill>
                  <a:srgbClr val="1B2A4A"/>
                </a:solidFill>
                <a:latin typeface="Calibri"/>
              </a:rPr>
              <a:t>L'économie de licence open source est généralement compensée par le coût d'hébergement/exploitation - mais la capacité d'ingénierie interne de Spotify [R2] permet de la maintenir au niveau des solutions propriétaires équivalentes</a:t>
            </a:r>
          </a:p>
          <a:p>
            <a:pPr marL="182880" indent="-182880">
              <a:spcAft>
                <a:spcPts val="0"/>
              </a:spcAft>
              <a:buFont typeface="Arial"/>
              <a:buChar char="•"/>
            </a:pPr>
            <a:r>
              <a:rPr sz="1000" b="0" lang="fr-FR" altLang="en-US">
                <a:solidFill>
                  <a:srgbClr val="1B2A4A"/>
                </a:solidFill>
                <a:latin typeface="Calibri"/>
              </a:rPr>
              <a:t>Les enjeux à risque réglementaire chiffrable (E3, E4) justifient des garanties contractuelles commerciales ; les enjeux organisationnels/opérationnels (E1, E2, E5) ne portent qu'un coût de défaillance interne</a:t>
            </a:r>
          </a:p>
        </p:txBody>
      </p:sp>
      <p:graphicFrame>
        <p:nvGraphicFramePr>
          <p:cNvPr id="7" name="Table 6"/>
          <p:cNvGraphicFramePr>
            <a:graphicFrameLocks noGrp="1"/>
          </p:cNvGraphicFramePr>
          <p:nvPr/>
        </p:nvGraphicFramePr>
        <p:xfrm>
          <a:off x="548640" y="3063240"/>
          <a:ext cx="11091672" cy="3346704"/>
        </p:xfrm>
        <a:graphic>
          <a:graphicData uri="http://schemas.openxmlformats.org/drawingml/2006/table">
            <a:tbl>
              <a:tblPr>
                <a:tableStyleId>{5C22544A-7EE6-4342-B048-85BDC9FD1C3A}</a:tableStyleId>
              </a:tblPr>
              <a:tblGrid>
                <a:gridCol w="1554480"/>
                <a:gridCol w="2148840"/>
                <a:gridCol w="6382512"/>
                <a:gridCol w="1005840"/>
              </a:tblGrid>
              <a:tr h="384048">
                <a:tc>
                  <a:txBody>
                    <a:bodyPr wrap="square"/>
                    <a:lstStyle/>
                    <a:p>
                      <a:pPr algn="l"/>
                      <a:r>
                        <a:rPr sz="1150" b="1" lang="fr-FR" altLang="en-US">
                          <a:solidFill>
                            <a:srgbClr val="FFFFFF"/>
                          </a:solidFill>
                          <a:latin typeface="Calibri"/>
                        </a:rPr>
                        <a:t>Catégorie</a:t>
                      </a:r>
                    </a:p>
                  </a:txBody>
                  <a:tcPr anchor="ctr" marL="91440" marR="91440" marT="36576" marB="36576">
                    <a:solidFill>
                      <a:srgbClr val="1B2A4A"/>
                    </a:solidFill>
                  </a:tcPr>
                </a:tc>
                <a:tc>
                  <a:txBody>
                    <a:bodyPr wrap="square"/>
                    <a:lstStyle/>
                    <a:p>
                      <a:pPr algn="l"/>
                      <a:r>
                        <a:rPr sz="1150" b="1" lang="fr-FR" altLang="en-US">
                          <a:solidFill>
                            <a:srgbClr val="FFFFFF"/>
                          </a:solidFill>
                          <a:latin typeface="Calibri"/>
                        </a:rPr>
                        <a:t>Outil retenu</a:t>
                      </a:r>
                    </a:p>
                  </a:txBody>
                  <a:tcPr anchor="ctr" marL="91440" marR="91440" marT="36576" marB="36576">
                    <a:solidFill>
                      <a:srgbClr val="1B2A4A"/>
                    </a:solidFill>
                  </a:tcPr>
                </a:tc>
                <a:tc>
                  <a:txBody>
                    <a:bodyPr wrap="square"/>
                    <a:lstStyle/>
                    <a:p>
                      <a:pPr algn="l"/>
                      <a:r>
                        <a:rPr sz="1150" b="1" lang="fr-FR" altLang="en-US">
                          <a:solidFill>
                            <a:srgbClr val="FFFFFF"/>
                          </a:solidFill>
                          <a:latin typeface="Calibri"/>
                        </a:rPr>
                        <a:t>Argument clé</a:t>
                      </a:r>
                    </a:p>
                  </a:txBody>
                  <a:tcPr anchor="ctr" marL="91440" marR="91440" marT="36576" marB="36576">
                    <a:solidFill>
                      <a:srgbClr val="1B2A4A"/>
                    </a:solidFill>
                  </a:tcPr>
                </a:tc>
                <a:tc>
                  <a:txBody>
                    <a:bodyPr wrap="square"/>
                    <a:lstStyle/>
                    <a:p>
                      <a:pPr algn="ctr"/>
                      <a:r>
                        <a:rPr sz="1150" b="1" lang="fr-FR" altLang="en-US">
                          <a:solidFill>
                            <a:srgbClr val="FFFFFF"/>
                          </a:solidFill>
                          <a:latin typeface="Calibri"/>
                        </a:rPr>
                        <a:t>Enjeux</a:t>
                      </a:r>
                    </a:p>
                  </a:txBody>
                  <a:tcPr anchor="ctr" marL="91440" marR="91440" marT="36576" marB="36576">
                    <a:solidFill>
                      <a:srgbClr val="1B2A4A"/>
                    </a:solidFill>
                  </a:tcPr>
                </a:tc>
              </a:tr>
              <a:tr h="548640">
                <a:tc>
                  <a:txBody>
                    <a:bodyPr wrap="square"/>
                    <a:lstStyle/>
                    <a:p>
                      <a:pPr algn="l"/>
                      <a:r>
                        <a:rPr sz="1000" b="1" lang="fr-FR" altLang="en-US">
                          <a:solidFill>
                            <a:srgbClr val="1B2A4A"/>
                          </a:solidFill>
                          <a:latin typeface="Calibri"/>
                        </a:rPr>
                        <a:t>Catalogage</a:t>
                      </a:r>
                    </a:p>
                  </a:txBody>
                  <a:tcPr anchor="ctr" marL="91440" marR="91440" marT="36576" marB="36576">
                    <a:solidFill>
                      <a:srgbClr val="FFFFFF"/>
                    </a:solidFill>
                  </a:tcPr>
                </a:tc>
                <a:tc>
                  <a:txBody>
                    <a:bodyPr wrap="square"/>
                    <a:lstStyle/>
                    <a:p>
                      <a:pPr algn="l"/>
                      <a:r>
                        <a:rPr sz="1000" b="1" lang="fr-FR" altLang="en-US">
                          <a:solidFill>
                            <a:srgbClr val="1B2A4A"/>
                          </a:solidFill>
                          <a:latin typeface="Calibri"/>
                        </a:rPr>
                        <a:t>OpenMetadata + Collibra</a:t>
                      </a:r>
                    </a:p>
                  </a:txBody>
                  <a:tcPr anchor="ctr" marL="91440" marR="91440" marT="36576" marB="36576">
                    <a:solidFill>
                      <a:srgbClr val="FFFFFF"/>
                    </a:solidFill>
                  </a:tcPr>
                </a:tc>
                <a:tc>
                  <a:txBody>
                    <a:bodyPr wrap="square"/>
                    <a:lstStyle/>
                    <a:p>
                      <a:pPr algn="l"/>
                      <a:r>
                        <a:rPr sz="1000" b="0" lang="fr-FR" altLang="en-US">
                          <a:solidFill>
                            <a:srgbClr val="1B2A4A"/>
                          </a:solidFill>
                          <a:latin typeface="Calibri"/>
                        </a:rPr>
                        <a:t>Connecteurs cloud natifs (vs Apache Atlas, ancré Hadoop) ; Collibra pour son socle de gouvernance prédéfini</a:t>
                      </a:r>
                    </a:p>
                  </a:txBody>
                  <a:tcPr anchor="ctr" marL="91440" marR="91440" marT="36576" marB="36576">
                    <a:solidFill>
                      <a:srgbClr val="FFFFFF"/>
                    </a:solidFill>
                  </a:tcPr>
                </a:tc>
                <a:tc>
                  <a:txBody>
                    <a:bodyPr wrap="square"/>
                    <a:lstStyle/>
                    <a:p>
                      <a:pPr algn="ctr"/>
                      <a:r>
                        <a:rPr sz="1000" b="0" lang="fr-FR" altLang="en-US">
                          <a:solidFill>
                            <a:srgbClr val="1B2A4A"/>
                          </a:solidFill>
                          <a:latin typeface="Calibri"/>
                        </a:rPr>
                        <a:t>E1</a:t>
                      </a:r>
                    </a:p>
                  </a:txBody>
                  <a:tcPr anchor="ctr" marL="91440" marR="91440" marT="36576" marB="36576">
                    <a:solidFill>
                      <a:srgbClr val="FFFFFF"/>
                    </a:solidFill>
                  </a:tcPr>
                </a:tc>
              </a:tr>
              <a:tr h="658368">
                <a:tc>
                  <a:txBody>
                    <a:bodyPr wrap="square"/>
                    <a:lstStyle/>
                    <a:p>
                      <a:pPr algn="l"/>
                      <a:r>
                        <a:rPr sz="1000" b="1" lang="fr-FR" altLang="en-US">
                          <a:solidFill>
                            <a:srgbClr val="1B2A4A"/>
                          </a:solidFill>
                          <a:latin typeface="Calibri"/>
                        </a:rPr>
                        <a:t>Qualité</a:t>
                      </a:r>
                    </a:p>
                  </a:txBody>
                  <a:tcPr anchor="ctr" marL="91440" marR="91440" marT="36576" marB="36576">
                    <a:solidFill>
                      <a:srgbClr val="FFFFFF"/>
                    </a:solidFill>
                  </a:tcPr>
                </a:tc>
                <a:tc>
                  <a:txBody>
                    <a:bodyPr wrap="square"/>
                    <a:lstStyle/>
                    <a:p>
                      <a:pPr algn="l"/>
                      <a:r>
                        <a:rPr sz="1000" b="1" lang="fr-FR" altLang="en-US">
                          <a:solidFill>
                            <a:srgbClr val="1B2A4A"/>
                          </a:solidFill>
                          <a:latin typeface="Calibri"/>
                        </a:rPr>
                        <a:t>Soda Core</a:t>
                      </a:r>
                    </a:p>
                  </a:txBody>
                  <a:tcPr anchor="ctr" marL="91440" marR="91440" marT="36576" marB="36576">
                    <a:solidFill>
                      <a:srgbClr val="FFFFFF"/>
                    </a:solidFill>
                  </a:tcPr>
                </a:tc>
                <a:tc>
                  <a:txBody>
                    <a:bodyPr wrap="square"/>
                    <a:lstStyle/>
                    <a:p>
                      <a:pPr algn="l"/>
                      <a:r>
                        <a:rPr sz="1000" b="0" lang="fr-FR" altLang="en-US">
                          <a:solidFill>
                            <a:srgbClr val="1B2A4A"/>
                          </a:solidFill>
                          <a:latin typeface="Calibri"/>
                        </a:rPr>
                        <a:t>Contrôles déclaratifs, connecteurs adaptés à la stack Spotify ; Talend/Informatica/Ataccama écartés (redondance, profil de compétence inadapté, coût disproportionné)</a:t>
                      </a:r>
                    </a:p>
                  </a:txBody>
                  <a:tcPr anchor="ctr" marL="91440" marR="91440" marT="36576" marB="36576">
                    <a:solidFill>
                      <a:srgbClr val="FFFFFF"/>
                    </a:solidFill>
                  </a:tcPr>
                </a:tc>
                <a:tc>
                  <a:txBody>
                    <a:bodyPr wrap="square"/>
                    <a:lstStyle/>
                    <a:p>
                      <a:pPr algn="ctr"/>
                      <a:r>
                        <a:rPr sz="1000" b="0" lang="fr-FR" altLang="en-US">
                          <a:solidFill>
                            <a:srgbClr val="1B2A4A"/>
                          </a:solidFill>
                          <a:latin typeface="Calibri"/>
                        </a:rPr>
                        <a:t>E2, E5</a:t>
                      </a:r>
                    </a:p>
                  </a:txBody>
                  <a:tcPr anchor="ctr" marL="91440" marR="91440" marT="36576" marB="36576">
                    <a:solidFill>
                      <a:srgbClr val="FFFFFF"/>
                    </a:solidFill>
                  </a:tcPr>
                </a:tc>
              </a:tr>
              <a:tr h="658368">
                <a:tc>
                  <a:txBody>
                    <a:bodyPr wrap="square"/>
                    <a:lstStyle/>
                    <a:p>
                      <a:pPr algn="l"/>
                      <a:r>
                        <a:rPr sz="1000" b="1" lang="fr-FR" altLang="en-US">
                          <a:solidFill>
                            <a:srgbClr val="1B2A4A"/>
                          </a:solidFill>
                          <a:latin typeface="Calibri"/>
                        </a:rPr>
                        <a:t>Conformité</a:t>
                      </a:r>
                    </a:p>
                  </a:txBody>
                  <a:tcPr anchor="ctr" marL="91440" marR="91440" marT="36576" marB="36576">
                    <a:solidFill>
                      <a:srgbClr val="FFFFFF"/>
                    </a:solidFill>
                  </a:tcPr>
                </a:tc>
                <a:tc>
                  <a:txBody>
                    <a:bodyPr wrap="square"/>
                    <a:lstStyle/>
                    <a:p>
                      <a:pPr algn="l"/>
                      <a:r>
                        <a:rPr sz="1000" b="1" lang="fr-FR" altLang="en-US">
                          <a:solidFill>
                            <a:srgbClr val="1B2A4A"/>
                          </a:solidFill>
                          <a:latin typeface="Calibri"/>
                        </a:rPr>
                        <a:t>TrustArc</a:t>
                      </a:r>
                    </a:p>
                  </a:txBody>
                  <a:tcPr anchor="ctr" marL="91440" marR="91440" marT="36576" marB="36576">
                    <a:solidFill>
                      <a:srgbClr val="FFFFFF"/>
                    </a:solidFill>
                  </a:tcPr>
                </a:tc>
                <a:tc>
                  <a:txBody>
                    <a:bodyPr wrap="square"/>
                    <a:lstStyle/>
                    <a:p>
                      <a:pPr algn="l"/>
                      <a:r>
                        <a:rPr sz="1000" b="0" lang="fr-FR" altLang="en-US">
                          <a:solidFill>
                            <a:srgbClr val="1B2A4A"/>
                          </a:solidFill>
                          <a:latin typeface="Calibri"/>
                        </a:rPr>
                        <a:t>Seule solution (avec OneTrust) à garantir RoPA/DPIA/BN/DSAR avec SLA contractuel ; retenue pour son automatisation multi-juridictionnelle et l'ergonomie DPO</a:t>
                      </a:r>
                    </a:p>
                  </a:txBody>
                  <a:tcPr anchor="ctr" marL="91440" marR="91440" marT="36576" marB="36576">
                    <a:solidFill>
                      <a:srgbClr val="FFFFFF"/>
                    </a:solidFill>
                  </a:tcPr>
                </a:tc>
                <a:tc>
                  <a:txBody>
                    <a:bodyPr wrap="square"/>
                    <a:lstStyle/>
                    <a:p>
                      <a:pPr algn="ctr"/>
                      <a:r>
                        <a:rPr sz="1000" b="0" lang="fr-FR" altLang="en-US">
                          <a:solidFill>
                            <a:srgbClr val="1B2A4A"/>
                          </a:solidFill>
                          <a:latin typeface="Calibri"/>
                        </a:rPr>
                        <a:t>E3, E4</a:t>
                      </a:r>
                    </a:p>
                  </a:txBody>
                  <a:tcPr anchor="ctr" marL="91440" marR="91440" marT="36576" marB="36576">
                    <a:solidFill>
                      <a:srgbClr val="FFFFFF"/>
                    </a:solidFill>
                  </a:tcPr>
                </a:tc>
              </a:tr>
              <a:tr h="548640">
                <a:tc>
                  <a:txBody>
                    <a:bodyPr wrap="square"/>
                    <a:lstStyle/>
                    <a:p>
                      <a:pPr algn="l"/>
                      <a:r>
                        <a:rPr sz="1000" b="1" lang="fr-FR" altLang="en-US">
                          <a:solidFill>
                            <a:srgbClr val="1B2A4A"/>
                          </a:solidFill>
                          <a:latin typeface="Calibri"/>
                        </a:rPr>
                        <a:t>Sécurité</a:t>
                      </a:r>
                    </a:p>
                  </a:txBody>
                  <a:tcPr anchor="ctr" marL="91440" marR="91440" marT="36576" marB="36576">
                    <a:solidFill>
                      <a:srgbClr val="FFFFFF"/>
                    </a:solidFill>
                  </a:tcPr>
                </a:tc>
                <a:tc>
                  <a:txBody>
                    <a:bodyPr wrap="square"/>
                    <a:lstStyle/>
                    <a:p>
                      <a:pPr algn="l"/>
                      <a:r>
                        <a:rPr sz="1000" b="1" lang="fr-FR" altLang="en-US">
                          <a:solidFill>
                            <a:srgbClr val="1B2A4A"/>
                          </a:solidFill>
                          <a:latin typeface="Calibri"/>
                        </a:rPr>
                        <a:t>Wazuh + OpenBao</a:t>
                      </a:r>
                    </a:p>
                  </a:txBody>
                  <a:tcPr anchor="ctr" marL="91440" marR="91440" marT="36576" marB="36576">
                    <a:solidFill>
                      <a:srgbClr val="FFFFFF"/>
                    </a:solidFill>
                  </a:tcPr>
                </a:tc>
                <a:tc>
                  <a:txBody>
                    <a:bodyPr wrap="square"/>
                    <a:lstStyle/>
                    <a:p>
                      <a:pPr algn="l"/>
                      <a:r>
                        <a:rPr sz="1000" b="0" lang="fr-FR" altLang="en-US">
                          <a:solidFill>
                            <a:srgbClr val="1B2A4A"/>
                          </a:solidFill>
                          <a:latin typeface="Calibri"/>
                        </a:rPr>
                        <a:t>OpenBao retenu sur Vormetric (mêmes services de gestion des clés, sans coût de licence)</a:t>
                      </a:r>
                    </a:p>
                  </a:txBody>
                  <a:tcPr anchor="ctr" marL="91440" marR="91440" marT="36576" marB="36576">
                    <a:solidFill>
                      <a:srgbClr val="FFFFFF"/>
                    </a:solidFill>
                  </a:tcPr>
                </a:tc>
                <a:tc>
                  <a:txBody>
                    <a:bodyPr wrap="square"/>
                    <a:lstStyle/>
                    <a:p>
                      <a:pPr algn="ctr"/>
                      <a:r>
                        <a:rPr sz="1000" b="0" lang="fr-FR" altLang="en-US">
                          <a:solidFill>
                            <a:srgbClr val="1B2A4A"/>
                          </a:solidFill>
                          <a:latin typeface="Calibri"/>
                        </a:rPr>
                        <a:t>P3</a:t>
                      </a:r>
                    </a:p>
                  </a:txBody>
                  <a:tcPr anchor="ctr" marL="91440" marR="91440" marT="36576" marB="36576">
                    <a:solidFill>
                      <a:srgbClr val="FFFFFF"/>
                    </a:solidFill>
                  </a:tcPr>
                </a:tc>
              </a:tr>
              <a:tr h="548640">
                <a:tc>
                  <a:txBody>
                    <a:bodyPr wrap="square"/>
                    <a:lstStyle/>
                    <a:p>
                      <a:pPr algn="l"/>
                      <a:r>
                        <a:rPr sz="1000" b="1" lang="fr-FR" altLang="en-US">
                          <a:solidFill>
                            <a:srgbClr val="1B2A4A"/>
                          </a:solidFill>
                          <a:latin typeface="Calibri"/>
                        </a:rPr>
                        <a:t>Gouvernance IA</a:t>
                      </a:r>
                    </a:p>
                  </a:txBody>
                  <a:tcPr anchor="ctr" marL="91440" marR="91440" marT="36576" marB="36576">
                    <a:solidFill>
                      <a:srgbClr val="FFFFFF"/>
                    </a:solidFill>
                  </a:tcPr>
                </a:tc>
                <a:tc>
                  <a:txBody>
                    <a:bodyPr wrap="square"/>
                    <a:lstStyle/>
                    <a:p>
                      <a:pPr algn="l"/>
                      <a:r>
                        <a:rPr sz="1000" b="1" lang="fr-FR" altLang="en-US">
                          <a:solidFill>
                            <a:srgbClr val="1B2A4A"/>
                          </a:solidFill>
                          <a:latin typeface="Calibri"/>
                        </a:rPr>
                        <a:t>MLflow, DVC, AIF360, AIX360</a:t>
                      </a:r>
                    </a:p>
                  </a:txBody>
                  <a:tcPr anchor="ctr" marL="91440" marR="91440" marT="36576" marB="36576">
                    <a:solidFill>
                      <a:srgbClr val="FFFFFF"/>
                    </a:solidFill>
                  </a:tcPr>
                </a:tc>
                <a:tc>
                  <a:txBody>
                    <a:bodyPr wrap="square"/>
                    <a:lstStyle/>
                    <a:p>
                      <a:pPr algn="l"/>
                      <a:r>
                        <a:rPr sz="1000" b="0" lang="fr-FR" altLang="en-US">
                          <a:solidFill>
                            <a:srgbClr val="1B2A4A"/>
                          </a:solidFill>
                          <a:latin typeface="Calibri"/>
                        </a:rPr>
                        <a:t>Catalogage de modèles, versionnage, détection de biais, explicabilité - tous open source</a:t>
                      </a:r>
                    </a:p>
                  </a:txBody>
                  <a:tcPr anchor="ctr" marL="91440" marR="91440" marT="36576" marB="36576">
                    <a:solidFill>
                      <a:srgbClr val="FFFFFF"/>
                    </a:solidFill>
                  </a:tcPr>
                </a:tc>
                <a:tc>
                  <a:txBody>
                    <a:bodyPr wrap="square"/>
                    <a:lstStyle/>
                    <a:p>
                      <a:pPr algn="ctr"/>
                      <a:r>
                        <a:rPr sz="1000" b="0" lang="fr-FR" altLang="en-US">
                          <a:solidFill>
                            <a:srgbClr val="1B2A4A"/>
                          </a:solidFill>
                          <a:latin typeface="Calibri"/>
                        </a:rPr>
                        <a:t>E5</a:t>
                      </a:r>
                    </a:p>
                  </a:txBody>
                  <a:tcPr anchor="ctr" marL="91440" marR="91440" marT="36576" marB="36576">
                    <a:solidFill>
                      <a:srgbClr val="FFFFFF"/>
                    </a:solidFill>
                  </a:tcPr>
                </a:tc>
              </a:tr>
            </a:tbl>
          </a:graphicData>
        </a:graphic>
      </p:graphicFrame>
      <p:sp>
        <p:nvSpPr>
          <p:cNvPr id="8" name="TextBox 7"/>
          <p:cNvSpPr txBox="1"/>
          <p:nvPr/>
        </p:nvSpPr>
        <p:spPr>
          <a:xfrm>
            <a:off x="548640" y="6473952"/>
            <a:ext cx="8686800" cy="274320"/>
          </a:xfrm>
          <a:prstGeom prst="rect">
            <a:avLst/>
          </a:prstGeom>
          <a:noFill/>
        </p:spPr>
        <p:txBody>
          <a:bodyPr wrap="square" lIns="0" rIns="0" tIns="0" bIns="0">
            <a:noAutofit/>
          </a:bodyPr>
          <a:lstStyle/>
          <a:p>
            <a:r>
              <a:rPr sz="950" b="0" i="1" lang="fr-FR" altLang="en-US">
                <a:solidFill>
                  <a:srgbClr val="8493A8"/>
                </a:solidFill>
                <a:latin typeface="Calibri"/>
              </a:rPr>
              <a:t>Source : [D3] §3.4, §3.C - Alternatives évaluées : [R8]</a:t>
            </a:r>
          </a:p>
        </p:txBody>
      </p:sp>
      <p:sp>
        <p:nvSpPr>
          <p:cNvPr id="9" name="TextBox 8"/>
          <p:cNvSpPr txBox="1"/>
          <p:nvPr/>
        </p:nvSpPr>
        <p:spPr>
          <a:xfrm>
            <a:off x="11002975" y="6473952"/>
            <a:ext cx="822960" cy="274320"/>
          </a:xfrm>
          <a:prstGeom prst="rect">
            <a:avLst/>
          </a:prstGeom>
          <a:noFill/>
        </p:spPr>
        <p:txBody>
          <a:bodyPr wrap="square" lIns="0" rIns="0" tIns="0" bIns="0">
            <a:noAutofit/>
          </a:bodyPr>
          <a:lstStyle/>
          <a:p>
            <a:pPr algn="r"/>
            <a:r>
              <a:rPr sz="950" b="0" i="0" lang="fr-FR" altLang="en-US">
                <a:solidFill>
                  <a:srgbClr val="8493A8"/>
                </a:solidFill>
                <a:latin typeface="Calibri"/>
              </a:rPr>
              <a:t>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4F7"/>
        </a:solidFill>
        <a:effectLst/>
      </p:bgPr>
    </p:bg>
    <p:spTree>
      <p:nvGrpSpPr>
        <p:cNvPr id="1" name=""/>
        <p:cNvGrpSpPr/>
        <p:nvPr/>
      </p:nvGrpSpPr>
      <p:grpSpPr/>
      <p:sp>
        <p:nvSpPr>
          <p:cNvPr id="2" name="TextBox 1"/>
          <p:cNvSpPr txBox="1"/>
          <p:nvPr/>
        </p:nvSpPr>
        <p:spPr>
          <a:xfrm>
            <a:off x="548640" y="384048"/>
            <a:ext cx="7315200" cy="292608"/>
          </a:xfrm>
          <a:prstGeom prst="rect">
            <a:avLst/>
          </a:prstGeom>
          <a:noFill/>
        </p:spPr>
        <p:txBody>
          <a:bodyPr wrap="square" lIns="0" rIns="0" tIns="0" bIns="0">
            <a:noAutofit/>
          </a:bodyPr>
          <a:lstStyle/>
          <a:p>
            <a:r>
              <a:rPr sz="1200" b="1" i="0" spc="200" lang="fr-FR" altLang="en-US">
                <a:solidFill>
                  <a:srgbClr val="1C8C68"/>
                </a:solidFill>
                <a:latin typeface="Calibri"/>
              </a:rPr>
              <a:t>GOUVERNANCE DE L'IA</a:t>
            </a:r>
          </a:p>
        </p:txBody>
      </p:sp>
      <p:sp>
        <p:nvSpPr>
          <p:cNvPr id="3" name="TextBox 2"/>
          <p:cNvSpPr txBox="1"/>
          <p:nvPr/>
        </p:nvSpPr>
        <p:spPr>
          <a:xfrm>
            <a:off x="548640" y="658368"/>
            <a:ext cx="9692640" cy="868680"/>
          </a:xfrm>
          <a:prstGeom prst="rect">
            <a:avLst/>
          </a:prstGeom>
          <a:noFill/>
        </p:spPr>
        <p:txBody>
          <a:bodyPr wrap="square" lIns="0" rIns="0" tIns="0" bIns="0" anchor="t">
            <a:noAutofit/>
          </a:bodyPr>
          <a:lstStyle/>
          <a:p>
            <a:pPr>
              <a:lnSpc>
                <a:spcPct val="102000"/>
              </a:lnSpc>
            </a:pPr>
            <a:r>
              <a:rPr sz="2800" b="1" i="0" lang="fr-FR" altLang="en-US">
                <a:solidFill>
                  <a:srgbClr val="1B2A4A"/>
                </a:solidFill>
                <a:latin typeface="Cambria"/>
              </a:rPr>
              <a:t>Une responsabilité proportionnée au niveau d'impact du modèle</a:t>
            </a:r>
          </a:p>
        </p:txBody>
      </p:sp>
      <p:pic>
        <p:nvPicPr>
          <p:cNvPr id="4" name="Picture 3" descr="icon_cpu.png"/>
          <p:cNvPicPr>
            <a:picLocks noChangeAspect="1"/>
          </p:cNvPicPr>
          <p:nvPr/>
        </p:nvPicPr>
        <p:blipFill>
          <a:blip r:embed="rId2"/>
          <a:stretch>
            <a:fillRect/>
          </a:stretch>
        </p:blipFill>
        <p:spPr>
          <a:xfrm>
            <a:off x="11140135" y="365760"/>
            <a:ext cx="658368" cy="658368"/>
          </a:xfrm>
          <a:prstGeom prst="rect">
            <a:avLst/>
          </a:prstGeom>
        </p:spPr>
      </p:pic>
      <p:sp>
        <p:nvSpPr>
          <p:cNvPr id="5" name="TextBox 4"/>
          <p:cNvSpPr txBox="1"/>
          <p:nvPr/>
        </p:nvSpPr>
        <p:spPr>
          <a:xfrm>
            <a:off x="548640" y="1627632"/>
            <a:ext cx="11091672" cy="502920"/>
          </a:xfrm>
          <a:prstGeom prst="rect">
            <a:avLst/>
          </a:prstGeom>
          <a:noFill/>
        </p:spPr>
        <p:txBody>
          <a:bodyPr wrap="square" lIns="0" rIns="0" tIns="0" bIns="0" anchor="t">
            <a:noAutofit/>
          </a:bodyPr>
          <a:lstStyle/>
          <a:p>
            <a:r>
              <a:rPr sz="1100" b="0" i="0" lang="fr-FR" altLang="en-US">
                <a:solidFill>
                  <a:srgbClr val="1B2A4A"/>
                </a:solidFill>
                <a:latin typeface="Calibri"/>
              </a:rPr>
              <a:t>Quatre exigences [D21 §2.1.5] : traçabilité des données d'entraînement - détection des biais - responsabilité et approbation proportionnée au niveau d'impact - explicabilité.</a:t>
            </a:r>
          </a:p>
        </p:txBody>
      </p:sp>
      <p:sp>
        <p:nvSpPr>
          <p:cNvPr id="6" name="TextBox 5"/>
          <p:cNvSpPr txBox="1"/>
          <p:nvPr/>
        </p:nvSpPr>
        <p:spPr>
          <a:xfrm>
            <a:off x="548640" y="2148840"/>
            <a:ext cx="11091672" cy="256032"/>
          </a:xfrm>
          <a:prstGeom prst="rect">
            <a:avLst/>
          </a:prstGeom>
          <a:noFill/>
        </p:spPr>
        <p:txBody>
          <a:bodyPr wrap="square" lIns="0" rIns="0" tIns="0" bIns="0">
            <a:noAutofit/>
          </a:bodyPr>
          <a:lstStyle/>
          <a:p>
            <a:r>
              <a:rPr sz="1100" b="1" i="0" lang="fr-FR" altLang="en-US">
                <a:solidFill>
                  <a:srgbClr val="1C8C68"/>
                </a:solidFill>
                <a:latin typeface="Calibri"/>
              </a:rPr>
              <a:t>Trois activités distinctes, à ne pas confondre [D3 annexe 3.E] :</a:t>
            </a:r>
          </a:p>
        </p:txBody>
      </p:sp>
      <p:sp>
        <p:nvSpPr>
          <p:cNvPr id="7" name="TextBox 6"/>
          <p:cNvSpPr txBox="1"/>
          <p:nvPr/>
        </p:nvSpPr>
        <p:spPr>
          <a:xfrm>
            <a:off x="548640" y="2423160"/>
            <a:ext cx="11091672" cy="914400"/>
          </a:xfrm>
          <a:prstGeom prst="rect">
            <a:avLst/>
          </a:prstGeom>
          <a:noFill/>
        </p:spPr>
        <p:txBody>
          <a:bodyPr wrap="square" lIns="0" rIns="0" tIns="0" bIns="0" anchor="t">
            <a:noAutofit/>
          </a:bodyPr>
          <a:lstStyle/>
          <a:p>
            <a:pPr marL="182880" indent="-182880">
              <a:spcAft>
                <a:spcPts val="300"/>
              </a:spcAft>
              <a:buFont typeface="Arial"/>
              <a:buChar char="•"/>
            </a:pPr>
            <a:r>
              <a:rPr sz="980" b="0" lang="fr-FR" altLang="en-US">
                <a:solidFill>
                  <a:srgbClr val="1B2A4A"/>
                </a:solidFill>
                <a:latin typeface="Calibri"/>
              </a:rPr>
              <a:t>Classification - porte sur le modèle, événement unique à sa création dans le registre MLflow</a:t>
            </a:r>
          </a:p>
          <a:p>
            <a:pPr marL="182880" indent="-182880">
              <a:spcAft>
                <a:spcPts val="300"/>
              </a:spcAft>
              <a:buFont typeface="Arial"/>
              <a:buChar char="•"/>
            </a:pPr>
            <a:r>
              <a:rPr sz="980" b="0" lang="fr-FR" altLang="en-US">
                <a:solidFill>
                  <a:srgbClr val="1B2A4A"/>
                </a:solidFill>
                <a:latin typeface="Calibri"/>
              </a:rPr>
              <a:t>Approbation de déploiement - porte sur une version, se répète à chaque mise en production, hérite directement du niveau fixé sans le rouvrir</a:t>
            </a:r>
          </a:p>
          <a:p>
            <a:pPr marL="182880" indent="-182880">
              <a:spcAft>
                <a:spcPts val="0"/>
              </a:spcAft>
              <a:buFont typeface="Arial"/>
              <a:buChar char="•"/>
            </a:pPr>
            <a:r>
              <a:rPr sz="980" b="0" lang="fr-FR" altLang="en-US">
                <a:solidFill>
                  <a:srgbClr val="1B2A4A"/>
                </a:solidFill>
                <a:latin typeface="Calibri"/>
              </a:rPr>
              <a:t>Reclassification - événement rare (changement substantiel ou détection en audit)</a:t>
            </a:r>
          </a:p>
        </p:txBody>
      </p:sp>
      <p:sp>
        <p:nvSpPr>
          <p:cNvPr id="8" name="TextBox 7"/>
          <p:cNvSpPr txBox="1"/>
          <p:nvPr/>
        </p:nvSpPr>
        <p:spPr>
          <a:xfrm>
            <a:off x="548640" y="3310128"/>
            <a:ext cx="11091672" cy="292608"/>
          </a:xfrm>
          <a:prstGeom prst="rect">
            <a:avLst/>
          </a:prstGeom>
          <a:noFill/>
        </p:spPr>
        <p:txBody>
          <a:bodyPr wrap="square" lIns="0" rIns="0" tIns="0" bIns="0">
            <a:noAutofit/>
          </a:bodyPr>
          <a:lstStyle/>
          <a:p>
            <a:r>
              <a:rPr sz="950" b="0" i="1" lang="fr-FR" altLang="en-US">
                <a:solidFill>
                  <a:srgbClr val="5B6B84"/>
                </a:solidFill>
                <a:latin typeface="Calibri"/>
              </a:rPr>
              <a:t>Confondre ces trois activités reviendrait à payer à chaque cycle de release un coût de classification qui ne devrait être payé qu'une fois.</a:t>
            </a:r>
          </a:p>
        </p:txBody>
      </p:sp>
      <p:graphicFrame>
        <p:nvGraphicFramePr>
          <p:cNvPr id="9" name="Table 8"/>
          <p:cNvGraphicFramePr>
            <a:graphicFrameLocks noGrp="1"/>
          </p:cNvGraphicFramePr>
          <p:nvPr/>
        </p:nvGraphicFramePr>
        <p:xfrm>
          <a:off x="548640" y="3675887"/>
          <a:ext cx="11091672" cy="2359152"/>
        </p:xfrm>
        <a:graphic>
          <a:graphicData uri="http://schemas.openxmlformats.org/drawingml/2006/table">
            <a:tbl>
              <a:tblPr>
                <a:tableStyleId>{5C22544A-7EE6-4342-B048-85BDC9FD1C3A}</a:tableStyleId>
              </a:tblPr>
              <a:tblGrid>
                <a:gridCol w="1371600"/>
                <a:gridCol w="6245352"/>
                <a:gridCol w="3474720"/>
              </a:tblGrid>
              <a:tr h="384048">
                <a:tc>
                  <a:txBody>
                    <a:bodyPr wrap="square"/>
                    <a:lstStyle/>
                    <a:p>
                      <a:pPr algn="ctr"/>
                      <a:r>
                        <a:rPr sz="1100" b="1" lang="fr-FR" altLang="en-US">
                          <a:solidFill>
                            <a:srgbClr val="FFFFFF"/>
                          </a:solidFill>
                          <a:latin typeface="Calibri"/>
                        </a:rPr>
                        <a:t>Niveau d'impact</a:t>
                      </a:r>
                    </a:p>
                  </a:txBody>
                  <a:tcPr anchor="ctr" marL="91440" marR="91440" marT="36576" marB="36576">
                    <a:solidFill>
                      <a:srgbClr val="1B2A4A"/>
                    </a:solidFill>
                  </a:tcPr>
                </a:tc>
                <a:tc>
                  <a:txBody>
                    <a:bodyPr wrap="square"/>
                    <a:lstStyle/>
                    <a:p>
                      <a:pPr algn="l"/>
                      <a:r>
                        <a:rPr sz="1100" b="1" lang="fr-FR" altLang="en-US">
                          <a:solidFill>
                            <a:srgbClr val="FFFFFF"/>
                          </a:solidFill>
                          <a:latin typeface="Calibri"/>
                        </a:rPr>
                        <a:t>Critères (2 automatisables, 2 déclaratifs)</a:t>
                      </a:r>
                    </a:p>
                  </a:txBody>
                  <a:tcPr anchor="ctr" marL="91440" marR="91440" marT="36576" marB="36576">
                    <a:solidFill>
                      <a:srgbClr val="1B2A4A"/>
                    </a:solidFill>
                  </a:tcPr>
                </a:tc>
                <a:tc>
                  <a:txBody>
                    <a:bodyPr wrap="square"/>
                    <a:lstStyle/>
                    <a:p>
                      <a:pPr algn="l"/>
                      <a:r>
                        <a:rPr sz="1100" b="1" lang="fr-FR" altLang="en-US">
                          <a:solidFill>
                            <a:srgbClr val="FFFFFF"/>
                          </a:solidFill>
                          <a:latin typeface="Calibri"/>
                        </a:rPr>
                        <a:t>Circuit de validation</a:t>
                      </a:r>
                    </a:p>
                  </a:txBody>
                  <a:tcPr anchor="ctr" marL="91440" marR="91440" marT="36576" marB="36576">
                    <a:solidFill>
                      <a:srgbClr val="1B2A4A"/>
                    </a:solidFill>
                  </a:tcPr>
                </a:tc>
              </a:tr>
              <a:tr h="658368">
                <a:tc>
                  <a:txBody>
                    <a:bodyPr wrap="square"/>
                    <a:lstStyle/>
                    <a:p>
                      <a:pPr algn="ctr"/>
                      <a:r>
                        <a:rPr sz="1050" b="1" lang="fr-FR" altLang="en-US">
                          <a:solidFill>
                            <a:srgbClr val="B8574A"/>
                          </a:solidFill>
                          <a:latin typeface="Calibri"/>
                        </a:rPr>
                        <a:t>Fort</a:t>
                      </a:r>
                    </a:p>
                  </a:txBody>
                  <a:tcPr anchor="ctr" marL="91440" marR="91440" marT="36576" marB="36576">
                    <a:solidFill>
                      <a:srgbClr val="FBEDEA"/>
                    </a:solidFill>
                  </a:tcPr>
                </a:tc>
                <a:tc>
                  <a:txBody>
                    <a:bodyPr wrap="square"/>
                    <a:lstStyle/>
                    <a:p>
                      <a:pPr algn="l"/>
                      <a:r>
                        <a:rPr sz="980" b="0" lang="fr-FR" altLang="en-US">
                          <a:solidFill>
                            <a:srgbClr val="1B2A4A"/>
                          </a:solidFill>
                          <a:latin typeface="Calibri"/>
                        </a:rPr>
                        <a:t>Portée majorité des utilisateurs (auto) - art. 22 GDPR (auto) - décision peu réversible (décl.) - fonctionnalité principale (décl.)</a:t>
                      </a:r>
                    </a:p>
                  </a:txBody>
                  <a:tcPr anchor="ctr" marL="91440" marR="91440" marT="36576" marB="36576">
                    <a:solidFill>
                      <a:srgbClr val="FBEDEA"/>
                    </a:solidFill>
                  </a:tcPr>
                </a:tc>
                <a:tc>
                  <a:txBody>
                    <a:bodyPr wrap="square"/>
                    <a:lstStyle/>
                    <a:p>
                      <a:pPr algn="l"/>
                      <a:r>
                        <a:rPr sz="1000" b="1" lang="fr-FR" altLang="en-US">
                          <a:solidFill>
                            <a:srgbClr val="1B2A4A"/>
                          </a:solidFill>
                          <a:latin typeface="Calibri"/>
                        </a:rPr>
                        <a:t>MO (C) → MRM (R) → DGC (A)</a:t>
                      </a:r>
                    </a:p>
                  </a:txBody>
                  <a:tcPr anchor="ctr" marL="91440" marR="91440" marT="36576" marB="36576">
                    <a:solidFill>
                      <a:srgbClr val="FBEDEA"/>
                    </a:solidFill>
                  </a:tcPr>
                </a:tc>
              </a:tr>
              <a:tr h="658368">
                <a:tc>
                  <a:txBody>
                    <a:bodyPr wrap="square"/>
                    <a:lstStyle/>
                    <a:p>
                      <a:pPr algn="ctr"/>
                      <a:r>
                        <a:rPr sz="1050" b="1" lang="fr-FR" altLang="en-US">
                          <a:solidFill>
                            <a:srgbClr val="C99A3C"/>
                          </a:solidFill>
                          <a:latin typeface="Calibri"/>
                        </a:rPr>
                        <a:t>Modéré</a:t>
                      </a:r>
                    </a:p>
                  </a:txBody>
                  <a:tcPr anchor="ctr" marL="91440" marR="91440" marT="36576" marB="36576">
                    <a:solidFill>
                      <a:srgbClr val="FBF3E2"/>
                    </a:solidFill>
                  </a:tcPr>
                </a:tc>
                <a:tc>
                  <a:txBody>
                    <a:bodyPr wrap="square"/>
                    <a:lstStyle/>
                    <a:p>
                      <a:pPr algn="l"/>
                      <a:r>
                        <a:rPr sz="980" b="0" lang="fr-FR" altLang="en-US">
                          <a:solidFill>
                            <a:srgbClr val="1B2A4A"/>
                          </a:solidFill>
                          <a:latin typeface="Calibri"/>
                        </a:rPr>
                        <a:t>Portée partielle (auto) - décision réversible sous délai court (décl.)</a:t>
                      </a:r>
                    </a:p>
                  </a:txBody>
                  <a:tcPr anchor="ctr" marL="91440" marR="91440" marT="36576" marB="36576">
                    <a:solidFill>
                      <a:srgbClr val="FBF3E2"/>
                    </a:solidFill>
                  </a:tcPr>
                </a:tc>
                <a:tc>
                  <a:txBody>
                    <a:bodyPr wrap="square"/>
                    <a:lstStyle/>
                    <a:p>
                      <a:pPr algn="l"/>
                      <a:r>
                        <a:rPr sz="1000" b="1" lang="fr-FR" altLang="en-US">
                          <a:solidFill>
                            <a:srgbClr val="1B2A4A"/>
                          </a:solidFill>
                          <a:latin typeface="Calibri"/>
                        </a:rPr>
                        <a:t>MO (R) → MRM (A)</a:t>
                      </a:r>
                    </a:p>
                  </a:txBody>
                  <a:tcPr anchor="ctr" marL="91440" marR="91440" marT="36576" marB="36576">
                    <a:solidFill>
                      <a:srgbClr val="FBF3E2"/>
                    </a:solidFill>
                  </a:tcPr>
                </a:tc>
              </a:tr>
              <a:tr h="658368">
                <a:tc>
                  <a:txBody>
                    <a:bodyPr wrap="square"/>
                    <a:lstStyle/>
                    <a:p>
                      <a:pPr algn="ctr"/>
                      <a:r>
                        <a:rPr sz="1050" b="1" lang="fr-FR" altLang="en-US">
                          <a:solidFill>
                            <a:srgbClr val="1C8C68"/>
                          </a:solidFill>
                          <a:latin typeface="Calibri"/>
                        </a:rPr>
                        <a:t>Faible</a:t>
                      </a:r>
                    </a:p>
                  </a:txBody>
                  <a:tcPr anchor="ctr" marL="91440" marR="91440" marT="36576" marB="36576">
                    <a:solidFill>
                      <a:srgbClr val="EAF7F1"/>
                    </a:solidFill>
                  </a:tcPr>
                </a:tc>
                <a:tc>
                  <a:txBody>
                    <a:bodyPr wrap="square"/>
                    <a:lstStyle/>
                    <a:p>
                      <a:pPr algn="l"/>
                      <a:r>
                        <a:rPr sz="980" b="0" lang="fr-FR" altLang="en-US">
                          <a:solidFill>
                            <a:srgbClr val="1B2A4A"/>
                          </a:solidFill>
                          <a:latin typeface="Calibri"/>
                        </a:rPr>
                        <a:t>Aucun critère de fort impact rempli (par défaut)</a:t>
                      </a:r>
                    </a:p>
                  </a:txBody>
                  <a:tcPr anchor="ctr" marL="91440" marR="91440" marT="36576" marB="36576">
                    <a:solidFill>
                      <a:srgbClr val="EAF7F1"/>
                    </a:solidFill>
                  </a:tcPr>
                </a:tc>
                <a:tc>
                  <a:txBody>
                    <a:bodyPr wrap="square"/>
                    <a:lstStyle/>
                    <a:p>
                      <a:pPr algn="l"/>
                      <a:r>
                        <a:rPr sz="1000" b="1" lang="fr-FR" altLang="en-US">
                          <a:solidFill>
                            <a:srgbClr val="1B2A4A"/>
                          </a:solidFill>
                          <a:latin typeface="Calibri"/>
                        </a:rPr>
                        <a:t>MO (RA) - contrôle a posteriori par MRM (échantillonnage)</a:t>
                      </a:r>
                    </a:p>
                  </a:txBody>
                  <a:tcPr anchor="ctr" marL="91440" marR="91440" marT="36576" marB="36576">
                    <a:solidFill>
                      <a:srgbClr val="EAF7F1"/>
                    </a:solidFill>
                  </a:tcPr>
                </a:tc>
              </a:tr>
            </a:tbl>
          </a:graphicData>
        </a:graphic>
      </p:graphicFrame>
      <p:sp>
        <p:nvSpPr>
          <p:cNvPr id="10" name="TextBox 9"/>
          <p:cNvSpPr txBox="1"/>
          <p:nvPr/>
        </p:nvSpPr>
        <p:spPr>
          <a:xfrm>
            <a:off x="548640" y="6099048"/>
            <a:ext cx="11091672" cy="320040"/>
          </a:xfrm>
          <a:prstGeom prst="rect">
            <a:avLst/>
          </a:prstGeom>
          <a:noFill/>
        </p:spPr>
        <p:txBody>
          <a:bodyPr wrap="square" lIns="0" rIns="0" tIns="0" bIns="0">
            <a:noAutofit/>
          </a:bodyPr>
          <a:lstStyle/>
          <a:p>
            <a:r>
              <a:rPr sz="950" b="0" i="1" lang="fr-FR" altLang="en-US">
                <a:solidFill>
                  <a:srgbClr val="8493A8"/>
                </a:solidFill>
                <a:latin typeface="Calibri"/>
              </a:rPr>
              <a:t>Le nombre de parties prenantes décroît mécaniquement avec le niveau d'impact - la proportionnalité est visible dans la matrice elle-même.</a:t>
            </a:r>
          </a:p>
        </p:txBody>
      </p:sp>
      <p:sp>
        <p:nvSpPr>
          <p:cNvPr id="11" name="TextBox 10"/>
          <p:cNvSpPr txBox="1"/>
          <p:nvPr/>
        </p:nvSpPr>
        <p:spPr>
          <a:xfrm>
            <a:off x="548640" y="6473952"/>
            <a:ext cx="8686800" cy="274320"/>
          </a:xfrm>
          <a:prstGeom prst="rect">
            <a:avLst/>
          </a:prstGeom>
          <a:noFill/>
        </p:spPr>
        <p:txBody>
          <a:bodyPr wrap="square" lIns="0" rIns="0" tIns="0" bIns="0">
            <a:noAutofit/>
          </a:bodyPr>
          <a:lstStyle/>
          <a:p>
            <a:r>
              <a:rPr sz="950" b="0" i="1" lang="fr-FR" altLang="en-US">
                <a:solidFill>
                  <a:srgbClr val="8493A8"/>
                </a:solidFill>
                <a:latin typeface="Calibri"/>
              </a:rPr>
              <a:t>Source : [D21] §2.1.5 - Amendement [D3] annexe 3.E</a:t>
            </a:r>
          </a:p>
        </p:txBody>
      </p:sp>
      <p:sp>
        <p:nvSpPr>
          <p:cNvPr id="12" name="TextBox 11"/>
          <p:cNvSpPr txBox="1"/>
          <p:nvPr/>
        </p:nvSpPr>
        <p:spPr>
          <a:xfrm>
            <a:off x="11002975" y="6473952"/>
            <a:ext cx="822960" cy="274320"/>
          </a:xfrm>
          <a:prstGeom prst="rect">
            <a:avLst/>
          </a:prstGeom>
          <a:noFill/>
        </p:spPr>
        <p:txBody>
          <a:bodyPr wrap="square" lIns="0" rIns="0" tIns="0" bIns="0">
            <a:noAutofit/>
          </a:bodyPr>
          <a:lstStyle/>
          <a:p>
            <a:pPr algn="r"/>
            <a:r>
              <a:rPr sz="950" b="0" i="0" lang="fr-FR" altLang="en-US">
                <a:solidFill>
                  <a:srgbClr val="8493A8"/>
                </a:solidFill>
                <a:latin typeface="Calibri"/>
              </a:rPr>
              <a:t>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4F7"/>
        </a:solidFill>
        <a:effectLst/>
      </p:bgPr>
    </p:bg>
    <p:spTree>
      <p:nvGrpSpPr>
        <p:cNvPr id="1" name=""/>
        <p:cNvGrpSpPr/>
        <p:nvPr/>
      </p:nvGrpSpPr>
      <p:grpSpPr/>
      <p:sp>
        <p:nvSpPr>
          <p:cNvPr id="2" name="TextBox 1"/>
          <p:cNvSpPr txBox="1"/>
          <p:nvPr/>
        </p:nvSpPr>
        <p:spPr>
          <a:xfrm>
            <a:off x="548640" y="384048"/>
            <a:ext cx="7315200" cy="292608"/>
          </a:xfrm>
          <a:prstGeom prst="rect">
            <a:avLst/>
          </a:prstGeom>
          <a:noFill/>
        </p:spPr>
        <p:txBody>
          <a:bodyPr wrap="square" lIns="0" rIns="0" tIns="0" bIns="0">
            <a:noAutofit/>
          </a:bodyPr>
          <a:lstStyle/>
          <a:p>
            <a:r>
              <a:rPr sz="1200" b="1" i="0" spc="200" lang="fr-FR" altLang="en-US">
                <a:solidFill>
                  <a:srgbClr val="1C8C68"/>
                </a:solidFill>
                <a:latin typeface="Calibri"/>
              </a:rPr>
              <a:t>PLAN PILOTE</a:t>
            </a:r>
          </a:p>
        </p:txBody>
      </p:sp>
      <p:sp>
        <p:nvSpPr>
          <p:cNvPr id="3" name="TextBox 2"/>
          <p:cNvSpPr txBox="1"/>
          <p:nvPr/>
        </p:nvSpPr>
        <p:spPr>
          <a:xfrm>
            <a:off x="548640" y="658368"/>
            <a:ext cx="9692640" cy="868680"/>
          </a:xfrm>
          <a:prstGeom prst="rect">
            <a:avLst/>
          </a:prstGeom>
          <a:noFill/>
        </p:spPr>
        <p:txBody>
          <a:bodyPr wrap="square" lIns="0" rIns="0" tIns="0" bIns="0" anchor="t">
            <a:noAutofit/>
          </a:bodyPr>
          <a:lstStyle/>
          <a:p>
            <a:pPr>
              <a:lnSpc>
                <a:spcPct val="102000"/>
              </a:lnSpc>
            </a:pPr>
            <a:r>
              <a:rPr sz="2800" b="1" i="0" lang="fr-FR" altLang="en-US">
                <a:solidFill>
                  <a:srgbClr val="1B2A4A"/>
                </a:solidFill>
                <a:latin typeface="Cambria"/>
              </a:rPr>
              <a:t>Plan pilote : système de recommandation</a:t>
            </a:r>
          </a:p>
        </p:txBody>
      </p:sp>
      <p:pic>
        <p:nvPicPr>
          <p:cNvPr id="4" name="Picture 3" descr="icon_map.png"/>
          <p:cNvPicPr>
            <a:picLocks noChangeAspect="1"/>
          </p:cNvPicPr>
          <p:nvPr/>
        </p:nvPicPr>
        <p:blipFill>
          <a:blip r:embed="rId2"/>
          <a:stretch>
            <a:fillRect/>
          </a:stretch>
        </p:blipFill>
        <p:spPr>
          <a:xfrm>
            <a:off x="11140135" y="365760"/>
            <a:ext cx="658368" cy="658368"/>
          </a:xfrm>
          <a:prstGeom prst="rect">
            <a:avLst/>
          </a:prstGeom>
        </p:spPr>
      </p:pic>
      <p:sp>
        <p:nvSpPr>
          <p:cNvPr id="5" name="TextBox 4"/>
          <p:cNvSpPr txBox="1"/>
          <p:nvPr/>
        </p:nvSpPr>
        <p:spPr>
          <a:xfrm>
            <a:off x="548640" y="1572768"/>
            <a:ext cx="11091672" cy="365760"/>
          </a:xfrm>
          <a:prstGeom prst="rect">
            <a:avLst/>
          </a:prstGeom>
          <a:noFill/>
        </p:spPr>
        <p:txBody>
          <a:bodyPr wrap="square" lIns="0" rIns="0" tIns="0" bIns="0" anchor="t">
            <a:noAutofit/>
          </a:bodyPr>
          <a:lstStyle/>
          <a:p>
            <a:r>
              <a:rPr sz="980" b="0" i="0" lang="fr-FR" altLang="en-US">
                <a:solidFill>
                  <a:srgbClr val="1B2A4A"/>
                </a:solidFill>
                <a:latin typeface="Calibri"/>
              </a:rPr>
              <a:t>Périmètre : modèles et données d'entraînement du moteur de recommandation - département Product Development. Durée : 21 semaines, en 4 grandes phases :</a:t>
            </a:r>
          </a:p>
        </p:txBody>
      </p:sp>
      <p:graphicFrame>
        <p:nvGraphicFramePr>
          <p:cNvPr id="6" name="Table 5"/>
          <p:cNvGraphicFramePr>
            <a:graphicFrameLocks noGrp="1"/>
          </p:cNvGraphicFramePr>
          <p:nvPr/>
        </p:nvGraphicFramePr>
        <p:xfrm>
          <a:off x="548640" y="1975104"/>
          <a:ext cx="11091672" cy="1554480"/>
        </p:xfrm>
        <a:graphic>
          <a:graphicData uri="http://schemas.openxmlformats.org/drawingml/2006/table">
            <a:tbl>
              <a:tblPr>
                <a:tableStyleId>{5C22544A-7EE6-4342-B048-85BDC9FD1C3A}</a:tableStyleId>
              </a:tblPr>
              <a:tblGrid>
                <a:gridCol w="2148840"/>
                <a:gridCol w="868680"/>
                <a:gridCol w="8074152"/>
              </a:tblGrid>
              <a:tr h="274320">
                <a:tc>
                  <a:txBody>
                    <a:bodyPr wrap="square"/>
                    <a:lstStyle/>
                    <a:p>
                      <a:pPr algn="l"/>
                      <a:r>
                        <a:rPr sz="930" b="1" lang="fr-FR" altLang="en-US">
                          <a:solidFill>
                            <a:srgbClr val="FFFFFF"/>
                          </a:solidFill>
                          <a:latin typeface="Calibri"/>
                        </a:rPr>
                        <a:t>Phase</a:t>
                      </a:r>
                    </a:p>
                  </a:txBody>
                  <a:tcPr anchor="ctr" marL="91440" marR="91440" marT="36576" marB="36576">
                    <a:solidFill>
                      <a:srgbClr val="1B2A4A"/>
                    </a:solidFill>
                  </a:tcPr>
                </a:tc>
                <a:tc>
                  <a:txBody>
                    <a:bodyPr wrap="square"/>
                    <a:lstStyle/>
                    <a:p>
                      <a:pPr algn="l"/>
                      <a:r>
                        <a:rPr sz="930" b="1" lang="fr-FR" altLang="en-US">
                          <a:solidFill>
                            <a:srgbClr val="FFFFFF"/>
                          </a:solidFill>
                          <a:latin typeface="Calibri"/>
                        </a:rPr>
                        <a:t>Semaines</a:t>
                      </a:r>
                    </a:p>
                  </a:txBody>
                  <a:tcPr anchor="ctr" marL="91440" marR="91440" marT="36576" marB="36576">
                    <a:solidFill>
                      <a:srgbClr val="1B2A4A"/>
                    </a:solidFill>
                  </a:tcPr>
                </a:tc>
                <a:tc>
                  <a:txBody>
                    <a:bodyPr wrap="square"/>
                    <a:lstStyle/>
                    <a:p>
                      <a:pPr algn="l"/>
                      <a:r>
                        <a:rPr sz="930" b="1" lang="fr-FR" altLang="en-US">
                          <a:solidFill>
                            <a:srgbClr val="FFFFFF"/>
                          </a:solidFill>
                          <a:latin typeface="Calibri"/>
                        </a:rPr>
                        <a:t>Contenu</a:t>
                      </a:r>
                    </a:p>
                  </a:txBody>
                  <a:tcPr anchor="ctr" marL="91440" marR="91440" marT="36576" marB="36576">
                    <a:solidFill>
                      <a:srgbClr val="1B2A4A"/>
                    </a:solidFill>
                  </a:tcPr>
                </a:tc>
              </a:tr>
              <a:tr h="320040">
                <a:tc>
                  <a:txBody>
                    <a:bodyPr wrap="square"/>
                    <a:lstStyle/>
                    <a:p>
                      <a:pPr algn="l"/>
                      <a:r>
                        <a:rPr sz="860" b="1" lang="fr-FR" altLang="en-US">
                          <a:solidFill>
                            <a:srgbClr val="1B2A4A"/>
                          </a:solidFill>
                          <a:latin typeface="Calibri"/>
                        </a:rPr>
                        <a:t>Sécurisation (bloquante)</a:t>
                      </a:r>
                    </a:p>
                  </a:txBody>
                  <a:tcPr anchor="ctr" marL="91440" marR="91440" marT="36576" marB="36576">
                    <a:solidFill>
                      <a:srgbClr val="FFFFFF"/>
                    </a:solidFill>
                  </a:tcPr>
                </a:tc>
                <a:tc>
                  <a:txBody>
                    <a:bodyPr wrap="square"/>
                    <a:lstStyle/>
                    <a:p>
                      <a:pPr algn="l"/>
                      <a:r>
                        <a:rPr sz="860" b="0" lang="fr-FR" altLang="en-US">
                          <a:solidFill>
                            <a:srgbClr val="1B2A4A"/>
                          </a:solidFill>
                          <a:latin typeface="Calibri"/>
                        </a:rPr>
                        <a:t>S1-S7</a:t>
                      </a:r>
                    </a:p>
                  </a:txBody>
                  <a:tcPr anchor="ctr" marL="91440" marR="91440" marT="36576" marB="36576">
                    <a:solidFill>
                      <a:srgbClr val="FFFFFF"/>
                    </a:solidFill>
                  </a:tcPr>
                </a:tc>
                <a:tc>
                  <a:txBody>
                    <a:bodyPr wrap="square"/>
                    <a:lstStyle/>
                    <a:p>
                      <a:pPr algn="l"/>
                      <a:r>
                        <a:rPr sz="860" b="0" lang="fr-FR" altLang="en-US">
                          <a:solidFill>
                            <a:srgbClr val="1B2A4A"/>
                          </a:solidFill>
                          <a:latin typeface="Calibri"/>
                        </a:rPr>
                        <a:t>Annuaire central, migration des accès, test d'intégration bout-en-bout, revue de poursuite/suspension</a:t>
                      </a:r>
                    </a:p>
                  </a:txBody>
                  <a:tcPr anchor="ctr" marL="91440" marR="91440" marT="36576" marB="36576">
                    <a:solidFill>
                      <a:srgbClr val="FFFFFF"/>
                    </a:solidFill>
                  </a:tcPr>
                </a:tc>
              </a:tr>
              <a:tr h="320040">
                <a:tc>
                  <a:txBody>
                    <a:bodyPr wrap="square"/>
                    <a:lstStyle/>
                    <a:p>
                      <a:pPr algn="l"/>
                      <a:r>
                        <a:rPr sz="860" b="1" lang="fr-FR" altLang="en-US">
                          <a:solidFill>
                            <a:srgbClr val="1B2A4A"/>
                          </a:solidFill>
                          <a:latin typeface="Calibri"/>
                        </a:rPr>
                        <a:t>Déploiement technique</a:t>
                      </a:r>
                    </a:p>
                  </a:txBody>
                  <a:tcPr anchor="ctr" marL="91440" marR="91440" marT="36576" marB="36576">
                    <a:solidFill>
                      <a:srgbClr val="FFFFFF"/>
                    </a:solidFill>
                  </a:tcPr>
                </a:tc>
                <a:tc>
                  <a:txBody>
                    <a:bodyPr wrap="square"/>
                    <a:lstStyle/>
                    <a:p>
                      <a:pPr algn="l"/>
                      <a:r>
                        <a:rPr sz="860" b="0" lang="fr-FR" altLang="en-US">
                          <a:solidFill>
                            <a:srgbClr val="1B2A4A"/>
                          </a:solidFill>
                          <a:latin typeface="Calibri"/>
                        </a:rPr>
                        <a:t>S8-S17</a:t>
                      </a:r>
                    </a:p>
                  </a:txBody>
                  <a:tcPr anchor="ctr" marL="91440" marR="91440" marT="36576" marB="36576">
                    <a:solidFill>
                      <a:srgbClr val="FFFFFF"/>
                    </a:solidFill>
                  </a:tcPr>
                </a:tc>
                <a:tc>
                  <a:txBody>
                    <a:bodyPr wrap="square"/>
                    <a:lstStyle/>
                    <a:p>
                      <a:pPr algn="l"/>
                      <a:r>
                        <a:rPr sz="860" b="0" lang="fr-FR" altLang="en-US">
                          <a:solidFill>
                            <a:srgbClr val="1B2A4A"/>
                          </a:solidFill>
                          <a:latin typeface="Calibri"/>
                        </a:rPr>
                        <a:t>Outils (OpenMetadata, DVC, Soda Core, MLflow, AIF360, AIX360, Wazuh, OpenBao) + population du RoPA en parallèle</a:t>
                      </a:r>
                    </a:p>
                  </a:txBody>
                  <a:tcPr anchor="ctr" marL="91440" marR="91440" marT="36576" marB="36576">
                    <a:solidFill>
                      <a:srgbClr val="FFFFFF"/>
                    </a:solidFill>
                  </a:tcPr>
                </a:tc>
              </a:tr>
              <a:tr h="320040">
                <a:tc>
                  <a:txBody>
                    <a:bodyPr wrap="square"/>
                    <a:lstStyle/>
                    <a:p>
                      <a:pPr algn="l"/>
                      <a:r>
                        <a:rPr sz="860" b="1" lang="fr-FR" altLang="en-US">
                          <a:solidFill>
                            <a:srgbClr val="1B2A4A"/>
                          </a:solidFill>
                          <a:latin typeface="Calibri"/>
                        </a:rPr>
                        <a:t>Classification &amp; exécution réelle</a:t>
                      </a:r>
                    </a:p>
                  </a:txBody>
                  <a:tcPr anchor="ctr" marL="91440" marR="91440" marT="36576" marB="36576">
                    <a:solidFill>
                      <a:srgbClr val="FFFFFF"/>
                    </a:solidFill>
                  </a:tcPr>
                </a:tc>
                <a:tc>
                  <a:txBody>
                    <a:bodyPr wrap="square"/>
                    <a:lstStyle/>
                    <a:p>
                      <a:pPr algn="l"/>
                      <a:r>
                        <a:rPr sz="860" b="0" lang="fr-FR" altLang="en-US">
                          <a:solidFill>
                            <a:srgbClr val="1B2A4A"/>
                          </a:solidFill>
                          <a:latin typeface="Calibri"/>
                        </a:rPr>
                        <a:t>S14-S17</a:t>
                      </a:r>
                    </a:p>
                  </a:txBody>
                  <a:tcPr anchor="ctr" marL="91440" marR="91440" marT="36576" marB="36576">
                    <a:solidFill>
                      <a:srgbClr val="FFFFFF"/>
                    </a:solidFill>
                  </a:tcPr>
                </a:tc>
                <a:tc>
                  <a:txBody>
                    <a:bodyPr wrap="square"/>
                    <a:lstStyle/>
                    <a:p>
                      <a:pPr algn="l"/>
                      <a:r>
                        <a:rPr sz="860" b="0" lang="fr-FR" altLang="en-US">
                          <a:solidFill>
                            <a:srgbClr val="1B2A4A"/>
                          </a:solidFill>
                          <a:latin typeface="Calibri"/>
                        </a:rPr>
                        <a:t>Classification du modèle, contrôle qualité courant et données d'entraînement</a:t>
                      </a:r>
                    </a:p>
                  </a:txBody>
                  <a:tcPr anchor="ctr" marL="91440" marR="91440" marT="36576" marB="36576">
                    <a:solidFill>
                      <a:srgbClr val="FFFFFF"/>
                    </a:solidFill>
                  </a:tcPr>
                </a:tc>
              </a:tr>
              <a:tr h="320040">
                <a:tc>
                  <a:txBody>
                    <a:bodyPr wrap="square"/>
                    <a:lstStyle/>
                    <a:p>
                      <a:pPr algn="l"/>
                      <a:r>
                        <a:rPr sz="860" b="1" lang="fr-FR" altLang="en-US">
                          <a:solidFill>
                            <a:srgbClr val="1B2A4A"/>
                          </a:solidFill>
                          <a:latin typeface="Calibri"/>
                        </a:rPr>
                        <a:t>Approbation &amp; clôture</a:t>
                      </a:r>
                    </a:p>
                  </a:txBody>
                  <a:tcPr anchor="ctr" marL="91440" marR="91440" marT="36576" marB="36576">
                    <a:solidFill>
                      <a:srgbClr val="FFFFFF"/>
                    </a:solidFill>
                  </a:tcPr>
                </a:tc>
                <a:tc>
                  <a:txBody>
                    <a:bodyPr wrap="square"/>
                    <a:lstStyle/>
                    <a:p>
                      <a:pPr algn="l"/>
                      <a:r>
                        <a:rPr sz="860" b="0" lang="fr-FR" altLang="en-US">
                          <a:solidFill>
                            <a:srgbClr val="1B2A4A"/>
                          </a:solidFill>
                          <a:latin typeface="Calibri"/>
                        </a:rPr>
                        <a:t>S18-S21</a:t>
                      </a:r>
                    </a:p>
                  </a:txBody>
                  <a:tcPr anchor="ctr" marL="91440" marR="91440" marT="36576" marB="36576">
                    <a:solidFill>
                      <a:srgbClr val="FFFFFF"/>
                    </a:solidFill>
                  </a:tcPr>
                </a:tc>
                <a:tc>
                  <a:txBody>
                    <a:bodyPr wrap="square"/>
                    <a:lstStyle/>
                    <a:p>
                      <a:pPr algn="l"/>
                      <a:r>
                        <a:rPr sz="860" b="0" lang="fr-FR" altLang="en-US">
                          <a:solidFill>
                            <a:srgbClr val="1B2A4A"/>
                          </a:solidFill>
                          <a:latin typeface="Calibri"/>
                        </a:rPr>
                        <a:t>Premier passage du circuit d'approbation, consolidation, revue finale</a:t>
                      </a:r>
                    </a:p>
                  </a:txBody>
                  <a:tcPr anchor="ctr" marL="91440" marR="91440" marT="36576" marB="36576">
                    <a:solidFill>
                      <a:srgbClr val="FFFFFF"/>
                    </a:solidFill>
                  </a:tcPr>
                </a:tc>
              </a:tr>
            </a:tbl>
          </a:graphicData>
        </a:graphic>
      </p:graphicFrame>
      <p:sp>
        <p:nvSpPr>
          <p:cNvPr id="7" name="TextBox 6"/>
          <p:cNvSpPr txBox="1"/>
          <p:nvPr/>
        </p:nvSpPr>
        <p:spPr>
          <a:xfrm>
            <a:off x="548640" y="3529584"/>
            <a:ext cx="11091672" cy="685800"/>
          </a:xfrm>
          <a:prstGeom prst="rect">
            <a:avLst/>
          </a:prstGeom>
          <a:noFill/>
        </p:spPr>
        <p:txBody>
          <a:bodyPr wrap="square" lIns="0" rIns="0" tIns="0" bIns="0" anchor="t">
            <a:noAutofit/>
          </a:bodyPr>
          <a:lstStyle/>
          <a:p>
            <a:r>
              <a:rPr sz="830" b="0" i="0" lang="fr-FR" altLang="en-US">
                <a:solidFill>
                  <a:srgbClr val="1B2A4A"/>
                </a:solidFill>
                <a:latin typeface="Calibri"/>
              </a:rPr>
              <a:t>7 objectifs [D3 §3.F.2] : valider le rattachement fonctionnel DS-CDO - mesurer l'Engineering overhead réel (main-d'œuvre uniquement) - classifier les modèles et éprouver le circuit d'approbation - trancher 5 points de vigilance technique (recouvrement Soda Core/OpenMetadata, suffisance de Soda Core pour E5, charge IAM Wazuh/OpenBao, connecteur Collibra-OpenMetadata, synchronisation SSO) - valider le déploiement incrémental de Collibra/TrustArc - vérifier la classification préalable des données du RoPA - conduire la migration de sécurisation obligatoire du stockage initial.</a:t>
            </a:r>
          </a:p>
        </p:txBody>
      </p:sp>
      <p:sp>
        <p:nvSpPr>
          <p:cNvPr id="8" name="TextBox 7"/>
          <p:cNvSpPr txBox="1"/>
          <p:nvPr/>
        </p:nvSpPr>
        <p:spPr>
          <a:xfrm>
            <a:off x="548640" y="4242816"/>
            <a:ext cx="11091672" cy="292608"/>
          </a:xfrm>
          <a:prstGeom prst="rect">
            <a:avLst/>
          </a:prstGeom>
          <a:noFill/>
        </p:spPr>
        <p:txBody>
          <a:bodyPr wrap="square" lIns="0" rIns="0" tIns="0" bIns="0" anchor="t">
            <a:noAutofit/>
          </a:bodyPr>
          <a:lstStyle/>
          <a:p>
            <a:r>
              <a:rPr sz="830" b="0" i="0" lang="fr-FR" altLang="en-US">
                <a:solidFill>
                  <a:srgbClr val="1B2A4A"/>
                </a:solidFill>
                <a:latin typeface="Calibri"/>
              </a:rPr>
              <a:t>Équipe : PPM (coordination) - DS (qualité domaine, glossaire) - MO (MLflow, classification) - MRM (revue, approbation) - DO (arbitrage métier) - DC (déploiement technique, migration) - DPO/Legal (RoPA).</a:t>
            </a:r>
          </a:p>
        </p:txBody>
      </p:sp>
      <p:graphicFrame>
        <p:nvGraphicFramePr>
          <p:cNvPr id="9" name="Table 8"/>
          <p:cNvGraphicFramePr>
            <a:graphicFrameLocks noGrp="1"/>
          </p:cNvGraphicFramePr>
          <p:nvPr/>
        </p:nvGraphicFramePr>
        <p:xfrm>
          <a:off x="548640" y="4590288"/>
          <a:ext cx="3200400" cy="877824"/>
        </p:xfrm>
        <a:graphic>
          <a:graphicData uri="http://schemas.openxmlformats.org/drawingml/2006/table">
            <a:tbl>
              <a:tblPr>
                <a:tableStyleId>{5C22544A-7EE6-4342-B048-85BDC9FD1C3A}</a:tableStyleId>
              </a:tblPr>
              <a:tblGrid>
                <a:gridCol w="1920240"/>
                <a:gridCol w="640080"/>
                <a:gridCol w="640080"/>
              </a:tblGrid>
              <a:tr h="219456">
                <a:tc>
                  <a:txBody>
                    <a:bodyPr wrap="square"/>
                    <a:lstStyle/>
                    <a:p>
                      <a:pPr algn="l"/>
                      <a:r>
                        <a:rPr sz="780" b="1" lang="fr-FR" altLang="en-US">
                          <a:solidFill>
                            <a:srgbClr val="FFFFFF"/>
                          </a:solidFill>
                          <a:latin typeface="Calibri"/>
                        </a:rPr>
                        <a:t>Dimension</a:t>
                      </a:r>
                    </a:p>
                  </a:txBody>
                  <a:tcPr anchor="ctr" marL="91440" marR="91440" marT="36576" marB="36576">
                    <a:solidFill>
                      <a:srgbClr val="1B2A4A"/>
                    </a:solidFill>
                  </a:tcPr>
                </a:tc>
                <a:tc>
                  <a:txBody>
                    <a:bodyPr wrap="square"/>
                    <a:lstStyle/>
                    <a:p>
                      <a:pPr algn="ctr"/>
                      <a:r>
                        <a:rPr sz="780" b="1" lang="fr-FR" altLang="en-US">
                          <a:solidFill>
                            <a:srgbClr val="FFFFFF"/>
                          </a:solidFill>
                          <a:latin typeface="Calibri"/>
                        </a:rPr>
                        <a:t>Départ</a:t>
                      </a:r>
                    </a:p>
                  </a:txBody>
                  <a:tcPr anchor="ctr" marL="91440" marR="91440" marT="36576" marB="36576">
                    <a:solidFill>
                      <a:srgbClr val="1B2A4A"/>
                    </a:solidFill>
                  </a:tcPr>
                </a:tc>
                <a:tc>
                  <a:txBody>
                    <a:bodyPr wrap="square"/>
                    <a:lstStyle/>
                    <a:p>
                      <a:pPr algn="ctr"/>
                      <a:r>
                        <a:rPr sz="780" b="1" lang="fr-FR" altLang="en-US">
                          <a:solidFill>
                            <a:srgbClr val="FFFFFF"/>
                          </a:solidFill>
                          <a:latin typeface="Calibri"/>
                        </a:rPr>
                        <a:t>Cible</a:t>
                      </a:r>
                    </a:p>
                  </a:txBody>
                  <a:tcPr anchor="ctr" marL="91440" marR="91440" marT="36576" marB="36576">
                    <a:solidFill>
                      <a:srgbClr val="1B2A4A"/>
                    </a:solidFill>
                  </a:tcPr>
                </a:tc>
              </a:tr>
              <a:tr h="219456">
                <a:tc>
                  <a:txBody>
                    <a:bodyPr wrap="square"/>
                    <a:lstStyle/>
                    <a:p>
                      <a:pPr algn="l"/>
                      <a:r>
                        <a:rPr sz="780" b="0" lang="fr-FR" altLang="en-US">
                          <a:solidFill>
                            <a:srgbClr val="1B2A4A"/>
                          </a:solidFill>
                          <a:latin typeface="Calibri"/>
                        </a:rPr>
                        <a:t>Data Governance</a:t>
                      </a:r>
                    </a:p>
                  </a:txBody>
                  <a:tcPr anchor="ctr" marL="91440" marR="91440" marT="36576" marB="36576">
                    <a:solidFill>
                      <a:srgbClr val="FFFFFF"/>
                    </a:solidFill>
                  </a:tcPr>
                </a:tc>
                <a:tc>
                  <a:txBody>
                    <a:bodyPr wrap="square"/>
                    <a:lstStyle/>
                    <a:p>
                      <a:pPr algn="ctr"/>
                      <a:r>
                        <a:rPr sz="780" b="0" lang="fr-FR" altLang="en-US">
                          <a:solidFill>
                            <a:srgbClr val="1B2A4A"/>
                          </a:solidFill>
                          <a:latin typeface="Calibri"/>
                        </a:rPr>
                        <a:t>1</a:t>
                      </a:r>
                    </a:p>
                  </a:txBody>
                  <a:tcPr anchor="ctr" marL="91440" marR="91440" marT="36576" marB="36576">
                    <a:solidFill>
                      <a:srgbClr val="FFFFFF"/>
                    </a:solidFill>
                  </a:tcPr>
                </a:tc>
                <a:tc>
                  <a:txBody>
                    <a:bodyPr wrap="square"/>
                    <a:lstStyle/>
                    <a:p>
                      <a:pPr algn="ctr"/>
                      <a:r>
                        <a:rPr sz="780" b="0" lang="fr-FR" altLang="en-US">
                          <a:solidFill>
                            <a:srgbClr val="1B2A4A"/>
                          </a:solidFill>
                          <a:latin typeface="Calibri"/>
                        </a:rPr>
                        <a:t>2</a:t>
                      </a:r>
                    </a:p>
                  </a:txBody>
                  <a:tcPr anchor="ctr" marL="91440" marR="91440" marT="36576" marB="36576">
                    <a:solidFill>
                      <a:srgbClr val="FFFFFF"/>
                    </a:solidFill>
                  </a:tcPr>
                </a:tc>
              </a:tr>
              <a:tr h="219456">
                <a:tc>
                  <a:txBody>
                    <a:bodyPr wrap="square"/>
                    <a:lstStyle/>
                    <a:p>
                      <a:pPr algn="l"/>
                      <a:r>
                        <a:rPr sz="780" b="0" lang="fr-FR" altLang="en-US">
                          <a:solidFill>
                            <a:srgbClr val="1B2A4A"/>
                          </a:solidFill>
                          <a:latin typeface="Calibri"/>
                        </a:rPr>
                        <a:t>Data Quality</a:t>
                      </a:r>
                    </a:p>
                  </a:txBody>
                  <a:tcPr anchor="ctr" marL="91440" marR="91440" marT="36576" marB="36576">
                    <a:solidFill>
                      <a:srgbClr val="FFFFFF"/>
                    </a:solidFill>
                  </a:tcPr>
                </a:tc>
                <a:tc>
                  <a:txBody>
                    <a:bodyPr wrap="square"/>
                    <a:lstStyle/>
                    <a:p>
                      <a:pPr algn="ctr"/>
                      <a:r>
                        <a:rPr sz="780" b="0" lang="fr-FR" altLang="en-US">
                          <a:solidFill>
                            <a:srgbClr val="1B2A4A"/>
                          </a:solidFill>
                          <a:latin typeface="Calibri"/>
                        </a:rPr>
                        <a:t>1</a:t>
                      </a:r>
                    </a:p>
                  </a:txBody>
                  <a:tcPr anchor="ctr" marL="91440" marR="91440" marT="36576" marB="36576">
                    <a:solidFill>
                      <a:srgbClr val="FFFFFF"/>
                    </a:solidFill>
                  </a:tcPr>
                </a:tc>
                <a:tc>
                  <a:txBody>
                    <a:bodyPr wrap="square"/>
                    <a:lstStyle/>
                    <a:p>
                      <a:pPr algn="ctr"/>
                      <a:r>
                        <a:rPr sz="780" b="0" lang="fr-FR" altLang="en-US">
                          <a:solidFill>
                            <a:srgbClr val="1B2A4A"/>
                          </a:solidFill>
                          <a:latin typeface="Calibri"/>
                        </a:rPr>
                        <a:t>2</a:t>
                      </a:r>
                    </a:p>
                  </a:txBody>
                  <a:tcPr anchor="ctr" marL="91440" marR="91440" marT="36576" marB="36576">
                    <a:solidFill>
                      <a:srgbClr val="FFFFFF"/>
                    </a:solidFill>
                  </a:tcPr>
                </a:tc>
              </a:tr>
              <a:tr h="219456">
                <a:tc>
                  <a:txBody>
                    <a:bodyPr wrap="square"/>
                    <a:lstStyle/>
                    <a:p>
                      <a:pPr algn="l"/>
                      <a:r>
                        <a:rPr sz="780" b="0" lang="fr-FR" altLang="en-US">
                          <a:solidFill>
                            <a:srgbClr val="1B2A4A"/>
                          </a:solidFill>
                          <a:latin typeface="Calibri"/>
                        </a:rPr>
                        <a:t>Analytics &amp; BI (IA)</a:t>
                      </a:r>
                    </a:p>
                  </a:txBody>
                  <a:tcPr anchor="ctr" marL="91440" marR="91440" marT="36576" marB="36576">
                    <a:solidFill>
                      <a:srgbClr val="FFFFFF"/>
                    </a:solidFill>
                  </a:tcPr>
                </a:tc>
                <a:tc>
                  <a:txBody>
                    <a:bodyPr wrap="square"/>
                    <a:lstStyle/>
                    <a:p>
                      <a:pPr algn="ctr"/>
                      <a:r>
                        <a:rPr sz="780" b="0" lang="fr-FR" altLang="en-US">
                          <a:solidFill>
                            <a:srgbClr val="1B2A4A"/>
                          </a:solidFill>
                          <a:latin typeface="Calibri"/>
                        </a:rPr>
                        <a:t>2</a:t>
                      </a:r>
                    </a:p>
                  </a:txBody>
                  <a:tcPr anchor="ctr" marL="91440" marR="91440" marT="36576" marB="36576">
                    <a:solidFill>
                      <a:srgbClr val="FFFFFF"/>
                    </a:solidFill>
                  </a:tcPr>
                </a:tc>
                <a:tc>
                  <a:txBody>
                    <a:bodyPr wrap="square"/>
                    <a:lstStyle/>
                    <a:p>
                      <a:pPr algn="ctr"/>
                      <a:r>
                        <a:rPr sz="780" b="0" lang="fr-FR" altLang="en-US">
                          <a:solidFill>
                            <a:srgbClr val="1B2A4A"/>
                          </a:solidFill>
                          <a:latin typeface="Calibri"/>
                        </a:rPr>
                        <a:t>3</a:t>
                      </a:r>
                    </a:p>
                  </a:txBody>
                  <a:tcPr anchor="ctr" marL="91440" marR="91440" marT="36576" marB="36576">
                    <a:solidFill>
                      <a:srgbClr val="FFFFFF"/>
                    </a:solidFill>
                  </a:tcPr>
                </a:tc>
              </a:tr>
            </a:tbl>
          </a:graphicData>
        </a:graphic>
      </p:graphicFrame>
      <p:sp>
        <p:nvSpPr>
          <p:cNvPr id="10" name="TextBox 9"/>
          <p:cNvSpPr txBox="1"/>
          <p:nvPr/>
        </p:nvSpPr>
        <p:spPr>
          <a:xfrm>
            <a:off x="3794760" y="4590288"/>
            <a:ext cx="7845552" cy="896112"/>
          </a:xfrm>
          <a:prstGeom prst="rect">
            <a:avLst/>
          </a:prstGeom>
          <a:noFill/>
        </p:spPr>
        <p:txBody>
          <a:bodyPr wrap="square" lIns="0" rIns="0" tIns="0" bIns="0" anchor="t">
            <a:noAutofit/>
          </a:bodyPr>
          <a:lstStyle/>
          <a:p>
            <a:r>
              <a:rPr sz="810" b="0" i="0" lang="fr-FR" altLang="en-US">
                <a:solidFill>
                  <a:srgbClr val="1B2A4A"/>
                </a:solidFill>
                <a:latin typeface="Calibri"/>
              </a:rPr>
              <a:t>Indicateurs (DMAT, artefacts datés, validés par le DGC). Le double rattachement des Data Stewards est évalué séparément par 5 indicateurs (adoption des standards, délai de propagation, fréquence de sollicitation, cohérence terminologique, autonomie départementale préservée) - captés nativement dans Collibra, combinés au critère négatif « absence de conflit rapporté » pour éviter qu'un canal inutilisé ne passe pour un succès.</a:t>
            </a:r>
          </a:p>
        </p:txBody>
      </p:sp>
      <p:sp>
        <p:nvSpPr>
          <p:cNvPr id="11" name="Rounded Rectangle 10"/>
          <p:cNvSpPr/>
          <p:nvPr/>
        </p:nvSpPr>
        <p:spPr>
          <a:xfrm>
            <a:off x="548640" y="5559552"/>
            <a:ext cx="11091672" cy="475488"/>
          </a:xfrm>
          <a:prstGeom prst="roundRect">
            <a:avLst>
              <a:gd name="adj" fmla="val 8000"/>
            </a:avLst>
          </a:prstGeom>
          <a:solidFill>
            <a:srgbClr val="FBEDEA"/>
          </a:solidFill>
          <a:ln w="9525">
            <a:solidFill>
              <a:srgbClr val="D8DEE6"/>
            </a:solidFill>
          </a:ln>
          <a:effectLst/>
        </p:spPr>
        <p:txBody>
          <a:bodyPr rtlCol="0" anchor="ctr"/>
          <a:lstStyle/>
          <a:p>
            <a:pPr algn="ctr"/>
          </a:p>
        </p:txBody>
      </p:sp>
      <p:sp>
        <p:nvSpPr>
          <p:cNvPr id="12" name="TextBox 11"/>
          <p:cNvSpPr txBox="1"/>
          <p:nvPr/>
        </p:nvSpPr>
        <p:spPr>
          <a:xfrm>
            <a:off x="777240" y="5559552"/>
            <a:ext cx="10607040" cy="475488"/>
          </a:xfrm>
          <a:prstGeom prst="rect">
            <a:avLst/>
          </a:prstGeom>
          <a:noFill/>
        </p:spPr>
        <p:txBody>
          <a:bodyPr wrap="square" lIns="0" rIns="0" tIns="0" bIns="0" anchor="ctr">
            <a:noAutofit/>
          </a:bodyPr>
          <a:lstStyle/>
          <a:p>
            <a:r>
              <a:rPr sz="830" b="1" i="0" lang="fr-FR" altLang="en-US">
                <a:solidFill>
                  <a:srgbClr val="97402F"/>
                </a:solidFill>
                <a:latin typeface="Calibri"/>
              </a:rPr>
              <a:t>Risques - deux catégories propres à la phase de sécurisation : suspension sans repli (ex. absence d'annuaire central) et débordement de planning (ex. délai de réponse TrustArc, exécution réelle compressée à 4 semaines). S'y ajoutent des risques opérationnels.</a:t>
            </a:r>
          </a:p>
        </p:txBody>
      </p:sp>
      <p:sp>
        <p:nvSpPr>
          <p:cNvPr id="13" name="TextBox 12"/>
          <p:cNvSpPr txBox="1"/>
          <p:nvPr/>
        </p:nvSpPr>
        <p:spPr>
          <a:xfrm>
            <a:off x="548640" y="6108192"/>
            <a:ext cx="11091672" cy="320040"/>
          </a:xfrm>
          <a:prstGeom prst="rect">
            <a:avLst/>
          </a:prstGeom>
          <a:noFill/>
        </p:spPr>
        <p:txBody>
          <a:bodyPr wrap="square" lIns="0" rIns="0" tIns="0" bIns="0" anchor="t">
            <a:noAutofit/>
          </a:bodyPr>
          <a:lstStyle/>
          <a:p>
            <a:r>
              <a:rPr sz="830" b="0" i="1" lang="fr-FR" altLang="en-US">
                <a:solidFill>
                  <a:srgbClr val="5B6B84"/>
                </a:solidFill>
                <a:latin typeface="Calibri"/>
              </a:rPr>
              <a:t>Formation : session dédiée DS/PM sur le double rattachement (E6) ; revue finale structurée en 3 axes (ce qui a fonctionné / ce qui a nécessité un ajustement / ce qui reste non résolu).</a:t>
            </a:r>
          </a:p>
        </p:txBody>
      </p:sp>
      <p:sp>
        <p:nvSpPr>
          <p:cNvPr id="14" name="TextBox 13"/>
          <p:cNvSpPr txBox="1"/>
          <p:nvPr/>
        </p:nvSpPr>
        <p:spPr>
          <a:xfrm>
            <a:off x="548640" y="6473952"/>
            <a:ext cx="8686800" cy="274320"/>
          </a:xfrm>
          <a:prstGeom prst="rect">
            <a:avLst/>
          </a:prstGeom>
          <a:noFill/>
        </p:spPr>
        <p:txBody>
          <a:bodyPr wrap="square" lIns="0" rIns="0" tIns="0" bIns="0">
            <a:noAutofit/>
          </a:bodyPr>
          <a:lstStyle/>
          <a:p>
            <a:r>
              <a:rPr sz="950" b="0" i="1" lang="fr-FR" altLang="en-US">
                <a:solidFill>
                  <a:srgbClr val="8493A8"/>
                </a:solidFill>
                <a:latin typeface="Calibri"/>
              </a:rPr>
              <a:t>Source : [D3] §3.4-§3.5, annexes 3.F</a:t>
            </a:r>
          </a:p>
        </p:txBody>
      </p:sp>
      <p:sp>
        <p:nvSpPr>
          <p:cNvPr id="15" name="TextBox 14"/>
          <p:cNvSpPr txBox="1"/>
          <p:nvPr/>
        </p:nvSpPr>
        <p:spPr>
          <a:xfrm>
            <a:off x="11002975" y="6473952"/>
            <a:ext cx="822960" cy="274320"/>
          </a:xfrm>
          <a:prstGeom prst="rect">
            <a:avLst/>
          </a:prstGeom>
          <a:noFill/>
        </p:spPr>
        <p:txBody>
          <a:bodyPr wrap="square" lIns="0" rIns="0" tIns="0" bIns="0">
            <a:noAutofit/>
          </a:bodyPr>
          <a:lstStyle/>
          <a:p>
            <a:pPr algn="r"/>
            <a:r>
              <a:rPr sz="950" b="0" i="0" lang="fr-FR" altLang="en-US">
                <a:solidFill>
                  <a:srgbClr val="8493A8"/>
                </a:solidFill>
                <a:latin typeface="Calibri"/>
              </a:rPr>
              <a:t>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F4F7"/>
        </a:solidFill>
        <a:effectLst/>
      </p:bgPr>
    </p:bg>
    <p:spTree>
      <p:nvGrpSpPr>
        <p:cNvPr id="1" name=""/>
        <p:cNvGrpSpPr/>
        <p:nvPr/>
      </p:nvGrpSpPr>
      <p:grpSpPr/>
      <p:sp>
        <p:nvSpPr>
          <p:cNvPr id="2" name="TextBox 1"/>
          <p:cNvSpPr txBox="1"/>
          <p:nvPr/>
        </p:nvSpPr>
        <p:spPr>
          <a:xfrm>
            <a:off x="548640" y="384048"/>
            <a:ext cx="7315200" cy="292608"/>
          </a:xfrm>
          <a:prstGeom prst="rect">
            <a:avLst/>
          </a:prstGeom>
          <a:noFill/>
        </p:spPr>
        <p:txBody>
          <a:bodyPr wrap="square" lIns="0" rIns="0" tIns="0" bIns="0">
            <a:noAutofit/>
          </a:bodyPr>
          <a:lstStyle/>
          <a:p>
            <a:r>
              <a:rPr sz="1200" b="1" i="0" spc="200" lang="fr-FR" altLang="en-US">
                <a:solidFill>
                  <a:srgbClr val="1C8C68"/>
                </a:solidFill>
                <a:latin typeface="Calibri"/>
              </a:rPr>
              <a:t>FEUILLE DE ROUTE</a:t>
            </a:r>
          </a:p>
        </p:txBody>
      </p:sp>
      <p:sp>
        <p:nvSpPr>
          <p:cNvPr id="3" name="TextBox 2"/>
          <p:cNvSpPr txBox="1"/>
          <p:nvPr/>
        </p:nvSpPr>
        <p:spPr>
          <a:xfrm>
            <a:off x="548640" y="658368"/>
            <a:ext cx="9692640" cy="868680"/>
          </a:xfrm>
          <a:prstGeom prst="rect">
            <a:avLst/>
          </a:prstGeom>
          <a:noFill/>
        </p:spPr>
        <p:txBody>
          <a:bodyPr wrap="square" lIns="0" rIns="0" tIns="0" bIns="0" anchor="t">
            <a:noAutofit/>
          </a:bodyPr>
          <a:lstStyle/>
          <a:p>
            <a:pPr>
              <a:lnSpc>
                <a:spcPct val="102000"/>
              </a:lnSpc>
            </a:pPr>
            <a:r>
              <a:rPr sz="2800" b="1" i="0" lang="fr-FR" altLang="en-US">
                <a:solidFill>
                  <a:srgbClr val="1B2A4A"/>
                </a:solidFill>
                <a:latin typeface="Cambria"/>
              </a:rPr>
              <a:t>Feuille de route de généralisation</a:t>
            </a:r>
          </a:p>
        </p:txBody>
      </p:sp>
      <p:pic>
        <p:nvPicPr>
          <p:cNvPr id="4" name="Picture 3" descr="icon_map.png"/>
          <p:cNvPicPr>
            <a:picLocks noChangeAspect="1"/>
          </p:cNvPicPr>
          <p:nvPr/>
        </p:nvPicPr>
        <p:blipFill>
          <a:blip r:embed="rId2"/>
          <a:stretch>
            <a:fillRect/>
          </a:stretch>
        </p:blipFill>
        <p:spPr>
          <a:xfrm>
            <a:off x="11140135" y="365760"/>
            <a:ext cx="658368" cy="658368"/>
          </a:xfrm>
          <a:prstGeom prst="rect">
            <a:avLst/>
          </a:prstGeom>
        </p:spPr>
      </p:pic>
      <p:sp>
        <p:nvSpPr>
          <p:cNvPr id="5" name="TextBox 4"/>
          <p:cNvSpPr txBox="1"/>
          <p:nvPr/>
        </p:nvSpPr>
        <p:spPr>
          <a:xfrm>
            <a:off x="548640" y="1572768"/>
            <a:ext cx="11091672" cy="594360"/>
          </a:xfrm>
          <a:prstGeom prst="rect">
            <a:avLst/>
          </a:prstGeom>
          <a:noFill/>
        </p:spPr>
        <p:txBody>
          <a:bodyPr wrap="square" lIns="0" rIns="0" tIns="0" bIns="0" anchor="t">
            <a:noAutofit/>
          </a:bodyPr>
          <a:lstStyle/>
          <a:p>
            <a:r>
              <a:rPr sz="930" b="0" i="0" lang="fr-FR" altLang="en-US">
                <a:solidFill>
                  <a:srgbClr val="1B2A4A"/>
                </a:solidFill>
                <a:latin typeface="Calibri"/>
              </a:rPr>
              <a:t>Pourquoi la phase de sécurisation ne se reproduit qu'une fois : l'annuaire central, les rôles OpenBao et les intégrations SSO validés en phase 1 sont étendus, pas reconstruits - d'où une durée canonique réduite à 3 mois pour les phases 2 à 4, contre 21 semaines pour la phase 1. L'intervalle entre phases est porté à 2 mois pour absorber le risque d'alignement aux cycles budgétaires trimestriels.</a:t>
            </a:r>
          </a:p>
        </p:txBody>
      </p:sp>
      <p:sp>
        <p:nvSpPr>
          <p:cNvPr id="6" name="Rectangle 5"/>
          <p:cNvSpPr/>
          <p:nvPr/>
        </p:nvSpPr>
        <p:spPr>
          <a:xfrm>
            <a:off x="1658081" y="3579876"/>
            <a:ext cx="8875532" cy="27432"/>
          </a:xfrm>
          <a:prstGeom prst="rect">
            <a:avLst/>
          </a:prstGeom>
          <a:solidFill>
            <a:srgbClr val="D8DEE6"/>
          </a:solidFill>
          <a:ln>
            <a:noFill/>
          </a:ln>
          <a:effectLst/>
        </p:spPr>
        <p:txBody>
          <a:bodyPr rtlCol="0" anchor="ctr"/>
          <a:lstStyle/>
          <a:p>
            <a:pPr algn="ctr"/>
          </a:p>
        </p:txBody>
      </p:sp>
      <p:sp>
        <p:nvSpPr>
          <p:cNvPr id="7" name="Rounded Rectangle 6"/>
          <p:cNvSpPr/>
          <p:nvPr/>
        </p:nvSpPr>
        <p:spPr>
          <a:xfrm>
            <a:off x="658367" y="2212848"/>
            <a:ext cx="1999427" cy="123444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8" name="TextBox 7"/>
          <p:cNvSpPr txBox="1"/>
          <p:nvPr/>
        </p:nvSpPr>
        <p:spPr>
          <a:xfrm>
            <a:off x="786383" y="2304288"/>
            <a:ext cx="1743395" cy="274320"/>
          </a:xfrm>
          <a:prstGeom prst="rect">
            <a:avLst/>
          </a:prstGeom>
          <a:noFill/>
        </p:spPr>
        <p:txBody>
          <a:bodyPr wrap="square" lIns="0" rIns="0" tIns="0" bIns="0">
            <a:noAutofit/>
          </a:bodyPr>
          <a:lstStyle/>
          <a:p>
            <a:r>
              <a:rPr sz="1080" b="1" i="0" lang="fr-FR" altLang="en-US">
                <a:solidFill>
                  <a:srgbClr val="1B2A4A"/>
                </a:solidFill>
                <a:latin typeface="Calibri"/>
              </a:rPr>
              <a:t>Phase 1 - Pilote</a:t>
            </a:r>
          </a:p>
        </p:txBody>
      </p:sp>
      <p:sp>
        <p:nvSpPr>
          <p:cNvPr id="9" name="TextBox 8"/>
          <p:cNvSpPr txBox="1"/>
          <p:nvPr/>
        </p:nvSpPr>
        <p:spPr>
          <a:xfrm>
            <a:off x="786383" y="2596896"/>
            <a:ext cx="1743395" cy="594360"/>
          </a:xfrm>
          <a:prstGeom prst="rect">
            <a:avLst/>
          </a:prstGeom>
          <a:noFill/>
        </p:spPr>
        <p:txBody>
          <a:bodyPr wrap="square" lIns="0" rIns="0" tIns="0" bIns="0" anchor="t">
            <a:noAutofit/>
          </a:bodyPr>
          <a:lstStyle/>
          <a:p>
            <a:r>
              <a:rPr sz="860" b="0" i="0" lang="fr-FR" altLang="en-US">
                <a:solidFill>
                  <a:srgbClr val="5B6B84"/>
                </a:solidFill>
                <a:latin typeface="Calibri"/>
              </a:rPr>
              <a:t>Product Development</a:t>
            </a:r>
          </a:p>
          <a:p>
            <a:r>
              <a:rPr sz="860" b="0" i="0" lang="fr-FR" altLang="en-US">
                <a:solidFill>
                  <a:srgbClr val="5B6B84"/>
                </a:solidFill>
                <a:latin typeface="Calibri"/>
              </a:rPr>
              <a:t>(entraînement recommandation)</a:t>
            </a:r>
          </a:p>
        </p:txBody>
      </p:sp>
      <p:sp>
        <p:nvSpPr>
          <p:cNvPr id="10" name="TextBox 9"/>
          <p:cNvSpPr txBox="1"/>
          <p:nvPr/>
        </p:nvSpPr>
        <p:spPr>
          <a:xfrm>
            <a:off x="786383" y="3154680"/>
            <a:ext cx="1743395" cy="256032"/>
          </a:xfrm>
          <a:prstGeom prst="rect">
            <a:avLst/>
          </a:prstGeom>
          <a:noFill/>
        </p:spPr>
        <p:txBody>
          <a:bodyPr wrap="square" lIns="0" rIns="0" tIns="0" bIns="0">
            <a:noAutofit/>
          </a:bodyPr>
          <a:lstStyle/>
          <a:p>
            <a:r>
              <a:rPr sz="900" b="1" i="1" lang="fr-FR" altLang="en-US">
                <a:solidFill>
                  <a:srgbClr val="1B2A4A"/>
                </a:solidFill>
                <a:latin typeface="Calibri"/>
              </a:rPr>
              <a:t>21 semaines</a:t>
            </a:r>
          </a:p>
        </p:txBody>
      </p:sp>
      <p:sp>
        <p:nvSpPr>
          <p:cNvPr id="11" name="Oval 10"/>
          <p:cNvSpPr/>
          <p:nvPr/>
        </p:nvSpPr>
        <p:spPr>
          <a:xfrm>
            <a:off x="1530065" y="3465576"/>
            <a:ext cx="256032" cy="256032"/>
          </a:xfrm>
          <a:prstGeom prst="ellipse">
            <a:avLst/>
          </a:prstGeom>
          <a:solidFill>
            <a:srgbClr val="1B2A4A"/>
          </a:solidFill>
          <a:ln w="25400">
            <a:solidFill>
              <a:srgbClr val="FFFFFF"/>
            </a:solidFill>
          </a:ln>
          <a:effectLst/>
        </p:spPr>
        <p:txBody>
          <a:bodyPr rtlCol="0" anchor="ctr"/>
          <a:lstStyle/>
          <a:p>
            <a:pPr algn="ctr"/>
          </a:p>
        </p:txBody>
      </p:sp>
      <p:sp>
        <p:nvSpPr>
          <p:cNvPr id="12" name="TextBox 11"/>
          <p:cNvSpPr txBox="1"/>
          <p:nvPr/>
        </p:nvSpPr>
        <p:spPr>
          <a:xfrm>
            <a:off x="658367" y="3739896"/>
            <a:ext cx="1999427" cy="274320"/>
          </a:xfrm>
          <a:prstGeom prst="rect">
            <a:avLst/>
          </a:prstGeom>
          <a:noFill/>
        </p:spPr>
        <p:txBody>
          <a:bodyPr wrap="square" lIns="0" rIns="0" tIns="0" bIns="0">
            <a:noAutofit/>
          </a:bodyPr>
          <a:lstStyle/>
          <a:p>
            <a:pPr algn="ctr"/>
            <a:r>
              <a:rPr sz="1150" b="1" i="0" lang="fr-FR" altLang="en-US">
                <a:solidFill>
                  <a:srgbClr val="1C8C68"/>
                </a:solidFill>
                <a:latin typeface="Calibri"/>
              </a:rPr>
              <a:t>M5</a:t>
            </a:r>
          </a:p>
        </p:txBody>
      </p:sp>
      <p:sp>
        <p:nvSpPr>
          <p:cNvPr id="13" name="Rounded Rectangle 12"/>
          <p:cNvSpPr/>
          <p:nvPr/>
        </p:nvSpPr>
        <p:spPr>
          <a:xfrm>
            <a:off x="2877251" y="2212848"/>
            <a:ext cx="1999427" cy="123444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14" name="TextBox 13"/>
          <p:cNvSpPr txBox="1"/>
          <p:nvPr/>
        </p:nvSpPr>
        <p:spPr>
          <a:xfrm>
            <a:off x="3005267" y="2304288"/>
            <a:ext cx="1743395" cy="274320"/>
          </a:xfrm>
          <a:prstGeom prst="rect">
            <a:avLst/>
          </a:prstGeom>
          <a:noFill/>
        </p:spPr>
        <p:txBody>
          <a:bodyPr wrap="square" lIns="0" rIns="0" tIns="0" bIns="0">
            <a:noAutofit/>
          </a:bodyPr>
          <a:lstStyle/>
          <a:p>
            <a:r>
              <a:rPr sz="1080" b="1" i="0" lang="fr-FR" altLang="en-US">
                <a:solidFill>
                  <a:srgbClr val="1B2A4A"/>
                </a:solidFill>
                <a:latin typeface="Calibri"/>
              </a:rPr>
              <a:t>Phase 2</a:t>
            </a:r>
          </a:p>
        </p:txBody>
      </p:sp>
      <p:sp>
        <p:nvSpPr>
          <p:cNvPr id="15" name="TextBox 14"/>
          <p:cNvSpPr txBox="1"/>
          <p:nvPr/>
        </p:nvSpPr>
        <p:spPr>
          <a:xfrm>
            <a:off x="3005267" y="2596896"/>
            <a:ext cx="1743395" cy="594360"/>
          </a:xfrm>
          <a:prstGeom prst="rect">
            <a:avLst/>
          </a:prstGeom>
          <a:noFill/>
        </p:spPr>
        <p:txBody>
          <a:bodyPr wrap="square" lIns="0" rIns="0" tIns="0" bIns="0" anchor="t">
            <a:noAutofit/>
          </a:bodyPr>
          <a:lstStyle/>
          <a:p>
            <a:r>
              <a:rPr sz="860" b="0" i="0" lang="fr-FR" altLang="en-US">
                <a:solidFill>
                  <a:srgbClr val="5B6B84"/>
                </a:solidFill>
                <a:latin typeface="Calibri"/>
              </a:rPr>
              <a:t>Product Development</a:t>
            </a:r>
          </a:p>
          <a:p>
            <a:r>
              <a:rPr sz="860" b="0" i="0" lang="fr-FR" altLang="en-US">
                <a:solidFill>
                  <a:srgbClr val="5B6B84"/>
                </a:solidFill>
                <a:latin typeface="Calibri"/>
              </a:rPr>
              <a:t>(reste des activités)</a:t>
            </a:r>
          </a:p>
        </p:txBody>
      </p:sp>
      <p:sp>
        <p:nvSpPr>
          <p:cNvPr id="16" name="TextBox 15"/>
          <p:cNvSpPr txBox="1"/>
          <p:nvPr/>
        </p:nvSpPr>
        <p:spPr>
          <a:xfrm>
            <a:off x="3005267" y="3154680"/>
            <a:ext cx="1743395" cy="256032"/>
          </a:xfrm>
          <a:prstGeom prst="rect">
            <a:avLst/>
          </a:prstGeom>
          <a:noFill/>
        </p:spPr>
        <p:txBody>
          <a:bodyPr wrap="square" lIns="0" rIns="0" tIns="0" bIns="0">
            <a:noAutofit/>
          </a:bodyPr>
          <a:lstStyle/>
          <a:p>
            <a:r>
              <a:rPr sz="900" b="1" i="1" lang="fr-FR" altLang="en-US">
                <a:solidFill>
                  <a:srgbClr val="1B2A4A"/>
                </a:solidFill>
                <a:latin typeface="Calibri"/>
              </a:rPr>
              <a:t>3 mois</a:t>
            </a:r>
          </a:p>
        </p:txBody>
      </p:sp>
      <p:sp>
        <p:nvSpPr>
          <p:cNvPr id="17" name="Oval 16"/>
          <p:cNvSpPr/>
          <p:nvPr/>
        </p:nvSpPr>
        <p:spPr>
          <a:xfrm>
            <a:off x="3748948" y="3465576"/>
            <a:ext cx="256032" cy="256032"/>
          </a:xfrm>
          <a:prstGeom prst="ellipse">
            <a:avLst/>
          </a:prstGeom>
          <a:solidFill>
            <a:srgbClr val="1B2A4A"/>
          </a:solidFill>
          <a:ln w="25400">
            <a:solidFill>
              <a:srgbClr val="FFFFFF"/>
            </a:solidFill>
          </a:ln>
          <a:effectLst/>
        </p:spPr>
        <p:txBody>
          <a:bodyPr rtlCol="0" anchor="ctr"/>
          <a:lstStyle/>
          <a:p>
            <a:pPr algn="ctr"/>
          </a:p>
        </p:txBody>
      </p:sp>
      <p:sp>
        <p:nvSpPr>
          <p:cNvPr id="18" name="TextBox 17"/>
          <p:cNvSpPr txBox="1"/>
          <p:nvPr/>
        </p:nvSpPr>
        <p:spPr>
          <a:xfrm>
            <a:off x="2877251" y="3739896"/>
            <a:ext cx="1999427" cy="274320"/>
          </a:xfrm>
          <a:prstGeom prst="rect">
            <a:avLst/>
          </a:prstGeom>
          <a:noFill/>
        </p:spPr>
        <p:txBody>
          <a:bodyPr wrap="square" lIns="0" rIns="0" tIns="0" bIns="0">
            <a:noAutofit/>
          </a:bodyPr>
          <a:lstStyle/>
          <a:p>
            <a:pPr algn="ctr"/>
            <a:r>
              <a:rPr sz="1150" b="1" i="0" lang="fr-FR" altLang="en-US">
                <a:solidFill>
                  <a:srgbClr val="1C8C68"/>
                </a:solidFill>
                <a:latin typeface="Calibri"/>
              </a:rPr>
              <a:t>M10</a:t>
            </a:r>
          </a:p>
        </p:txBody>
      </p:sp>
      <p:sp>
        <p:nvSpPr>
          <p:cNvPr id="19" name="Rounded Rectangle 18"/>
          <p:cNvSpPr/>
          <p:nvPr/>
        </p:nvSpPr>
        <p:spPr>
          <a:xfrm>
            <a:off x="5096134" y="2212848"/>
            <a:ext cx="1999427" cy="123444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20" name="TextBox 19"/>
          <p:cNvSpPr txBox="1"/>
          <p:nvPr/>
        </p:nvSpPr>
        <p:spPr>
          <a:xfrm>
            <a:off x="5224150" y="2304288"/>
            <a:ext cx="1743395" cy="274320"/>
          </a:xfrm>
          <a:prstGeom prst="rect">
            <a:avLst/>
          </a:prstGeom>
          <a:noFill/>
        </p:spPr>
        <p:txBody>
          <a:bodyPr wrap="square" lIns="0" rIns="0" tIns="0" bIns="0">
            <a:noAutofit/>
          </a:bodyPr>
          <a:lstStyle/>
          <a:p>
            <a:r>
              <a:rPr sz="1080" b="1" i="0" lang="fr-FR" altLang="en-US">
                <a:solidFill>
                  <a:srgbClr val="1B2A4A"/>
                </a:solidFill>
                <a:latin typeface="Calibri"/>
              </a:rPr>
              <a:t>Phase 3</a:t>
            </a:r>
          </a:p>
        </p:txBody>
      </p:sp>
      <p:sp>
        <p:nvSpPr>
          <p:cNvPr id="21" name="TextBox 20"/>
          <p:cNvSpPr txBox="1"/>
          <p:nvPr/>
        </p:nvSpPr>
        <p:spPr>
          <a:xfrm>
            <a:off x="5224150" y="2596896"/>
            <a:ext cx="1743395" cy="594360"/>
          </a:xfrm>
          <a:prstGeom prst="rect">
            <a:avLst/>
          </a:prstGeom>
          <a:noFill/>
        </p:spPr>
        <p:txBody>
          <a:bodyPr wrap="square" lIns="0" rIns="0" tIns="0" bIns="0" anchor="t">
            <a:noAutofit/>
          </a:bodyPr>
          <a:lstStyle/>
          <a:p>
            <a:r>
              <a:rPr sz="860" b="0" i="0" lang="fr-FR" altLang="en-US">
                <a:solidFill>
                  <a:srgbClr val="5B6B84"/>
                </a:solidFill>
                <a:latin typeface="Calibri"/>
              </a:rPr>
              <a:t>Marketing</a:t>
            </a:r>
          </a:p>
          <a:p>
            <a:r>
              <a:rPr sz="860" b="0" i="0" lang="fr-FR" altLang="en-US">
                <a:solidFill>
                  <a:srgbClr val="5B6B84"/>
                </a:solidFill>
                <a:latin typeface="Calibri"/>
              </a:rPr>
              <a:t>(E1 / E3 / E4)</a:t>
            </a:r>
          </a:p>
        </p:txBody>
      </p:sp>
      <p:sp>
        <p:nvSpPr>
          <p:cNvPr id="22" name="TextBox 21"/>
          <p:cNvSpPr txBox="1"/>
          <p:nvPr/>
        </p:nvSpPr>
        <p:spPr>
          <a:xfrm>
            <a:off x="5224150" y="3154680"/>
            <a:ext cx="1743395" cy="256032"/>
          </a:xfrm>
          <a:prstGeom prst="rect">
            <a:avLst/>
          </a:prstGeom>
          <a:noFill/>
        </p:spPr>
        <p:txBody>
          <a:bodyPr wrap="square" lIns="0" rIns="0" tIns="0" bIns="0">
            <a:noAutofit/>
          </a:bodyPr>
          <a:lstStyle/>
          <a:p>
            <a:r>
              <a:rPr sz="900" b="1" i="1" lang="fr-FR" altLang="en-US">
                <a:solidFill>
                  <a:srgbClr val="1B2A4A"/>
                </a:solidFill>
                <a:latin typeface="Calibri"/>
              </a:rPr>
              <a:t>3 mois</a:t>
            </a:r>
          </a:p>
        </p:txBody>
      </p:sp>
      <p:sp>
        <p:nvSpPr>
          <p:cNvPr id="23" name="Oval 22"/>
          <p:cNvSpPr/>
          <p:nvPr/>
        </p:nvSpPr>
        <p:spPr>
          <a:xfrm>
            <a:off x="5967831" y="3465576"/>
            <a:ext cx="256032" cy="256032"/>
          </a:xfrm>
          <a:prstGeom prst="ellipse">
            <a:avLst/>
          </a:prstGeom>
          <a:solidFill>
            <a:srgbClr val="1B2A4A"/>
          </a:solidFill>
          <a:ln w="25400">
            <a:solidFill>
              <a:srgbClr val="FFFFFF"/>
            </a:solidFill>
          </a:ln>
          <a:effectLst/>
        </p:spPr>
        <p:txBody>
          <a:bodyPr rtlCol="0" anchor="ctr"/>
          <a:lstStyle/>
          <a:p>
            <a:pPr algn="ctr"/>
          </a:p>
        </p:txBody>
      </p:sp>
      <p:sp>
        <p:nvSpPr>
          <p:cNvPr id="24" name="TextBox 23"/>
          <p:cNvSpPr txBox="1"/>
          <p:nvPr/>
        </p:nvSpPr>
        <p:spPr>
          <a:xfrm>
            <a:off x="5096134" y="3739896"/>
            <a:ext cx="1999427" cy="274320"/>
          </a:xfrm>
          <a:prstGeom prst="rect">
            <a:avLst/>
          </a:prstGeom>
          <a:noFill/>
        </p:spPr>
        <p:txBody>
          <a:bodyPr wrap="square" lIns="0" rIns="0" tIns="0" bIns="0">
            <a:noAutofit/>
          </a:bodyPr>
          <a:lstStyle/>
          <a:p>
            <a:pPr algn="ctr"/>
            <a:r>
              <a:rPr sz="1150" b="1" i="0" lang="fr-FR" altLang="en-US">
                <a:solidFill>
                  <a:srgbClr val="1C8C68"/>
                </a:solidFill>
                <a:latin typeface="Calibri"/>
              </a:rPr>
              <a:t>M15</a:t>
            </a:r>
          </a:p>
        </p:txBody>
      </p:sp>
      <p:sp>
        <p:nvSpPr>
          <p:cNvPr id="25" name="Rounded Rectangle 24"/>
          <p:cNvSpPr/>
          <p:nvPr/>
        </p:nvSpPr>
        <p:spPr>
          <a:xfrm>
            <a:off x="7315017" y="2212848"/>
            <a:ext cx="1999427" cy="123444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26" name="TextBox 25"/>
          <p:cNvSpPr txBox="1"/>
          <p:nvPr/>
        </p:nvSpPr>
        <p:spPr>
          <a:xfrm>
            <a:off x="7443033" y="2304288"/>
            <a:ext cx="1743395" cy="274320"/>
          </a:xfrm>
          <a:prstGeom prst="rect">
            <a:avLst/>
          </a:prstGeom>
          <a:noFill/>
        </p:spPr>
        <p:txBody>
          <a:bodyPr wrap="square" lIns="0" rIns="0" tIns="0" bIns="0">
            <a:noAutofit/>
          </a:bodyPr>
          <a:lstStyle/>
          <a:p>
            <a:r>
              <a:rPr sz="1080" b="1" i="0" lang="fr-FR" altLang="en-US">
                <a:solidFill>
                  <a:srgbClr val="1B2A4A"/>
                </a:solidFill>
                <a:latin typeface="Calibri"/>
              </a:rPr>
              <a:t>Phase 4</a:t>
            </a:r>
          </a:p>
        </p:txBody>
      </p:sp>
      <p:sp>
        <p:nvSpPr>
          <p:cNvPr id="27" name="TextBox 26"/>
          <p:cNvSpPr txBox="1"/>
          <p:nvPr/>
        </p:nvSpPr>
        <p:spPr>
          <a:xfrm>
            <a:off x="7443033" y="2596896"/>
            <a:ext cx="1743395" cy="594360"/>
          </a:xfrm>
          <a:prstGeom prst="rect">
            <a:avLst/>
          </a:prstGeom>
          <a:noFill/>
        </p:spPr>
        <p:txBody>
          <a:bodyPr wrap="square" lIns="0" rIns="0" tIns="0" bIns="0" anchor="t">
            <a:noAutofit/>
          </a:bodyPr>
          <a:lstStyle/>
          <a:p>
            <a:r>
              <a:rPr sz="860" b="0" i="0" lang="fr-FR" altLang="en-US">
                <a:solidFill>
                  <a:srgbClr val="5B6B84"/>
                </a:solidFill>
                <a:latin typeface="Calibri"/>
              </a:rPr>
              <a:t>Content Curation</a:t>
            </a:r>
          </a:p>
          <a:p>
            <a:r>
              <a:rPr sz="860" b="0" i="0" lang="fr-FR" altLang="en-US">
                <a:solidFill>
                  <a:srgbClr val="5B6B84"/>
                </a:solidFill>
                <a:latin typeface="Calibri"/>
              </a:rPr>
              <a:t>(E2 / métadonnées)</a:t>
            </a:r>
          </a:p>
        </p:txBody>
      </p:sp>
      <p:sp>
        <p:nvSpPr>
          <p:cNvPr id="28" name="TextBox 27"/>
          <p:cNvSpPr txBox="1"/>
          <p:nvPr/>
        </p:nvSpPr>
        <p:spPr>
          <a:xfrm>
            <a:off x="7443033" y="3154680"/>
            <a:ext cx="1743395" cy="256032"/>
          </a:xfrm>
          <a:prstGeom prst="rect">
            <a:avLst/>
          </a:prstGeom>
          <a:noFill/>
        </p:spPr>
        <p:txBody>
          <a:bodyPr wrap="square" lIns="0" rIns="0" tIns="0" bIns="0">
            <a:noAutofit/>
          </a:bodyPr>
          <a:lstStyle/>
          <a:p>
            <a:r>
              <a:rPr sz="900" b="1" i="1" lang="fr-FR" altLang="en-US">
                <a:solidFill>
                  <a:srgbClr val="1B2A4A"/>
                </a:solidFill>
                <a:latin typeface="Calibri"/>
              </a:rPr>
              <a:t>3 mois</a:t>
            </a:r>
          </a:p>
        </p:txBody>
      </p:sp>
      <p:sp>
        <p:nvSpPr>
          <p:cNvPr id="29" name="Oval 28"/>
          <p:cNvSpPr/>
          <p:nvPr/>
        </p:nvSpPr>
        <p:spPr>
          <a:xfrm>
            <a:off x="8186714" y="3465576"/>
            <a:ext cx="256032" cy="256032"/>
          </a:xfrm>
          <a:prstGeom prst="ellipse">
            <a:avLst/>
          </a:prstGeom>
          <a:solidFill>
            <a:srgbClr val="1B2A4A"/>
          </a:solidFill>
          <a:ln w="25400">
            <a:solidFill>
              <a:srgbClr val="FFFFFF"/>
            </a:solidFill>
          </a:ln>
          <a:effectLst/>
        </p:spPr>
        <p:txBody>
          <a:bodyPr rtlCol="0" anchor="ctr"/>
          <a:lstStyle/>
          <a:p>
            <a:pPr algn="ctr"/>
          </a:p>
        </p:txBody>
      </p:sp>
      <p:sp>
        <p:nvSpPr>
          <p:cNvPr id="30" name="TextBox 29"/>
          <p:cNvSpPr txBox="1"/>
          <p:nvPr/>
        </p:nvSpPr>
        <p:spPr>
          <a:xfrm>
            <a:off x="7315017" y="3739896"/>
            <a:ext cx="1999427" cy="274320"/>
          </a:xfrm>
          <a:prstGeom prst="rect">
            <a:avLst/>
          </a:prstGeom>
          <a:noFill/>
        </p:spPr>
        <p:txBody>
          <a:bodyPr wrap="square" lIns="0" rIns="0" tIns="0" bIns="0">
            <a:noAutofit/>
          </a:bodyPr>
          <a:lstStyle/>
          <a:p>
            <a:pPr algn="ctr"/>
            <a:r>
              <a:rPr sz="1150" b="1" i="0" lang="fr-FR" altLang="en-US">
                <a:solidFill>
                  <a:srgbClr val="1C8C68"/>
                </a:solidFill>
                <a:latin typeface="Calibri"/>
              </a:rPr>
              <a:t>M20</a:t>
            </a:r>
          </a:p>
        </p:txBody>
      </p:sp>
      <p:sp>
        <p:nvSpPr>
          <p:cNvPr id="31" name="Rounded Rectangle 30"/>
          <p:cNvSpPr/>
          <p:nvPr/>
        </p:nvSpPr>
        <p:spPr>
          <a:xfrm>
            <a:off x="9533900" y="2212848"/>
            <a:ext cx="1999427" cy="1234440"/>
          </a:xfrm>
          <a:prstGeom prst="roundRect">
            <a:avLst>
              <a:gd name="adj" fmla="val 8000"/>
            </a:avLst>
          </a:prstGeom>
          <a:solidFill>
            <a:srgbClr val="EAF7F1"/>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32" name="TextBox 31"/>
          <p:cNvSpPr txBox="1"/>
          <p:nvPr/>
        </p:nvSpPr>
        <p:spPr>
          <a:xfrm>
            <a:off x="9661916" y="2304288"/>
            <a:ext cx="1743395" cy="274320"/>
          </a:xfrm>
          <a:prstGeom prst="rect">
            <a:avLst/>
          </a:prstGeom>
          <a:noFill/>
        </p:spPr>
        <p:txBody>
          <a:bodyPr wrap="square" lIns="0" rIns="0" tIns="0" bIns="0">
            <a:noAutofit/>
          </a:bodyPr>
          <a:lstStyle/>
          <a:p>
            <a:r>
              <a:rPr sz="1080" b="1" i="0" lang="fr-FR" altLang="en-US">
                <a:solidFill>
                  <a:srgbClr val="1C8C68"/>
                </a:solidFill>
                <a:latin typeface="Calibri"/>
              </a:rPr>
              <a:t>Consolidation</a:t>
            </a:r>
          </a:p>
        </p:txBody>
      </p:sp>
      <p:sp>
        <p:nvSpPr>
          <p:cNvPr id="33" name="TextBox 32"/>
          <p:cNvSpPr txBox="1"/>
          <p:nvPr/>
        </p:nvSpPr>
        <p:spPr>
          <a:xfrm>
            <a:off x="9661916" y="2596896"/>
            <a:ext cx="1743395" cy="594360"/>
          </a:xfrm>
          <a:prstGeom prst="rect">
            <a:avLst/>
          </a:prstGeom>
          <a:noFill/>
        </p:spPr>
        <p:txBody>
          <a:bodyPr wrap="square" lIns="0" rIns="0" tIns="0" bIns="0" anchor="t">
            <a:noAutofit/>
          </a:bodyPr>
          <a:lstStyle/>
          <a:p>
            <a:r>
              <a:rPr sz="860" b="0" i="0" lang="fr-FR" altLang="en-US">
                <a:solidFill>
                  <a:srgbClr val="5B6B84"/>
                </a:solidFill>
                <a:latin typeface="Calibri"/>
              </a:rPr>
              <a:t>Ensemble des départements</a:t>
            </a:r>
          </a:p>
          <a:p>
            <a:r>
              <a:rPr sz="860" b="0" i="0" lang="fr-FR" altLang="en-US">
                <a:solidFill>
                  <a:srgbClr val="5B6B84"/>
                </a:solidFill>
                <a:latin typeface="Calibri"/>
              </a:rPr>
              <a:t>Niveau 3 généralisé</a:t>
            </a:r>
          </a:p>
        </p:txBody>
      </p:sp>
      <p:sp>
        <p:nvSpPr>
          <p:cNvPr id="34" name="TextBox 33"/>
          <p:cNvSpPr txBox="1"/>
          <p:nvPr/>
        </p:nvSpPr>
        <p:spPr>
          <a:xfrm>
            <a:off x="9661916" y="3154680"/>
            <a:ext cx="1743395" cy="256032"/>
          </a:xfrm>
          <a:prstGeom prst="rect">
            <a:avLst/>
          </a:prstGeom>
          <a:noFill/>
        </p:spPr>
        <p:txBody>
          <a:bodyPr wrap="square" lIns="0" rIns="0" tIns="0" bIns="0">
            <a:noAutofit/>
          </a:bodyPr>
          <a:lstStyle/>
          <a:p>
            <a:r>
              <a:rPr sz="900" b="1" i="1" lang="fr-FR" altLang="en-US">
                <a:solidFill>
                  <a:srgbClr val="1B2A4A"/>
                </a:solidFill>
                <a:latin typeface="Calibri"/>
              </a:rPr>
              <a:t>-</a:t>
            </a:r>
          </a:p>
        </p:txBody>
      </p:sp>
      <p:sp>
        <p:nvSpPr>
          <p:cNvPr id="35" name="Oval 34"/>
          <p:cNvSpPr/>
          <p:nvPr/>
        </p:nvSpPr>
        <p:spPr>
          <a:xfrm>
            <a:off x="10405597" y="3465576"/>
            <a:ext cx="256032" cy="256032"/>
          </a:xfrm>
          <a:prstGeom prst="ellipse">
            <a:avLst/>
          </a:prstGeom>
          <a:solidFill>
            <a:srgbClr val="2DBE8C"/>
          </a:solidFill>
          <a:ln w="25400">
            <a:solidFill>
              <a:srgbClr val="FFFFFF"/>
            </a:solidFill>
          </a:ln>
          <a:effectLst/>
        </p:spPr>
        <p:txBody>
          <a:bodyPr rtlCol="0" anchor="ctr"/>
          <a:lstStyle/>
          <a:p>
            <a:pPr algn="ctr"/>
          </a:p>
        </p:txBody>
      </p:sp>
      <p:sp>
        <p:nvSpPr>
          <p:cNvPr id="36" name="TextBox 35"/>
          <p:cNvSpPr txBox="1"/>
          <p:nvPr/>
        </p:nvSpPr>
        <p:spPr>
          <a:xfrm>
            <a:off x="9533900" y="3739896"/>
            <a:ext cx="1999427" cy="274320"/>
          </a:xfrm>
          <a:prstGeom prst="rect">
            <a:avLst/>
          </a:prstGeom>
          <a:noFill/>
        </p:spPr>
        <p:txBody>
          <a:bodyPr wrap="square" lIns="0" rIns="0" tIns="0" bIns="0">
            <a:noAutofit/>
          </a:bodyPr>
          <a:lstStyle/>
          <a:p>
            <a:pPr algn="ctr"/>
            <a:r>
              <a:rPr sz="1150" b="1" i="0" lang="fr-FR" altLang="en-US">
                <a:solidFill>
                  <a:srgbClr val="1C8C68"/>
                </a:solidFill>
                <a:latin typeface="Calibri"/>
              </a:rPr>
              <a:t>M22-M24</a:t>
            </a:r>
          </a:p>
        </p:txBody>
      </p:sp>
      <p:sp>
        <p:nvSpPr>
          <p:cNvPr id="37" name="TextBox 36"/>
          <p:cNvSpPr txBox="1"/>
          <p:nvPr/>
        </p:nvSpPr>
        <p:spPr>
          <a:xfrm>
            <a:off x="548640" y="4041648"/>
            <a:ext cx="11091672" cy="384048"/>
          </a:xfrm>
          <a:prstGeom prst="rect">
            <a:avLst/>
          </a:prstGeom>
          <a:noFill/>
        </p:spPr>
        <p:txBody>
          <a:bodyPr wrap="square" lIns="0" rIns="0" tIns="0" bIns="0" anchor="t">
            <a:noAutofit/>
          </a:bodyPr>
          <a:lstStyle/>
          <a:p>
            <a:r>
              <a:rPr sz="900" b="0" i="1" lang="fr-FR" altLang="en-US">
                <a:solidFill>
                  <a:srgbClr val="5B6B84"/>
                </a:solidFill>
                <a:latin typeface="Calibri"/>
              </a:rPr>
              <a:t>Ce séquencement atteint la borne haute de la fourchette de référence [R11, Q7] (15-24 mois) - un compromis assumé : la rigueur de sécurisation et les marges renforcées coûtent du temps, jusqu'à la limite de ce que la référence exécutive considère acceptable.</a:t>
            </a:r>
          </a:p>
        </p:txBody>
      </p:sp>
      <p:sp>
        <p:nvSpPr>
          <p:cNvPr id="38" name="Rounded Rectangle 37"/>
          <p:cNvSpPr/>
          <p:nvPr/>
        </p:nvSpPr>
        <p:spPr>
          <a:xfrm>
            <a:off x="548640" y="4498848"/>
            <a:ext cx="11091672" cy="530352"/>
          </a:xfrm>
          <a:prstGeom prst="roundRect">
            <a:avLst>
              <a:gd name="adj" fmla="val 8000"/>
            </a:avLst>
          </a:prstGeom>
          <a:solidFill>
            <a:srgbClr val="F7F8FA"/>
          </a:solidFill>
          <a:ln w="9525">
            <a:solidFill>
              <a:srgbClr val="D8DEE6"/>
            </a:solidFill>
          </a:ln>
          <a:effectLst/>
        </p:spPr>
        <p:txBody>
          <a:bodyPr rtlCol="0" anchor="ctr"/>
          <a:lstStyle/>
          <a:p>
            <a:pPr algn="ctr"/>
          </a:p>
        </p:txBody>
      </p:sp>
      <p:sp>
        <p:nvSpPr>
          <p:cNvPr id="39" name="TextBox 38"/>
          <p:cNvSpPr txBox="1"/>
          <p:nvPr/>
        </p:nvSpPr>
        <p:spPr>
          <a:xfrm>
            <a:off x="777240" y="4498848"/>
            <a:ext cx="10607040" cy="530352"/>
          </a:xfrm>
          <a:prstGeom prst="rect">
            <a:avLst/>
          </a:prstGeom>
          <a:noFill/>
        </p:spPr>
        <p:txBody>
          <a:bodyPr wrap="square" lIns="0" rIns="0" tIns="0" bIns="0" anchor="ctr">
            <a:noAutofit/>
          </a:bodyPr>
          <a:lstStyle/>
          <a:p>
            <a:r>
              <a:rPr sz="900" b="0" i="0" lang="fr-FR" altLang="en-US">
                <a:solidFill>
                  <a:srgbClr val="1B2A4A"/>
                </a:solidFill>
                <a:latin typeface="Calibri"/>
              </a:rPr>
              <a:t>Passage à l'échelle non automatique : chaque dispositif (double rattachement, recouvrement Soda Core/OpenMetadata, connecteur Collibra, seuils de classification, déploiement incrémental Collibra/RoPA) reçoit une décision feu vert / orange / rouge, adossée aux KPIs et aux risques du pilote.</a:t>
            </a:r>
          </a:p>
        </p:txBody>
      </p:sp>
      <p:sp>
        <p:nvSpPr>
          <p:cNvPr id="40" name="TextBox 39"/>
          <p:cNvSpPr txBox="1"/>
          <p:nvPr/>
        </p:nvSpPr>
        <p:spPr>
          <a:xfrm>
            <a:off x="548640" y="5138928"/>
            <a:ext cx="11091672" cy="237744"/>
          </a:xfrm>
          <a:prstGeom prst="rect">
            <a:avLst/>
          </a:prstGeom>
          <a:noFill/>
        </p:spPr>
        <p:txBody>
          <a:bodyPr wrap="square" lIns="0" rIns="0" tIns="0" bIns="0">
            <a:noAutofit/>
          </a:bodyPr>
          <a:lstStyle/>
          <a:p>
            <a:r>
              <a:rPr sz="980" b="1" i="0" lang="fr-FR" altLang="en-US">
                <a:solidFill>
                  <a:srgbClr val="1C8C68"/>
                </a:solidFill>
                <a:latin typeface="Calibri"/>
              </a:rPr>
              <a:t>Ajustements attendus au cadre de gouvernance [D3 §3.G.3] :</a:t>
            </a:r>
          </a:p>
        </p:txBody>
      </p:sp>
      <p:sp>
        <p:nvSpPr>
          <p:cNvPr id="41" name="TextBox 40"/>
          <p:cNvSpPr txBox="1"/>
          <p:nvPr/>
        </p:nvSpPr>
        <p:spPr>
          <a:xfrm>
            <a:off x="548640" y="5394960"/>
            <a:ext cx="11091672" cy="548640"/>
          </a:xfrm>
          <a:prstGeom prst="rect">
            <a:avLst/>
          </a:prstGeom>
          <a:noFill/>
        </p:spPr>
        <p:txBody>
          <a:bodyPr wrap="square" lIns="0" rIns="0" tIns="0" bIns="0" anchor="t">
            <a:noAutofit/>
          </a:bodyPr>
          <a:lstStyle/>
          <a:p>
            <a:r>
              <a:rPr sz="900" b="0" i="0" lang="fr-FR" altLang="en-US">
                <a:solidFill>
                  <a:srgbClr val="1B2A4A"/>
                </a:solidFill>
                <a:latin typeface="Calibri"/>
              </a:rPr>
              <a:t>intégration formelle de l'amendement de proportionnalité dans [D21]/[D22] - révision du tableau d'outils sur les 2 lignes testées - TCO complet une fois un historique d'exploitation disponible - validation séparée de la couverture DSAR par DPO/Legal avant la Phase 3 - procédure documentée de l'extension légère de sécurisation par département.</a:t>
            </a:r>
          </a:p>
        </p:txBody>
      </p:sp>
      <p:sp>
        <p:nvSpPr>
          <p:cNvPr id="42" name="TextBox 41"/>
          <p:cNvSpPr txBox="1"/>
          <p:nvPr/>
        </p:nvSpPr>
        <p:spPr>
          <a:xfrm>
            <a:off x="548640" y="5989320"/>
            <a:ext cx="11091672" cy="320040"/>
          </a:xfrm>
          <a:prstGeom prst="rect">
            <a:avLst/>
          </a:prstGeom>
          <a:noFill/>
        </p:spPr>
        <p:txBody>
          <a:bodyPr wrap="square" lIns="0" rIns="0" tIns="0" bIns="0">
            <a:noAutofit/>
          </a:bodyPr>
          <a:lstStyle/>
          <a:p>
            <a:r>
              <a:rPr sz="880" b="0" i="1" lang="fr-FR" altLang="en-US">
                <a:solidFill>
                  <a:srgbClr val="8493A8"/>
                </a:solidFill>
                <a:latin typeface="Calibri"/>
              </a:rPr>
              <a:t>Chaque jalon de phase est un point de réévaluation, pas un engagement figé - conformément au principe d'amélioration continue (P9).</a:t>
            </a:r>
          </a:p>
        </p:txBody>
      </p:sp>
      <p:sp>
        <p:nvSpPr>
          <p:cNvPr id="43" name="TextBox 42"/>
          <p:cNvSpPr txBox="1"/>
          <p:nvPr/>
        </p:nvSpPr>
        <p:spPr>
          <a:xfrm>
            <a:off x="548640" y="6473952"/>
            <a:ext cx="8686800" cy="274320"/>
          </a:xfrm>
          <a:prstGeom prst="rect">
            <a:avLst/>
          </a:prstGeom>
          <a:noFill/>
        </p:spPr>
        <p:txBody>
          <a:bodyPr wrap="square" lIns="0" rIns="0" tIns="0" bIns="0">
            <a:noAutofit/>
          </a:bodyPr>
          <a:lstStyle/>
          <a:p>
            <a:r>
              <a:rPr sz="950" b="0" i="1" lang="fr-FR" altLang="en-US">
                <a:solidFill>
                  <a:srgbClr val="8493A8"/>
                </a:solidFill>
                <a:latin typeface="Calibri"/>
              </a:rPr>
              <a:t>Source : [D3] §3.6, annexes 3.G</a:t>
            </a:r>
          </a:p>
        </p:txBody>
      </p:sp>
      <p:sp>
        <p:nvSpPr>
          <p:cNvPr id="44" name="TextBox 43"/>
          <p:cNvSpPr txBox="1"/>
          <p:nvPr/>
        </p:nvSpPr>
        <p:spPr>
          <a:xfrm>
            <a:off x="11002975" y="6473952"/>
            <a:ext cx="822960" cy="274320"/>
          </a:xfrm>
          <a:prstGeom prst="rect">
            <a:avLst/>
          </a:prstGeom>
          <a:noFill/>
        </p:spPr>
        <p:txBody>
          <a:bodyPr wrap="square" lIns="0" rIns="0" tIns="0" bIns="0">
            <a:noAutofit/>
          </a:bodyPr>
          <a:lstStyle/>
          <a:p>
            <a:pPr algn="r"/>
            <a:r>
              <a:rPr sz="950" b="0" i="0" lang="fr-FR" altLang="en-US">
                <a:solidFill>
                  <a:srgbClr val="8493A8"/>
                </a:solidFill>
                <a:latin typeface="Calibri"/>
              </a:rPr>
              <a:t>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548640" y="384048"/>
            <a:ext cx="7315200" cy="292608"/>
          </a:xfrm>
          <a:prstGeom prst="rect">
            <a:avLst/>
          </a:prstGeom>
          <a:noFill/>
        </p:spPr>
        <p:txBody>
          <a:bodyPr wrap="square" lIns="0" rIns="0" tIns="0" bIns="0">
            <a:noAutofit/>
          </a:bodyPr>
          <a:lstStyle/>
          <a:p>
            <a:r>
              <a:rPr sz="1200" b="1" i="0" spc="200" lang="fr-FR" altLang="en-US">
                <a:solidFill>
                  <a:srgbClr val="2DBE8C"/>
                </a:solidFill>
                <a:latin typeface="Calibri"/>
              </a:rPr>
              <a:t>VALEUR &amp; PROCHAINES ÉTAPES</a:t>
            </a:r>
          </a:p>
        </p:txBody>
      </p:sp>
      <p:sp>
        <p:nvSpPr>
          <p:cNvPr id="3" name="TextBox 2"/>
          <p:cNvSpPr txBox="1"/>
          <p:nvPr/>
        </p:nvSpPr>
        <p:spPr>
          <a:xfrm>
            <a:off x="548640" y="658368"/>
            <a:ext cx="9692640" cy="868680"/>
          </a:xfrm>
          <a:prstGeom prst="rect">
            <a:avLst/>
          </a:prstGeom>
          <a:noFill/>
        </p:spPr>
        <p:txBody>
          <a:bodyPr wrap="square" lIns="0" rIns="0" tIns="0" bIns="0" anchor="t">
            <a:noAutofit/>
          </a:bodyPr>
          <a:lstStyle/>
          <a:p>
            <a:pPr>
              <a:lnSpc>
                <a:spcPct val="102000"/>
              </a:lnSpc>
            </a:pPr>
            <a:r>
              <a:rPr sz="2800" b="1" i="0" lang="fr-FR" altLang="en-US">
                <a:solidFill>
                  <a:srgbClr val="FFFFFF"/>
                </a:solidFill>
                <a:latin typeface="Cambria"/>
              </a:rPr>
              <a:t>Une gouvernance qui protège la confiance et soutient la croissance</a:t>
            </a:r>
          </a:p>
        </p:txBody>
      </p:sp>
      <p:pic>
        <p:nvPicPr>
          <p:cNvPr id="4" name="Picture 3" descr="icon_flag.png"/>
          <p:cNvPicPr>
            <a:picLocks noChangeAspect="1"/>
          </p:cNvPicPr>
          <p:nvPr/>
        </p:nvPicPr>
        <p:blipFill>
          <a:blip r:embed="rId2"/>
          <a:stretch>
            <a:fillRect/>
          </a:stretch>
        </p:blipFill>
        <p:spPr>
          <a:xfrm>
            <a:off x="11140135" y="365760"/>
            <a:ext cx="658368" cy="658368"/>
          </a:xfrm>
          <a:prstGeom prst="rect">
            <a:avLst/>
          </a:prstGeom>
        </p:spPr>
      </p:pic>
      <p:pic>
        <p:nvPicPr>
          <p:cNvPr id="5" name="Picture 4" descr="icon_check_white.png"/>
          <p:cNvPicPr>
            <a:picLocks noChangeAspect="1"/>
          </p:cNvPicPr>
          <p:nvPr/>
        </p:nvPicPr>
        <p:blipFill>
          <a:blip r:embed="rId3"/>
          <a:stretch>
            <a:fillRect/>
          </a:stretch>
        </p:blipFill>
        <p:spPr>
          <a:xfrm>
            <a:off x="1531620" y="1783080"/>
            <a:ext cx="640080" cy="640080"/>
          </a:xfrm>
          <a:prstGeom prst="rect">
            <a:avLst/>
          </a:prstGeom>
        </p:spPr>
      </p:pic>
      <p:sp>
        <p:nvSpPr>
          <p:cNvPr id="6" name="TextBox 5"/>
          <p:cNvSpPr txBox="1"/>
          <p:nvPr/>
        </p:nvSpPr>
        <p:spPr>
          <a:xfrm>
            <a:off x="548640" y="2560320"/>
            <a:ext cx="2606040" cy="320040"/>
          </a:xfrm>
          <a:prstGeom prst="rect">
            <a:avLst/>
          </a:prstGeom>
          <a:noFill/>
        </p:spPr>
        <p:txBody>
          <a:bodyPr wrap="square" lIns="0" rIns="0" tIns="0" bIns="0">
            <a:noAutofit/>
          </a:bodyPr>
          <a:lstStyle/>
          <a:p>
            <a:pPr algn="ctr"/>
            <a:r>
              <a:rPr sz="1500" b="1" i="0" lang="fr-FR" altLang="en-US">
                <a:solidFill>
                  <a:srgbClr val="FFFFFF"/>
                </a:solidFill>
                <a:latin typeface="Calibri"/>
              </a:rPr>
              <a:t>Économies</a:t>
            </a:r>
          </a:p>
        </p:txBody>
      </p:sp>
      <p:sp>
        <p:nvSpPr>
          <p:cNvPr id="7" name="TextBox 6"/>
          <p:cNvSpPr txBox="1"/>
          <p:nvPr/>
        </p:nvSpPr>
        <p:spPr>
          <a:xfrm>
            <a:off x="548640" y="2880360"/>
            <a:ext cx="2606040" cy="914400"/>
          </a:xfrm>
          <a:prstGeom prst="rect">
            <a:avLst/>
          </a:prstGeom>
          <a:noFill/>
        </p:spPr>
        <p:txBody>
          <a:bodyPr wrap="square" lIns="0" rIns="0" tIns="0" bIns="0" anchor="t">
            <a:noAutofit/>
          </a:bodyPr>
          <a:lstStyle/>
          <a:p>
            <a:pPr algn="ctr"/>
            <a:r>
              <a:rPr sz="1050" b="0" i="0" lang="fr-FR" altLang="en-US">
                <a:solidFill>
                  <a:srgbClr val="CADCFC"/>
                </a:solidFill>
                <a:latin typeface="Calibri"/>
              </a:rPr>
              <a:t>Réduction des inefficiences liées à une donnée de mauvaise qualité</a:t>
            </a:r>
          </a:p>
        </p:txBody>
      </p:sp>
      <p:pic>
        <p:nvPicPr>
          <p:cNvPr id="8" name="Picture 7" descr="icon_lock.png"/>
          <p:cNvPicPr>
            <a:picLocks noChangeAspect="1"/>
          </p:cNvPicPr>
          <p:nvPr/>
        </p:nvPicPr>
        <p:blipFill>
          <a:blip r:embed="rId4"/>
          <a:stretch>
            <a:fillRect/>
          </a:stretch>
        </p:blipFill>
        <p:spPr>
          <a:xfrm>
            <a:off x="4393692" y="1783080"/>
            <a:ext cx="640080" cy="640080"/>
          </a:xfrm>
          <a:prstGeom prst="rect">
            <a:avLst/>
          </a:prstGeom>
        </p:spPr>
      </p:pic>
      <p:sp>
        <p:nvSpPr>
          <p:cNvPr id="9" name="TextBox 8"/>
          <p:cNvSpPr txBox="1"/>
          <p:nvPr/>
        </p:nvSpPr>
        <p:spPr>
          <a:xfrm>
            <a:off x="3410712" y="2560320"/>
            <a:ext cx="2606040" cy="320040"/>
          </a:xfrm>
          <a:prstGeom prst="rect">
            <a:avLst/>
          </a:prstGeom>
          <a:noFill/>
        </p:spPr>
        <p:txBody>
          <a:bodyPr wrap="square" lIns="0" rIns="0" tIns="0" bIns="0">
            <a:noAutofit/>
          </a:bodyPr>
          <a:lstStyle/>
          <a:p>
            <a:pPr algn="ctr"/>
            <a:r>
              <a:rPr sz="1500" b="1" i="0" lang="fr-FR" altLang="en-US">
                <a:solidFill>
                  <a:srgbClr val="FFFFFF"/>
                </a:solidFill>
                <a:latin typeface="Calibri"/>
              </a:rPr>
              <a:t>Conformité</a:t>
            </a:r>
          </a:p>
        </p:txBody>
      </p:sp>
      <p:sp>
        <p:nvSpPr>
          <p:cNvPr id="10" name="TextBox 9"/>
          <p:cNvSpPr txBox="1"/>
          <p:nvPr/>
        </p:nvSpPr>
        <p:spPr>
          <a:xfrm>
            <a:off x="3410712" y="2880360"/>
            <a:ext cx="2606040" cy="914400"/>
          </a:xfrm>
          <a:prstGeom prst="rect">
            <a:avLst/>
          </a:prstGeom>
          <a:noFill/>
        </p:spPr>
        <p:txBody>
          <a:bodyPr wrap="square" lIns="0" rIns="0" tIns="0" bIns="0" anchor="t">
            <a:noAutofit/>
          </a:bodyPr>
          <a:lstStyle/>
          <a:p>
            <a:pPr algn="ctr"/>
            <a:r>
              <a:rPr sz="1050" b="0" i="0" lang="fr-FR" altLang="en-US">
                <a:solidFill>
                  <a:srgbClr val="CADCFC"/>
                </a:solidFill>
                <a:latin typeface="Calibri"/>
              </a:rPr>
              <a:t>Éviter les sanctions GDPR/CCPA (jusqu'à 4% du CA mondial)</a:t>
            </a:r>
          </a:p>
        </p:txBody>
      </p:sp>
      <p:pic>
        <p:nvPicPr>
          <p:cNvPr id="11" name="Picture 10" descr="icon_shield.png"/>
          <p:cNvPicPr>
            <a:picLocks noChangeAspect="1"/>
          </p:cNvPicPr>
          <p:nvPr/>
        </p:nvPicPr>
        <p:blipFill>
          <a:blip r:embed="rId5"/>
          <a:stretch>
            <a:fillRect/>
          </a:stretch>
        </p:blipFill>
        <p:spPr>
          <a:xfrm>
            <a:off x="7255764" y="1783080"/>
            <a:ext cx="640080" cy="640080"/>
          </a:xfrm>
          <a:prstGeom prst="rect">
            <a:avLst/>
          </a:prstGeom>
        </p:spPr>
      </p:pic>
      <p:sp>
        <p:nvSpPr>
          <p:cNvPr id="12" name="TextBox 11"/>
          <p:cNvSpPr txBox="1"/>
          <p:nvPr/>
        </p:nvSpPr>
        <p:spPr>
          <a:xfrm>
            <a:off x="6272783" y="2560320"/>
            <a:ext cx="2606040" cy="320040"/>
          </a:xfrm>
          <a:prstGeom prst="rect">
            <a:avLst/>
          </a:prstGeom>
          <a:noFill/>
        </p:spPr>
        <p:txBody>
          <a:bodyPr wrap="square" lIns="0" rIns="0" tIns="0" bIns="0">
            <a:noAutofit/>
          </a:bodyPr>
          <a:lstStyle/>
          <a:p>
            <a:pPr algn="ctr"/>
            <a:r>
              <a:rPr sz="1500" b="1" i="0" lang="fr-FR" altLang="en-US">
                <a:solidFill>
                  <a:srgbClr val="FFFFFF"/>
                </a:solidFill>
                <a:latin typeface="Calibri"/>
              </a:rPr>
              <a:t>Confiance</a:t>
            </a:r>
          </a:p>
        </p:txBody>
      </p:sp>
      <p:sp>
        <p:nvSpPr>
          <p:cNvPr id="13" name="TextBox 12"/>
          <p:cNvSpPr txBox="1"/>
          <p:nvPr/>
        </p:nvSpPr>
        <p:spPr>
          <a:xfrm>
            <a:off x="6272783" y="2880360"/>
            <a:ext cx="2606040" cy="914400"/>
          </a:xfrm>
          <a:prstGeom prst="rect">
            <a:avLst/>
          </a:prstGeom>
          <a:noFill/>
        </p:spPr>
        <p:txBody>
          <a:bodyPr wrap="square" lIns="0" rIns="0" tIns="0" bIns="0" anchor="t">
            <a:noAutofit/>
          </a:bodyPr>
          <a:lstStyle/>
          <a:p>
            <a:pPr algn="ctr"/>
            <a:r>
              <a:rPr sz="1050" b="0" i="0" lang="fr-FR" altLang="en-US">
                <a:solidFill>
                  <a:srgbClr val="CADCFC"/>
                </a:solidFill>
                <a:latin typeface="Calibri"/>
              </a:rPr>
              <a:t>Transparence et sécurité renforcées auprès des utilisateurs</a:t>
            </a:r>
          </a:p>
        </p:txBody>
      </p:sp>
      <p:pic>
        <p:nvPicPr>
          <p:cNvPr id="14" name="Picture 13" descr="icon_globe.png"/>
          <p:cNvPicPr>
            <a:picLocks noChangeAspect="1"/>
          </p:cNvPicPr>
          <p:nvPr/>
        </p:nvPicPr>
        <p:blipFill>
          <a:blip r:embed="rId6"/>
          <a:stretch>
            <a:fillRect/>
          </a:stretch>
        </p:blipFill>
        <p:spPr>
          <a:xfrm>
            <a:off x="10117836" y="1783080"/>
            <a:ext cx="640080" cy="640080"/>
          </a:xfrm>
          <a:prstGeom prst="rect">
            <a:avLst/>
          </a:prstGeom>
        </p:spPr>
      </p:pic>
      <p:sp>
        <p:nvSpPr>
          <p:cNvPr id="15" name="TextBox 14"/>
          <p:cNvSpPr txBox="1"/>
          <p:nvPr/>
        </p:nvSpPr>
        <p:spPr>
          <a:xfrm>
            <a:off x="9134856" y="2560320"/>
            <a:ext cx="2606040" cy="320040"/>
          </a:xfrm>
          <a:prstGeom prst="rect">
            <a:avLst/>
          </a:prstGeom>
          <a:noFill/>
        </p:spPr>
        <p:txBody>
          <a:bodyPr wrap="square" lIns="0" rIns="0" tIns="0" bIns="0">
            <a:noAutofit/>
          </a:bodyPr>
          <a:lstStyle/>
          <a:p>
            <a:pPr algn="ctr"/>
            <a:r>
              <a:rPr sz="1500" b="1" i="0" lang="fr-FR" altLang="en-US">
                <a:solidFill>
                  <a:srgbClr val="FFFFFF"/>
                </a:solidFill>
                <a:latin typeface="Calibri"/>
              </a:rPr>
              <a:t>Scalabilité</a:t>
            </a:r>
          </a:p>
        </p:txBody>
      </p:sp>
      <p:sp>
        <p:nvSpPr>
          <p:cNvPr id="16" name="TextBox 15"/>
          <p:cNvSpPr txBox="1"/>
          <p:nvPr/>
        </p:nvSpPr>
        <p:spPr>
          <a:xfrm>
            <a:off x="9134856" y="2880360"/>
            <a:ext cx="2606040" cy="914400"/>
          </a:xfrm>
          <a:prstGeom prst="rect">
            <a:avLst/>
          </a:prstGeom>
          <a:noFill/>
        </p:spPr>
        <p:txBody>
          <a:bodyPr wrap="square" lIns="0" rIns="0" tIns="0" bIns="0" anchor="t">
            <a:noAutofit/>
          </a:bodyPr>
          <a:lstStyle/>
          <a:p>
            <a:pPr algn="ctr"/>
            <a:r>
              <a:rPr sz="1050" b="0" i="0" lang="fr-FR" altLang="en-US">
                <a:solidFill>
                  <a:srgbClr val="CADCFC"/>
                </a:solidFill>
                <a:latin typeface="Calibri"/>
              </a:rPr>
              <a:t>Infrastructure de gouvernance prête pour la croissance mondiale</a:t>
            </a:r>
          </a:p>
        </p:txBody>
      </p:sp>
      <p:sp>
        <p:nvSpPr>
          <p:cNvPr id="17" name="Rounded Rectangle 16"/>
          <p:cNvSpPr/>
          <p:nvPr/>
        </p:nvSpPr>
        <p:spPr>
          <a:xfrm>
            <a:off x="548640" y="4160520"/>
            <a:ext cx="11091672" cy="1874519"/>
          </a:xfrm>
          <a:prstGeom prst="roundRect">
            <a:avLst>
              <a:gd name="adj" fmla="val 8000"/>
            </a:avLst>
          </a:prstGeom>
          <a:solidFill>
            <a:srgbClr val="2A3C60"/>
          </a:solidFill>
          <a:ln w="12700">
            <a:solidFill>
              <a:srgbClr val="3A4C72"/>
            </a:solidFill>
          </a:ln>
          <a:effectLst/>
        </p:spPr>
        <p:txBody>
          <a:bodyPr rtlCol="0" anchor="ctr"/>
          <a:lstStyle/>
          <a:p>
            <a:pPr algn="ctr"/>
          </a:p>
        </p:txBody>
      </p:sp>
      <p:sp>
        <p:nvSpPr>
          <p:cNvPr id="18" name="TextBox 17"/>
          <p:cNvSpPr txBox="1"/>
          <p:nvPr/>
        </p:nvSpPr>
        <p:spPr>
          <a:xfrm>
            <a:off x="868680" y="4315968"/>
            <a:ext cx="5486400" cy="320040"/>
          </a:xfrm>
          <a:prstGeom prst="rect">
            <a:avLst/>
          </a:prstGeom>
          <a:noFill/>
        </p:spPr>
        <p:txBody>
          <a:bodyPr wrap="square" lIns="0" rIns="0" tIns="0" bIns="0">
            <a:noAutofit/>
          </a:bodyPr>
          <a:lstStyle/>
          <a:p>
            <a:r>
              <a:rPr sz="1400" b="1" i="0" lang="fr-FR" altLang="en-US">
                <a:solidFill>
                  <a:srgbClr val="2DBE8C"/>
                </a:solidFill>
                <a:latin typeface="Calibri"/>
              </a:rPr>
              <a:t>Prochaines étapes</a:t>
            </a:r>
          </a:p>
        </p:txBody>
      </p:sp>
      <p:sp>
        <p:nvSpPr>
          <p:cNvPr id="19" name="TextBox 18"/>
          <p:cNvSpPr txBox="1"/>
          <p:nvPr/>
        </p:nvSpPr>
        <p:spPr>
          <a:xfrm>
            <a:off x="868680" y="4681728"/>
            <a:ext cx="10424160" cy="1234440"/>
          </a:xfrm>
          <a:prstGeom prst="rect">
            <a:avLst/>
          </a:prstGeom>
          <a:noFill/>
        </p:spPr>
        <p:txBody>
          <a:bodyPr wrap="square" lIns="0" rIns="0" tIns="0" bIns="0" anchor="t">
            <a:noAutofit/>
          </a:bodyPr>
          <a:lstStyle/>
          <a:p>
            <a:pPr marL="182880" indent="-182880">
              <a:spcAft>
                <a:spcPts val="800"/>
              </a:spcAft>
              <a:buFont typeface="Arial"/>
              <a:buChar char="•"/>
            </a:pPr>
            <a:r>
              <a:rPr sz="1250" b="0" lang="fr-FR" altLang="en-US">
                <a:solidFill>
                  <a:srgbClr val="FFFFFF"/>
                </a:solidFill>
                <a:latin typeface="Calibri"/>
              </a:rPr>
              <a:t>Lancer le pilote sur le système de recommandation (Product Development)</a:t>
            </a:r>
          </a:p>
          <a:p>
            <a:pPr marL="182880" indent="-182880">
              <a:spcAft>
                <a:spcPts val="800"/>
              </a:spcAft>
              <a:buFont typeface="Arial"/>
              <a:buChar char="•"/>
            </a:pPr>
            <a:r>
              <a:rPr sz="1250" b="0" lang="fr-FR" altLang="en-US">
                <a:solidFill>
                  <a:srgbClr val="FFFFFF"/>
                </a:solidFill>
                <a:latin typeface="Calibri"/>
              </a:rPr>
              <a:t>Nommer / confirmer DPO, CDO, Data Stewards et Model Owners</a:t>
            </a:r>
          </a:p>
          <a:p>
            <a:pPr marL="182880" indent="-182880">
              <a:spcAft>
                <a:spcPts val="800"/>
              </a:spcAft>
              <a:buFont typeface="Arial"/>
              <a:buChar char="•"/>
            </a:pPr>
            <a:r>
              <a:rPr sz="1250" b="0" lang="fr-FR" altLang="en-US">
                <a:solidFill>
                  <a:srgbClr val="FFFFFF"/>
                </a:solidFill>
                <a:latin typeface="Calibri"/>
              </a:rPr>
              <a:t>Première revue de maturité DMAT au jalon intermédiaire (M5)</a:t>
            </a:r>
          </a:p>
          <a:p>
            <a:pPr marL="182880" indent="-182880">
              <a:spcAft>
                <a:spcPts val="0"/>
              </a:spcAft>
              <a:buFont typeface="Arial"/>
              <a:buChar char="•"/>
            </a:pPr>
            <a:r>
              <a:rPr sz="1250" b="0" lang="fr-FR" altLang="en-US">
                <a:solidFill>
                  <a:srgbClr val="FFFFFF"/>
                </a:solidFill>
                <a:latin typeface="Calibri"/>
              </a:rPr>
              <a:t>Décision de passage à l'échelle (feu vert / orange / rouge) à chaque jalon de phase</a:t>
            </a:r>
          </a:p>
        </p:txBody>
      </p:sp>
      <p:sp>
        <p:nvSpPr>
          <p:cNvPr id="20" name="TextBox 19"/>
          <p:cNvSpPr txBox="1"/>
          <p:nvPr/>
        </p:nvSpPr>
        <p:spPr>
          <a:xfrm>
            <a:off x="548640" y="6473952"/>
            <a:ext cx="7315200" cy="274320"/>
          </a:xfrm>
          <a:prstGeom prst="rect">
            <a:avLst/>
          </a:prstGeom>
          <a:noFill/>
        </p:spPr>
        <p:txBody>
          <a:bodyPr wrap="square" lIns="0" rIns="0" tIns="0" bIns="0">
            <a:noAutofit/>
          </a:bodyPr>
          <a:lstStyle/>
          <a:p>
            <a:r>
              <a:rPr sz="950" b="0" i="0" lang="fr-FR" altLang="en-US">
                <a:solidFill>
                  <a:srgbClr val="9FB0C9"/>
                </a:solidFill>
                <a:latin typeface="Calibri"/>
              </a:rPr>
              <a:t>Nicolas Pichon - AIA RNCP 38777 - BC01 - Step 4 - v5 - 2026/10/13</a:t>
            </a:r>
          </a:p>
        </p:txBody>
      </p:sp>
      <p:sp>
        <p:nvSpPr>
          <p:cNvPr id="21" name="TextBox 20"/>
          <p:cNvSpPr txBox="1"/>
          <p:nvPr/>
        </p:nvSpPr>
        <p:spPr>
          <a:xfrm>
            <a:off x="11002975" y="6473952"/>
            <a:ext cx="822960" cy="274320"/>
          </a:xfrm>
          <a:prstGeom prst="rect">
            <a:avLst/>
          </a:prstGeom>
          <a:noFill/>
        </p:spPr>
        <p:txBody>
          <a:bodyPr wrap="square" lIns="0" rIns="0" tIns="0" bIns="0">
            <a:noAutofit/>
          </a:bodyPr>
          <a:lstStyle/>
          <a:p>
            <a:pPr algn="r"/>
            <a:r>
              <a:rPr sz="950" b="0" i="0" lang="fr-FR" altLang="en-US">
                <a:solidFill>
                  <a:srgbClr val="9FB0C9"/>
                </a:solidFill>
                <a:latin typeface="Calibri"/>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Spotify - Gouvernance des Données et de l'IA</dc:title>
  <dc:subject>Data &amp; AI Governance - Présentation finale (Step 4)</dc:subject>
  <dc:creator>Nicolas Pichon</dc:creator>
  <cp:keywords/>
  <dc:description>generated using python-pptx</dc:description>
  <dc:language>fr-FR</dc:language>
  <cp:lastModifiedBy>Steve Canny</cp:lastModifiedBy>
  <cp:revision>1</cp:revision>
  <dcterms:created xsi:type="dcterms:W3CDTF">2013-01-27T09:14:16Z</dcterms:created>
  <dcterms:modified xsi:type="dcterms:W3CDTF">2013-01-27T09:15:58Z</dcterms:modified>
  <cp:category/>
</cp:coreProperties>
</file>