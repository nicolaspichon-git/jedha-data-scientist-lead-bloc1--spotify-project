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20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rPr>
              <a:t>Niveau de maturité par dimension (échelle 0–5)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Niveau de maturité</c:v>
                </c:pt>
              </c:strCache>
            </c:strRef>
          </c:tx>
          <c:spPr>
            <a:solidFill>
              <a:srgbClr val="2DBE8C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0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A4A"/>
                    </a:solidFill>
                    <a:uFillTx/>
                    <a:latin typeface="Calibri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2"/>
                <c:pt idx="0">
                  <c:v>Analytics &amp; BI</c:v>
                </c:pt>
                <c:pt idx="1">
                  <c:v>Intégration</c:v>
                </c:pt>
                <c:pt idx="2">
                  <c:v>Métadonnées</c:v>
                </c:pt>
                <c:pt idx="3">
                  <c:v>Master &amp; Reference Data</c:v>
                </c:pt>
                <c:pt idx="4">
                  <c:v>Littératie data</c:v>
                </c:pt>
                <c:pt idx="5">
                  <c:v>Sécurité</c:v>
                </c:pt>
                <c:pt idx="6">
                  <c:v>Usage &amp; Accessibilité</c:v>
                </c:pt>
                <c:pt idx="7">
                  <c:v>Conformité</c:v>
                </c:pt>
                <c:pt idx="8">
                  <c:v>Opérations</c:v>
                </c:pt>
                <c:pt idx="9">
                  <c:v>Architecture</c:v>
                </c:pt>
                <c:pt idx="10">
                  <c:v>Qualité</c:v>
                </c:pt>
                <c:pt idx="11">
                  <c:v>Gouvernance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</c:ser>
        <c:gapWidth val="35"/>
        <c:overlap val="0"/>
        <c:axId val="28459617"/>
        <c:axId val="87942927"/>
      </c:barChart>
      <c:catAx>
        <c:axId val="2845961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defRPr>
            </a:pPr>
          </a:p>
        </c:txPr>
        <c:crossAx val="87942927"/>
        <c:crosses val="autoZero"/>
        <c:auto val="1"/>
        <c:lblAlgn val="ctr"/>
        <c:lblOffset val="100"/>
        <c:noMultiLvlLbl val="0"/>
      </c:catAx>
      <c:valAx>
        <c:axId val="87942927"/>
        <c:scaling>
          <c:orientation val="minMax"/>
          <c:max val="5"/>
          <c:min val="0"/>
        </c:scaling>
        <c:delete val="0"/>
        <c:axPos val="l"/>
        <c:majorGridlines>
          <c:spPr>
            <a:ln w="12600">
              <a:solidFill>
                <a:srgbClr val="D8DEE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5B6B84"/>
                </a:solidFill>
                <a:uFillTx/>
                <a:latin typeface="Arial"/>
                <a:ea typeface="DejaVu Sans"/>
              </a:defRPr>
            </a:pPr>
          </a:p>
        </c:txPr>
        <c:crossAx val="28459617"/>
        <c:crosses val="autoZero"/>
        <c:crossBetween val="between"/>
        <c:majorUnit val="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5959668-9C7E-4FD1-BEDE-067044466AD7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01 : 0:45 DE 0:00 A </a:t>
            </a: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Introduction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Spotify opère a l’échelle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mondiale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(450M+ utilisateurs, 180+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pays)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avec une dépendance forte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aux données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(recommandation,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personnalisation,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monétisation).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projet répond a une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demande de cadrage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transverse : gouvernance des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données ET de l'IA.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Objectif de la session : valider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cadre de gouvernance,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l'organisation cible, le plan de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déploiement (pilote puis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généralisation).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E6C30F-9DA9-44E0-9D8B-4EDD4E3B9D0F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500000"/>
            <a:ext cx="5484240" cy="57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02 : 1:45 DE 0:45 A 2:30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 dimensions évaluées selon DMAT [R1], appliquée au business case Spotify [R2].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Niveau moyen ~1,25 sur 5.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 d'appui de niveau 2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Usage &amp; Accessibilité,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Literacy,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Analytics &amp; BI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(moteur de recommandation déjà en production).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autres dimensions encore au niveau 1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initiatives locales, non généralisées, non mesurées.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clé pour le comité : l'entreprise sait déjà produire de la valeur avec la donnée, le risque est dans la gouvernance de cette capacité, pas dans la capacité elle-même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4F154E-CB57-4208-ACCC-B4107499DFF5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03 : 1:15 DE 2:30 A 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L’ordre de criticité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est justifié dans [D1].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E5 (gouvernance IA) est le seul enjeu qui n'est pas déjà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identifié dans le business case [R2].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Le modèle organisationnel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[D22] répond spécifiquement aux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enjeux E1 (désilotage),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E3 (conformité),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E5 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politique de gouvernance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[D21] répond aux enjeux E2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(qualité), E3 (conformité), E4 (éthique), E5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(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E6 (formation) couvert par l’organisation des rôles et des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responsabilités [D22] et aussi par P9 (amélioration continue)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[D21]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26B27A-B026-454D-9085-DA18CE8F82F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405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04 : 1:15 DE 3:45 A 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Principes issus du référentiel [R4]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repris pour [D21] avec peu de changements.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LIRE LES 4 GROUPES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P8 est le principe le plus opérationnalisé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avec 4 exigences concrètes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traçabilité, biais, responsabilité, explicabilité,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détaillées dans la slide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 IA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[D21] propose une différenciation des workflows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d’approbation de déploiement des modèles ML/IA  en 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fonction de leur impact sur les utilisateurs,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détaillée au slide 7 (</a:t>
            </a:r>
            <a:r>
              <a:rPr lang="fr-FR" sz="1600" b="0" i="1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Responsabilité adaptées [...]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8E8777-2DEA-46CC-A1B9-9D22457820A3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549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05 : 1:45 DE 5:00 A 6:45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CDO, DPO &amp; Legal Team rapportent au CEO (indépendance DPO exigée par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GDPR art. 38).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DGC présidé par CDO.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MRM rapporte au CDO au quotidien mais peut escalader directement au DGC --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 qui préserve son indépendance vis-a-vis des équipes dont il évalue les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modèles,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DCs centralisés dans Engineering + servent tous les départements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transversalement.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dans Product Development, séparés du MRM (principe de séparation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exécution / contrôle).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Surcoût de coordination assumé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l'échelle de Spotify, cette charge est une nécessité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structurelle.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C30DDA-8AC5-41CB-BC53-2875810F4A2A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531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06 : 0:45 DE 6:45 A 7:30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trois cadres sont traités séparément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[D21], 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chacun avec ses propres exigences opérationnelles issues de la check-liste [R5].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difficulté spécifique de Spotify est la dimension multi-juridictionnelle (enjeu E3)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au-delà du socle GDPR/CCPA/PCI-DSS, chaque marché local (ex.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PDPA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à Singapour) doit être cartographié séparément, sous la responsabilité conjointe 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Legal Team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et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3D51D0-4F9B-4E6D-A910-D7971DDCE936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87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07 : 2:15 DE 7:30 A 9:45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différenciation des circuits d'approbation en fonction des niveaux d’impact évite qu'un circuit conçu pour les modèles à fort impact freine inutilement le déploiement des modèles mineurs.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DGC est responsable (Accountable) de l'approbation des modèles a fort impact.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 n'est que consultatif (Consulted) sur cette décision pour réduire le risque qu’il soit à la fois juge et partie sur ses propres arbitrages IA.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calibrage final des seuils des critères de niveau sera affiné avec les résultats du pilote [D3].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D2C54B-B82F-44A3-845C-940C3696B4E9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08 : 2:15 DE 9:45 A 12:00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Chaque outil répond a un rôle précis du modèle CoE et un enjeu identifie en [D1].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sélection résulte d'une comparaison entre les outils recommandes [R8] et des alternatives open source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(retenues sur la majorité des lignes, sauf Collibra et TrustArc).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pilote est volontairement resserré sur un seul sous-périmètre (système de recommandation)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pour valider 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rattachement fonctionnel des Data Stewards,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circuit d'approbation des modèles,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le coût réel d’ingénierie avant généralisation.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conformité complète au GDPR (E3/E4) n’est pas dans le périmètre du pilote : un RoPA ne couvrant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qu’un seul département ne suffit pas à mettre le projet en conformité avec l’article 30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21B5DB-5388-4329-B09E-8EF1F67C2526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531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09 : 1:45 DE 12:00 A 13:45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séquencement suit le niveau de risque et le coût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marginal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Marketing en priorité pour E3/E4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 (risque réglementaire le plus élevé),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puis Content Curation pour E2/métadonnées.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Inter-phases de 2 mois 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 + 2 + 3 = 10, 10 + 2 + 3 = 15,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+ 2 + 3 = 20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phase de sécurisation (annuaire central, rôles,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intégrations SSO) n’est pas reproduite intégralement aux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phases suivantes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seule une migration allégée est reconduite pour chaque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département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pour le comité : la durée totale du projet  (22-24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mois) est délibérément prudente et sert en grande partie le 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financement de la phase de sécurisation.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ED57F5-93A4-4AB0-99F5-CB78073B32A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10 : 1:15 DE 13:45 A 15:00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Synthèse de la valeur business [R11, Q3] : économies, conformité, confiance, scalabilité.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prochaines étapes sont volontairement concrètes et actionnables immédiatement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lancement du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nomination des rôles,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premières revues DMAT en milieu/fin de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et gouvernance des décisions de passage à l'échelle phase par phase (plutôt qu'un engagement global fige sur 24 mois).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5BE7AB-0943-479C-A6B7-80CCB32EF093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10480"/>
            <a:ext cx="10972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du texte-titre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é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 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</a:t>
            </a: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640080" y="685800"/>
            <a:ext cx="8227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SPOTIFY - DATA &amp; AI GOVERNANCE PROJECT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640080" y="1417320"/>
            <a:ext cx="85017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fr-FR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Gouvernance des Données &amp; de l'IA</a:t>
            </a:r>
            <a:endParaRPr lang="fr-F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640080" y="2880360"/>
            <a:ext cx="7861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7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Évaluation, cadre, organisation et plan de mise en œuvre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64008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450M+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utilisateurs actifs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33756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200M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333756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abonnés premium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6035040" y="4160520"/>
            <a:ext cx="23752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180+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035040" y="4818960"/>
            <a:ext cx="23752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pays d'opération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640080" y="63550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Nicolas Pichon --- AIA RNCP 38777 / BC01 / Presentation / v6 --- 2026/10/15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11003040" y="63550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 / 10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DIA</a:t>
            </a: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GNO</a:t>
            </a: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STIC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66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m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é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at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h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as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iti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al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0" descr="icons/icon_barcha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6" name="Chart 0"/>
          <p:cNvGraphicFramePr/>
          <p:nvPr/>
        </p:nvGraphicFramePr>
        <p:xfrm>
          <a:off x="502920" y="1691640"/>
          <a:ext cx="6947280" cy="447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Shape 2"/>
          <p:cNvSpPr/>
          <p:nvPr/>
        </p:nvSpPr>
        <p:spPr>
          <a:xfrm>
            <a:off x="7560000" y="1691640"/>
            <a:ext cx="4318560" cy="14151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9180000" y="1810440"/>
            <a:ext cx="251856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Nivea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moye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 de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matu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rité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actue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 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7560000" y="3246120"/>
            <a:ext cx="4318560" cy="1232280"/>
          </a:xfrm>
          <a:prstGeom prst="roundRect">
            <a:avLst>
              <a:gd name="adj" fmla="val 5926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7740000" y="3364920"/>
            <a:ext cx="37335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Cible à moyen terme : niveau 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740000" y="3730680"/>
            <a:ext cx="39585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globale &amp; bien définie,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portée par une politique de gouvernance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7560000" y="4617720"/>
            <a:ext cx="4318560" cy="15523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740000" y="4754880"/>
            <a:ext cx="395856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Cadre partiellement défini (rôles, outils)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mais pas encore déployé :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d’audit,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de monitoring,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pas de politique appliquée sur le terrain.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[D1] (Data &amp; AI Maturity Assessment Report) - Méthodologie [R1]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(Australian Government DMAT)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2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3"/>
          <p:cNvSpPr/>
          <p:nvPr/>
        </p:nvSpPr>
        <p:spPr>
          <a:xfrm>
            <a:off x="7740000" y="2450520"/>
            <a:ext cx="39585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locale, réactive, dispersée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4"/>
          <p:cNvSpPr/>
          <p:nvPr/>
        </p:nvSpPr>
        <p:spPr>
          <a:xfrm>
            <a:off x="7739280" y="1800000"/>
            <a:ext cx="143928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mbria"/>
              </a:rPr>
              <a:t>1,25 / 5 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ENJEUX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Six enjeux majeurs - par ordre de criticité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0" descr="icons/icon_ale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Shape 2"/>
          <p:cNvSpPr/>
          <p:nvPr/>
        </p:nvSpPr>
        <p:spPr>
          <a:xfrm>
            <a:off x="591480" y="168912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749880" y="189288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749880" y="189288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1463040" y="183780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Décompartimenter les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1463040" y="222192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Silos départementaux → vues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incohérentes / incomplètes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6217920" y="169164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8"/>
          <p:cNvSpPr/>
          <p:nvPr/>
        </p:nvSpPr>
        <p:spPr>
          <a:xfrm>
            <a:off x="6419160" y="189288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6419160" y="189288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7132320" y="183780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Maîtriser la qualité des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7132320" y="222192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Données inexactes / métadonnées obsolètes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recommandations dégradées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Règles de qualité à définir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548640" y="331920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749880" y="352044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749880" y="352044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1463040" y="346572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Maîtrise la conformité en contexte multi-juridictionnel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1463040" y="384948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GDPR, CCPA, PDPA +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réglementations IA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concilier sans perdre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la cohérence globale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7"/>
          <p:cNvSpPr/>
          <p:nvPr/>
        </p:nvSpPr>
        <p:spPr>
          <a:xfrm>
            <a:off x="6217920" y="331920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419160" y="352044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6419160" y="352044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7132320" y="346572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Garantir la vie privée &amp; l’usage éthique des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7132320" y="384948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Transparence, anonymisation, maîtrise de l’utilisateur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Au-delà de la seule conformité légale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548640" y="494676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3"/>
          <p:cNvSpPr/>
          <p:nvPr/>
        </p:nvSpPr>
        <p:spPr>
          <a:xfrm>
            <a:off x="749880" y="514800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749880" y="514800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1463040" y="509328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Gouverner spécifiquement  les données d’IA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1463040" y="547740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Traçabilité, biais,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explicabilité, responsabilité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des modèles du moteur 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recommandation en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7"/>
          <p:cNvSpPr/>
          <p:nvPr/>
        </p:nvSpPr>
        <p:spPr>
          <a:xfrm>
            <a:off x="6217920" y="4946760"/>
            <a:ext cx="5347080" cy="13694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6419160" y="5148000"/>
            <a:ext cx="564840" cy="56484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6419160" y="5148000"/>
            <a:ext cx="56484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E6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0"/>
          <p:cNvSpPr/>
          <p:nvPr/>
        </p:nvSpPr>
        <p:spPr>
          <a:xfrm>
            <a:off x="7132320" y="5093280"/>
            <a:ext cx="424980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7132320" y="5477400"/>
            <a:ext cx="424980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à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: [D1]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(Data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&amp; AI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Maturit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Assess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ment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Report)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enjeux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dérivés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de [R2]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- sauf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3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POLITIQUE DE GOUVERNANCE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Prin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cipe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stru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ctur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ants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du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cadr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 de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gouv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erna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nce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icons/icon_shield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Shape 2"/>
          <p:cNvSpPr/>
          <p:nvPr/>
        </p:nvSpPr>
        <p:spPr>
          <a:xfrm>
            <a:off x="548640" y="164592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720000" y="1810440"/>
            <a:ext cx="47574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Responsabilité &amp; qualité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858960" y="2248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58960" y="2248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P1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1361880" y="2340000"/>
            <a:ext cx="4432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è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858960" y="2923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858960" y="2923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P4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361880" y="3004200"/>
            <a:ext cx="425268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règles mesurables (exactitude, complétude, fraîcheur),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   auditées régulièrement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6247800" y="165204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480000" y="1810440"/>
            <a:ext cx="48106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Confiance utilisateur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6564240" y="2212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6564240" y="2212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P2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7020000" y="2304000"/>
            <a:ext cx="4295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Transparence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information claire et gestion du consentement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6564240" y="270792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564240" y="270792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P6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7043040" y="280800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Minimisation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collecte limitée aux finalités métier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6564240" y="320400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6564240" y="320400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P7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7020000" y="3319200"/>
            <a:ext cx="429552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des utilisateurs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accès, modification, suppression,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opposition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1"/>
          <p:cNvSpPr/>
          <p:nvPr/>
        </p:nvSpPr>
        <p:spPr>
          <a:xfrm>
            <a:off x="548640" y="402336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2"/>
          <p:cNvSpPr/>
          <p:nvPr/>
        </p:nvSpPr>
        <p:spPr>
          <a:xfrm>
            <a:off x="720000" y="4187880"/>
            <a:ext cx="490140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&amp;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822960" y="4590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822960" y="4590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1325880" y="467100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chiffrement, contrôle d'accès /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rôle, protocoles PCI-DSS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6"/>
          <p:cNvSpPr/>
          <p:nvPr/>
        </p:nvSpPr>
        <p:spPr>
          <a:xfrm>
            <a:off x="822960" y="5301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7"/>
          <p:cNvSpPr/>
          <p:nvPr/>
        </p:nvSpPr>
        <p:spPr>
          <a:xfrm>
            <a:off x="822960" y="5301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P5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1325880" y="538164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GDPR, CCPA, PCI-DSS et réglementations locales, veille continue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9"/>
          <p:cNvSpPr/>
          <p:nvPr/>
        </p:nvSpPr>
        <p:spPr>
          <a:xfrm>
            <a:off x="6217920" y="4023360"/>
            <a:ext cx="5347080" cy="2146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6480000" y="4187880"/>
            <a:ext cx="4810680" cy="32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IA responsable &amp; amélioration continue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1"/>
          <p:cNvSpPr/>
          <p:nvPr/>
        </p:nvSpPr>
        <p:spPr>
          <a:xfrm>
            <a:off x="6528240" y="4554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6528240" y="4554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3"/>
          <p:cNvSpPr/>
          <p:nvPr/>
        </p:nvSpPr>
        <p:spPr>
          <a:xfrm>
            <a:off x="6995160" y="465372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Éthique &amp; gouvernance IA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traçabilité, biais, explicabilité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4"/>
          <p:cNvSpPr/>
          <p:nvPr/>
        </p:nvSpPr>
        <p:spPr>
          <a:xfrm>
            <a:off x="6528240" y="5229360"/>
            <a:ext cx="381960" cy="38196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5"/>
          <p:cNvSpPr/>
          <p:nvPr/>
        </p:nvSpPr>
        <p:spPr>
          <a:xfrm>
            <a:off x="6528240" y="5229360"/>
            <a:ext cx="3819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P9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6"/>
          <p:cNvSpPr/>
          <p:nvPr/>
        </p:nvSpPr>
        <p:spPr>
          <a:xfrm>
            <a:off x="6995160" y="5309640"/>
            <a:ext cx="42955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Amélioration continue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revues périodiques de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réalignement DMAT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7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Document) - principes issus de [R4]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8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4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ORGANISATION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Modèle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d’organisa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tion </a:t>
            </a:r>
            <a:r>
              <a:rPr lang="fr-FR" sz="2800" b="1" i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Center of </a:t>
            </a:r>
            <a:r>
              <a:rPr lang="fr-FR" sz="2800" b="1" i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Excellence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0" descr="icons/icon_users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Shape 2"/>
          <p:cNvSpPr/>
          <p:nvPr/>
        </p:nvSpPr>
        <p:spPr>
          <a:xfrm>
            <a:off x="548640" y="1260000"/>
            <a:ext cx="3409920" cy="50014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20000" y="1526400"/>
            <a:ext cx="29556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 modèle : </a:t>
            </a:r>
            <a:r>
              <a:rPr lang="fr-FR" sz="13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CoE</a:t>
            </a: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+ adaptation Spotify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822960" y="1853280"/>
            <a:ext cx="2955600" cy="80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centralisée (CDO, DGC)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combinée à une autonomie départementale (Data Owners / métier).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&gt; répond simultanément aux enjeux E1, E3, E5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 rot="21593400">
            <a:off x="718560" y="3206880"/>
            <a:ext cx="2959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Écarts par rapport au modèle standard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827280" y="3521160"/>
            <a:ext cx="2955600" cy="10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Maintien de l’infrastructure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technique </a:t>
            </a:r>
            <a:br>
              <a:rPr sz="1200"/>
            </a:b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dans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Engineering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(≠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hub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Séparation des autorités 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conformité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(DPO/Legal)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(CDO/DGC).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720000" y="4964040"/>
            <a:ext cx="29556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Levier principal contre le </a:t>
            </a: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cloisonnement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822960" y="5284080"/>
            <a:ext cx="295560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1" descr="assets/orgchart.png"/>
          <p:cNvPicPr/>
          <p:nvPr/>
        </p:nvPicPr>
        <p:blipFill>
          <a:blip r:embed="rId2"/>
          <a:stretch/>
        </p:blipFill>
        <p:spPr>
          <a:xfrm>
            <a:off x="4183200" y="1260000"/>
            <a:ext cx="7473240" cy="454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9"/>
          <p:cNvSpPr/>
          <p:nvPr/>
        </p:nvSpPr>
        <p:spPr>
          <a:xfrm>
            <a:off x="4892040" y="5884920"/>
            <a:ext cx="67644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=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=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h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f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[D22] (Roles and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Responsibilities Organizational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Chart)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5</a:t>
            </a: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1</a:t>
            </a: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95076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Socle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réglementaire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structuré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cadre par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cadre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 0" descr="icons/icon_lock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Shape 2"/>
          <p:cNvSpPr/>
          <p:nvPr/>
        </p:nvSpPr>
        <p:spPr>
          <a:xfrm>
            <a:off x="54864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82296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82296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GDPR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82296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Traitement licite, loyal et transparent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d'accès, rectification, suppression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Consentement explicite préalable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Notification de violation sous 72h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Data Protection Officer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nommé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438012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465444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465444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CCPA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465444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Opt-out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sur la vente de données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 d'accès, modification, suppression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Non-discrimination envers les utilisateurs exerçant leurs droits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8211240" y="1691640"/>
            <a:ext cx="3609720" cy="37011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8485560" y="1920240"/>
            <a:ext cx="3061080" cy="45504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8485560" y="1920240"/>
            <a:ext cx="3061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PCI-DSS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8485560" y="2560320"/>
            <a:ext cx="3061080" cy="26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Sécurisation de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l'infrastructure réseau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Chiffrement des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données de carte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bancaire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Gestion des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vulnérabilités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Contrôle d'accès strict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aux données de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paiement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Tests réguliers des 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dispositifs de sécurité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609120" y="5532120"/>
            <a:ext cx="11089440" cy="656280"/>
          </a:xfrm>
          <a:prstGeom prst="roundRect">
            <a:avLst>
              <a:gd name="adj" fmla="val 11111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822960" y="5580000"/>
            <a:ext cx="1051344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+ cartographie réglementaire 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marché par marché - pilotée par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Legal Team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en lien avec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DPO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Gouvernance Policy) + détails P5 (conformité réglementaire) issus du référentiel [R5] (Compliance Checklist)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6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GOUVERNANCE DE L'IA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Responsabilité adaptée au niveau d'impact du modèle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0" descr="icons/icon_cpu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Shape 2"/>
          <p:cNvSpPr/>
          <p:nvPr/>
        </p:nvSpPr>
        <p:spPr>
          <a:xfrm>
            <a:off x="548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731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Traçabilité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73152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Chaque jeu d'entraînement documenté : source, période, transformations, lineage.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3401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3584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Biais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358452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Évaluation périodique des biais algorithmiques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pour les modèles à fort impact.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8"/>
          <p:cNvSpPr/>
          <p:nvPr/>
        </p:nvSpPr>
        <p:spPr>
          <a:xfrm>
            <a:off x="625464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643752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Approbation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6437520" y="2185560"/>
            <a:ext cx="2382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Responsabilité confiée à un </a:t>
            </a:r>
            <a:r>
              <a:rPr lang="fr-FR" sz="105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Model Owner</a:t>
            </a: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;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circuit proportionné au niveau d'impact.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9107280" y="1783080"/>
            <a:ext cx="2649600" cy="10494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9290160" y="1892880"/>
            <a:ext cx="22838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Explicabilité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9290160" y="2185560"/>
            <a:ext cx="228384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Décisions automatisées à impact significatif explicables de manière intelligible.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548640" y="3154680"/>
          <a:ext cx="11091240" cy="2788920"/>
        </p:xfrm>
        <a:graphic>
          <a:graphicData uri="http://schemas.openxmlformats.org/drawingml/2006/table">
            <a:tbl>
              <a:tblPr/>
              <a:tblGrid>
                <a:gridCol w="1371600"/>
                <a:gridCol w="5675760"/>
                <a:gridCol w="404424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Niveau d'impact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Circuit de validation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B857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Fort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Majorité des utilisateurs actifs - décision peu réversible - RGPD </a:t>
                      </a: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- fonctionnalité principale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(C) → MRM (R) → DGC (A)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C99A3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Modéré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Utilisateurs ciblés (cohorte, marché, A/B test) - décision réversible sous délai court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(R) → MRM (A)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C8C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Faible (défaut)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Fonction auxiliaire, sans exposition directe à l'utilisateur final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(RA) + contrôle a posteriori par MRM (échantillonnage)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</a:tr>
            </a:tbl>
          </a:graphicData>
        </a:graphic>
      </p:graphicFrame>
      <p:sp>
        <p:nvSpPr>
          <p:cNvPr id="162" name="Text 14"/>
          <p:cNvSpPr/>
          <p:nvPr/>
        </p:nvSpPr>
        <p:spPr>
          <a:xfrm>
            <a:off x="548640" y="6035040"/>
            <a:ext cx="11089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MO = Model Owner - MRM = Model Risk Manager - DGC = Data Governance Committee - R = Responsible, A = Accountable, C = Consulted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Document) + détails P8 (gouvernance IA)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6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7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MISE EN ŒUVRE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Outillage testé sur un pilote de 21 semaines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icons/icon_tool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2"/>
          <p:cNvSpPr/>
          <p:nvPr/>
        </p:nvSpPr>
        <p:spPr>
          <a:xfrm>
            <a:off x="548640" y="1600200"/>
            <a:ext cx="5758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Outillage par catégorie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"/>
          <p:cNvSpPr/>
          <p:nvPr/>
        </p:nvSpPr>
        <p:spPr>
          <a:xfrm>
            <a:off x="548640" y="201168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713160" y="213984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713160" y="213984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E1, E3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325880" y="208476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Catalogage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1325880" y="235908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Collibra (licence commerciale) + OpenMetadata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8"/>
          <p:cNvSpPr/>
          <p:nvPr/>
        </p:nvSpPr>
        <p:spPr>
          <a:xfrm>
            <a:off x="548640" y="279792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9"/>
          <p:cNvSpPr/>
          <p:nvPr/>
        </p:nvSpPr>
        <p:spPr>
          <a:xfrm>
            <a:off x="713160" y="292608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0"/>
          <p:cNvSpPr/>
          <p:nvPr/>
        </p:nvSpPr>
        <p:spPr>
          <a:xfrm>
            <a:off x="713160" y="292608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E2, 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1"/>
          <p:cNvSpPr/>
          <p:nvPr/>
        </p:nvSpPr>
        <p:spPr>
          <a:xfrm>
            <a:off x="1325880" y="287136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1325880" y="314568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Soda Core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548640" y="358452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4"/>
          <p:cNvSpPr/>
          <p:nvPr/>
        </p:nvSpPr>
        <p:spPr>
          <a:xfrm>
            <a:off x="713160" y="371232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5"/>
          <p:cNvSpPr/>
          <p:nvPr/>
        </p:nvSpPr>
        <p:spPr>
          <a:xfrm>
            <a:off x="713160" y="371232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E3, E4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1325880" y="365760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7"/>
          <p:cNvSpPr/>
          <p:nvPr/>
        </p:nvSpPr>
        <p:spPr>
          <a:xfrm>
            <a:off x="1325880" y="393192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TrustArc (licence commerciale)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8"/>
          <p:cNvSpPr/>
          <p:nvPr/>
        </p:nvSpPr>
        <p:spPr>
          <a:xfrm>
            <a:off x="548640" y="437076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9"/>
          <p:cNvSpPr/>
          <p:nvPr/>
        </p:nvSpPr>
        <p:spPr>
          <a:xfrm>
            <a:off x="713160" y="449892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0"/>
          <p:cNvSpPr/>
          <p:nvPr/>
        </p:nvSpPr>
        <p:spPr>
          <a:xfrm>
            <a:off x="713160" y="449892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1"/>
          <p:cNvSpPr/>
          <p:nvPr/>
        </p:nvSpPr>
        <p:spPr>
          <a:xfrm>
            <a:off x="1325880" y="444384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1325880" y="471816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Wazuh + OpenBao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548640" y="5157360"/>
            <a:ext cx="5758560" cy="6926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4"/>
          <p:cNvSpPr/>
          <p:nvPr/>
        </p:nvSpPr>
        <p:spPr>
          <a:xfrm>
            <a:off x="713160" y="5285160"/>
            <a:ext cx="436680" cy="43668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5"/>
          <p:cNvSpPr/>
          <p:nvPr/>
        </p:nvSpPr>
        <p:spPr>
          <a:xfrm>
            <a:off x="713160" y="5285160"/>
            <a:ext cx="43668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6"/>
          <p:cNvSpPr/>
          <p:nvPr/>
        </p:nvSpPr>
        <p:spPr>
          <a:xfrm>
            <a:off x="1325880" y="523044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IA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7"/>
          <p:cNvSpPr/>
          <p:nvPr/>
        </p:nvSpPr>
        <p:spPr>
          <a:xfrm>
            <a:off x="1325880" y="5504760"/>
            <a:ext cx="47527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MLflow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DVC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AIF360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AIX360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8"/>
          <p:cNvSpPr/>
          <p:nvPr/>
        </p:nvSpPr>
        <p:spPr>
          <a:xfrm>
            <a:off x="6583680" y="1600200"/>
            <a:ext cx="5072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Pilote : Le système de recommandation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9"/>
          <p:cNvSpPr/>
          <p:nvPr/>
        </p:nvSpPr>
        <p:spPr>
          <a:xfrm>
            <a:off x="6583680" y="2011680"/>
            <a:ext cx="5072760" cy="1003680"/>
          </a:xfrm>
          <a:prstGeom prst="roundRect">
            <a:avLst>
              <a:gd name="adj" fmla="val 727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0"/>
          <p:cNvSpPr/>
          <p:nvPr/>
        </p:nvSpPr>
        <p:spPr>
          <a:xfrm>
            <a:off x="6812280" y="2121480"/>
            <a:ext cx="4615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2000" b="1" u="none" strike="noStrike">
                <a:solidFill>
                  <a:srgbClr val="1C8C68"/>
                </a:solidFill>
                <a:effectLst/>
                <a:uFillTx/>
                <a:latin typeface="Cambria"/>
                <a:ea typeface="Cambria"/>
              </a:rPr>
              <a:t>21 semaines (~5 mois)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1"/>
          <p:cNvSpPr/>
          <p:nvPr/>
        </p:nvSpPr>
        <p:spPr>
          <a:xfrm>
            <a:off x="6812280" y="2541960"/>
            <a:ext cx="46155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dont 7 semaines de phase de sécurisation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bloquante 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&gt; annuaire central, migration des accès, intégration SSO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2"/>
          <p:cNvSpPr/>
          <p:nvPr/>
        </p:nvSpPr>
        <p:spPr>
          <a:xfrm>
            <a:off x="6583680" y="3154680"/>
            <a:ext cx="5072760" cy="1186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3"/>
          <p:cNvSpPr/>
          <p:nvPr/>
        </p:nvSpPr>
        <p:spPr>
          <a:xfrm>
            <a:off x="6812280" y="3273480"/>
            <a:ext cx="4615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Périmètre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6812280" y="3566160"/>
            <a:ext cx="461556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Modèles et données d'entraînement du système de recommandation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Département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5"/>
          <p:cNvSpPr/>
          <p:nvPr/>
        </p:nvSpPr>
        <p:spPr>
          <a:xfrm>
            <a:off x="6583680" y="4480560"/>
            <a:ext cx="5072760" cy="11865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6"/>
          <p:cNvSpPr/>
          <p:nvPr/>
        </p:nvSpPr>
        <p:spPr>
          <a:xfrm>
            <a:off x="6812280" y="4599360"/>
            <a:ext cx="46155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Indicateurs clés (DMAT)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7"/>
          <p:cNvSpPr/>
          <p:nvPr/>
        </p:nvSpPr>
        <p:spPr>
          <a:xfrm>
            <a:off x="6812280" y="4892040"/>
            <a:ext cx="461556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&amp; Qualité : niveau 1 → 2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IA (Analytics &amp; BI) : niveau 2 → 3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8"/>
          <p:cNvSpPr/>
          <p:nvPr/>
        </p:nvSpPr>
        <p:spPr>
          <a:xfrm>
            <a:off x="6583680" y="5806440"/>
            <a:ext cx="5072760" cy="619560"/>
          </a:xfrm>
          <a:prstGeom prst="roundRect">
            <a:avLst>
              <a:gd name="adj" fmla="val 11765"/>
            </a:avLst>
          </a:prstGeom>
          <a:solidFill>
            <a:srgbClr val="FBEDE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9"/>
          <p:cNvSpPr/>
          <p:nvPr/>
        </p:nvSpPr>
        <p:spPr>
          <a:xfrm>
            <a:off x="6784920" y="5806440"/>
            <a:ext cx="4871520" cy="6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Risques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clés :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suspension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du projet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sans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solution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repli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(absence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d'annuaire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central, ...)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débordemen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t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planning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dans la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phase de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déploiement </a:t>
            </a: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technique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0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[D3] (Data &amp; AI Governance Implementation Plan)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1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8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FEUILLE DE ROUTE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548640" y="658440"/>
            <a:ext cx="96904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Généralisation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en 4 phases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vers un niveau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0" descr="icons/icon_map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Shape 2"/>
          <p:cNvSpPr/>
          <p:nvPr/>
        </p:nvSpPr>
        <p:spPr>
          <a:xfrm>
            <a:off x="1658160" y="3781080"/>
            <a:ext cx="8873280" cy="25200"/>
          </a:xfrm>
          <a:prstGeom prst="rect">
            <a:avLst/>
          </a:prstGeom>
          <a:solidFill>
            <a:srgbClr val="D8D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40000" y="1691640"/>
            <a:ext cx="2338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648000" y="1828800"/>
            <a:ext cx="17802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1 - Pilote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48000" y="2176200"/>
            <a:ext cx="21740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(système de recommandation)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648000" y="3090600"/>
            <a:ext cx="17802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21 semaines (5 mois)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151164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67680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11148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324864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324864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(autres activités)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324864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3"/>
          <p:cNvSpPr/>
          <p:nvPr/>
        </p:nvSpPr>
        <p:spPr>
          <a:xfrm>
            <a:off x="373068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289548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529452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"/>
          <p:cNvSpPr/>
          <p:nvPr/>
        </p:nvSpPr>
        <p:spPr>
          <a:xfrm>
            <a:off x="543168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3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7"/>
          <p:cNvSpPr/>
          <p:nvPr/>
        </p:nvSpPr>
        <p:spPr>
          <a:xfrm>
            <a:off x="543168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Marketing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(E1 / E3 / E4)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8"/>
          <p:cNvSpPr/>
          <p:nvPr/>
        </p:nvSpPr>
        <p:spPr>
          <a:xfrm>
            <a:off x="543168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594972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511452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7477200" y="1691640"/>
            <a:ext cx="1960560" cy="178092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2"/>
          <p:cNvSpPr/>
          <p:nvPr/>
        </p:nvSpPr>
        <p:spPr>
          <a:xfrm>
            <a:off x="761436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4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3"/>
          <p:cNvSpPr/>
          <p:nvPr/>
        </p:nvSpPr>
        <p:spPr>
          <a:xfrm>
            <a:off x="7614360" y="2176200"/>
            <a:ext cx="16862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Content Curation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(E2 / métadonnées)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4"/>
          <p:cNvSpPr/>
          <p:nvPr/>
        </p:nvSpPr>
        <p:spPr>
          <a:xfrm>
            <a:off x="761436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5"/>
          <p:cNvSpPr/>
          <p:nvPr/>
        </p:nvSpPr>
        <p:spPr>
          <a:xfrm>
            <a:off x="8168400" y="3648600"/>
            <a:ext cx="290520" cy="29052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6"/>
          <p:cNvSpPr/>
          <p:nvPr/>
        </p:nvSpPr>
        <p:spPr>
          <a:xfrm>
            <a:off x="733320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7"/>
          <p:cNvSpPr/>
          <p:nvPr/>
        </p:nvSpPr>
        <p:spPr>
          <a:xfrm>
            <a:off x="9660240" y="1691640"/>
            <a:ext cx="2038320" cy="1780920"/>
          </a:xfrm>
          <a:prstGeom prst="roundRect">
            <a:avLst>
              <a:gd name="adj" fmla="val 410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8"/>
          <p:cNvSpPr/>
          <p:nvPr/>
        </p:nvSpPr>
        <p:spPr>
          <a:xfrm>
            <a:off x="9797400" y="18288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Consolidation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9"/>
          <p:cNvSpPr/>
          <p:nvPr/>
        </p:nvSpPr>
        <p:spPr>
          <a:xfrm>
            <a:off x="9797400" y="2176200"/>
            <a:ext cx="190116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Ensemble des départements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Niveau 3 généralisé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0"/>
          <p:cNvSpPr/>
          <p:nvPr/>
        </p:nvSpPr>
        <p:spPr>
          <a:xfrm>
            <a:off x="9797400" y="3090600"/>
            <a:ext cx="1686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1"/>
          <p:cNvSpPr/>
          <p:nvPr/>
        </p:nvSpPr>
        <p:spPr>
          <a:xfrm>
            <a:off x="10387440" y="3648600"/>
            <a:ext cx="290520" cy="290520"/>
          </a:xfrm>
          <a:prstGeom prst="ellipse">
            <a:avLst/>
          </a:prstGeom>
          <a:solidFill>
            <a:srgbClr val="2DBE8C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2"/>
          <p:cNvSpPr/>
          <p:nvPr/>
        </p:nvSpPr>
        <p:spPr>
          <a:xfrm>
            <a:off x="9552240" y="3996000"/>
            <a:ext cx="1960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M22-M24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3"/>
          <p:cNvSpPr/>
          <p:nvPr/>
        </p:nvSpPr>
        <p:spPr>
          <a:xfrm>
            <a:off x="548640" y="4526280"/>
            <a:ext cx="11092320" cy="866520"/>
          </a:xfrm>
          <a:prstGeom prst="roundRect">
            <a:avLst>
              <a:gd name="adj" fmla="val 8421"/>
            </a:avLst>
          </a:prstGeom>
          <a:solidFill>
            <a:srgbClr val="F7F8F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4"/>
          <p:cNvSpPr/>
          <p:nvPr/>
        </p:nvSpPr>
        <p:spPr>
          <a:xfrm>
            <a:off x="822960" y="4526280"/>
            <a:ext cx="1054368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Trajectoire de maturité : niveau 1 (actuel) → niveau 3 généralisé (M22 - M24)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M24 = borne haute de la fourchette de référence (15 - 24 mois) pour garantir la rigueur de la phase de </a:t>
            </a: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sécurisation initiale + marges inter-phases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5"/>
          <p:cNvSpPr/>
          <p:nvPr/>
        </p:nvSpPr>
        <p:spPr>
          <a:xfrm>
            <a:off x="548640" y="5532120"/>
            <a:ext cx="11092320" cy="6562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6"/>
          <p:cNvSpPr/>
          <p:nvPr/>
        </p:nvSpPr>
        <p:spPr>
          <a:xfrm>
            <a:off x="822960" y="5532120"/>
            <a:ext cx="10543680" cy="65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Chaque jalon de phase (Mx) est un point de réévaluation (feu vert / orange / rouge) ≠ engagement figé - conformément au principe d'amélioration continue (P9)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7"/>
          <p:cNvSpPr/>
          <p:nvPr/>
        </p:nvSpPr>
        <p:spPr>
          <a:xfrm>
            <a:off x="548640" y="6473880"/>
            <a:ext cx="8684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[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3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]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(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&amp;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8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9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48640" y="384120"/>
            <a:ext cx="731304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VALEUR &amp; PROCHAINES ÉTAPES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548640" y="658440"/>
            <a:ext cx="1042992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v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q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&amp;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 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n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</a:t>
            </a: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" name="Image 0" descr="icons/icon_flag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6280" cy="65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Image 1" descr="icons/icon_check_white.png"/>
          <p:cNvPicPr/>
          <p:nvPr/>
        </p:nvPicPr>
        <p:blipFill>
          <a:blip r:embed="rId2"/>
          <a:stretch/>
        </p:blipFill>
        <p:spPr>
          <a:xfrm>
            <a:off x="1531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Text 2"/>
          <p:cNvSpPr/>
          <p:nvPr/>
        </p:nvSpPr>
        <p:spPr>
          <a:xfrm>
            <a:off x="548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548640" y="2880360"/>
            <a:ext cx="286056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Réduction des inefficiences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liées à une donnée de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mauvaise qualité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2" descr="icons/icon_lock.png"/>
          <p:cNvPicPr/>
          <p:nvPr/>
        </p:nvPicPr>
        <p:blipFill>
          <a:blip r:embed="rId3"/>
          <a:stretch/>
        </p:blipFill>
        <p:spPr>
          <a:xfrm>
            <a:off x="4393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4"/>
          <p:cNvSpPr/>
          <p:nvPr/>
        </p:nvSpPr>
        <p:spPr>
          <a:xfrm>
            <a:off x="3410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nf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341064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Éviter les sanctions GDPR/CCPA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(jusqu'à 4% du CA)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3" descr="icons/icon_shield.png"/>
          <p:cNvPicPr/>
          <p:nvPr/>
        </p:nvPicPr>
        <p:blipFill>
          <a:blip r:embed="rId4"/>
          <a:stretch/>
        </p:blipFill>
        <p:spPr>
          <a:xfrm>
            <a:off x="7255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6"/>
          <p:cNvSpPr/>
          <p:nvPr/>
        </p:nvSpPr>
        <p:spPr>
          <a:xfrm>
            <a:off x="627264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Confiance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627264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Transparence et sécurité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renforcées auprès des utilisateurs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" name="Image 4" descr="icons/icon_globe.png"/>
          <p:cNvPicPr/>
          <p:nvPr/>
        </p:nvPicPr>
        <p:blipFill>
          <a:blip r:embed="rId5"/>
          <a:stretch/>
        </p:blipFill>
        <p:spPr>
          <a:xfrm>
            <a:off x="10117800" y="1783080"/>
            <a:ext cx="637920" cy="6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8"/>
          <p:cNvSpPr/>
          <p:nvPr/>
        </p:nvSpPr>
        <p:spPr>
          <a:xfrm>
            <a:off x="9135000" y="2560320"/>
            <a:ext cx="26038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9"/>
          <p:cNvSpPr/>
          <p:nvPr/>
        </p:nvSpPr>
        <p:spPr>
          <a:xfrm>
            <a:off x="9135000" y="2880360"/>
            <a:ext cx="260388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Infrastructure de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gouvernance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prête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pour la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croissance </a:t>
            </a: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mondiale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548640" y="4160520"/>
            <a:ext cx="11089440" cy="1872360"/>
          </a:xfrm>
          <a:prstGeom prst="roundRect">
            <a:avLst>
              <a:gd name="adj" fmla="val 3902"/>
            </a:avLst>
          </a:prstGeom>
          <a:solidFill>
            <a:srgbClr val="2A3C60"/>
          </a:solidFill>
          <a:ln w="12600">
            <a:solidFill>
              <a:srgbClr val="3A4C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1"/>
          <p:cNvSpPr/>
          <p:nvPr/>
        </p:nvSpPr>
        <p:spPr>
          <a:xfrm>
            <a:off x="868680" y="4280040"/>
            <a:ext cx="548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Procha</a:t>
            </a:r>
            <a:r>
              <a:rPr lang="fr-FR" sz="1500" b="1" u="none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ines </a:t>
            </a:r>
            <a:r>
              <a:rPr lang="fr-FR" sz="1500" b="1" u="none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étapes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2"/>
          <p:cNvSpPr/>
          <p:nvPr/>
        </p:nvSpPr>
        <p:spPr>
          <a:xfrm>
            <a:off x="868680" y="4681800"/>
            <a:ext cx="104220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Lancer le pilote sur le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système de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 (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Development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Nommer / confirmer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DPO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CDO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Data Stewards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et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 Owners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Premières revues de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maturité DMAT en milieu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et en fin de pilote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Décision de passage à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l'échelle (feu vert /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orange / rouge) à chaque 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jalon de phase Mx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3"/>
          <p:cNvSpPr/>
          <p:nvPr/>
        </p:nvSpPr>
        <p:spPr>
          <a:xfrm>
            <a:off x="548640" y="647388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Pichon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--- AIA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38777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/ BC01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/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Presen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tation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/ v6 --- 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2026/</a:t>
            </a: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4"/>
          <p:cNvSpPr/>
          <p:nvPr/>
        </p:nvSpPr>
        <p:spPr>
          <a:xfrm>
            <a:off x="11003040" y="6473880"/>
            <a:ext cx="8208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10 / 10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279</TotalTime>
  <Application>LibreOffice/26.2.1.2$Windows_X86_64 LibreOffice_project/620$Build-2</Application>
  <AppVersion>15.0000</AppVersion>
  <Company>AIA RNCP 38777 - BC01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2026-08-25T07:57:58Z</dcterms:created>
  <dc:creator>Nicolas Pichon</dc:creator>
  <dc:description/>
  <dc:language>fr-FR</dc:language>
  <cp:lastModifiedBy/>
  <dcterms:modified xsi:type="dcterms:W3CDTF">2026-10-15T00:53:14Z</dcterms:modified>
  <cp:revision>51</cp:revision>
  <dc:subject>Data &amp; AI Governance - Présentation finale (Step 4)</dc:subject>
  <dc:title>Spotify - Gouvernance des Données et de l'IA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10</vt:r8>
  </property>
  <property fmtid="{D5CDD505-2E9C-101B-9397-08002B2CF9AE}" pid="3" name="PresentationFormat">
    <vt:lpwstr>On-screen Show (16:9)</vt:lpwstr>
  </property>
  <property fmtid="{D5CDD505-2E9C-101B-9397-08002B2CF9AE}" pid="4" name="Slides">
    <vt:r8>10</vt:r8>
  </property>
</Properties>
</file>